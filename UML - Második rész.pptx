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42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7" r:id="rId102"/>
    <p:sldId id="358" r:id="rId103"/>
    <p:sldId id="359" r:id="rId104"/>
    <p:sldId id="360" r:id="rId105"/>
    <p:sldId id="361" r:id="rId106"/>
    <p:sldId id="362" r:id="rId107"/>
    <p:sldId id="363" r:id="rId108"/>
    <p:sldId id="364" r:id="rId109"/>
    <p:sldId id="365" r:id="rId110"/>
    <p:sldId id="366" r:id="rId111"/>
    <p:sldId id="367" r:id="rId112"/>
    <p:sldId id="368" r:id="rId113"/>
    <p:sldId id="369" r:id="rId114"/>
    <p:sldId id="370" r:id="rId115"/>
    <p:sldId id="371" r:id="rId116"/>
    <p:sldId id="372" r:id="rId117"/>
    <p:sldId id="373" r:id="rId118"/>
    <p:sldId id="374" r:id="rId119"/>
    <p:sldId id="375" r:id="rId120"/>
    <p:sldId id="376" r:id="rId121"/>
    <p:sldId id="377" r:id="rId122"/>
    <p:sldId id="378" r:id="rId123"/>
    <p:sldId id="379" r:id="rId124"/>
    <p:sldId id="380" r:id="rId125"/>
    <p:sldId id="381" r:id="rId126"/>
    <p:sldId id="382" r:id="rId127"/>
    <p:sldId id="383" r:id="rId128"/>
    <p:sldId id="384" r:id="rId129"/>
    <p:sldId id="385" r:id="rId130"/>
    <p:sldId id="386" r:id="rId131"/>
    <p:sldId id="387" r:id="rId132"/>
    <p:sldId id="388" r:id="rId133"/>
    <p:sldId id="389" r:id="rId134"/>
    <p:sldId id="390" r:id="rId135"/>
    <p:sldId id="391" r:id="rId136"/>
    <p:sldId id="392" r:id="rId137"/>
    <p:sldId id="393" r:id="rId138"/>
    <p:sldId id="394" r:id="rId139"/>
    <p:sldId id="395" r:id="rId140"/>
    <p:sldId id="396" r:id="rId141"/>
    <p:sldId id="397" r:id="rId142"/>
    <p:sldId id="398" r:id="rId143"/>
    <p:sldId id="399" r:id="rId144"/>
    <p:sldId id="400" r:id="rId145"/>
    <p:sldId id="401" r:id="rId146"/>
    <p:sldId id="402" r:id="rId147"/>
    <p:sldId id="403" r:id="rId148"/>
    <p:sldId id="404" r:id="rId149"/>
    <p:sldId id="405" r:id="rId150"/>
    <p:sldId id="406" r:id="rId151"/>
    <p:sldId id="407" r:id="rId152"/>
    <p:sldId id="408" r:id="rId153"/>
    <p:sldId id="409" r:id="rId154"/>
    <p:sldId id="410" r:id="rId155"/>
    <p:sldId id="411" r:id="rId156"/>
    <p:sldId id="412" r:id="rId157"/>
    <p:sldId id="413" r:id="rId158"/>
    <p:sldId id="414" r:id="rId159"/>
    <p:sldId id="415" r:id="rId160"/>
    <p:sldId id="416" r:id="rId161"/>
    <p:sldId id="417" r:id="rId162"/>
    <p:sldId id="418" r:id="rId163"/>
    <p:sldId id="419" r:id="rId164"/>
    <p:sldId id="420" r:id="rId165"/>
    <p:sldId id="421" r:id="rId166"/>
    <p:sldId id="422" r:id="rId167"/>
    <p:sldId id="423" r:id="rId168"/>
    <p:sldId id="424" r:id="rId169"/>
    <p:sldId id="425" r:id="rId170"/>
    <p:sldId id="426" r:id="rId171"/>
    <p:sldId id="427" r:id="rId172"/>
    <p:sldId id="428" r:id="rId173"/>
    <p:sldId id="429" r:id="rId174"/>
    <p:sldId id="430" r:id="rId175"/>
    <p:sldId id="431" r:id="rId176"/>
    <p:sldId id="432" r:id="rId177"/>
    <p:sldId id="433" r:id="rId178"/>
    <p:sldId id="434" r:id="rId179"/>
    <p:sldId id="435" r:id="rId180"/>
    <p:sldId id="436" r:id="rId181"/>
    <p:sldId id="437" r:id="rId182"/>
    <p:sldId id="438" r:id="rId183"/>
    <p:sldId id="439" r:id="rId184"/>
    <p:sldId id="440" r:id="rId185"/>
    <p:sldId id="441" r:id="rId186"/>
    <p:sldId id="442" r:id="rId187"/>
    <p:sldId id="443" r:id="rId188"/>
    <p:sldId id="444" r:id="rId189"/>
    <p:sldId id="445" r:id="rId190"/>
    <p:sldId id="446" r:id="rId191"/>
    <p:sldId id="447" r:id="rId192"/>
    <p:sldId id="448" r:id="rId193"/>
    <p:sldId id="449" r:id="rId194"/>
    <p:sldId id="450" r:id="rId195"/>
    <p:sldId id="451" r:id="rId196"/>
    <p:sldId id="452" r:id="rId197"/>
    <p:sldId id="453" r:id="rId198"/>
    <p:sldId id="454" r:id="rId199"/>
    <p:sldId id="455" r:id="rId200"/>
    <p:sldId id="456" r:id="rId201"/>
    <p:sldId id="457" r:id="rId202"/>
    <p:sldId id="458" r:id="rId203"/>
    <p:sldId id="459" r:id="rId204"/>
    <p:sldId id="460" r:id="rId205"/>
    <p:sldId id="461" r:id="rId206"/>
    <p:sldId id="462" r:id="rId207"/>
    <p:sldId id="463" r:id="rId208"/>
    <p:sldId id="464" r:id="rId209"/>
    <p:sldId id="465" r:id="rId210"/>
    <p:sldId id="466" r:id="rId211"/>
    <p:sldId id="467" r:id="rId212"/>
    <p:sldId id="468" r:id="rId213"/>
    <p:sldId id="469" r:id="rId214"/>
    <p:sldId id="470" r:id="rId215"/>
    <p:sldId id="471" r:id="rId216"/>
    <p:sldId id="472" r:id="rId217"/>
    <p:sldId id="473" r:id="rId218"/>
    <p:sldId id="474" r:id="rId219"/>
    <p:sldId id="475" r:id="rId220"/>
    <p:sldId id="476" r:id="rId221"/>
    <p:sldId id="477" r:id="rId222"/>
    <p:sldId id="478" r:id="rId223"/>
    <p:sldId id="479" r:id="rId224"/>
    <p:sldId id="480" r:id="rId225"/>
    <p:sldId id="481" r:id="rId226"/>
    <p:sldId id="482" r:id="rId227"/>
    <p:sldId id="483" r:id="rId228"/>
    <p:sldId id="484" r:id="rId229"/>
    <p:sldId id="485" r:id="rId230"/>
    <p:sldId id="486" r:id="rId231"/>
    <p:sldId id="487" r:id="rId232"/>
    <p:sldId id="488" r:id="rId233"/>
    <p:sldId id="489" r:id="rId234"/>
    <p:sldId id="490" r:id="rId235"/>
    <p:sldId id="491" r:id="rId236"/>
    <p:sldId id="492" r:id="rId237"/>
    <p:sldId id="493" r:id="rId238"/>
    <p:sldId id="494" r:id="rId239"/>
    <p:sldId id="495" r:id="rId240"/>
    <p:sldId id="496" r:id="rId241"/>
    <p:sldId id="497" r:id="rId242"/>
    <p:sldId id="498" r:id="rId243"/>
    <p:sldId id="499" r:id="rId244"/>
    <p:sldId id="500" r:id="rId245"/>
    <p:sldId id="501" r:id="rId246"/>
    <p:sldId id="502" r:id="rId247"/>
    <p:sldId id="503" r:id="rId248"/>
    <p:sldId id="504" r:id="rId249"/>
    <p:sldId id="505" r:id="rId250"/>
    <p:sldId id="506" r:id="rId251"/>
    <p:sldId id="507" r:id="rId252"/>
    <p:sldId id="508" r:id="rId253"/>
    <p:sldId id="509" r:id="rId254"/>
    <p:sldId id="510" r:id="rId255"/>
    <p:sldId id="511" r:id="rId256"/>
    <p:sldId id="512" r:id="rId257"/>
    <p:sldId id="513" r:id="rId258"/>
    <p:sldId id="514" r:id="rId259"/>
    <p:sldId id="515" r:id="rId260"/>
    <p:sldId id="516" r:id="rId261"/>
    <p:sldId id="517" r:id="rId262"/>
    <p:sldId id="518" r:id="rId263"/>
    <p:sldId id="519" r:id="rId264"/>
    <p:sldId id="520" r:id="rId265"/>
    <p:sldId id="521" r:id="rId266"/>
    <p:sldId id="522" r:id="rId267"/>
    <p:sldId id="523" r:id="rId268"/>
    <p:sldId id="524" r:id="rId269"/>
    <p:sldId id="525" r:id="rId270"/>
    <p:sldId id="526" r:id="rId271"/>
    <p:sldId id="527" r:id="rId272"/>
    <p:sldId id="528" r:id="rId273"/>
    <p:sldId id="529" r:id="rId274"/>
    <p:sldId id="530" r:id="rId275"/>
    <p:sldId id="531" r:id="rId276"/>
    <p:sldId id="532" r:id="rId277"/>
    <p:sldId id="533" r:id="rId278"/>
    <p:sldId id="534" r:id="rId279"/>
    <p:sldId id="535" r:id="rId280"/>
    <p:sldId id="536" r:id="rId281"/>
    <p:sldId id="537" r:id="rId282"/>
    <p:sldId id="538" r:id="rId283"/>
    <p:sldId id="539" r:id="rId284"/>
    <p:sldId id="540" r:id="rId285"/>
    <p:sldId id="541" r:id="rId286"/>
    <p:sldId id="542" r:id="rId287"/>
    <p:sldId id="543" r:id="rId288"/>
    <p:sldId id="544" r:id="rId289"/>
    <p:sldId id="545" r:id="rId290"/>
    <p:sldId id="546" r:id="rId291"/>
    <p:sldId id="547" r:id="rId292"/>
    <p:sldId id="548" r:id="rId293"/>
    <p:sldId id="549" r:id="rId294"/>
    <p:sldId id="550" r:id="rId295"/>
    <p:sldId id="551" r:id="rId296"/>
    <p:sldId id="552" r:id="rId297"/>
    <p:sldId id="553" r:id="rId298"/>
    <p:sldId id="554" r:id="rId299"/>
    <p:sldId id="555" r:id="rId300"/>
    <p:sldId id="556" r:id="rId301"/>
    <p:sldId id="557" r:id="rId302"/>
    <p:sldId id="558" r:id="rId303"/>
    <p:sldId id="559" r:id="rId304"/>
    <p:sldId id="560" r:id="rId305"/>
    <p:sldId id="561" r:id="rId306"/>
    <p:sldId id="562" r:id="rId307"/>
    <p:sldId id="563" r:id="rId308"/>
    <p:sldId id="564" r:id="rId309"/>
    <p:sldId id="565" r:id="rId310"/>
    <p:sldId id="566" r:id="rId311"/>
    <p:sldId id="567" r:id="rId312"/>
    <p:sldId id="568" r:id="rId313"/>
    <p:sldId id="569" r:id="rId314"/>
    <p:sldId id="570" r:id="rId315"/>
    <p:sldId id="571" r:id="rId316"/>
    <p:sldId id="572" r:id="rId317"/>
    <p:sldId id="573" r:id="rId318"/>
    <p:sldId id="574" r:id="rId319"/>
    <p:sldId id="575" r:id="rId320"/>
    <p:sldId id="576" r:id="rId321"/>
    <p:sldId id="577" r:id="rId322"/>
    <p:sldId id="578" r:id="rId323"/>
    <p:sldId id="579" r:id="rId324"/>
    <p:sldId id="580" r:id="rId325"/>
    <p:sldId id="581" r:id="rId326"/>
    <p:sldId id="582" r:id="rId327"/>
    <p:sldId id="583" r:id="rId328"/>
    <p:sldId id="584" r:id="rId329"/>
    <p:sldId id="585" r:id="rId330"/>
    <p:sldId id="586" r:id="rId331"/>
    <p:sldId id="587" r:id="rId332"/>
    <p:sldId id="588" r:id="rId333"/>
    <p:sldId id="589" r:id="rId334"/>
    <p:sldId id="590" r:id="rId335"/>
    <p:sldId id="591" r:id="rId336"/>
    <p:sldId id="592" r:id="rId337"/>
    <p:sldId id="593" r:id="rId338"/>
    <p:sldId id="594" r:id="rId339"/>
    <p:sldId id="595" r:id="rId340"/>
    <p:sldId id="596" r:id="rId341"/>
    <p:sldId id="597" r:id="rId342"/>
    <p:sldId id="598" r:id="rId343"/>
    <p:sldId id="599" r:id="rId344"/>
    <p:sldId id="600" r:id="rId345"/>
    <p:sldId id="601" r:id="rId346"/>
    <p:sldId id="602" r:id="rId347"/>
    <p:sldId id="603" r:id="rId348"/>
    <p:sldId id="604" r:id="rId349"/>
    <p:sldId id="605" r:id="rId350"/>
    <p:sldId id="606" r:id="rId351"/>
    <p:sldId id="607" r:id="rId352"/>
    <p:sldId id="608" r:id="rId353"/>
    <p:sldId id="609" r:id="rId354"/>
    <p:sldId id="610" r:id="rId355"/>
    <p:sldId id="611" r:id="rId356"/>
    <p:sldId id="612" r:id="rId357"/>
    <p:sldId id="613" r:id="rId358"/>
    <p:sldId id="614" r:id="rId359"/>
    <p:sldId id="615" r:id="rId360"/>
    <p:sldId id="616" r:id="rId361"/>
    <p:sldId id="617" r:id="rId362"/>
    <p:sldId id="618" r:id="rId363"/>
    <p:sldId id="619" r:id="rId364"/>
    <p:sldId id="620" r:id="rId365"/>
    <p:sldId id="621" r:id="rId366"/>
    <p:sldId id="622" r:id="rId367"/>
    <p:sldId id="623" r:id="rId368"/>
    <p:sldId id="624" r:id="rId369"/>
    <p:sldId id="625" r:id="rId370"/>
    <p:sldId id="626" r:id="rId371"/>
    <p:sldId id="627" r:id="rId372"/>
    <p:sldId id="628" r:id="rId373"/>
    <p:sldId id="629" r:id="rId374"/>
    <p:sldId id="630" r:id="rId375"/>
    <p:sldId id="631" r:id="rId376"/>
    <p:sldId id="632" r:id="rId377"/>
    <p:sldId id="633" r:id="rId378"/>
    <p:sldId id="634" r:id="rId379"/>
    <p:sldId id="635" r:id="rId380"/>
    <p:sldId id="636" r:id="rId381"/>
    <p:sldId id="637" r:id="rId382"/>
    <p:sldId id="638" r:id="rId383"/>
    <p:sldId id="639" r:id="rId384"/>
    <p:sldId id="640" r:id="rId385"/>
    <p:sldId id="641" r:id="rId386"/>
    <p:sldId id="651" r:id="rId387"/>
    <p:sldId id="667" r:id="rId388"/>
    <p:sldId id="668" r:id="rId389"/>
    <p:sldId id="649" r:id="rId390"/>
    <p:sldId id="650" r:id="rId391"/>
    <p:sldId id="669" r:id="rId392"/>
    <p:sldId id="670" r:id="rId393"/>
    <p:sldId id="671" r:id="rId394"/>
    <p:sldId id="672" r:id="rId395"/>
    <p:sldId id="673" r:id="rId396"/>
    <p:sldId id="674" r:id="rId397"/>
    <p:sldId id="675" r:id="rId398"/>
    <p:sldId id="676" r:id="rId399"/>
    <p:sldId id="677" r:id="rId400"/>
    <p:sldId id="678" r:id="rId401"/>
    <p:sldId id="679" r:id="rId402"/>
    <p:sldId id="652" r:id="rId403"/>
    <p:sldId id="653" r:id="rId404"/>
    <p:sldId id="654" r:id="rId405"/>
    <p:sldId id="655" r:id="rId406"/>
    <p:sldId id="656" r:id="rId407"/>
    <p:sldId id="680" r:id="rId408"/>
    <p:sldId id="681" r:id="rId409"/>
    <p:sldId id="682" r:id="rId410"/>
    <p:sldId id="683" r:id="rId411"/>
    <p:sldId id="684" r:id="rId412"/>
    <p:sldId id="685" r:id="rId413"/>
    <p:sldId id="686" r:id="rId414"/>
    <p:sldId id="687" r:id="rId415"/>
    <p:sldId id="688" r:id="rId416"/>
    <p:sldId id="689" r:id="rId417"/>
    <p:sldId id="690" r:id="rId418"/>
    <p:sldId id="691" r:id="rId419"/>
    <p:sldId id="692" r:id="rId420"/>
    <p:sldId id="693" r:id="rId421"/>
    <p:sldId id="694" r:id="rId422"/>
    <p:sldId id="695" r:id="rId423"/>
    <p:sldId id="696" r:id="rId424"/>
    <p:sldId id="697" r:id="rId425"/>
    <p:sldId id="698" r:id="rId4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9540" autoAdjust="0"/>
    <p:restoredTop sz="94660"/>
  </p:normalViewPr>
  <p:slideViewPr>
    <p:cSldViewPr snapToGrid="0">
      <p:cViewPr varScale="1">
        <p:scale>
          <a:sx n="88" d="100"/>
          <a:sy n="88" d="100"/>
        </p:scale>
        <p:origin x="288" y="62"/>
      </p:cViewPr>
      <p:guideLst/>
    </p:cSldViewPr>
  </p:slideViewPr>
  <p:notesTextViewPr>
    <p:cViewPr>
      <p:scale>
        <a:sx n="1" d="1"/>
        <a:sy n="1" d="1"/>
      </p:scale>
      <p:origin x="0" y="0"/>
    </p:cViewPr>
  </p:notesTextViewPr>
  <p:sorterViewPr>
    <p:cViewPr>
      <p:scale>
        <a:sx n="100" d="100"/>
        <a:sy n="100" d="100"/>
      </p:scale>
      <p:origin x="0" y="-145133"/>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366" Type="http://schemas.openxmlformats.org/officeDocument/2006/relationships/slide" Target="slides/slide365.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335" Type="http://schemas.openxmlformats.org/officeDocument/2006/relationships/slide" Target="slides/slide334.xml"/><Relationship Id="rId377" Type="http://schemas.openxmlformats.org/officeDocument/2006/relationships/slide" Target="slides/slide376.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402" Type="http://schemas.openxmlformats.org/officeDocument/2006/relationships/slide" Target="slides/slide401.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46" Type="http://schemas.openxmlformats.org/officeDocument/2006/relationships/slide" Target="slides/slide345.xml"/><Relationship Id="rId388" Type="http://schemas.openxmlformats.org/officeDocument/2006/relationships/slide" Target="slides/slide387.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413" Type="http://schemas.openxmlformats.org/officeDocument/2006/relationships/slide" Target="slides/slide412.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slide" Target="slides/slide279.xml"/><Relationship Id="rId315" Type="http://schemas.openxmlformats.org/officeDocument/2006/relationships/slide" Target="slides/slide314.xml"/><Relationship Id="rId336" Type="http://schemas.openxmlformats.org/officeDocument/2006/relationships/slide" Target="slides/slide335.xml"/><Relationship Id="rId357" Type="http://schemas.openxmlformats.org/officeDocument/2006/relationships/slide" Target="slides/slide356.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378" Type="http://schemas.openxmlformats.org/officeDocument/2006/relationships/slide" Target="slides/slide377.xml"/><Relationship Id="rId399" Type="http://schemas.openxmlformats.org/officeDocument/2006/relationships/slide" Target="slides/slide398.xml"/><Relationship Id="rId403" Type="http://schemas.openxmlformats.org/officeDocument/2006/relationships/slide" Target="slides/slide402.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424" Type="http://schemas.openxmlformats.org/officeDocument/2006/relationships/slide" Target="slides/slide423.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291" Type="http://schemas.openxmlformats.org/officeDocument/2006/relationships/slide" Target="slides/slide290.xml"/><Relationship Id="rId305" Type="http://schemas.openxmlformats.org/officeDocument/2006/relationships/slide" Target="slides/slide304.xml"/><Relationship Id="rId326" Type="http://schemas.openxmlformats.org/officeDocument/2006/relationships/slide" Target="slides/slide325.xml"/><Relationship Id="rId347" Type="http://schemas.openxmlformats.org/officeDocument/2006/relationships/slide" Target="slides/slide346.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368" Type="http://schemas.openxmlformats.org/officeDocument/2006/relationships/slide" Target="slides/slide367.xml"/><Relationship Id="rId389" Type="http://schemas.openxmlformats.org/officeDocument/2006/relationships/slide" Target="slides/slide388.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414" Type="http://schemas.openxmlformats.org/officeDocument/2006/relationships/slide" Target="slides/slide413.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16" Type="http://schemas.openxmlformats.org/officeDocument/2006/relationships/slide" Target="slides/slide315.xml"/><Relationship Id="rId337" Type="http://schemas.openxmlformats.org/officeDocument/2006/relationships/slide" Target="slides/slide336.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358" Type="http://schemas.openxmlformats.org/officeDocument/2006/relationships/slide" Target="slides/slide357.xml"/><Relationship Id="rId379" Type="http://schemas.openxmlformats.org/officeDocument/2006/relationships/slide" Target="slides/slide378.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390" Type="http://schemas.openxmlformats.org/officeDocument/2006/relationships/slide" Target="slides/slide389.xml"/><Relationship Id="rId404" Type="http://schemas.openxmlformats.org/officeDocument/2006/relationships/slide" Target="slides/slide403.xml"/><Relationship Id="rId425" Type="http://schemas.openxmlformats.org/officeDocument/2006/relationships/slide" Target="slides/slide424.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327" Type="http://schemas.openxmlformats.org/officeDocument/2006/relationships/slide" Target="slides/slide326.xml"/><Relationship Id="rId348" Type="http://schemas.openxmlformats.org/officeDocument/2006/relationships/slide" Target="slides/slide347.xml"/><Relationship Id="rId369" Type="http://schemas.openxmlformats.org/officeDocument/2006/relationships/slide" Target="slides/slide368.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380" Type="http://schemas.openxmlformats.org/officeDocument/2006/relationships/slide" Target="slides/slide379.xml"/><Relationship Id="rId415" Type="http://schemas.openxmlformats.org/officeDocument/2006/relationships/slide" Target="slides/slide414.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17" Type="http://schemas.openxmlformats.org/officeDocument/2006/relationships/slide" Target="slides/slide316.xml"/><Relationship Id="rId338" Type="http://schemas.openxmlformats.org/officeDocument/2006/relationships/slide" Target="slides/slide337.xml"/><Relationship Id="rId359" Type="http://schemas.openxmlformats.org/officeDocument/2006/relationships/slide" Target="slides/slide358.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370" Type="http://schemas.openxmlformats.org/officeDocument/2006/relationships/slide" Target="slides/slide369.xml"/><Relationship Id="rId391" Type="http://schemas.openxmlformats.org/officeDocument/2006/relationships/slide" Target="slides/slide390.xml"/><Relationship Id="rId405" Type="http://schemas.openxmlformats.org/officeDocument/2006/relationships/slide" Target="slides/slide404.xml"/><Relationship Id="rId426" Type="http://schemas.openxmlformats.org/officeDocument/2006/relationships/slide" Target="slides/slide425.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328" Type="http://schemas.openxmlformats.org/officeDocument/2006/relationships/slide" Target="slides/slide327.xml"/><Relationship Id="rId349" Type="http://schemas.openxmlformats.org/officeDocument/2006/relationships/slide" Target="slides/slide348.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360" Type="http://schemas.openxmlformats.org/officeDocument/2006/relationships/slide" Target="slides/slide359.xml"/><Relationship Id="rId381" Type="http://schemas.openxmlformats.org/officeDocument/2006/relationships/slide" Target="slides/slide380.xml"/><Relationship Id="rId416" Type="http://schemas.openxmlformats.org/officeDocument/2006/relationships/slide" Target="slides/slide415.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318" Type="http://schemas.openxmlformats.org/officeDocument/2006/relationships/slide" Target="slides/slide317.xml"/><Relationship Id="rId339" Type="http://schemas.openxmlformats.org/officeDocument/2006/relationships/slide" Target="slides/slide338.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350" Type="http://schemas.openxmlformats.org/officeDocument/2006/relationships/slide" Target="slides/slide349.xml"/><Relationship Id="rId371" Type="http://schemas.openxmlformats.org/officeDocument/2006/relationships/slide" Target="slides/slide370.xml"/><Relationship Id="rId406" Type="http://schemas.openxmlformats.org/officeDocument/2006/relationships/slide" Target="slides/slide405.xml"/><Relationship Id="rId9" Type="http://schemas.openxmlformats.org/officeDocument/2006/relationships/slide" Target="slides/slide8.xml"/><Relationship Id="rId210" Type="http://schemas.openxmlformats.org/officeDocument/2006/relationships/slide" Target="slides/slide209.xml"/><Relationship Id="rId392" Type="http://schemas.openxmlformats.org/officeDocument/2006/relationships/slide" Target="slides/slide391.xml"/><Relationship Id="rId427" Type="http://schemas.openxmlformats.org/officeDocument/2006/relationships/notesMaster" Target="notesMasters/notesMaster1.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329" Type="http://schemas.openxmlformats.org/officeDocument/2006/relationships/slide" Target="slides/slide328.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340" Type="http://schemas.openxmlformats.org/officeDocument/2006/relationships/slide" Target="slides/slide339.xml"/><Relationship Id="rId361" Type="http://schemas.openxmlformats.org/officeDocument/2006/relationships/slide" Target="slides/slide360.xml"/><Relationship Id="rId196" Type="http://schemas.openxmlformats.org/officeDocument/2006/relationships/slide" Target="slides/slide195.xml"/><Relationship Id="rId200" Type="http://schemas.openxmlformats.org/officeDocument/2006/relationships/slide" Target="slides/slide199.xml"/><Relationship Id="rId382" Type="http://schemas.openxmlformats.org/officeDocument/2006/relationships/slide" Target="slides/slide381.xml"/><Relationship Id="rId417" Type="http://schemas.openxmlformats.org/officeDocument/2006/relationships/slide" Target="slides/slide416.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slide" Target="slides/slide329.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351" Type="http://schemas.openxmlformats.org/officeDocument/2006/relationships/slide" Target="slides/slide350.xml"/><Relationship Id="rId372" Type="http://schemas.openxmlformats.org/officeDocument/2006/relationships/slide" Target="slides/slide371.xml"/><Relationship Id="rId393" Type="http://schemas.openxmlformats.org/officeDocument/2006/relationships/slide" Target="slides/slide392.xml"/><Relationship Id="rId407" Type="http://schemas.openxmlformats.org/officeDocument/2006/relationships/slide" Target="slides/slide406.xml"/><Relationship Id="rId428" Type="http://schemas.openxmlformats.org/officeDocument/2006/relationships/presProps" Target="presProps.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341" Type="http://schemas.openxmlformats.org/officeDocument/2006/relationships/slide" Target="slides/slide340.xml"/><Relationship Id="rId362" Type="http://schemas.openxmlformats.org/officeDocument/2006/relationships/slide" Target="slides/slide361.xml"/><Relationship Id="rId383" Type="http://schemas.openxmlformats.org/officeDocument/2006/relationships/slide" Target="slides/slide382.xml"/><Relationship Id="rId418" Type="http://schemas.openxmlformats.org/officeDocument/2006/relationships/slide" Target="slides/slide417.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slide" Target="slides/slide330.xml"/><Relationship Id="rId352" Type="http://schemas.openxmlformats.org/officeDocument/2006/relationships/slide" Target="slides/slide351.xml"/><Relationship Id="rId373" Type="http://schemas.openxmlformats.org/officeDocument/2006/relationships/slide" Target="slides/slide372.xml"/><Relationship Id="rId394" Type="http://schemas.openxmlformats.org/officeDocument/2006/relationships/slide" Target="slides/slide393.xml"/><Relationship Id="rId408" Type="http://schemas.openxmlformats.org/officeDocument/2006/relationships/slide" Target="slides/slide407.xml"/><Relationship Id="rId429" Type="http://schemas.openxmlformats.org/officeDocument/2006/relationships/viewProps" Target="viewProps.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342" Type="http://schemas.openxmlformats.org/officeDocument/2006/relationships/slide" Target="slides/slide341.xml"/><Relationship Id="rId363" Type="http://schemas.openxmlformats.org/officeDocument/2006/relationships/slide" Target="slides/slide362.xml"/><Relationship Id="rId384" Type="http://schemas.openxmlformats.org/officeDocument/2006/relationships/slide" Target="slides/slide383.xml"/><Relationship Id="rId419" Type="http://schemas.openxmlformats.org/officeDocument/2006/relationships/slide" Target="slides/slide418.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430" Type="http://schemas.openxmlformats.org/officeDocument/2006/relationships/theme" Target="theme/theme1.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353" Type="http://schemas.openxmlformats.org/officeDocument/2006/relationships/slide" Target="slides/slide352.xml"/><Relationship Id="rId374" Type="http://schemas.openxmlformats.org/officeDocument/2006/relationships/slide" Target="slides/slide373.xml"/><Relationship Id="rId395" Type="http://schemas.openxmlformats.org/officeDocument/2006/relationships/slide" Target="slides/slide394.xml"/><Relationship Id="rId409" Type="http://schemas.openxmlformats.org/officeDocument/2006/relationships/slide" Target="slides/slide408.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420" Type="http://schemas.openxmlformats.org/officeDocument/2006/relationships/slide" Target="slides/slide419.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slide" Target="slides/slide342.xml"/><Relationship Id="rId364" Type="http://schemas.openxmlformats.org/officeDocument/2006/relationships/slide" Target="slides/slide363.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385" Type="http://schemas.openxmlformats.org/officeDocument/2006/relationships/slide" Target="slides/slide384.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410" Type="http://schemas.openxmlformats.org/officeDocument/2006/relationships/slide" Target="slides/slide409.xml"/><Relationship Id="rId431" Type="http://schemas.openxmlformats.org/officeDocument/2006/relationships/tableStyles" Target="tableStyles.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354" Type="http://schemas.openxmlformats.org/officeDocument/2006/relationships/slide" Target="slides/slide353.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75" Type="http://schemas.openxmlformats.org/officeDocument/2006/relationships/slide" Target="slides/slide374.xml"/><Relationship Id="rId396" Type="http://schemas.openxmlformats.org/officeDocument/2006/relationships/slide" Target="slides/slide395.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400" Type="http://schemas.openxmlformats.org/officeDocument/2006/relationships/slide" Target="slides/slide399.xml"/><Relationship Id="rId421" Type="http://schemas.openxmlformats.org/officeDocument/2006/relationships/slide" Target="slides/slide420.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slide" Target="slides/slide34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365" Type="http://schemas.openxmlformats.org/officeDocument/2006/relationships/slide" Target="slides/slide364.xml"/><Relationship Id="rId386" Type="http://schemas.openxmlformats.org/officeDocument/2006/relationships/slide" Target="slides/slide385.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411" Type="http://schemas.openxmlformats.org/officeDocument/2006/relationships/slide" Target="slides/slide410.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355" Type="http://schemas.openxmlformats.org/officeDocument/2006/relationships/slide" Target="slides/slide354.xml"/><Relationship Id="rId376" Type="http://schemas.openxmlformats.org/officeDocument/2006/relationships/slide" Target="slides/slide375.xml"/><Relationship Id="rId397" Type="http://schemas.openxmlformats.org/officeDocument/2006/relationships/slide" Target="slides/slide396.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01" Type="http://schemas.openxmlformats.org/officeDocument/2006/relationships/slide" Target="slides/slide400.xml"/><Relationship Id="rId422" Type="http://schemas.openxmlformats.org/officeDocument/2006/relationships/slide" Target="slides/slide421.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openxmlformats.org/officeDocument/2006/relationships/slide" Target="slides/slide344.xml"/><Relationship Id="rId387" Type="http://schemas.openxmlformats.org/officeDocument/2006/relationships/slide" Target="slides/slide386.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412" Type="http://schemas.openxmlformats.org/officeDocument/2006/relationships/slide" Target="slides/slide411.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356" Type="http://schemas.openxmlformats.org/officeDocument/2006/relationships/slide" Target="slides/slide355.xml"/><Relationship Id="rId398" Type="http://schemas.openxmlformats.org/officeDocument/2006/relationships/slide" Target="slides/slide397.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423" Type="http://schemas.openxmlformats.org/officeDocument/2006/relationships/slide" Target="slides/slide422.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367" Type="http://schemas.openxmlformats.org/officeDocument/2006/relationships/slide" Target="slides/slide36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4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8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6321FD-779B-43C4-BF2E-672E047CF12F}" type="datetimeFigureOut">
              <a:rPr lang="hu-HU" smtClean="0"/>
              <a:t>2024. 11. 28.</a:t>
            </a:fld>
            <a:endParaRPr lang="hu-HU"/>
          </a:p>
        </p:txBody>
      </p:sp>
      <p:sp>
        <p:nvSpPr>
          <p:cNvPr id="4" name="Diakép hely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hu-HU"/>
          </a:p>
        </p:txBody>
      </p:sp>
      <p:sp>
        <p:nvSpPr>
          <p:cNvPr id="6" name="Élőláb hely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99141C-FE99-4559-A03A-FAA22F9ADAEC}" type="slidenum">
              <a:rPr lang="hu-HU" smtClean="0"/>
              <a:t>‹#›</a:t>
            </a:fld>
            <a:endParaRPr lang="hu-HU"/>
          </a:p>
        </p:txBody>
      </p:sp>
    </p:spTree>
    <p:extLst>
      <p:ext uri="{BB962C8B-B14F-4D97-AF65-F5344CB8AC3E}">
        <p14:creationId xmlns:p14="http://schemas.microsoft.com/office/powerpoint/2010/main" val="129735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29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29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29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29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29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29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0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0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0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0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30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30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30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30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30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30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31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31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31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31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31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31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31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31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31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31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32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32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32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32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32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32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32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32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32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32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33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33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33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33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33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33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33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33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33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33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34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34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38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41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41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41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41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41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41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41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41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41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41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42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42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42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42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42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4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B6E5A87-470B-471B-AC04-55DA208FA18B}" type="slidenum">
              <a:rPr lang="hu-HU" altLang="hu-HU"/>
              <a:pPr/>
              <a:t>16</a:t>
            </a:fld>
            <a:endParaRPr lang="hu-HU" altLang="hu-HU"/>
          </a:p>
        </p:txBody>
      </p:sp>
      <p:sp>
        <p:nvSpPr>
          <p:cNvPr id="144386" name="Rectangle 2"/>
          <p:cNvSpPr>
            <a:spLocks noGrp="1" noRot="1" noChangeAspect="1" noChangeArrowheads="1" noTextEdit="1"/>
          </p:cNvSpPr>
          <p:nvPr>
            <p:ph type="sldImg"/>
          </p:nvPr>
        </p:nvSpPr>
        <p:spPr>
          <a:xfrm>
            <a:off x="139700" y="768350"/>
            <a:ext cx="6819900" cy="3836988"/>
          </a:xfrm>
          <a:ln/>
        </p:spPr>
      </p:sp>
      <p:sp>
        <p:nvSpPr>
          <p:cNvPr id="144387" name="Rectangle 3"/>
          <p:cNvSpPr>
            <a:spLocks noGrp="1" noChangeArrowheads="1"/>
          </p:cNvSpPr>
          <p:nvPr>
            <p:ph type="body" idx="1"/>
          </p:nvPr>
        </p:nvSpPr>
        <p:spPr/>
        <p:txBody>
          <a:bodyPr/>
          <a:lstStyle/>
          <a:p>
            <a:r>
              <a:rPr lang="hu-HU" altLang="hu-HU"/>
              <a:t>Másik oldalról:</a:t>
            </a:r>
          </a:p>
          <a:p>
            <a:r>
              <a:rPr lang="hu-HU" altLang="hu-HU"/>
              <a:t>Ha az információnak komplex viselkedése van, </a:t>
            </a:r>
          </a:p>
          <a:p>
            <a:r>
              <a:rPr lang="hu-HU" altLang="hu-HU"/>
              <a:t>ha az információn két vagy több osztály osztozik,</a:t>
            </a:r>
          </a:p>
          <a:p>
            <a:r>
              <a:rPr lang="hu-HU" altLang="hu-HU"/>
              <a:t>esetleg referenciaként közlekedik két vagy több osztály között, akkor ÖNÁLLÓ osztályként kell modellezni.</a:t>
            </a:r>
          </a:p>
          <a:p>
            <a:endParaRPr lang="hu-HU" altLang="hu-HU"/>
          </a:p>
        </p:txBody>
      </p:sp>
    </p:spTree>
    <p:extLst>
      <p:ext uri="{BB962C8B-B14F-4D97-AF65-F5344CB8AC3E}">
        <p14:creationId xmlns:p14="http://schemas.microsoft.com/office/powerpoint/2010/main" val="30025201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8C8657D-FE6B-46D3-94A5-2FFD20C9821B}" type="slidenum">
              <a:rPr lang="hu-HU" altLang="hu-HU"/>
              <a:pPr/>
              <a:t>24</a:t>
            </a:fld>
            <a:endParaRPr lang="hu-HU" altLang="hu-HU"/>
          </a:p>
        </p:txBody>
      </p:sp>
      <p:sp>
        <p:nvSpPr>
          <p:cNvPr id="234498" name="Rectangle 2"/>
          <p:cNvSpPr>
            <a:spLocks noGrp="1" noRot="1" noChangeAspect="1" noChangeArrowheads="1" noTextEdit="1"/>
          </p:cNvSpPr>
          <p:nvPr>
            <p:ph type="sldImg"/>
          </p:nvPr>
        </p:nvSpPr>
        <p:spPr>
          <a:xfrm>
            <a:off x="139700" y="768350"/>
            <a:ext cx="6819900" cy="3836988"/>
          </a:xfrm>
          <a:ln/>
        </p:spPr>
      </p:sp>
      <p:sp>
        <p:nvSpPr>
          <p:cNvPr id="234499" name="Rectangle 3"/>
          <p:cNvSpPr>
            <a:spLocks noGrp="1" noChangeArrowheads="1"/>
          </p:cNvSpPr>
          <p:nvPr>
            <p:ph type="body" idx="1"/>
          </p:nvPr>
        </p:nvSpPr>
        <p:spPr/>
        <p:txBody>
          <a:bodyPr/>
          <a:lstStyle/>
          <a:p>
            <a:endParaRPr lang="hu-HU" altLang="hu-HU"/>
          </a:p>
        </p:txBody>
      </p:sp>
    </p:spTree>
    <p:extLst>
      <p:ext uri="{BB962C8B-B14F-4D97-AF65-F5344CB8AC3E}">
        <p14:creationId xmlns:p14="http://schemas.microsoft.com/office/powerpoint/2010/main" val="3681581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6E65AB-51F8-4C38-9B07-29C38E7B9F28}" type="slidenum">
              <a:rPr lang="hu-HU" altLang="hu-HU"/>
              <a:pPr/>
              <a:t>30</a:t>
            </a:fld>
            <a:endParaRPr lang="hu-HU" altLang="hu-HU"/>
          </a:p>
        </p:txBody>
      </p:sp>
      <p:sp>
        <p:nvSpPr>
          <p:cNvPr id="159746" name="Rectangle 2"/>
          <p:cNvSpPr>
            <a:spLocks noGrp="1" noRot="1" noChangeAspect="1" noChangeArrowheads="1" noTextEdit="1"/>
          </p:cNvSpPr>
          <p:nvPr>
            <p:ph type="sldImg"/>
          </p:nvPr>
        </p:nvSpPr>
        <p:spPr>
          <a:xfrm>
            <a:off x="139700" y="768350"/>
            <a:ext cx="6819900" cy="3836988"/>
          </a:xfrm>
          <a:ln/>
        </p:spPr>
      </p:sp>
      <p:sp>
        <p:nvSpPr>
          <p:cNvPr id="159747" name="Rectangle 3"/>
          <p:cNvSpPr>
            <a:spLocks noGrp="1" noChangeArrowheads="1"/>
          </p:cNvSpPr>
          <p:nvPr>
            <p:ph type="body" idx="1"/>
          </p:nvPr>
        </p:nvSpPr>
        <p:spPr/>
        <p:txBody>
          <a:bodyPr/>
          <a:lstStyle/>
          <a:p>
            <a:r>
              <a:rPr lang="hu-HU" altLang="hu-HU"/>
              <a:t>A háromféle lehetőség közül majd a tervezés során választunk. Ebben a fázisban még nincs elegendő információnk a döntéshez. Az elemzés során asszociációkat és aggregációkat használunk annak jelzésére, hogy az objektumok között üzenetek mennek.</a:t>
            </a:r>
          </a:p>
          <a:p>
            <a:endParaRPr lang="hu-HU" altLang="hu-HU"/>
          </a:p>
        </p:txBody>
      </p:sp>
    </p:spTree>
    <p:extLst>
      <p:ext uri="{BB962C8B-B14F-4D97-AF65-F5344CB8AC3E}">
        <p14:creationId xmlns:p14="http://schemas.microsoft.com/office/powerpoint/2010/main" val="33855947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hu-HU" altLang="hu-HU" smtClean="0"/>
          </a:p>
        </p:txBody>
      </p:sp>
      <p:sp>
        <p:nvSpPr>
          <p:cNvPr id="8196" name="Élőfej helye 3"/>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hu-HU" altLang="hu-HU" smtClean="0"/>
              <a:t>Alkalmazásfejlesztés a Rational Unified Process alapján</a:t>
            </a:r>
          </a:p>
        </p:txBody>
      </p:sp>
      <p:sp>
        <p:nvSpPr>
          <p:cNvPr id="8197" name="Dia számának helye 4"/>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028349BE-6260-4DE2-9204-CFD678206E91}" type="slidenum">
              <a:rPr lang="hu-HU" altLang="hu-HU"/>
              <a:pPr/>
              <a:t>173</a:t>
            </a:fld>
            <a:endParaRPr lang="hu-HU" altLang="hu-HU"/>
          </a:p>
        </p:txBody>
      </p:sp>
    </p:spTree>
    <p:extLst>
      <p:ext uri="{BB962C8B-B14F-4D97-AF65-F5344CB8AC3E}">
        <p14:creationId xmlns:p14="http://schemas.microsoft.com/office/powerpoint/2010/main" val="7007859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hu-HU" altLang="hu-HU" smtClean="0"/>
          </a:p>
        </p:txBody>
      </p:sp>
      <p:sp>
        <p:nvSpPr>
          <p:cNvPr id="9220" name="Élőfej helye 3"/>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hu-HU" altLang="hu-HU" smtClean="0"/>
              <a:t>Alkalmazásfejlesztés a Rational Unified Process alapján</a:t>
            </a:r>
          </a:p>
        </p:txBody>
      </p:sp>
      <p:sp>
        <p:nvSpPr>
          <p:cNvPr id="9221" name="Dia számának helye 4"/>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B5092AF-665C-4ABF-93AC-2DACBAE57973}" type="slidenum">
              <a:rPr lang="hu-HU" altLang="hu-HU"/>
              <a:pPr/>
              <a:t>175</a:t>
            </a:fld>
            <a:endParaRPr lang="hu-HU" altLang="hu-HU"/>
          </a:p>
        </p:txBody>
      </p:sp>
    </p:spTree>
    <p:extLst>
      <p:ext uri="{BB962C8B-B14F-4D97-AF65-F5344CB8AC3E}">
        <p14:creationId xmlns:p14="http://schemas.microsoft.com/office/powerpoint/2010/main" val="5506028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hu-HU" altLang="hu-HU" smtClean="0"/>
          </a:p>
        </p:txBody>
      </p:sp>
      <p:sp>
        <p:nvSpPr>
          <p:cNvPr id="10244" name="Élőfej helye 3"/>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hu-HU" altLang="hu-HU" smtClean="0"/>
              <a:t>Alkalmazásfejlesztés a Rational Unified Process alapján</a:t>
            </a:r>
          </a:p>
        </p:txBody>
      </p:sp>
      <p:sp>
        <p:nvSpPr>
          <p:cNvPr id="10245" name="Dia számának helye 4"/>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E4F6143-0E8D-4B1A-8AEF-21FB2408A9CF}" type="slidenum">
              <a:rPr lang="hu-HU" altLang="hu-HU"/>
              <a:pPr/>
              <a:t>176</a:t>
            </a:fld>
            <a:endParaRPr lang="hu-HU" altLang="hu-HU"/>
          </a:p>
        </p:txBody>
      </p:sp>
    </p:spTree>
    <p:extLst>
      <p:ext uri="{BB962C8B-B14F-4D97-AF65-F5344CB8AC3E}">
        <p14:creationId xmlns:p14="http://schemas.microsoft.com/office/powerpoint/2010/main" val="4236154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hu-HU" altLang="hu-HU" smtClean="0"/>
          </a:p>
        </p:txBody>
      </p:sp>
      <p:sp>
        <p:nvSpPr>
          <p:cNvPr id="11268" name="Élőfej helye 3"/>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hu-HU" altLang="hu-HU" smtClean="0"/>
              <a:t>Alkalmazásfejlesztés a Rational Unified Process alapján</a:t>
            </a:r>
          </a:p>
        </p:txBody>
      </p:sp>
      <p:sp>
        <p:nvSpPr>
          <p:cNvPr id="11269" name="Dia számának helye 4"/>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62A5A740-8306-40E4-A8BD-C5DF8671E7AC}" type="slidenum">
              <a:rPr lang="hu-HU" altLang="hu-HU"/>
              <a:pPr/>
              <a:t>177</a:t>
            </a:fld>
            <a:endParaRPr lang="hu-HU" altLang="hu-HU"/>
          </a:p>
        </p:txBody>
      </p:sp>
    </p:spTree>
    <p:extLst>
      <p:ext uri="{BB962C8B-B14F-4D97-AF65-F5344CB8AC3E}">
        <p14:creationId xmlns:p14="http://schemas.microsoft.com/office/powerpoint/2010/main" val="29302951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hu-HU" altLang="hu-HU" smtClean="0"/>
              <a:t>Alkalmazásfejlesztés a Rational Unified Process alapján</a:t>
            </a:r>
          </a:p>
        </p:txBody>
      </p:sp>
      <p:sp>
        <p:nvSpPr>
          <p:cNvPr id="1945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6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hu-HU" smtClean="0"/>
          </a:p>
        </p:txBody>
      </p:sp>
    </p:spTree>
    <p:extLst>
      <p:ext uri="{BB962C8B-B14F-4D97-AF65-F5344CB8AC3E}">
        <p14:creationId xmlns:p14="http://schemas.microsoft.com/office/powerpoint/2010/main" val="16387409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hu-HU" altLang="hu-HU" smtClean="0"/>
              <a:t>Alkalmazásfejlesztés a Rational Unified Process alapján</a:t>
            </a:r>
          </a:p>
        </p:txBody>
      </p:sp>
      <p:sp>
        <p:nvSpPr>
          <p:cNvPr id="2048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hu-HU" smtClean="0"/>
          </a:p>
        </p:txBody>
      </p:sp>
    </p:spTree>
    <p:extLst>
      <p:ext uri="{BB962C8B-B14F-4D97-AF65-F5344CB8AC3E}">
        <p14:creationId xmlns:p14="http://schemas.microsoft.com/office/powerpoint/2010/main" val="20120884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hu-HU" altLang="hu-HU" smtClean="0"/>
              <a:t>Alkalmazásfejlesztés a Rational Unified Process alapján</a:t>
            </a:r>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hu-HU" smtClean="0"/>
          </a:p>
        </p:txBody>
      </p:sp>
    </p:spTree>
    <p:extLst>
      <p:ext uri="{BB962C8B-B14F-4D97-AF65-F5344CB8AC3E}">
        <p14:creationId xmlns:p14="http://schemas.microsoft.com/office/powerpoint/2010/main" val="32074928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hu-HU" altLang="hu-HU" smtClean="0"/>
              <a:t>Alkalmazásfejlesztés a Rational Unified Process alapján</a:t>
            </a:r>
          </a:p>
        </p:txBody>
      </p:sp>
      <p:sp>
        <p:nvSpPr>
          <p:cNvPr id="225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hu-HU" smtClean="0"/>
          </a:p>
        </p:txBody>
      </p:sp>
    </p:spTree>
    <p:extLst>
      <p:ext uri="{BB962C8B-B14F-4D97-AF65-F5344CB8AC3E}">
        <p14:creationId xmlns:p14="http://schemas.microsoft.com/office/powerpoint/2010/main" val="40260021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hu-HU" altLang="hu-HU" smtClean="0"/>
              <a:t>Alkalmazásfejlesztés a Rational Unified Process alapján</a:t>
            </a:r>
          </a:p>
        </p:txBody>
      </p:sp>
      <p:sp>
        <p:nvSpPr>
          <p:cNvPr id="2355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hu-HU" smtClean="0"/>
          </a:p>
        </p:txBody>
      </p:sp>
    </p:spTree>
    <p:extLst>
      <p:ext uri="{BB962C8B-B14F-4D97-AF65-F5344CB8AC3E}">
        <p14:creationId xmlns:p14="http://schemas.microsoft.com/office/powerpoint/2010/main" val="14042795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hu-HU" altLang="hu-HU" smtClean="0"/>
              <a:t>Alkalmazásfejlesztés a Rational Unified Process alapján</a:t>
            </a:r>
          </a:p>
        </p:txBody>
      </p:sp>
      <p:sp>
        <p:nvSpPr>
          <p:cNvPr id="2457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8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hu-HU" smtClean="0"/>
          </a:p>
        </p:txBody>
      </p:sp>
    </p:spTree>
    <p:extLst>
      <p:ext uri="{BB962C8B-B14F-4D97-AF65-F5344CB8AC3E}">
        <p14:creationId xmlns:p14="http://schemas.microsoft.com/office/powerpoint/2010/main" val="42409649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hu-HU" altLang="hu-HU" smtClean="0"/>
          </a:p>
        </p:txBody>
      </p:sp>
      <p:sp>
        <p:nvSpPr>
          <p:cNvPr id="25604" name="Dia számának hely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6732AC6C-19D4-4DF2-B46C-417F585E2984}" type="slidenum">
              <a:rPr lang="hu-HU" altLang="hu-HU"/>
              <a:pPr/>
              <a:t>265</a:t>
            </a:fld>
            <a:endParaRPr lang="hu-HU" altLang="hu-HU"/>
          </a:p>
        </p:txBody>
      </p:sp>
    </p:spTree>
    <p:extLst>
      <p:ext uri="{BB962C8B-B14F-4D97-AF65-F5344CB8AC3E}">
        <p14:creationId xmlns:p14="http://schemas.microsoft.com/office/powerpoint/2010/main" val="19828578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hu-HU" altLang="hu-HU" smtClean="0"/>
              <a:t>Alkalmazásfejlesztés a Rational Unified Process alapján</a:t>
            </a:r>
          </a:p>
        </p:txBody>
      </p:sp>
      <p:sp>
        <p:nvSpPr>
          <p:cNvPr id="2662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hu-HU" smtClean="0"/>
          </a:p>
        </p:txBody>
      </p:sp>
    </p:spTree>
    <p:extLst>
      <p:ext uri="{BB962C8B-B14F-4D97-AF65-F5344CB8AC3E}">
        <p14:creationId xmlns:p14="http://schemas.microsoft.com/office/powerpoint/2010/main" val="34609751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hu-HU" altLang="hu-HU" smtClean="0"/>
              <a:t>Alkalmazásfejlesztés a Rational Unified Process alapján</a:t>
            </a:r>
          </a:p>
        </p:txBody>
      </p:sp>
      <p:sp>
        <p:nvSpPr>
          <p:cNvPr id="2765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hu-HU" smtClean="0"/>
          </a:p>
        </p:txBody>
      </p:sp>
    </p:spTree>
    <p:extLst>
      <p:ext uri="{BB962C8B-B14F-4D97-AF65-F5344CB8AC3E}">
        <p14:creationId xmlns:p14="http://schemas.microsoft.com/office/powerpoint/2010/main" val="16662474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hu-HU" altLang="hu-HU" smtClean="0"/>
              <a:t>Alkalmazásfejlesztés a Rational Unified Process alapján</a:t>
            </a:r>
          </a:p>
        </p:txBody>
      </p:sp>
      <p:sp>
        <p:nvSpPr>
          <p:cNvPr id="2867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hu-HU" smtClean="0"/>
          </a:p>
        </p:txBody>
      </p:sp>
    </p:spTree>
    <p:extLst>
      <p:ext uri="{BB962C8B-B14F-4D97-AF65-F5344CB8AC3E}">
        <p14:creationId xmlns:p14="http://schemas.microsoft.com/office/powerpoint/2010/main" val="8915765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hu-HU" altLang="hu-HU" smtClean="0"/>
              <a:t>Alkalmazásfejlesztés a Rational Unified Process alapján</a:t>
            </a:r>
          </a:p>
        </p:txBody>
      </p:sp>
      <p:sp>
        <p:nvSpPr>
          <p:cNvPr id="2969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0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hu-HU" smtClean="0"/>
          </a:p>
        </p:txBody>
      </p:sp>
    </p:spTree>
    <p:extLst>
      <p:ext uri="{BB962C8B-B14F-4D97-AF65-F5344CB8AC3E}">
        <p14:creationId xmlns:p14="http://schemas.microsoft.com/office/powerpoint/2010/main" val="14646747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hu-HU" altLang="hu-HU" smtClean="0"/>
              <a:t>Alkalmazásfejlesztés a Rational Unified Process alapján</a:t>
            </a:r>
          </a:p>
        </p:txBody>
      </p:sp>
      <p:sp>
        <p:nvSpPr>
          <p:cNvPr id="3072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hu-HU" smtClean="0"/>
          </a:p>
        </p:txBody>
      </p:sp>
    </p:spTree>
    <p:extLst>
      <p:ext uri="{BB962C8B-B14F-4D97-AF65-F5344CB8AC3E}">
        <p14:creationId xmlns:p14="http://schemas.microsoft.com/office/powerpoint/2010/main" val="16361543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hu-HU" altLang="hu-HU" smtClean="0"/>
              <a:t>Alkalmazásfejlesztés a Rational Unified Process alapján</a:t>
            </a:r>
          </a:p>
        </p:txBody>
      </p:sp>
      <p:sp>
        <p:nvSpPr>
          <p:cNvPr id="3174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hu-HU" smtClean="0"/>
          </a:p>
        </p:txBody>
      </p:sp>
    </p:spTree>
    <p:extLst>
      <p:ext uri="{BB962C8B-B14F-4D97-AF65-F5344CB8AC3E}">
        <p14:creationId xmlns:p14="http://schemas.microsoft.com/office/powerpoint/2010/main" val="27759791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hu-HU" altLang="hu-HU" smtClean="0"/>
          </a:p>
        </p:txBody>
      </p:sp>
      <p:sp>
        <p:nvSpPr>
          <p:cNvPr id="32772" name="Dia számának hely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E73E4174-B7D8-4437-8624-2BB053224519}" type="slidenum">
              <a:rPr lang="hu-HU" altLang="hu-HU"/>
              <a:pPr/>
              <a:t>272</a:t>
            </a:fld>
            <a:endParaRPr lang="hu-HU" altLang="hu-HU"/>
          </a:p>
        </p:txBody>
      </p:sp>
    </p:spTree>
    <p:extLst>
      <p:ext uri="{BB962C8B-B14F-4D97-AF65-F5344CB8AC3E}">
        <p14:creationId xmlns:p14="http://schemas.microsoft.com/office/powerpoint/2010/main" val="29206429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hu-HU" altLang="hu-HU" smtClean="0"/>
              <a:t>Alkalmazásfejlesztés a Rational Unified Process alapján</a:t>
            </a:r>
          </a:p>
        </p:txBody>
      </p:sp>
      <p:sp>
        <p:nvSpPr>
          <p:cNvPr id="3379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hu-HU" smtClean="0"/>
          </a:p>
        </p:txBody>
      </p:sp>
    </p:spTree>
    <p:extLst>
      <p:ext uri="{BB962C8B-B14F-4D97-AF65-F5344CB8AC3E}">
        <p14:creationId xmlns:p14="http://schemas.microsoft.com/office/powerpoint/2010/main" val="25553762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hu-HU" altLang="hu-HU" smtClean="0"/>
              <a:t>Alkalmazásfejlesztés a Rational Unified Process alapján</a:t>
            </a:r>
          </a:p>
        </p:txBody>
      </p:sp>
      <p:sp>
        <p:nvSpPr>
          <p:cNvPr id="3481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hu-HU" smtClean="0"/>
          </a:p>
        </p:txBody>
      </p:sp>
    </p:spTree>
    <p:extLst>
      <p:ext uri="{BB962C8B-B14F-4D97-AF65-F5344CB8AC3E}">
        <p14:creationId xmlns:p14="http://schemas.microsoft.com/office/powerpoint/2010/main" val="3627537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614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8670999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8195"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16400398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10243"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25674171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12291"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370890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14339"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4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10184763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16387"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33589002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18435"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38399463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20483"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29428069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22531"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39875294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24579"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8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10244187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26627"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38946025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28675"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42129521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30723"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37900056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32771"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8822374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34819"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26994263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36867"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18094959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38915"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23149462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40963"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6119625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43011"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3996037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45059"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6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5700636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47107"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30291799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49155"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356582001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51203"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185888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53251"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7893679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55299"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30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26400234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57347"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327605681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59395"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267782271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61443"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428424139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63491"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174920601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hu-HU" altLang="hu-HU" smtClean="0"/>
          </a:p>
        </p:txBody>
      </p:sp>
      <p:sp>
        <p:nvSpPr>
          <p:cNvPr id="65540" name="Dia számának hely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3B86A770-2DF2-42FF-8FF0-1D5C60DC4E07}" type="slidenum">
              <a:rPr lang="hu-HU" altLang="hu-HU"/>
              <a:pPr/>
              <a:t>317</a:t>
            </a:fld>
            <a:endParaRPr lang="hu-HU" altLang="hu-HU"/>
          </a:p>
        </p:txBody>
      </p:sp>
    </p:spTree>
    <p:extLst>
      <p:ext uri="{BB962C8B-B14F-4D97-AF65-F5344CB8AC3E}">
        <p14:creationId xmlns:p14="http://schemas.microsoft.com/office/powerpoint/2010/main" val="164977388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67587"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80508387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69635"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371632597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71683"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21012031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73731"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193581767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75779"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66750534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77827"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334643652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79875"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206216327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81923"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156046206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83971"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129364221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86019"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415441359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88067"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378742212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90115"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351663010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92163"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228139262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94211"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2469566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96259"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6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18918368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98307"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39680491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100355"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138307536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102403"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46790297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104451"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236211342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106499"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50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167437391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hdr" sz="quarter"/>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hu-HU" altLang="hu-HU" smtClean="0"/>
              <a:t>Alkalmazásfejlesztés a Rational Unified Process alapján</a:t>
            </a:r>
          </a:p>
        </p:txBody>
      </p:sp>
      <p:sp>
        <p:nvSpPr>
          <p:cNvPr id="108547" name="Rectangle 2"/>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hu-HU" smtClean="0"/>
          </a:p>
        </p:txBody>
      </p:sp>
    </p:spTree>
    <p:extLst>
      <p:ext uri="{BB962C8B-B14F-4D97-AF65-F5344CB8AC3E}">
        <p14:creationId xmlns:p14="http://schemas.microsoft.com/office/powerpoint/2010/main" val="166541688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5"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hu-HU" altLang="hu-HU" smtClean="0"/>
          </a:p>
        </p:txBody>
      </p:sp>
      <p:sp>
        <p:nvSpPr>
          <p:cNvPr id="110596" name="Dia számának hely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4E500CB8-0E0B-4A6F-A8D9-B39ACBB84915}" type="slidenum">
              <a:rPr lang="hu-HU" altLang="hu-HU"/>
              <a:pPr/>
              <a:t>339</a:t>
            </a:fld>
            <a:endParaRPr lang="hu-HU" altLang="hu-HU"/>
          </a:p>
        </p:txBody>
      </p:sp>
    </p:spTree>
    <p:extLst>
      <p:ext uri="{BB962C8B-B14F-4D97-AF65-F5344CB8AC3E}">
        <p14:creationId xmlns:p14="http://schemas.microsoft.com/office/powerpoint/2010/main" val="359109718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hu-HU" altLang="hu-HU" smtClean="0"/>
          </a:p>
        </p:txBody>
      </p:sp>
      <p:sp>
        <p:nvSpPr>
          <p:cNvPr id="112644" name="Dia számának hely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6212AF4A-0B86-4AAB-A8D9-4D31BBC65977}" type="slidenum">
              <a:rPr lang="hu-HU" altLang="hu-HU"/>
              <a:pPr/>
              <a:t>340</a:t>
            </a:fld>
            <a:endParaRPr lang="hu-HU" altLang="hu-HU"/>
          </a:p>
        </p:txBody>
      </p:sp>
    </p:spTree>
    <p:extLst>
      <p:ext uri="{BB962C8B-B14F-4D97-AF65-F5344CB8AC3E}">
        <p14:creationId xmlns:p14="http://schemas.microsoft.com/office/powerpoint/2010/main" val="176961177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4691"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hu-HU" altLang="hu-HU" smtClean="0"/>
          </a:p>
        </p:txBody>
      </p:sp>
      <p:sp>
        <p:nvSpPr>
          <p:cNvPr id="114692" name="Dia számának hely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395A42BE-6E43-442F-A10C-F9AA5DCF08E5}" type="slidenum">
              <a:rPr lang="hu-HU" altLang="hu-HU"/>
              <a:pPr/>
              <a:t>341</a:t>
            </a:fld>
            <a:endParaRPr lang="hu-HU" altLang="hu-HU"/>
          </a:p>
        </p:txBody>
      </p:sp>
    </p:spTree>
    <p:extLst>
      <p:ext uri="{BB962C8B-B14F-4D97-AF65-F5344CB8AC3E}">
        <p14:creationId xmlns:p14="http://schemas.microsoft.com/office/powerpoint/2010/main" val="308196048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hu-HU" altLang="hu-HU" smtClean="0"/>
          </a:p>
        </p:txBody>
      </p:sp>
      <p:sp>
        <p:nvSpPr>
          <p:cNvPr id="29700" name="Élőfej helye 3"/>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hu-HU" altLang="hu-HU" smtClean="0"/>
              <a:t>Alkalmazásfejlesztés a Rational Unified Process alapján</a:t>
            </a:r>
          </a:p>
        </p:txBody>
      </p:sp>
      <p:sp>
        <p:nvSpPr>
          <p:cNvPr id="29701" name="Dia számának helye 4"/>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453A0C3D-4B3F-422D-ABEA-3BD64875E462}" type="slidenum">
              <a:rPr lang="hu-HU" altLang="hu-HU"/>
              <a:pPr/>
              <a:t>385</a:t>
            </a:fld>
            <a:endParaRPr lang="hu-HU" altLang="hu-HU"/>
          </a:p>
        </p:txBody>
      </p:sp>
    </p:spTree>
    <p:extLst>
      <p:ext uri="{BB962C8B-B14F-4D97-AF65-F5344CB8AC3E}">
        <p14:creationId xmlns:p14="http://schemas.microsoft.com/office/powerpoint/2010/main" val="174633675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normAutofit/>
          </a:bodyPr>
          <a:lstStyle/>
          <a:p>
            <a:endParaRPr lang="hu-HU"/>
          </a:p>
        </p:txBody>
      </p:sp>
      <p:sp>
        <p:nvSpPr>
          <p:cNvPr id="4" name="Dia számának helye 3"/>
          <p:cNvSpPr>
            <a:spLocks noGrp="1"/>
          </p:cNvSpPr>
          <p:nvPr>
            <p:ph type="sldNum" sz="quarter" idx="10"/>
          </p:nvPr>
        </p:nvSpPr>
        <p:spPr/>
        <p:txBody>
          <a:bodyPr/>
          <a:lstStyle/>
          <a:p>
            <a:fld id="{4E302CED-D3F9-40BD-A7BB-C2122EEF5A96}" type="slidenum">
              <a:rPr lang="hu-HU" smtClean="0"/>
              <a:pPr/>
              <a:t>410</a:t>
            </a:fld>
            <a:endParaRPr lang="hu-HU"/>
          </a:p>
        </p:txBody>
      </p:sp>
    </p:spTree>
    <p:extLst>
      <p:ext uri="{BB962C8B-B14F-4D97-AF65-F5344CB8AC3E}">
        <p14:creationId xmlns:p14="http://schemas.microsoft.com/office/powerpoint/2010/main" val="227781322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normAutofit/>
          </a:bodyPr>
          <a:lstStyle/>
          <a:p>
            <a:endParaRPr lang="hu-HU"/>
          </a:p>
        </p:txBody>
      </p:sp>
      <p:sp>
        <p:nvSpPr>
          <p:cNvPr id="4" name="Dia számának helye 3"/>
          <p:cNvSpPr>
            <a:spLocks noGrp="1"/>
          </p:cNvSpPr>
          <p:nvPr>
            <p:ph type="sldNum" sz="quarter" idx="10"/>
          </p:nvPr>
        </p:nvSpPr>
        <p:spPr/>
        <p:txBody>
          <a:bodyPr/>
          <a:lstStyle/>
          <a:p>
            <a:fld id="{4E302CED-D3F9-40BD-A7BB-C2122EEF5A96}" type="slidenum">
              <a:rPr lang="hu-HU" smtClean="0"/>
              <a:pPr/>
              <a:t>411</a:t>
            </a:fld>
            <a:endParaRPr lang="hu-HU"/>
          </a:p>
        </p:txBody>
      </p:sp>
    </p:spTree>
    <p:extLst>
      <p:ext uri="{BB962C8B-B14F-4D97-AF65-F5344CB8AC3E}">
        <p14:creationId xmlns:p14="http://schemas.microsoft.com/office/powerpoint/2010/main" val="161181268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normAutofit/>
          </a:bodyPr>
          <a:lstStyle/>
          <a:p>
            <a:endParaRPr lang="hu-HU"/>
          </a:p>
        </p:txBody>
      </p:sp>
      <p:sp>
        <p:nvSpPr>
          <p:cNvPr id="4" name="Dia számának helye 3"/>
          <p:cNvSpPr>
            <a:spLocks noGrp="1"/>
          </p:cNvSpPr>
          <p:nvPr>
            <p:ph type="sldNum" sz="quarter" idx="10"/>
          </p:nvPr>
        </p:nvSpPr>
        <p:spPr/>
        <p:txBody>
          <a:bodyPr/>
          <a:lstStyle/>
          <a:p>
            <a:fld id="{4E302CED-D3F9-40BD-A7BB-C2122EEF5A96}" type="slidenum">
              <a:rPr lang="hu-HU" smtClean="0"/>
              <a:pPr/>
              <a:t>412</a:t>
            </a:fld>
            <a:endParaRPr lang="hu-HU"/>
          </a:p>
        </p:txBody>
      </p:sp>
    </p:spTree>
    <p:extLst>
      <p:ext uri="{BB962C8B-B14F-4D97-AF65-F5344CB8AC3E}">
        <p14:creationId xmlns:p14="http://schemas.microsoft.com/office/powerpoint/2010/main" val="323932156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normAutofit/>
          </a:bodyPr>
          <a:lstStyle/>
          <a:p>
            <a:endParaRPr lang="hu-HU"/>
          </a:p>
        </p:txBody>
      </p:sp>
      <p:sp>
        <p:nvSpPr>
          <p:cNvPr id="4" name="Dia számának helye 3"/>
          <p:cNvSpPr>
            <a:spLocks noGrp="1"/>
          </p:cNvSpPr>
          <p:nvPr>
            <p:ph type="sldNum" sz="quarter" idx="10"/>
          </p:nvPr>
        </p:nvSpPr>
        <p:spPr/>
        <p:txBody>
          <a:bodyPr/>
          <a:lstStyle/>
          <a:p>
            <a:fld id="{4E302CED-D3F9-40BD-A7BB-C2122EEF5A96}" type="slidenum">
              <a:rPr lang="hu-HU" smtClean="0"/>
              <a:pPr/>
              <a:t>413</a:t>
            </a:fld>
            <a:endParaRPr lang="hu-HU"/>
          </a:p>
        </p:txBody>
      </p:sp>
    </p:spTree>
    <p:extLst>
      <p:ext uri="{BB962C8B-B14F-4D97-AF65-F5344CB8AC3E}">
        <p14:creationId xmlns:p14="http://schemas.microsoft.com/office/powerpoint/2010/main" val="280052036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normAutofit/>
          </a:bodyPr>
          <a:lstStyle/>
          <a:p>
            <a:endParaRPr lang="hu-HU"/>
          </a:p>
        </p:txBody>
      </p:sp>
      <p:sp>
        <p:nvSpPr>
          <p:cNvPr id="4" name="Dia számának helye 3"/>
          <p:cNvSpPr>
            <a:spLocks noGrp="1"/>
          </p:cNvSpPr>
          <p:nvPr>
            <p:ph type="sldNum" sz="quarter" idx="10"/>
          </p:nvPr>
        </p:nvSpPr>
        <p:spPr/>
        <p:txBody>
          <a:bodyPr/>
          <a:lstStyle/>
          <a:p>
            <a:fld id="{397BE5A6-1540-4629-A8AB-C91ED2000E43}" type="slidenum">
              <a:rPr lang="hu-HU" smtClean="0"/>
              <a:t>414</a:t>
            </a:fld>
            <a:endParaRPr lang="hu-HU"/>
          </a:p>
        </p:txBody>
      </p:sp>
    </p:spTree>
    <p:extLst>
      <p:ext uri="{BB962C8B-B14F-4D97-AF65-F5344CB8AC3E}">
        <p14:creationId xmlns:p14="http://schemas.microsoft.com/office/powerpoint/2010/main" val="406729117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normAutofit/>
          </a:bodyPr>
          <a:lstStyle/>
          <a:p>
            <a:endParaRPr lang="hu-HU"/>
          </a:p>
        </p:txBody>
      </p:sp>
      <p:sp>
        <p:nvSpPr>
          <p:cNvPr id="4" name="Dia számának helye 3"/>
          <p:cNvSpPr>
            <a:spLocks noGrp="1"/>
          </p:cNvSpPr>
          <p:nvPr>
            <p:ph type="sldNum" sz="quarter" idx="10"/>
          </p:nvPr>
        </p:nvSpPr>
        <p:spPr/>
        <p:txBody>
          <a:bodyPr/>
          <a:lstStyle/>
          <a:p>
            <a:fld id="{4E302CED-D3F9-40BD-A7BB-C2122EEF5A96}" type="slidenum">
              <a:rPr lang="hu-HU" smtClean="0"/>
              <a:pPr/>
              <a:t>415</a:t>
            </a:fld>
            <a:endParaRPr lang="hu-HU"/>
          </a:p>
        </p:txBody>
      </p:sp>
    </p:spTree>
    <p:extLst>
      <p:ext uri="{BB962C8B-B14F-4D97-AF65-F5344CB8AC3E}">
        <p14:creationId xmlns:p14="http://schemas.microsoft.com/office/powerpoint/2010/main" val="209833724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normAutofit/>
          </a:bodyPr>
          <a:lstStyle/>
          <a:p>
            <a:endParaRPr lang="hu-HU"/>
          </a:p>
        </p:txBody>
      </p:sp>
      <p:sp>
        <p:nvSpPr>
          <p:cNvPr id="4" name="Dia számának helye 3"/>
          <p:cNvSpPr>
            <a:spLocks noGrp="1"/>
          </p:cNvSpPr>
          <p:nvPr>
            <p:ph type="sldNum" sz="quarter" idx="10"/>
          </p:nvPr>
        </p:nvSpPr>
        <p:spPr/>
        <p:txBody>
          <a:bodyPr/>
          <a:lstStyle/>
          <a:p>
            <a:fld id="{397BE5A6-1540-4629-A8AB-C91ED2000E43}" type="slidenum">
              <a:rPr lang="hu-HU" smtClean="0"/>
              <a:t>416</a:t>
            </a:fld>
            <a:endParaRPr lang="hu-HU"/>
          </a:p>
        </p:txBody>
      </p:sp>
    </p:spTree>
    <p:extLst>
      <p:ext uri="{BB962C8B-B14F-4D97-AF65-F5344CB8AC3E}">
        <p14:creationId xmlns:p14="http://schemas.microsoft.com/office/powerpoint/2010/main" val="221383730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normAutofit/>
          </a:bodyPr>
          <a:lstStyle/>
          <a:p>
            <a:endParaRPr lang="hu-HU"/>
          </a:p>
        </p:txBody>
      </p:sp>
      <p:sp>
        <p:nvSpPr>
          <p:cNvPr id="4" name="Dia számának helye 3"/>
          <p:cNvSpPr>
            <a:spLocks noGrp="1"/>
          </p:cNvSpPr>
          <p:nvPr>
            <p:ph type="sldNum" sz="quarter" idx="10"/>
          </p:nvPr>
        </p:nvSpPr>
        <p:spPr/>
        <p:txBody>
          <a:bodyPr/>
          <a:lstStyle/>
          <a:p>
            <a:fld id="{4E302CED-D3F9-40BD-A7BB-C2122EEF5A96}" type="slidenum">
              <a:rPr lang="hu-HU" smtClean="0"/>
              <a:pPr/>
              <a:t>417</a:t>
            </a:fld>
            <a:endParaRPr lang="hu-HU"/>
          </a:p>
        </p:txBody>
      </p:sp>
    </p:spTree>
    <p:extLst>
      <p:ext uri="{BB962C8B-B14F-4D97-AF65-F5344CB8AC3E}">
        <p14:creationId xmlns:p14="http://schemas.microsoft.com/office/powerpoint/2010/main" val="15587985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normAutofit/>
          </a:bodyPr>
          <a:lstStyle/>
          <a:p>
            <a:endParaRPr lang="hu-HU"/>
          </a:p>
        </p:txBody>
      </p:sp>
      <p:sp>
        <p:nvSpPr>
          <p:cNvPr id="4" name="Dia számának helye 3"/>
          <p:cNvSpPr>
            <a:spLocks noGrp="1"/>
          </p:cNvSpPr>
          <p:nvPr>
            <p:ph type="sldNum" sz="quarter" idx="10"/>
          </p:nvPr>
        </p:nvSpPr>
        <p:spPr/>
        <p:txBody>
          <a:bodyPr/>
          <a:lstStyle/>
          <a:p>
            <a:fld id="{4E302CED-D3F9-40BD-A7BB-C2122EEF5A96}" type="slidenum">
              <a:rPr lang="hu-HU" smtClean="0"/>
              <a:pPr/>
              <a:t>418</a:t>
            </a:fld>
            <a:endParaRPr lang="hu-HU"/>
          </a:p>
        </p:txBody>
      </p:sp>
    </p:spTree>
    <p:extLst>
      <p:ext uri="{BB962C8B-B14F-4D97-AF65-F5344CB8AC3E}">
        <p14:creationId xmlns:p14="http://schemas.microsoft.com/office/powerpoint/2010/main" val="60456036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normAutofit/>
          </a:bodyPr>
          <a:lstStyle/>
          <a:p>
            <a:endParaRPr lang="hu-HU"/>
          </a:p>
        </p:txBody>
      </p:sp>
      <p:sp>
        <p:nvSpPr>
          <p:cNvPr id="4" name="Dia számának helye 3"/>
          <p:cNvSpPr>
            <a:spLocks noGrp="1"/>
          </p:cNvSpPr>
          <p:nvPr>
            <p:ph type="sldNum" sz="quarter" idx="10"/>
          </p:nvPr>
        </p:nvSpPr>
        <p:spPr/>
        <p:txBody>
          <a:bodyPr/>
          <a:lstStyle/>
          <a:p>
            <a:fld id="{397BE5A6-1540-4629-A8AB-C91ED2000E43}" type="slidenum">
              <a:rPr lang="hu-HU" smtClean="0"/>
              <a:t>419</a:t>
            </a:fld>
            <a:endParaRPr lang="hu-HU"/>
          </a:p>
        </p:txBody>
      </p:sp>
    </p:spTree>
    <p:extLst>
      <p:ext uri="{BB962C8B-B14F-4D97-AF65-F5344CB8AC3E}">
        <p14:creationId xmlns:p14="http://schemas.microsoft.com/office/powerpoint/2010/main" val="24479800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normAutofit/>
          </a:bodyPr>
          <a:lstStyle/>
          <a:p>
            <a:endParaRPr lang="hu-HU"/>
          </a:p>
        </p:txBody>
      </p:sp>
      <p:sp>
        <p:nvSpPr>
          <p:cNvPr id="4" name="Dia számának helye 3"/>
          <p:cNvSpPr>
            <a:spLocks noGrp="1"/>
          </p:cNvSpPr>
          <p:nvPr>
            <p:ph type="sldNum" sz="quarter" idx="10"/>
          </p:nvPr>
        </p:nvSpPr>
        <p:spPr/>
        <p:txBody>
          <a:bodyPr/>
          <a:lstStyle/>
          <a:p>
            <a:fld id="{397BE5A6-1540-4629-A8AB-C91ED2000E43}" type="slidenum">
              <a:rPr lang="hu-HU" smtClean="0"/>
              <a:t>420</a:t>
            </a:fld>
            <a:endParaRPr lang="hu-HU"/>
          </a:p>
        </p:txBody>
      </p:sp>
    </p:spTree>
    <p:extLst>
      <p:ext uri="{BB962C8B-B14F-4D97-AF65-F5344CB8AC3E}">
        <p14:creationId xmlns:p14="http://schemas.microsoft.com/office/powerpoint/2010/main" val="1586270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normAutofit/>
          </a:bodyPr>
          <a:lstStyle/>
          <a:p>
            <a:endParaRPr lang="hu-HU"/>
          </a:p>
        </p:txBody>
      </p:sp>
      <p:sp>
        <p:nvSpPr>
          <p:cNvPr id="4" name="Dia számának helye 3"/>
          <p:cNvSpPr>
            <a:spLocks noGrp="1"/>
          </p:cNvSpPr>
          <p:nvPr>
            <p:ph type="sldNum" sz="quarter" idx="10"/>
          </p:nvPr>
        </p:nvSpPr>
        <p:spPr/>
        <p:txBody>
          <a:bodyPr/>
          <a:lstStyle/>
          <a:p>
            <a:fld id="{4E302CED-D3F9-40BD-A7BB-C2122EEF5A96}" type="slidenum">
              <a:rPr lang="hu-HU" smtClean="0"/>
              <a:pPr/>
              <a:t>421</a:t>
            </a:fld>
            <a:endParaRPr lang="hu-HU"/>
          </a:p>
        </p:txBody>
      </p:sp>
    </p:spTree>
    <p:extLst>
      <p:ext uri="{BB962C8B-B14F-4D97-AF65-F5344CB8AC3E}">
        <p14:creationId xmlns:p14="http://schemas.microsoft.com/office/powerpoint/2010/main" val="29030467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normAutofit/>
          </a:bodyPr>
          <a:lstStyle/>
          <a:p>
            <a:endParaRPr lang="hu-HU"/>
          </a:p>
        </p:txBody>
      </p:sp>
      <p:sp>
        <p:nvSpPr>
          <p:cNvPr id="4" name="Dia számának helye 3"/>
          <p:cNvSpPr>
            <a:spLocks noGrp="1"/>
          </p:cNvSpPr>
          <p:nvPr>
            <p:ph type="sldNum" sz="quarter" idx="10"/>
          </p:nvPr>
        </p:nvSpPr>
        <p:spPr/>
        <p:txBody>
          <a:bodyPr/>
          <a:lstStyle/>
          <a:p>
            <a:fld id="{397BE5A6-1540-4629-A8AB-C91ED2000E43}" type="slidenum">
              <a:rPr lang="hu-HU" smtClean="0"/>
              <a:t>422</a:t>
            </a:fld>
            <a:endParaRPr lang="hu-HU"/>
          </a:p>
        </p:txBody>
      </p:sp>
    </p:spTree>
    <p:extLst>
      <p:ext uri="{BB962C8B-B14F-4D97-AF65-F5344CB8AC3E}">
        <p14:creationId xmlns:p14="http://schemas.microsoft.com/office/powerpoint/2010/main" val="7089312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normAutofit/>
          </a:bodyPr>
          <a:lstStyle/>
          <a:p>
            <a:endParaRPr lang="hu-HU"/>
          </a:p>
        </p:txBody>
      </p:sp>
      <p:sp>
        <p:nvSpPr>
          <p:cNvPr id="4" name="Dia számának helye 3"/>
          <p:cNvSpPr>
            <a:spLocks noGrp="1"/>
          </p:cNvSpPr>
          <p:nvPr>
            <p:ph type="sldNum" sz="quarter" idx="10"/>
          </p:nvPr>
        </p:nvSpPr>
        <p:spPr/>
        <p:txBody>
          <a:bodyPr/>
          <a:lstStyle/>
          <a:p>
            <a:fld id="{397BE5A6-1540-4629-A8AB-C91ED2000E43}" type="slidenum">
              <a:rPr lang="hu-HU" smtClean="0"/>
              <a:t>423</a:t>
            </a:fld>
            <a:endParaRPr lang="hu-HU"/>
          </a:p>
        </p:txBody>
      </p:sp>
    </p:spTree>
    <p:extLst>
      <p:ext uri="{BB962C8B-B14F-4D97-AF65-F5344CB8AC3E}">
        <p14:creationId xmlns:p14="http://schemas.microsoft.com/office/powerpoint/2010/main" val="357696886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normAutofit/>
          </a:bodyPr>
          <a:lstStyle/>
          <a:p>
            <a:endParaRPr lang="hu-HU"/>
          </a:p>
        </p:txBody>
      </p:sp>
      <p:sp>
        <p:nvSpPr>
          <p:cNvPr id="4" name="Dia számának helye 3"/>
          <p:cNvSpPr>
            <a:spLocks noGrp="1"/>
          </p:cNvSpPr>
          <p:nvPr>
            <p:ph type="sldNum" sz="quarter" idx="10"/>
          </p:nvPr>
        </p:nvSpPr>
        <p:spPr/>
        <p:txBody>
          <a:bodyPr/>
          <a:lstStyle/>
          <a:p>
            <a:fld id="{4E302CED-D3F9-40BD-A7BB-C2122EEF5A96}" type="slidenum">
              <a:rPr lang="hu-HU" smtClean="0"/>
              <a:pPr/>
              <a:t>424</a:t>
            </a:fld>
            <a:endParaRPr lang="hu-HU"/>
          </a:p>
        </p:txBody>
      </p:sp>
    </p:spTree>
    <p:extLst>
      <p:ext uri="{BB962C8B-B14F-4D97-AF65-F5344CB8AC3E}">
        <p14:creationId xmlns:p14="http://schemas.microsoft.com/office/powerpoint/2010/main" val="409511486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normAutofit/>
          </a:bodyPr>
          <a:lstStyle/>
          <a:p>
            <a:endParaRPr lang="hu-HU"/>
          </a:p>
        </p:txBody>
      </p:sp>
      <p:sp>
        <p:nvSpPr>
          <p:cNvPr id="4" name="Dia számának helye 3"/>
          <p:cNvSpPr>
            <a:spLocks noGrp="1"/>
          </p:cNvSpPr>
          <p:nvPr>
            <p:ph type="sldNum" sz="quarter" idx="10"/>
          </p:nvPr>
        </p:nvSpPr>
        <p:spPr/>
        <p:txBody>
          <a:bodyPr/>
          <a:lstStyle/>
          <a:p>
            <a:fld id="{4E302CED-D3F9-40BD-A7BB-C2122EEF5A96}" type="slidenum">
              <a:rPr lang="hu-HU" smtClean="0"/>
              <a:pPr/>
              <a:t>425</a:t>
            </a:fld>
            <a:endParaRPr lang="hu-HU"/>
          </a:p>
        </p:txBody>
      </p:sp>
    </p:spTree>
    <p:extLst>
      <p:ext uri="{BB962C8B-B14F-4D97-AF65-F5344CB8AC3E}">
        <p14:creationId xmlns:p14="http://schemas.microsoft.com/office/powerpoint/2010/main" val="496616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ímdia">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hu-HU" smtClean="0"/>
              <a:t>Mintacím szerkesztése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u-HU" smtClean="0"/>
              <a:t>Kattintson ide az alcím mintájának szerkesztéséhez</a:t>
            </a:r>
            <a:endParaRPr lang="en-US" dirty="0"/>
          </a:p>
        </p:txBody>
      </p:sp>
      <p:sp>
        <p:nvSpPr>
          <p:cNvPr id="4" name="Date Placeholder 3"/>
          <p:cNvSpPr>
            <a:spLocks noGrp="1"/>
          </p:cNvSpPr>
          <p:nvPr>
            <p:ph type="dt" sz="half" idx="10"/>
          </p:nvPr>
        </p:nvSpPr>
        <p:spPr/>
        <p:txBody>
          <a:bodyPr/>
          <a:lstStyle/>
          <a:p>
            <a:fld id="{5334BA69-4304-4F7C-89DD-7D7086BC7E5E}" type="datetimeFigureOut">
              <a:rPr lang="hu-HU" smtClean="0"/>
              <a:t>2024. 11. 28.</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240C0F17-34AE-4C89-BAAE-0CEA464501A1}" type="slidenum">
              <a:rPr lang="hu-HU" smtClean="0"/>
              <a:t>‹#›</a:t>
            </a:fld>
            <a:endParaRPr lang="hu-HU"/>
          </a:p>
        </p:txBody>
      </p:sp>
    </p:spTree>
    <p:extLst>
      <p:ext uri="{BB962C8B-B14F-4D97-AF65-F5344CB8AC3E}">
        <p14:creationId xmlns:p14="http://schemas.microsoft.com/office/powerpoint/2010/main" val="3928260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hu-HU" smtClean="0"/>
              <a:t>Mintacím szerkesztése</a:t>
            </a:r>
            <a:endParaRPr lang="en-US" dirty="0"/>
          </a:p>
        </p:txBody>
      </p:sp>
      <p:sp>
        <p:nvSpPr>
          <p:cNvPr id="3" name="Content Placeholder 2"/>
          <p:cNvSpPr>
            <a:spLocks noGrp="1"/>
          </p:cNvSpPr>
          <p:nvPr>
            <p:ph idx="1"/>
          </p:nvPr>
        </p:nvSpPr>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4" name="Date Placeholder 3"/>
          <p:cNvSpPr>
            <a:spLocks noGrp="1"/>
          </p:cNvSpPr>
          <p:nvPr>
            <p:ph type="dt" sz="half" idx="10"/>
          </p:nvPr>
        </p:nvSpPr>
        <p:spPr/>
        <p:txBody>
          <a:bodyPr/>
          <a:lstStyle/>
          <a:p>
            <a:fld id="{5334BA69-4304-4F7C-89DD-7D7086BC7E5E}" type="datetimeFigureOut">
              <a:rPr lang="hu-HU" smtClean="0"/>
              <a:t>2024. 11. 28.</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240C0F17-34AE-4C89-BAAE-0CEA464501A1}" type="slidenum">
              <a:rPr lang="hu-HU" smtClean="0"/>
              <a:t>‹#›</a:t>
            </a:fld>
            <a:endParaRPr lang="hu-HU"/>
          </a:p>
        </p:txBody>
      </p:sp>
    </p:spTree>
    <p:extLst>
      <p:ext uri="{BB962C8B-B14F-4D97-AF65-F5344CB8AC3E}">
        <p14:creationId xmlns:p14="http://schemas.microsoft.com/office/powerpoint/2010/main" val="3591240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hu-HU" smtClean="0"/>
              <a:t>Mintacím szerkesztése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smtClean="0"/>
              <a:t>Mintaszöveg szerkesztése</a:t>
            </a:r>
          </a:p>
        </p:txBody>
      </p:sp>
      <p:sp>
        <p:nvSpPr>
          <p:cNvPr id="4" name="Date Placeholder 3"/>
          <p:cNvSpPr>
            <a:spLocks noGrp="1"/>
          </p:cNvSpPr>
          <p:nvPr>
            <p:ph type="dt" sz="half" idx="10"/>
          </p:nvPr>
        </p:nvSpPr>
        <p:spPr/>
        <p:txBody>
          <a:bodyPr/>
          <a:lstStyle/>
          <a:p>
            <a:fld id="{5334BA69-4304-4F7C-89DD-7D7086BC7E5E}" type="datetimeFigureOut">
              <a:rPr lang="hu-HU" smtClean="0"/>
              <a:t>2024. 11. 28.</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240C0F17-34AE-4C89-BAAE-0CEA464501A1}" type="slidenum">
              <a:rPr lang="hu-HU" smtClean="0"/>
              <a:t>‹#›</a:t>
            </a:fld>
            <a:endParaRPr lang="hu-HU"/>
          </a:p>
        </p:txBody>
      </p:sp>
    </p:spTree>
    <p:extLst>
      <p:ext uri="{BB962C8B-B14F-4D97-AF65-F5344CB8AC3E}">
        <p14:creationId xmlns:p14="http://schemas.microsoft.com/office/powerpoint/2010/main" val="3808755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smtClean="0"/>
              <a:t>Mintacím szerkesztése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5" name="Date Placeholder 4"/>
          <p:cNvSpPr>
            <a:spLocks noGrp="1"/>
          </p:cNvSpPr>
          <p:nvPr>
            <p:ph type="dt" sz="half" idx="10"/>
          </p:nvPr>
        </p:nvSpPr>
        <p:spPr/>
        <p:txBody>
          <a:bodyPr/>
          <a:lstStyle/>
          <a:p>
            <a:fld id="{5334BA69-4304-4F7C-89DD-7D7086BC7E5E}" type="datetimeFigureOut">
              <a:rPr lang="hu-HU" smtClean="0"/>
              <a:t>2024. 11. 28.</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240C0F17-34AE-4C89-BAAE-0CEA464501A1}" type="slidenum">
              <a:rPr lang="hu-HU" smtClean="0"/>
              <a:t>‹#›</a:t>
            </a:fld>
            <a:endParaRPr lang="hu-HU"/>
          </a:p>
        </p:txBody>
      </p:sp>
    </p:spTree>
    <p:extLst>
      <p:ext uri="{BB962C8B-B14F-4D97-AF65-F5344CB8AC3E}">
        <p14:creationId xmlns:p14="http://schemas.microsoft.com/office/powerpoint/2010/main" val="1760041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hu-HU" smtClean="0"/>
              <a:t>Mintacím szerkesztése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smtClean="0"/>
              <a:t>Mintaszöveg szerkesztése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smtClean="0"/>
              <a:t>Mintaszöveg szerkesztése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7" name="Date Placeholder 6"/>
          <p:cNvSpPr>
            <a:spLocks noGrp="1"/>
          </p:cNvSpPr>
          <p:nvPr>
            <p:ph type="dt" sz="half" idx="10"/>
          </p:nvPr>
        </p:nvSpPr>
        <p:spPr/>
        <p:txBody>
          <a:bodyPr/>
          <a:lstStyle/>
          <a:p>
            <a:fld id="{5334BA69-4304-4F7C-89DD-7D7086BC7E5E}" type="datetimeFigureOut">
              <a:rPr lang="hu-HU" smtClean="0"/>
              <a:t>2024. 11. 28.</a:t>
            </a:fld>
            <a:endParaRPr lang="hu-HU"/>
          </a:p>
        </p:txBody>
      </p:sp>
      <p:sp>
        <p:nvSpPr>
          <p:cNvPr id="8" name="Footer Placeholder 7"/>
          <p:cNvSpPr>
            <a:spLocks noGrp="1"/>
          </p:cNvSpPr>
          <p:nvPr>
            <p:ph type="ftr" sz="quarter" idx="11"/>
          </p:nvPr>
        </p:nvSpPr>
        <p:spPr/>
        <p:txBody>
          <a:bodyPr/>
          <a:lstStyle/>
          <a:p>
            <a:endParaRPr lang="hu-HU"/>
          </a:p>
        </p:txBody>
      </p:sp>
      <p:sp>
        <p:nvSpPr>
          <p:cNvPr id="9" name="Slide Number Placeholder 8"/>
          <p:cNvSpPr>
            <a:spLocks noGrp="1"/>
          </p:cNvSpPr>
          <p:nvPr>
            <p:ph type="sldNum" sz="quarter" idx="12"/>
          </p:nvPr>
        </p:nvSpPr>
        <p:spPr/>
        <p:txBody>
          <a:bodyPr/>
          <a:lstStyle/>
          <a:p>
            <a:fld id="{240C0F17-34AE-4C89-BAAE-0CEA464501A1}" type="slidenum">
              <a:rPr lang="hu-HU" smtClean="0"/>
              <a:t>‹#›</a:t>
            </a:fld>
            <a:endParaRPr lang="hu-HU"/>
          </a:p>
        </p:txBody>
      </p:sp>
    </p:spTree>
    <p:extLst>
      <p:ext uri="{BB962C8B-B14F-4D97-AF65-F5344CB8AC3E}">
        <p14:creationId xmlns:p14="http://schemas.microsoft.com/office/powerpoint/2010/main" val="3290682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hu-HU" smtClean="0"/>
              <a:t>Mintacím szerkesztése</a:t>
            </a:r>
            <a:endParaRPr lang="en-US" dirty="0"/>
          </a:p>
        </p:txBody>
      </p:sp>
      <p:sp>
        <p:nvSpPr>
          <p:cNvPr id="3" name="Date Placeholder 2"/>
          <p:cNvSpPr>
            <a:spLocks noGrp="1"/>
          </p:cNvSpPr>
          <p:nvPr>
            <p:ph type="dt" sz="half" idx="10"/>
          </p:nvPr>
        </p:nvSpPr>
        <p:spPr/>
        <p:txBody>
          <a:bodyPr/>
          <a:lstStyle/>
          <a:p>
            <a:fld id="{5334BA69-4304-4F7C-89DD-7D7086BC7E5E}" type="datetimeFigureOut">
              <a:rPr lang="hu-HU" smtClean="0"/>
              <a:t>2024. 11. 28.</a:t>
            </a:fld>
            <a:endParaRPr lang="hu-HU"/>
          </a:p>
        </p:txBody>
      </p:sp>
      <p:sp>
        <p:nvSpPr>
          <p:cNvPr id="4" name="Footer Placeholder 3"/>
          <p:cNvSpPr>
            <a:spLocks noGrp="1"/>
          </p:cNvSpPr>
          <p:nvPr>
            <p:ph type="ftr" sz="quarter" idx="11"/>
          </p:nvPr>
        </p:nvSpPr>
        <p:spPr/>
        <p:txBody>
          <a:bodyPr/>
          <a:lstStyle/>
          <a:p>
            <a:endParaRPr lang="hu-HU"/>
          </a:p>
        </p:txBody>
      </p:sp>
      <p:sp>
        <p:nvSpPr>
          <p:cNvPr id="5" name="Slide Number Placeholder 4"/>
          <p:cNvSpPr>
            <a:spLocks noGrp="1"/>
          </p:cNvSpPr>
          <p:nvPr>
            <p:ph type="sldNum" sz="quarter" idx="12"/>
          </p:nvPr>
        </p:nvSpPr>
        <p:spPr/>
        <p:txBody>
          <a:bodyPr/>
          <a:lstStyle/>
          <a:p>
            <a:fld id="{240C0F17-34AE-4C89-BAAE-0CEA464501A1}" type="slidenum">
              <a:rPr lang="hu-HU" smtClean="0"/>
              <a:t>‹#›</a:t>
            </a:fld>
            <a:endParaRPr lang="hu-HU"/>
          </a:p>
        </p:txBody>
      </p:sp>
    </p:spTree>
    <p:extLst>
      <p:ext uri="{BB962C8B-B14F-4D97-AF65-F5344CB8AC3E}">
        <p14:creationId xmlns:p14="http://schemas.microsoft.com/office/powerpoint/2010/main" val="1351036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34BA69-4304-4F7C-89DD-7D7086BC7E5E}" type="datetimeFigureOut">
              <a:rPr lang="hu-HU" smtClean="0"/>
              <a:t>2024. 11. 28.</a:t>
            </a:fld>
            <a:endParaRPr lang="hu-HU"/>
          </a:p>
        </p:txBody>
      </p:sp>
      <p:sp>
        <p:nvSpPr>
          <p:cNvPr id="3" name="Footer Placeholder 2"/>
          <p:cNvSpPr>
            <a:spLocks noGrp="1"/>
          </p:cNvSpPr>
          <p:nvPr>
            <p:ph type="ftr" sz="quarter" idx="11"/>
          </p:nvPr>
        </p:nvSpPr>
        <p:spPr/>
        <p:txBody>
          <a:bodyPr/>
          <a:lstStyle/>
          <a:p>
            <a:endParaRPr lang="hu-HU"/>
          </a:p>
        </p:txBody>
      </p:sp>
      <p:sp>
        <p:nvSpPr>
          <p:cNvPr id="4" name="Slide Number Placeholder 3"/>
          <p:cNvSpPr>
            <a:spLocks noGrp="1"/>
          </p:cNvSpPr>
          <p:nvPr>
            <p:ph type="sldNum" sz="quarter" idx="12"/>
          </p:nvPr>
        </p:nvSpPr>
        <p:spPr/>
        <p:txBody>
          <a:bodyPr/>
          <a:lstStyle/>
          <a:p>
            <a:fld id="{240C0F17-34AE-4C89-BAAE-0CEA464501A1}" type="slidenum">
              <a:rPr lang="hu-HU" smtClean="0"/>
              <a:t>‹#›</a:t>
            </a:fld>
            <a:endParaRPr lang="hu-HU"/>
          </a:p>
        </p:txBody>
      </p:sp>
    </p:spTree>
    <p:extLst>
      <p:ext uri="{BB962C8B-B14F-4D97-AF65-F5344CB8AC3E}">
        <p14:creationId xmlns:p14="http://schemas.microsoft.com/office/powerpoint/2010/main" val="1423217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hu-HU" smtClean="0"/>
              <a:t>Mintacím szerkesztése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hu-HU" smtClean="0"/>
              <a:t>Mintaszöveg szerkesztése</a:t>
            </a:r>
          </a:p>
        </p:txBody>
      </p:sp>
      <p:sp>
        <p:nvSpPr>
          <p:cNvPr id="5" name="Date Placeholder 4"/>
          <p:cNvSpPr>
            <a:spLocks noGrp="1"/>
          </p:cNvSpPr>
          <p:nvPr>
            <p:ph type="dt" sz="half" idx="10"/>
          </p:nvPr>
        </p:nvSpPr>
        <p:spPr/>
        <p:txBody>
          <a:bodyPr/>
          <a:lstStyle/>
          <a:p>
            <a:fld id="{5334BA69-4304-4F7C-89DD-7D7086BC7E5E}" type="datetimeFigureOut">
              <a:rPr lang="hu-HU" smtClean="0"/>
              <a:t>2024. 11. 28.</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240C0F17-34AE-4C89-BAAE-0CEA464501A1}" type="slidenum">
              <a:rPr lang="hu-HU" smtClean="0"/>
              <a:t>‹#›</a:t>
            </a:fld>
            <a:endParaRPr lang="hu-HU"/>
          </a:p>
        </p:txBody>
      </p:sp>
    </p:spTree>
    <p:extLst>
      <p:ext uri="{BB962C8B-B14F-4D97-AF65-F5344CB8AC3E}">
        <p14:creationId xmlns:p14="http://schemas.microsoft.com/office/powerpoint/2010/main" val="2746509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hu-HU" smtClean="0"/>
              <a:t>Mintacím szerkesztése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u-HU" smtClean="0"/>
              <a:t>Kép beszúrásához kattintson az ikonra</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u-HU" smtClean="0"/>
              <a:t>Mintaszöveg szerkesztése</a:t>
            </a:r>
          </a:p>
        </p:txBody>
      </p:sp>
      <p:sp>
        <p:nvSpPr>
          <p:cNvPr id="5" name="Date Placeholder 4"/>
          <p:cNvSpPr>
            <a:spLocks noGrp="1"/>
          </p:cNvSpPr>
          <p:nvPr>
            <p:ph type="dt" sz="half" idx="10"/>
          </p:nvPr>
        </p:nvSpPr>
        <p:spPr/>
        <p:txBody>
          <a:bodyPr/>
          <a:lstStyle/>
          <a:p>
            <a:fld id="{5334BA69-4304-4F7C-89DD-7D7086BC7E5E}" type="datetimeFigureOut">
              <a:rPr lang="hu-HU" smtClean="0"/>
              <a:t>2024. 11. 28.</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240C0F17-34AE-4C89-BAAE-0CEA464501A1}" type="slidenum">
              <a:rPr lang="hu-HU" smtClean="0"/>
              <a:t>‹#›</a:t>
            </a:fld>
            <a:endParaRPr lang="hu-HU"/>
          </a:p>
        </p:txBody>
      </p:sp>
    </p:spTree>
    <p:extLst>
      <p:ext uri="{BB962C8B-B14F-4D97-AF65-F5344CB8AC3E}">
        <p14:creationId xmlns:p14="http://schemas.microsoft.com/office/powerpoint/2010/main" val="3712755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ím és képaláírás">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hu-HU" smtClean="0"/>
              <a:t>Mintacím szerkesztése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smtClean="0"/>
              <a:t>Mintaszöveg szerkesztése</a:t>
            </a:r>
          </a:p>
        </p:txBody>
      </p:sp>
      <p:sp>
        <p:nvSpPr>
          <p:cNvPr id="4" name="Date Placeholder 3"/>
          <p:cNvSpPr>
            <a:spLocks noGrp="1"/>
          </p:cNvSpPr>
          <p:nvPr>
            <p:ph type="dt" sz="half" idx="10"/>
          </p:nvPr>
        </p:nvSpPr>
        <p:spPr/>
        <p:txBody>
          <a:bodyPr/>
          <a:lstStyle/>
          <a:p>
            <a:fld id="{5334BA69-4304-4F7C-89DD-7D7086BC7E5E}" type="datetimeFigureOut">
              <a:rPr lang="hu-HU" smtClean="0"/>
              <a:t>2024. 11. 28.</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240C0F17-34AE-4C89-BAAE-0CEA464501A1}" type="slidenum">
              <a:rPr lang="hu-HU" smtClean="0"/>
              <a:t>‹#›</a:t>
            </a:fld>
            <a:endParaRPr lang="hu-HU"/>
          </a:p>
        </p:txBody>
      </p:sp>
    </p:spTree>
    <p:extLst>
      <p:ext uri="{BB962C8B-B14F-4D97-AF65-F5344CB8AC3E}">
        <p14:creationId xmlns:p14="http://schemas.microsoft.com/office/powerpoint/2010/main" val="1653773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Idézet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hu-HU" smtClean="0"/>
              <a:t>Mintacím szerkesztése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u-HU" smtClean="0"/>
              <a:t>Mintaszöveg szerkesztése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smtClean="0"/>
              <a:t>Mintaszöveg szerkesztése</a:t>
            </a:r>
          </a:p>
        </p:txBody>
      </p:sp>
      <p:sp>
        <p:nvSpPr>
          <p:cNvPr id="4" name="Date Placeholder 3"/>
          <p:cNvSpPr>
            <a:spLocks noGrp="1"/>
          </p:cNvSpPr>
          <p:nvPr>
            <p:ph type="dt" sz="half" idx="10"/>
          </p:nvPr>
        </p:nvSpPr>
        <p:spPr/>
        <p:txBody>
          <a:bodyPr/>
          <a:lstStyle/>
          <a:p>
            <a:fld id="{5334BA69-4304-4F7C-89DD-7D7086BC7E5E}" type="datetimeFigureOut">
              <a:rPr lang="hu-HU" smtClean="0"/>
              <a:t>2024. 11. 28.</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240C0F17-34AE-4C89-BAAE-0CEA464501A1}" type="slidenum">
              <a:rPr lang="hu-HU" smtClean="0"/>
              <a:t>‹#›</a:t>
            </a:fld>
            <a:endParaRPr lang="hu-HU"/>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5423520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évkártya">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hu-HU" smtClean="0"/>
              <a:t>Mintacím szerkesztése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smtClean="0"/>
              <a:t>Mintaszöveg szerkesztése</a:t>
            </a:r>
          </a:p>
        </p:txBody>
      </p:sp>
      <p:sp>
        <p:nvSpPr>
          <p:cNvPr id="4" name="Date Placeholder 3"/>
          <p:cNvSpPr>
            <a:spLocks noGrp="1"/>
          </p:cNvSpPr>
          <p:nvPr>
            <p:ph type="dt" sz="half" idx="10"/>
          </p:nvPr>
        </p:nvSpPr>
        <p:spPr/>
        <p:txBody>
          <a:bodyPr/>
          <a:lstStyle/>
          <a:p>
            <a:fld id="{5334BA69-4304-4F7C-89DD-7D7086BC7E5E}" type="datetimeFigureOut">
              <a:rPr lang="hu-HU" smtClean="0"/>
              <a:t>2024. 11. 28.</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240C0F17-34AE-4C89-BAAE-0CEA464501A1}" type="slidenum">
              <a:rPr lang="hu-HU" smtClean="0"/>
              <a:t>‹#›</a:t>
            </a:fld>
            <a:endParaRPr lang="hu-HU"/>
          </a:p>
        </p:txBody>
      </p:sp>
    </p:spTree>
    <p:extLst>
      <p:ext uri="{BB962C8B-B14F-4D97-AF65-F5344CB8AC3E}">
        <p14:creationId xmlns:p14="http://schemas.microsoft.com/office/powerpoint/2010/main" val="3322013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évkártya idézettel">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hu-HU" smtClean="0"/>
              <a:t>Mintacím szerkesztése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u-HU" smtClean="0"/>
              <a:t>Mintaszöveg szerkesztése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smtClean="0"/>
              <a:t>Mintaszöveg szerkesztése</a:t>
            </a:r>
          </a:p>
        </p:txBody>
      </p:sp>
      <p:sp>
        <p:nvSpPr>
          <p:cNvPr id="4" name="Date Placeholder 3"/>
          <p:cNvSpPr>
            <a:spLocks noGrp="1"/>
          </p:cNvSpPr>
          <p:nvPr>
            <p:ph type="dt" sz="half" idx="10"/>
          </p:nvPr>
        </p:nvSpPr>
        <p:spPr/>
        <p:txBody>
          <a:bodyPr/>
          <a:lstStyle/>
          <a:p>
            <a:fld id="{5334BA69-4304-4F7C-89DD-7D7086BC7E5E}" type="datetimeFigureOut">
              <a:rPr lang="hu-HU" smtClean="0"/>
              <a:t>2024. 11. 28.</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240C0F17-34AE-4C89-BAAE-0CEA464501A1}" type="slidenum">
              <a:rPr lang="hu-HU" smtClean="0"/>
              <a:t>‹#›</a:t>
            </a:fld>
            <a:endParaRPr lang="hu-HU"/>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161706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Igaz vagy hamis">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hu-HU" smtClean="0"/>
              <a:t>Mintacím szerkesztése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u-HU" smtClean="0"/>
              <a:t>Mintaszöveg szerkesztése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smtClean="0"/>
              <a:t>Mintaszöveg szerkesztése</a:t>
            </a:r>
          </a:p>
        </p:txBody>
      </p:sp>
      <p:sp>
        <p:nvSpPr>
          <p:cNvPr id="4" name="Date Placeholder 3"/>
          <p:cNvSpPr>
            <a:spLocks noGrp="1"/>
          </p:cNvSpPr>
          <p:nvPr>
            <p:ph type="dt" sz="half" idx="10"/>
          </p:nvPr>
        </p:nvSpPr>
        <p:spPr/>
        <p:txBody>
          <a:bodyPr/>
          <a:lstStyle/>
          <a:p>
            <a:fld id="{5334BA69-4304-4F7C-89DD-7D7086BC7E5E}" type="datetimeFigureOut">
              <a:rPr lang="hu-HU" smtClean="0"/>
              <a:t>2024. 11. 28.</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240C0F17-34AE-4C89-BAAE-0CEA464501A1}" type="slidenum">
              <a:rPr lang="hu-HU" smtClean="0"/>
              <a:t>‹#›</a:t>
            </a:fld>
            <a:endParaRPr lang="hu-HU"/>
          </a:p>
        </p:txBody>
      </p:sp>
    </p:spTree>
    <p:extLst>
      <p:ext uri="{BB962C8B-B14F-4D97-AF65-F5344CB8AC3E}">
        <p14:creationId xmlns:p14="http://schemas.microsoft.com/office/powerpoint/2010/main" val="12980025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smtClean="0"/>
              <a:t>Mintacím szerkesztése</a:t>
            </a:r>
            <a:endParaRPr lang="en-US" dirty="0"/>
          </a:p>
        </p:txBody>
      </p:sp>
      <p:sp>
        <p:nvSpPr>
          <p:cNvPr id="3" name="Vertical Text Placeholder 2"/>
          <p:cNvSpPr>
            <a:spLocks noGrp="1"/>
          </p:cNvSpPr>
          <p:nvPr>
            <p:ph type="body" orient="vert" idx="1"/>
          </p:nvPr>
        </p:nvSpPr>
        <p:spPr/>
        <p:txBody>
          <a:bodyPr vert="eaVert"/>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4" name="Date Placeholder 3"/>
          <p:cNvSpPr>
            <a:spLocks noGrp="1"/>
          </p:cNvSpPr>
          <p:nvPr>
            <p:ph type="dt" sz="half" idx="10"/>
          </p:nvPr>
        </p:nvSpPr>
        <p:spPr/>
        <p:txBody>
          <a:bodyPr/>
          <a:lstStyle/>
          <a:p>
            <a:fld id="{5334BA69-4304-4F7C-89DD-7D7086BC7E5E}" type="datetimeFigureOut">
              <a:rPr lang="hu-HU" smtClean="0"/>
              <a:t>2024. 11. 28.</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240C0F17-34AE-4C89-BAAE-0CEA464501A1}" type="slidenum">
              <a:rPr lang="hu-HU" smtClean="0"/>
              <a:t>‹#›</a:t>
            </a:fld>
            <a:endParaRPr lang="hu-HU"/>
          </a:p>
        </p:txBody>
      </p:sp>
    </p:spTree>
    <p:extLst>
      <p:ext uri="{BB962C8B-B14F-4D97-AF65-F5344CB8AC3E}">
        <p14:creationId xmlns:p14="http://schemas.microsoft.com/office/powerpoint/2010/main" val="17988623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hu-HU" smtClean="0"/>
              <a:t>Mintacím szerkesztése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4" name="Date Placeholder 3"/>
          <p:cNvSpPr>
            <a:spLocks noGrp="1"/>
          </p:cNvSpPr>
          <p:nvPr>
            <p:ph type="dt" sz="half" idx="10"/>
          </p:nvPr>
        </p:nvSpPr>
        <p:spPr/>
        <p:txBody>
          <a:bodyPr/>
          <a:lstStyle/>
          <a:p>
            <a:fld id="{5334BA69-4304-4F7C-89DD-7D7086BC7E5E}" type="datetimeFigureOut">
              <a:rPr lang="hu-HU" smtClean="0"/>
              <a:t>2024. 11. 28.</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240C0F17-34AE-4C89-BAAE-0CEA464501A1}" type="slidenum">
              <a:rPr lang="hu-HU" smtClean="0"/>
              <a:t>‹#›</a:t>
            </a:fld>
            <a:endParaRPr lang="hu-HU"/>
          </a:p>
        </p:txBody>
      </p:sp>
    </p:spTree>
    <p:extLst>
      <p:ext uri="{BB962C8B-B14F-4D97-AF65-F5344CB8AC3E}">
        <p14:creationId xmlns:p14="http://schemas.microsoft.com/office/powerpoint/2010/main" val="5721919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cSld name="Cím, szöveg és tartalom">
    <p:spTree>
      <p:nvGrpSpPr>
        <p:cNvPr id="1" name=""/>
        <p:cNvGrpSpPr/>
        <p:nvPr/>
      </p:nvGrpSpPr>
      <p:grpSpPr>
        <a:xfrm>
          <a:off x="0" y="0"/>
          <a:ext cx="0" cy="0"/>
          <a:chOff x="0" y="0"/>
          <a:chExt cx="0" cy="0"/>
        </a:xfrm>
      </p:grpSpPr>
      <p:sp>
        <p:nvSpPr>
          <p:cNvPr id="2" name="Cím 1"/>
          <p:cNvSpPr>
            <a:spLocks noGrp="1"/>
          </p:cNvSpPr>
          <p:nvPr>
            <p:ph type="title"/>
          </p:nvPr>
        </p:nvSpPr>
        <p:spPr>
          <a:xfrm>
            <a:off x="624417" y="620713"/>
            <a:ext cx="10972800" cy="703262"/>
          </a:xfrm>
        </p:spPr>
        <p:txBody>
          <a:bodyPr/>
          <a:lstStyle/>
          <a:p>
            <a:r>
              <a:rPr lang="hu-HU" smtClean="0"/>
              <a:t>Mintacím szerkesztése</a:t>
            </a:r>
            <a:endParaRPr lang="hu-HU"/>
          </a:p>
        </p:txBody>
      </p:sp>
      <p:sp>
        <p:nvSpPr>
          <p:cNvPr id="3" name="Szöveg helye 2"/>
          <p:cNvSpPr>
            <a:spLocks noGrp="1"/>
          </p:cNvSpPr>
          <p:nvPr>
            <p:ph type="body" sz="half" idx="1"/>
          </p:nvPr>
        </p:nvSpPr>
        <p:spPr>
          <a:xfrm>
            <a:off x="624417" y="1412875"/>
            <a:ext cx="5376333" cy="4454525"/>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hu-HU"/>
          </a:p>
        </p:txBody>
      </p:sp>
      <p:sp>
        <p:nvSpPr>
          <p:cNvPr id="4" name="Tartalom helye 3"/>
          <p:cNvSpPr>
            <a:spLocks noGrp="1"/>
          </p:cNvSpPr>
          <p:nvPr>
            <p:ph sz="half" idx="2"/>
          </p:nvPr>
        </p:nvSpPr>
        <p:spPr>
          <a:xfrm>
            <a:off x="6203952" y="1412875"/>
            <a:ext cx="5378449" cy="4454525"/>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hu-HU"/>
          </a:p>
        </p:txBody>
      </p:sp>
      <p:sp>
        <p:nvSpPr>
          <p:cNvPr id="5" name="Élőláb helye 4"/>
          <p:cNvSpPr>
            <a:spLocks noGrp="1"/>
          </p:cNvSpPr>
          <p:nvPr>
            <p:ph type="ftr" sz="quarter" idx="10"/>
          </p:nvPr>
        </p:nvSpPr>
        <p:spPr>
          <a:xfrm>
            <a:off x="4559300" y="6237288"/>
            <a:ext cx="3860800" cy="457200"/>
          </a:xfrm>
        </p:spPr>
        <p:txBody>
          <a:bodyPr/>
          <a:lstStyle>
            <a:lvl1pPr>
              <a:defRPr/>
            </a:lvl1pPr>
          </a:lstStyle>
          <a:p>
            <a:pPr>
              <a:defRPr/>
            </a:pPr>
            <a:endParaRPr lang="hu-HU"/>
          </a:p>
        </p:txBody>
      </p:sp>
      <p:sp>
        <p:nvSpPr>
          <p:cNvPr id="6" name="Dia számának helye 5"/>
          <p:cNvSpPr>
            <a:spLocks noGrp="1"/>
          </p:cNvSpPr>
          <p:nvPr>
            <p:ph type="sldNum" sz="quarter" idx="11"/>
          </p:nvPr>
        </p:nvSpPr>
        <p:spPr>
          <a:xfrm>
            <a:off x="10608733" y="6381750"/>
            <a:ext cx="1405467" cy="312738"/>
          </a:xfrm>
        </p:spPr>
        <p:txBody>
          <a:bodyPr/>
          <a:lstStyle>
            <a:lvl1pPr>
              <a:defRPr/>
            </a:lvl1pPr>
          </a:lstStyle>
          <a:p>
            <a:fld id="{B01F241C-5E32-4C92-ADD8-185F12CD971F}" type="slidenum">
              <a:rPr lang="hu-HU" altLang="hu-HU"/>
              <a:pPr/>
              <a:t>‹#›</a:t>
            </a:fld>
            <a:endParaRPr lang="hu-HU" altLang="hu-HU"/>
          </a:p>
        </p:txBody>
      </p:sp>
      <p:sp>
        <p:nvSpPr>
          <p:cNvPr id="7" name="Dátum helye 6"/>
          <p:cNvSpPr>
            <a:spLocks noGrp="1"/>
          </p:cNvSpPr>
          <p:nvPr>
            <p:ph type="dt" sz="half" idx="12"/>
          </p:nvPr>
        </p:nvSpPr>
        <p:spPr>
          <a:xfrm>
            <a:off x="814918" y="6381751"/>
            <a:ext cx="1824567" cy="333375"/>
          </a:xfrm>
        </p:spPr>
        <p:txBody>
          <a:bodyPr/>
          <a:lstStyle>
            <a:lvl1pPr>
              <a:defRPr/>
            </a:lvl1pPr>
          </a:lstStyle>
          <a:p>
            <a:pPr>
              <a:defRPr/>
            </a:pPr>
            <a:fld id="{0A1F7F6C-A04F-46CA-9D20-6853C166C37D}" type="datetime4">
              <a:rPr lang="hu-HU"/>
              <a:pPr>
                <a:defRPr/>
              </a:pPr>
              <a:t>2024. november 28.</a:t>
            </a:fld>
            <a:endParaRPr lang="hu-HU"/>
          </a:p>
        </p:txBody>
      </p:sp>
    </p:spTree>
    <p:extLst>
      <p:ext uri="{BB962C8B-B14F-4D97-AF65-F5344CB8AC3E}">
        <p14:creationId xmlns:p14="http://schemas.microsoft.com/office/powerpoint/2010/main" val="15795088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cSld name="Tartalom">
    <p:spTree>
      <p:nvGrpSpPr>
        <p:cNvPr id="1" name=""/>
        <p:cNvGrpSpPr/>
        <p:nvPr/>
      </p:nvGrpSpPr>
      <p:grpSpPr>
        <a:xfrm>
          <a:off x="0" y="0"/>
          <a:ext cx="0" cy="0"/>
          <a:chOff x="0" y="0"/>
          <a:chExt cx="0" cy="0"/>
        </a:xfrm>
      </p:grpSpPr>
      <p:sp>
        <p:nvSpPr>
          <p:cNvPr id="2" name="Tartalom helye 1"/>
          <p:cNvSpPr>
            <a:spLocks noGrp="1"/>
          </p:cNvSpPr>
          <p:nvPr>
            <p:ph/>
          </p:nvPr>
        </p:nvSpPr>
        <p:spPr>
          <a:xfrm>
            <a:off x="624417" y="620714"/>
            <a:ext cx="10972800" cy="5246687"/>
          </a:xfrm>
        </p:spPr>
        <p:txBody>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hu-HU"/>
          </a:p>
        </p:txBody>
      </p:sp>
      <p:sp>
        <p:nvSpPr>
          <p:cNvPr id="3" name="Élőláb helye 2"/>
          <p:cNvSpPr>
            <a:spLocks noGrp="1"/>
          </p:cNvSpPr>
          <p:nvPr>
            <p:ph type="ftr" sz="quarter" idx="10"/>
          </p:nvPr>
        </p:nvSpPr>
        <p:spPr>
          <a:xfrm>
            <a:off x="4559300" y="6237288"/>
            <a:ext cx="3860800" cy="457200"/>
          </a:xfrm>
        </p:spPr>
        <p:txBody>
          <a:bodyPr/>
          <a:lstStyle>
            <a:lvl1pPr>
              <a:defRPr/>
            </a:lvl1pPr>
          </a:lstStyle>
          <a:p>
            <a:pPr>
              <a:defRPr/>
            </a:pPr>
            <a:endParaRPr lang="hu-HU"/>
          </a:p>
        </p:txBody>
      </p:sp>
      <p:sp>
        <p:nvSpPr>
          <p:cNvPr id="4" name="Dia számának helye 3"/>
          <p:cNvSpPr>
            <a:spLocks noGrp="1"/>
          </p:cNvSpPr>
          <p:nvPr>
            <p:ph type="sldNum" sz="quarter" idx="11"/>
          </p:nvPr>
        </p:nvSpPr>
        <p:spPr>
          <a:xfrm>
            <a:off x="10608733" y="6381750"/>
            <a:ext cx="1405467" cy="312738"/>
          </a:xfrm>
        </p:spPr>
        <p:txBody>
          <a:bodyPr/>
          <a:lstStyle>
            <a:lvl1pPr>
              <a:defRPr smtClean="0"/>
            </a:lvl1pPr>
          </a:lstStyle>
          <a:p>
            <a:pPr>
              <a:defRPr/>
            </a:pPr>
            <a:fld id="{89F2DA79-C8D4-435D-BA98-6D1DE2FE44DF}" type="slidenum">
              <a:rPr lang="hu-HU" altLang="hu-HU"/>
              <a:pPr>
                <a:defRPr/>
              </a:pPr>
              <a:t>‹#›</a:t>
            </a:fld>
            <a:endParaRPr lang="hu-HU" altLang="hu-HU"/>
          </a:p>
        </p:txBody>
      </p:sp>
      <p:sp>
        <p:nvSpPr>
          <p:cNvPr id="5" name="Dátum helye 4"/>
          <p:cNvSpPr>
            <a:spLocks noGrp="1"/>
          </p:cNvSpPr>
          <p:nvPr>
            <p:ph type="dt" sz="half" idx="12"/>
          </p:nvPr>
        </p:nvSpPr>
        <p:spPr>
          <a:xfrm>
            <a:off x="814918" y="6381751"/>
            <a:ext cx="1824567" cy="333375"/>
          </a:xfrm>
        </p:spPr>
        <p:txBody>
          <a:bodyPr/>
          <a:lstStyle>
            <a:lvl1pPr>
              <a:defRPr/>
            </a:lvl1pPr>
          </a:lstStyle>
          <a:p>
            <a:pPr>
              <a:defRPr/>
            </a:pPr>
            <a:fld id="{B6576E97-81AA-47FF-BF91-B5A243F9741E}" type="datetime4">
              <a:rPr lang="hu-HU"/>
              <a:pPr>
                <a:defRPr/>
              </a:pPr>
              <a:t>2024. november 28.</a:t>
            </a:fld>
            <a:endParaRPr lang="hu-HU"/>
          </a:p>
        </p:txBody>
      </p:sp>
    </p:spTree>
    <p:extLst>
      <p:ext uri="{BB962C8B-B14F-4D97-AF65-F5344CB8AC3E}">
        <p14:creationId xmlns:p14="http://schemas.microsoft.com/office/powerpoint/2010/main" val="2499855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hu-HU" smtClean="0"/>
              <a:t>Mintacím szerkesztése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hu-HU" smtClean="0"/>
              <a:t>Mintaszöveg szerkesztése</a:t>
            </a:r>
          </a:p>
          <a:p>
            <a:pPr lvl="1"/>
            <a:r>
              <a:rPr lang="hu-HU" smtClean="0"/>
              <a:t>Második szint</a:t>
            </a:r>
          </a:p>
          <a:p>
            <a:pPr lvl="2"/>
            <a:r>
              <a:rPr lang="hu-HU" smtClean="0"/>
              <a:t>Harmadik szint</a:t>
            </a:r>
          </a:p>
          <a:p>
            <a:pPr lvl="3"/>
            <a:r>
              <a:rPr lang="hu-HU" smtClean="0"/>
              <a:t>Negyedik szint</a:t>
            </a:r>
          </a:p>
          <a:p>
            <a:pPr lvl="4"/>
            <a:r>
              <a:rPr lang="hu-HU" smtClean="0"/>
              <a:t>Ötödik szint</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334BA69-4304-4F7C-89DD-7D7086BC7E5E}" type="datetimeFigureOut">
              <a:rPr lang="hu-HU" smtClean="0"/>
              <a:t>2024. 11. 28.</a:t>
            </a:fld>
            <a:endParaRPr lang="hu-HU"/>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hu-HU"/>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40C0F17-34AE-4C89-BAAE-0CEA464501A1}" type="slidenum">
              <a:rPr lang="hu-HU" smtClean="0"/>
              <a:t>‹#›</a:t>
            </a:fld>
            <a:endParaRPr lang="hu-HU"/>
          </a:p>
        </p:txBody>
      </p:sp>
    </p:spTree>
    <p:extLst>
      <p:ext uri="{BB962C8B-B14F-4D97-AF65-F5344CB8AC3E}">
        <p14:creationId xmlns:p14="http://schemas.microsoft.com/office/powerpoint/2010/main" val="120224268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2.xml"/><Relationship Id="rId5" Type="http://schemas.openxmlformats.org/officeDocument/2006/relationships/image" Target="../media/image21.emf"/><Relationship Id="rId4" Type="http://schemas.openxmlformats.org/officeDocument/2006/relationships/image" Target="../media/image20.emf"/></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image" Target="../media/image31.emf"/><Relationship Id="rId7" Type="http://schemas.openxmlformats.org/officeDocument/2006/relationships/image" Target="../media/image35.emf"/><Relationship Id="rId2" Type="http://schemas.openxmlformats.org/officeDocument/2006/relationships/image" Target="../media/image30.emf"/><Relationship Id="rId1" Type="http://schemas.openxmlformats.org/officeDocument/2006/relationships/slideLayout" Target="../slideLayouts/slideLayout2.xml"/><Relationship Id="rId6" Type="http://schemas.openxmlformats.org/officeDocument/2006/relationships/image" Target="../media/image34.emf"/><Relationship Id="rId5" Type="http://schemas.openxmlformats.org/officeDocument/2006/relationships/image" Target="../media/image33.emf"/><Relationship Id="rId4" Type="http://schemas.openxmlformats.org/officeDocument/2006/relationships/image" Target="../media/image32.emf"/></Relationships>
</file>

<file path=ppt/slides/_rels/slide115.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image" Target="../media/image53.emf"/><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2.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image" Target="../media/image64.emf"/><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69.wmf"/><Relationship Id="rId4" Type="http://schemas.openxmlformats.org/officeDocument/2006/relationships/oleObject" Target="../embeddings/oleObject1.bin"/></Relationships>
</file>

<file path=ppt/slides/_rels/slide17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71.wmf"/></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72.wmf"/><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73.emf"/><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74.emf"/><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75.wmf"/><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image" Target="../media/image76.wmf"/><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image" Target="../media/image78.emf"/><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image" Target="../media/image79.emf"/><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image" Target="../media/image80.emf"/><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image" Target="../media/image81.emf"/><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image" Target="../media/image82.emf"/><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image" Target="../media/image83.wmf"/><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image" Target="../media/image84.emf"/><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image" Target="../media/image85.emf"/><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3" Type="http://schemas.openxmlformats.org/officeDocument/2006/relationships/image" Target="../media/image87.emf"/><Relationship Id="rId2" Type="http://schemas.openxmlformats.org/officeDocument/2006/relationships/image" Target="../media/image86.emf"/><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image" Target="../media/image88.emf"/><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image" Target="../media/image89.emf"/><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3" Type="http://schemas.openxmlformats.org/officeDocument/2006/relationships/image" Target="../media/image91.emf"/><Relationship Id="rId2" Type="http://schemas.openxmlformats.org/officeDocument/2006/relationships/image" Target="../media/image90.emf"/><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3" Type="http://schemas.openxmlformats.org/officeDocument/2006/relationships/image" Target="../media/image93.emf"/><Relationship Id="rId2" Type="http://schemas.openxmlformats.org/officeDocument/2006/relationships/image" Target="../media/image92.emf"/><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image" Target="../media/image94.emf"/><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image" Target="../media/image95.emf"/><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3" Type="http://schemas.openxmlformats.org/officeDocument/2006/relationships/image" Target="../media/image97.emf"/><Relationship Id="rId2" Type="http://schemas.openxmlformats.org/officeDocument/2006/relationships/image" Target="../media/image96.emf"/><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image" Target="../media/image98.emf"/><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2" Type="http://schemas.openxmlformats.org/officeDocument/2006/relationships/image" Target="../media/image99.emf"/><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2" Type="http://schemas.openxmlformats.org/officeDocument/2006/relationships/image" Target="../media/image100.emf"/><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2" Type="http://schemas.openxmlformats.org/officeDocument/2006/relationships/image" Target="../media/image101.emf"/><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image" Target="../media/image102.emf"/><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2" Type="http://schemas.openxmlformats.org/officeDocument/2006/relationships/image" Target="../media/image103.emf"/><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2" Type="http://schemas.openxmlformats.org/officeDocument/2006/relationships/image" Target="../media/image104.emf"/><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2" Type="http://schemas.openxmlformats.org/officeDocument/2006/relationships/image" Target="../media/image105.emf"/><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2" Type="http://schemas.openxmlformats.org/officeDocument/2006/relationships/image" Target="../media/image106.emf"/><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2" Type="http://schemas.openxmlformats.org/officeDocument/2006/relationships/image" Target="../media/image107.emf"/><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2" Type="http://schemas.openxmlformats.org/officeDocument/2006/relationships/image" Target="../media/image108.emf"/><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2" Type="http://schemas.openxmlformats.org/officeDocument/2006/relationships/image" Target="../media/image109.emf"/><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2" Type="http://schemas.openxmlformats.org/officeDocument/2006/relationships/image" Target="../media/image110.emf"/><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2" Type="http://schemas.openxmlformats.org/officeDocument/2006/relationships/image" Target="../media/image111.emf"/><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2" Type="http://schemas.openxmlformats.org/officeDocument/2006/relationships/image" Target="../media/image112.emf"/><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2" Type="http://schemas.openxmlformats.org/officeDocument/2006/relationships/image" Target="../media/image113.emf"/><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2" Type="http://schemas.openxmlformats.org/officeDocument/2006/relationships/image" Target="../media/image114.emf"/><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6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3" Type="http://schemas.openxmlformats.org/officeDocument/2006/relationships/image" Target="../media/image115.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16.wmf"/><Relationship Id="rId4" Type="http://schemas.openxmlformats.org/officeDocument/2006/relationships/oleObject" Target="../embeddings/oleObject3.bin"/></Relationships>
</file>

<file path=ppt/slides/_rels/slide27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117.wmf"/><Relationship Id="rId4" Type="http://schemas.openxmlformats.org/officeDocument/2006/relationships/oleObject" Target="../embeddings/oleObject4.bin"/></Relationships>
</file>

<file path=ppt/slides/_rels/slide27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3" Type="http://schemas.openxmlformats.org/officeDocument/2006/relationships/image" Target="../media/image118.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19.wmf"/><Relationship Id="rId4" Type="http://schemas.openxmlformats.org/officeDocument/2006/relationships/oleObject" Target="../embeddings/oleObject5.bin"/></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6.xml.rels><?xml version="1.0" encoding="UTF-8" standalone="yes"?>
<Relationships xmlns="http://schemas.openxmlformats.org/package/2006/relationships"><Relationship Id="rId3" Type="http://schemas.openxmlformats.org/officeDocument/2006/relationships/image" Target="../media/image121.emf"/><Relationship Id="rId2" Type="http://schemas.openxmlformats.org/officeDocument/2006/relationships/image" Target="../media/image120.emf"/><Relationship Id="rId1" Type="http://schemas.openxmlformats.org/officeDocument/2006/relationships/slideLayout" Target="../slideLayouts/slideLayout2.xml"/><Relationship Id="rId4" Type="http://schemas.openxmlformats.org/officeDocument/2006/relationships/image" Target="../media/image122.emf"/></Relationships>
</file>

<file path=ppt/slides/_rels/slide277.xml.rels><?xml version="1.0" encoding="UTF-8" standalone="yes"?>
<Relationships xmlns="http://schemas.openxmlformats.org/package/2006/relationships"><Relationship Id="rId3" Type="http://schemas.openxmlformats.org/officeDocument/2006/relationships/image" Target="../media/image124.emf"/><Relationship Id="rId2" Type="http://schemas.openxmlformats.org/officeDocument/2006/relationships/image" Target="../media/image123.emf"/><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2" Type="http://schemas.openxmlformats.org/officeDocument/2006/relationships/image" Target="../media/image125.emf"/><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2" Type="http://schemas.openxmlformats.org/officeDocument/2006/relationships/image" Target="../media/image126.emf"/><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2" Type="http://schemas.openxmlformats.org/officeDocument/2006/relationships/image" Target="../media/image127.emf"/><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2" Type="http://schemas.openxmlformats.org/officeDocument/2006/relationships/image" Target="../media/image128.emf"/><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2" Type="http://schemas.openxmlformats.org/officeDocument/2006/relationships/image" Target="../media/image129.emf"/><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8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notesSlide" Target="../notesSlides/notesSlide35.xml"/><Relationship Id="rId1" Type="http://schemas.openxmlformats.org/officeDocument/2006/relationships/slideLayout" Target="../slideLayouts/slideLayout17.xml"/></Relationships>
</file>

<file path=ppt/slides/_rels/slide30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3" Type="http://schemas.openxmlformats.org/officeDocument/2006/relationships/image" Target="../media/image132.wmf"/><Relationship Id="rId2" Type="http://schemas.openxmlformats.org/officeDocument/2006/relationships/notesSlide" Target="../notesSlides/notesSlide38.xml"/><Relationship Id="rId1" Type="http://schemas.openxmlformats.org/officeDocument/2006/relationships/slideLayout" Target="../slideLayouts/slideLayout17.xml"/></Relationships>
</file>

<file path=ppt/slides/_rels/slide30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3" Type="http://schemas.openxmlformats.org/officeDocument/2006/relationships/image" Target="../media/image132.wmf"/><Relationship Id="rId2" Type="http://schemas.openxmlformats.org/officeDocument/2006/relationships/notesSlide" Target="../notesSlides/notesSlide41.xml"/><Relationship Id="rId1" Type="http://schemas.openxmlformats.org/officeDocument/2006/relationships/slideLayout" Target="../slideLayouts/slideLayout17.xml"/></Relationships>
</file>

<file path=ppt/slides/_rels/slide30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3" Type="http://schemas.openxmlformats.org/officeDocument/2006/relationships/image" Target="../media/image133.wmf"/><Relationship Id="rId2" Type="http://schemas.openxmlformats.org/officeDocument/2006/relationships/notesSlide" Target="../notesSlides/notesSlide55.xml"/><Relationship Id="rId1" Type="http://schemas.openxmlformats.org/officeDocument/2006/relationships/slideLayout" Target="../slideLayouts/slideLayout17.xml"/></Relationships>
</file>

<file path=ppt/slides/_rels/slide320.xml.rels><?xml version="1.0" encoding="UTF-8" standalone="yes"?>
<Relationships xmlns="http://schemas.openxmlformats.org/package/2006/relationships"><Relationship Id="rId3" Type="http://schemas.openxmlformats.org/officeDocument/2006/relationships/image" Target="../media/image134.wmf"/><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3" Type="http://schemas.openxmlformats.org/officeDocument/2006/relationships/image" Target="../media/image135.wmf"/><Relationship Id="rId2" Type="http://schemas.openxmlformats.org/officeDocument/2006/relationships/notesSlide" Target="../notesSlides/notesSlide57.xml"/><Relationship Id="rId1" Type="http://schemas.openxmlformats.org/officeDocument/2006/relationships/slideLayout" Target="../slideLayouts/slideLayout17.xml"/></Relationships>
</file>

<file path=ppt/slides/_rels/slide322.xml.rels><?xml version="1.0" encoding="UTF-8" standalone="yes"?>
<Relationships xmlns="http://schemas.openxmlformats.org/package/2006/relationships"><Relationship Id="rId3" Type="http://schemas.openxmlformats.org/officeDocument/2006/relationships/image" Target="../media/image136.wmf"/><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3" Type="http://schemas.openxmlformats.org/officeDocument/2006/relationships/image" Target="../media/image137.wmf"/><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3" Type="http://schemas.openxmlformats.org/officeDocument/2006/relationships/image" Target="../media/image138.wmf"/><Relationship Id="rId2" Type="http://schemas.openxmlformats.org/officeDocument/2006/relationships/notesSlide" Target="../notesSlides/notesSlide62.xml"/><Relationship Id="rId1" Type="http://schemas.openxmlformats.org/officeDocument/2006/relationships/slideLayout" Target="../slideLayouts/slideLayout18.xml"/></Relationships>
</file>

<file path=ppt/slides/_rels/slide32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3" Type="http://schemas.openxmlformats.org/officeDocument/2006/relationships/image" Target="../media/image139.wmf"/><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3" Type="http://schemas.openxmlformats.org/officeDocument/2006/relationships/image" Target="../media/image139.wmf"/><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3" Type="http://schemas.openxmlformats.org/officeDocument/2006/relationships/image" Target="../media/image140.wmf"/><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3" Type="http://schemas.openxmlformats.org/officeDocument/2006/relationships/image" Target="../media/image141.wmf"/><Relationship Id="rId2" Type="http://schemas.openxmlformats.org/officeDocument/2006/relationships/notesSlide" Target="../notesSlides/notesSlide72.xml"/><Relationship Id="rId1" Type="http://schemas.openxmlformats.org/officeDocument/2006/relationships/slideLayout" Target="../slideLayouts/slideLayout18.xml"/></Relationships>
</file>

<file path=ppt/slides/_rels/slide33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3" Type="http://schemas.openxmlformats.org/officeDocument/2006/relationships/image" Target="../media/image142.wmf"/><Relationship Id="rId2" Type="http://schemas.openxmlformats.org/officeDocument/2006/relationships/notesSlide" Target="../notesSlides/notesSlide74.xml"/><Relationship Id="rId1" Type="http://schemas.openxmlformats.org/officeDocument/2006/relationships/slideLayout" Target="../slideLayouts/slideLayout17.xml"/></Relationships>
</file>

<file path=ppt/slides/_rels/slide33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43.wmf"/><Relationship Id="rId4" Type="http://schemas.openxmlformats.org/officeDocument/2006/relationships/oleObject" Target="../embeddings/oleObject6.bin"/></Relationships>
</file>

<file path=ppt/slides/_rels/slide34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2" Type="http://schemas.openxmlformats.org/officeDocument/2006/relationships/image" Target="../media/image144.emf"/><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2" Type="http://schemas.openxmlformats.org/officeDocument/2006/relationships/image" Target="../media/image145.emf"/><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2" Type="http://schemas.openxmlformats.org/officeDocument/2006/relationships/image" Target="../media/image146.emf"/><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3" Type="http://schemas.openxmlformats.org/officeDocument/2006/relationships/image" Target="../media/image148.emf"/><Relationship Id="rId2" Type="http://schemas.openxmlformats.org/officeDocument/2006/relationships/image" Target="../media/image147.emf"/><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2" Type="http://schemas.openxmlformats.org/officeDocument/2006/relationships/image" Target="../media/image149.emf"/><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2" Type="http://schemas.openxmlformats.org/officeDocument/2006/relationships/image" Target="../media/image150.emf"/><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2" Type="http://schemas.openxmlformats.org/officeDocument/2006/relationships/image" Target="../media/image151.emf"/><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2" Type="http://schemas.openxmlformats.org/officeDocument/2006/relationships/image" Target="../media/image152.emf"/><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2" Type="http://schemas.openxmlformats.org/officeDocument/2006/relationships/image" Target="../media/image153.emf"/><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2" Type="http://schemas.openxmlformats.org/officeDocument/2006/relationships/image" Target="../media/image154.emf"/><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2" Type="http://schemas.openxmlformats.org/officeDocument/2006/relationships/image" Target="../media/image155.emf"/><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2" Type="http://schemas.openxmlformats.org/officeDocument/2006/relationships/image" Target="../media/image156.emf"/><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3" Type="http://schemas.openxmlformats.org/officeDocument/2006/relationships/image" Target="../media/image158.emf"/><Relationship Id="rId2" Type="http://schemas.openxmlformats.org/officeDocument/2006/relationships/image" Target="../media/image157.emf"/><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2" Type="http://schemas.openxmlformats.org/officeDocument/2006/relationships/image" Target="../media/image159.emf"/><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2" Type="http://schemas.openxmlformats.org/officeDocument/2006/relationships/image" Target="../media/image160.emf"/><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xml.rels><?xml version="1.0" encoding="UTF-8" standalone="yes"?>
<Relationships xmlns="http://schemas.openxmlformats.org/package/2006/relationships"><Relationship Id="rId2" Type="http://schemas.openxmlformats.org/officeDocument/2006/relationships/image" Target="../media/image161.emf"/><Relationship Id="rId1" Type="http://schemas.openxmlformats.org/officeDocument/2006/relationships/slideLayout" Target="../slideLayouts/slideLayout2.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2" Type="http://schemas.openxmlformats.org/officeDocument/2006/relationships/image" Target="../media/image162.emf"/><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xml.rels><?xml version="1.0" encoding="UTF-8" standalone="yes"?>
<Relationships xmlns="http://schemas.openxmlformats.org/package/2006/relationships"><Relationship Id="rId2" Type="http://schemas.openxmlformats.org/officeDocument/2006/relationships/image" Target="../media/image163.emf"/><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xml.rels><?xml version="1.0" encoding="UTF-8" standalone="yes"?>
<Relationships xmlns="http://schemas.openxmlformats.org/package/2006/relationships"><Relationship Id="rId2" Type="http://schemas.openxmlformats.org/officeDocument/2006/relationships/image" Target="../media/image164.emf"/><Relationship Id="rId1" Type="http://schemas.openxmlformats.org/officeDocument/2006/relationships/slideLayout" Target="../slideLayouts/slideLayout2.xml"/></Relationships>
</file>

<file path=ppt/slides/_rels/slide373.xml.rels><?xml version="1.0" encoding="UTF-8" standalone="yes"?>
<Relationships xmlns="http://schemas.openxmlformats.org/package/2006/relationships"><Relationship Id="rId2" Type="http://schemas.openxmlformats.org/officeDocument/2006/relationships/image" Target="../media/image165.emf"/><Relationship Id="rId1" Type="http://schemas.openxmlformats.org/officeDocument/2006/relationships/slideLayout" Target="../slideLayouts/slideLayout2.xml"/></Relationships>
</file>

<file path=ppt/slides/_rels/slide374.xml.rels><?xml version="1.0" encoding="UTF-8" standalone="yes"?>
<Relationships xmlns="http://schemas.openxmlformats.org/package/2006/relationships"><Relationship Id="rId2" Type="http://schemas.openxmlformats.org/officeDocument/2006/relationships/image" Target="../media/image166.emf"/><Relationship Id="rId1" Type="http://schemas.openxmlformats.org/officeDocument/2006/relationships/slideLayout" Target="../slideLayouts/slideLayout2.xml"/></Relationships>
</file>

<file path=ppt/slides/_rels/slide375.xml.rels><?xml version="1.0" encoding="UTF-8" standalone="yes"?>
<Relationships xmlns="http://schemas.openxmlformats.org/package/2006/relationships"><Relationship Id="rId2" Type="http://schemas.openxmlformats.org/officeDocument/2006/relationships/image" Target="../media/image167.emf"/><Relationship Id="rId1" Type="http://schemas.openxmlformats.org/officeDocument/2006/relationships/slideLayout" Target="../slideLayouts/slideLayout2.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xml.rels><?xml version="1.0" encoding="UTF-8" standalone="yes"?>
<Relationships xmlns="http://schemas.openxmlformats.org/package/2006/relationships"><Relationship Id="rId3" Type="http://schemas.openxmlformats.org/officeDocument/2006/relationships/image" Target="../media/image169.emf"/><Relationship Id="rId2" Type="http://schemas.openxmlformats.org/officeDocument/2006/relationships/image" Target="../media/image168.emf"/><Relationship Id="rId1" Type="http://schemas.openxmlformats.org/officeDocument/2006/relationships/slideLayout" Target="../slideLayouts/slideLayout2.xml"/></Relationships>
</file>

<file path=ppt/slides/_rels/slide378.xml.rels><?xml version="1.0" encoding="UTF-8" standalone="yes"?>
<Relationships xmlns="http://schemas.openxmlformats.org/package/2006/relationships"><Relationship Id="rId2" Type="http://schemas.openxmlformats.org/officeDocument/2006/relationships/image" Target="../media/image170.emf"/><Relationship Id="rId1" Type="http://schemas.openxmlformats.org/officeDocument/2006/relationships/slideLayout" Target="../slideLayouts/slideLayout2.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xml.rels><?xml version="1.0" encoding="UTF-8" standalone="yes"?>
<Relationships xmlns="http://schemas.openxmlformats.org/package/2006/relationships"><Relationship Id="rId2" Type="http://schemas.openxmlformats.org/officeDocument/2006/relationships/image" Target="../media/image171.emf"/><Relationship Id="rId1" Type="http://schemas.openxmlformats.org/officeDocument/2006/relationships/slideLayout" Target="../slideLayouts/slideLayout2.xml"/></Relationships>
</file>

<file path=ppt/slides/_rels/slide381.xml.rels><?xml version="1.0" encoding="UTF-8" standalone="yes"?>
<Relationships xmlns="http://schemas.openxmlformats.org/package/2006/relationships"><Relationship Id="rId2" Type="http://schemas.openxmlformats.org/officeDocument/2006/relationships/image" Target="../media/image172.emf"/><Relationship Id="rId1" Type="http://schemas.openxmlformats.org/officeDocument/2006/relationships/slideLayout" Target="../slideLayouts/slideLayout2.xml"/></Relationships>
</file>

<file path=ppt/slides/_rels/slide382.xml.rels><?xml version="1.0" encoding="UTF-8" standalone="yes"?>
<Relationships xmlns="http://schemas.openxmlformats.org/package/2006/relationships"><Relationship Id="rId2" Type="http://schemas.openxmlformats.org/officeDocument/2006/relationships/image" Target="../media/image173.emf"/><Relationship Id="rId1" Type="http://schemas.openxmlformats.org/officeDocument/2006/relationships/slideLayout" Target="../slideLayouts/slideLayout2.xml"/></Relationships>
</file>

<file path=ppt/slides/_rels/slide383.xml.rels><?xml version="1.0" encoding="UTF-8" standalone="yes"?>
<Relationships xmlns="http://schemas.openxmlformats.org/package/2006/relationships"><Relationship Id="rId2" Type="http://schemas.openxmlformats.org/officeDocument/2006/relationships/image" Target="../media/image173.emf"/><Relationship Id="rId1" Type="http://schemas.openxmlformats.org/officeDocument/2006/relationships/slideLayout" Target="../slideLayouts/slideLayout2.xml"/></Relationships>
</file>

<file path=ppt/slides/_rels/slide384.xml.rels><?xml version="1.0" encoding="UTF-8" standalone="yes"?>
<Relationships xmlns="http://schemas.openxmlformats.org/package/2006/relationships"><Relationship Id="rId2" Type="http://schemas.openxmlformats.org/officeDocument/2006/relationships/image" Target="../media/image173.emf"/><Relationship Id="rId1" Type="http://schemas.openxmlformats.org/officeDocument/2006/relationships/slideLayout" Target="../slideLayouts/slideLayout2.xml"/></Relationships>
</file>

<file path=ppt/slides/_rels/slide38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3.xml.rels><?xml version="1.0" encoding="UTF-8" standalone="yes"?>
<Relationships xmlns="http://schemas.openxmlformats.org/package/2006/relationships"><Relationship Id="rId3" Type="http://schemas.openxmlformats.org/officeDocument/2006/relationships/image" Target="../media/image175.wmf"/><Relationship Id="rId2" Type="http://schemas.openxmlformats.org/officeDocument/2006/relationships/image" Target="../media/image174.emf"/><Relationship Id="rId1" Type="http://schemas.openxmlformats.org/officeDocument/2006/relationships/slideLayout" Target="../slideLayouts/slideLayout2.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xml.rels><?xml version="1.0" encoding="UTF-8" standalone="yes"?>
<Relationships xmlns="http://schemas.openxmlformats.org/package/2006/relationships"><Relationship Id="rId3" Type="http://schemas.openxmlformats.org/officeDocument/2006/relationships/image" Target="../media/image177.wmf"/><Relationship Id="rId2" Type="http://schemas.openxmlformats.org/officeDocument/2006/relationships/image" Target="../media/image176.emf"/><Relationship Id="rId1" Type="http://schemas.openxmlformats.org/officeDocument/2006/relationships/slideLayout" Target="../slideLayouts/slideLayout2.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xml.rels><?xml version="1.0" encoding="UTF-8" standalone="yes"?>
<Relationships xmlns="http://schemas.openxmlformats.org/package/2006/relationships"><Relationship Id="rId2" Type="http://schemas.openxmlformats.org/officeDocument/2006/relationships/image" Target="../media/image178.wmf"/><Relationship Id="rId1" Type="http://schemas.openxmlformats.org/officeDocument/2006/relationships/slideLayout" Target="../slideLayouts/slideLayout2.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4.xml.rels><?xml version="1.0" encoding="UTF-8" standalone="yes"?>
<Relationships xmlns="http://schemas.openxmlformats.org/package/2006/relationships"><Relationship Id="rId2" Type="http://schemas.openxmlformats.org/officeDocument/2006/relationships/image" Target="../media/image179.emf"/><Relationship Id="rId1" Type="http://schemas.openxmlformats.org/officeDocument/2006/relationships/slideLayout" Target="../slideLayouts/slideLayout2.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180.wmf"/></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xml.rels><?xml version="1.0" encoding="UTF-8" standalone="yes"?>
<Relationships xmlns="http://schemas.openxmlformats.org/package/2006/relationships"><Relationship Id="rId2" Type="http://schemas.openxmlformats.org/officeDocument/2006/relationships/image" Target="../media/image181.wmf"/><Relationship Id="rId1" Type="http://schemas.openxmlformats.org/officeDocument/2006/relationships/slideLayout" Target="../slideLayouts/slideLayout2.xml"/></Relationships>
</file>

<file path=ppt/slides/_rels/slide409.xml.rels><?xml version="1.0" encoding="UTF-8" standalone="yes"?>
<Relationships xmlns="http://schemas.openxmlformats.org/package/2006/relationships"><Relationship Id="rId2" Type="http://schemas.openxmlformats.org/officeDocument/2006/relationships/image" Target="../media/image182.wmf"/><Relationship Id="rId1" Type="http://schemas.openxmlformats.org/officeDocument/2006/relationships/slideLayout" Target="../slideLayouts/slideLayout2.xml"/></Relationships>
</file>

<file path=ppt/slides/_rels/slide41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41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41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41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41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41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41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41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41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41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42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42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42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42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42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42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nb-NO" altLang="hu-HU" dirty="0" smtClean="0"/>
              <a:t>Az UML nyelv használati eleme: Osztály-diagramok.</a:t>
            </a:r>
            <a:endParaRPr lang="hu-HU" altLang="hu-HU" dirty="0"/>
          </a:p>
        </p:txBody>
      </p:sp>
      <p:sp>
        <p:nvSpPr>
          <p:cNvPr id="2051" name="Rectangle 3"/>
          <p:cNvSpPr>
            <a:spLocks noGrp="1" noChangeArrowheads="1"/>
          </p:cNvSpPr>
          <p:nvPr>
            <p:ph type="subTitle" idx="1"/>
          </p:nvPr>
        </p:nvSpPr>
        <p:spPr/>
        <p:txBody>
          <a:bodyPr/>
          <a:lstStyle/>
          <a:p>
            <a:endParaRPr lang="hu-HU" altLang="hu-HU" dirty="0"/>
          </a:p>
        </p:txBody>
      </p:sp>
    </p:spTree>
    <p:extLst>
      <p:ext uri="{BB962C8B-B14F-4D97-AF65-F5344CB8AC3E}">
        <p14:creationId xmlns:p14="http://schemas.microsoft.com/office/powerpoint/2010/main" val="1262952460"/>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r>
              <a:rPr lang="hu-HU" altLang="hu-HU"/>
              <a:t>Osztálydiagram</a:t>
            </a:r>
          </a:p>
        </p:txBody>
      </p:sp>
      <p:sp>
        <p:nvSpPr>
          <p:cNvPr id="128003" name="Rectangle 3"/>
          <p:cNvSpPr>
            <a:spLocks noGrp="1" noChangeArrowheads="1"/>
          </p:cNvSpPr>
          <p:nvPr>
            <p:ph idx="1"/>
          </p:nvPr>
        </p:nvSpPr>
        <p:spPr/>
        <p:txBody>
          <a:bodyPr/>
          <a:lstStyle/>
          <a:p>
            <a:r>
              <a:rPr lang="hu-HU" altLang="hu-HU"/>
              <a:t>Az osztály diagram a legismertebb objektumorientált (OO) technika:</a:t>
            </a:r>
          </a:p>
          <a:p>
            <a:pPr lvl="1"/>
            <a:r>
              <a:rPr lang="hu-HU" altLang="hu-HU"/>
              <a:t>A rendszer objektumait leíró osztályokat és</a:t>
            </a:r>
          </a:p>
          <a:p>
            <a:pPr lvl="1"/>
            <a:r>
              <a:rPr lang="hu-HU" altLang="hu-HU"/>
              <a:t>a közöttük levő kapcsolatokat modellezi.</a:t>
            </a:r>
          </a:p>
        </p:txBody>
      </p:sp>
      <p:sp>
        <p:nvSpPr>
          <p:cNvPr id="4" name="Dátum helye 3"/>
          <p:cNvSpPr>
            <a:spLocks noGrp="1"/>
          </p:cNvSpPr>
          <p:nvPr>
            <p:ph type="dt" sz="half" idx="10"/>
          </p:nvPr>
        </p:nvSpPr>
        <p:spPr/>
        <p:txBody>
          <a:bodyPr/>
          <a:lstStyle/>
          <a:p>
            <a:fld id="{BFD4E9E7-1D6E-45FD-9286-DECD6D169909}"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F456B26F-E894-4F95-9921-BDF735567594}" type="slidenum">
              <a:rPr lang="hu-HU" altLang="hu-HU"/>
              <a:pPr/>
              <a:t>2</a:t>
            </a:fld>
            <a:endParaRPr lang="hu-HU" altLang="hu-HU"/>
          </a:p>
        </p:txBody>
      </p:sp>
    </p:spTree>
    <p:extLst>
      <p:ext uri="{BB962C8B-B14F-4D97-AF65-F5344CB8AC3E}">
        <p14:creationId xmlns:p14="http://schemas.microsoft.com/office/powerpoint/2010/main" val="377211088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r>
              <a:rPr lang="hu-HU" altLang="hu-HU" sz="3400"/>
              <a:t>Osztálydiagramok a fejlesztési modellben</a:t>
            </a:r>
          </a:p>
        </p:txBody>
      </p:sp>
      <p:sp>
        <p:nvSpPr>
          <p:cNvPr id="129027" name="Rectangle 3"/>
          <p:cNvSpPr>
            <a:spLocks noGrp="1" noChangeArrowheads="1"/>
          </p:cNvSpPr>
          <p:nvPr>
            <p:ph idx="1"/>
          </p:nvPr>
        </p:nvSpPr>
        <p:spPr/>
        <p:txBody>
          <a:bodyPr/>
          <a:lstStyle/>
          <a:p>
            <a:pPr>
              <a:lnSpc>
                <a:spcPct val="90000"/>
              </a:lnSpc>
            </a:pPr>
            <a:r>
              <a:rPr lang="hu-HU" altLang="hu-HU" sz="2600"/>
              <a:t>A fejlesztés különböző munkaszakaszaiban készülnek. </a:t>
            </a:r>
          </a:p>
          <a:p>
            <a:pPr>
              <a:lnSpc>
                <a:spcPct val="90000"/>
              </a:lnSpc>
            </a:pPr>
            <a:r>
              <a:rPr lang="hu-HU" altLang="hu-HU" sz="2600"/>
              <a:t>Ez nem újabb és újabb modellek, a fejlesztés teljes ideje alatt egy alapmodellt vizsgálunk. </a:t>
            </a:r>
          </a:p>
          <a:p>
            <a:pPr>
              <a:lnSpc>
                <a:spcPct val="90000"/>
              </a:lnSpc>
            </a:pPr>
            <a:r>
              <a:rPr lang="hu-HU" altLang="hu-HU" sz="2600"/>
              <a:t>Ezt az egy modellt fokozatosan bővítjük a megfelelő részekkel a fejlesztés menetében előrehaladva. </a:t>
            </a:r>
          </a:p>
          <a:p>
            <a:pPr>
              <a:lnSpc>
                <a:spcPct val="90000"/>
              </a:lnSpc>
            </a:pPr>
            <a:r>
              <a:rPr lang="hu-HU" altLang="hu-HU" sz="2600"/>
              <a:t>A modell aktuális állapotát, érettségét az egyes szakaszokban készített osztálydiagramokkal ábrázoljuk.</a:t>
            </a:r>
          </a:p>
        </p:txBody>
      </p:sp>
      <p:sp>
        <p:nvSpPr>
          <p:cNvPr id="4" name="Dátum helye 3"/>
          <p:cNvSpPr>
            <a:spLocks noGrp="1"/>
          </p:cNvSpPr>
          <p:nvPr>
            <p:ph type="dt" sz="half" idx="10"/>
          </p:nvPr>
        </p:nvSpPr>
        <p:spPr/>
        <p:txBody>
          <a:bodyPr/>
          <a:lstStyle/>
          <a:p>
            <a:fld id="{62915325-601D-49D7-BE7F-82298B2FB1F7}"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62EC16D5-0798-4617-97D0-3230955981E8}" type="slidenum">
              <a:rPr lang="hu-HU" altLang="hu-HU"/>
              <a:pPr/>
              <a:t>3</a:t>
            </a:fld>
            <a:endParaRPr lang="hu-HU" altLang="hu-HU"/>
          </a:p>
        </p:txBody>
      </p:sp>
    </p:spTree>
    <p:extLst>
      <p:ext uri="{BB962C8B-B14F-4D97-AF65-F5344CB8AC3E}">
        <p14:creationId xmlns:p14="http://schemas.microsoft.com/office/powerpoint/2010/main" val="24223882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r>
              <a:rPr lang="hu-HU" altLang="hu-HU" sz="3400"/>
              <a:t>Osztálydiagramok a fejlesztési modellben (folyt.)</a:t>
            </a:r>
          </a:p>
        </p:txBody>
      </p:sp>
      <p:sp>
        <p:nvSpPr>
          <p:cNvPr id="130051" name="Rectangle 3"/>
          <p:cNvSpPr>
            <a:spLocks noGrp="1" noChangeArrowheads="1"/>
          </p:cNvSpPr>
          <p:nvPr>
            <p:ph idx="1"/>
          </p:nvPr>
        </p:nvSpPr>
        <p:spPr/>
        <p:txBody>
          <a:bodyPr>
            <a:normAutofit fontScale="92500" lnSpcReduction="20000"/>
          </a:bodyPr>
          <a:lstStyle/>
          <a:p>
            <a:r>
              <a:rPr lang="hu-HU" altLang="hu-HU" sz="2600"/>
              <a:t>Üzleti modellezés</a:t>
            </a:r>
          </a:p>
          <a:p>
            <a:pPr lvl="1"/>
            <a:r>
              <a:rPr lang="hu-HU" altLang="hu-HU" sz="2200"/>
              <a:t>Szakterületi osztálydiagram elemei:</a:t>
            </a:r>
          </a:p>
          <a:p>
            <a:pPr lvl="2"/>
            <a:r>
              <a:rPr lang="hu-HU" altLang="hu-HU" sz="2100"/>
              <a:t>Üzleti aktorok</a:t>
            </a:r>
          </a:p>
          <a:p>
            <a:pPr lvl="2"/>
            <a:r>
              <a:rPr lang="hu-HU" altLang="hu-HU" sz="2100"/>
              <a:t>Üzleti entitások</a:t>
            </a:r>
          </a:p>
          <a:p>
            <a:pPr lvl="3"/>
            <a:r>
              <a:rPr lang="hu-HU" altLang="hu-HU"/>
              <a:t>üzleti objektum modell</a:t>
            </a:r>
          </a:p>
          <a:p>
            <a:r>
              <a:rPr lang="hu-HU" altLang="hu-HU" sz="2600"/>
              <a:t>Elemzési szakasz:</a:t>
            </a:r>
          </a:p>
          <a:p>
            <a:pPr lvl="1"/>
            <a:r>
              <a:rPr lang="hu-HU" altLang="hu-HU" sz="2200"/>
              <a:t>Elemzési osztályok leírása</a:t>
            </a:r>
          </a:p>
          <a:p>
            <a:r>
              <a:rPr lang="hu-HU" altLang="hu-HU" sz="2600"/>
              <a:t>Tervezési modell:</a:t>
            </a:r>
          </a:p>
          <a:p>
            <a:pPr lvl="1"/>
            <a:r>
              <a:rPr lang="hu-HU" altLang="hu-HU" sz="2200"/>
              <a:t>Az elemzési modell részletezése</a:t>
            </a:r>
          </a:p>
          <a:p>
            <a:pPr lvl="1"/>
            <a:r>
              <a:rPr lang="hu-HU" altLang="hu-HU" sz="2200"/>
              <a:t>Implementáció alapja</a:t>
            </a:r>
          </a:p>
        </p:txBody>
      </p:sp>
      <p:sp>
        <p:nvSpPr>
          <p:cNvPr id="4" name="Dátum helye 3"/>
          <p:cNvSpPr>
            <a:spLocks noGrp="1"/>
          </p:cNvSpPr>
          <p:nvPr>
            <p:ph type="dt" sz="half" idx="10"/>
          </p:nvPr>
        </p:nvSpPr>
        <p:spPr/>
        <p:txBody>
          <a:bodyPr/>
          <a:lstStyle/>
          <a:p>
            <a:fld id="{684867C8-A6B2-4AA2-BDAC-1B08A161F610}"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DFA3F748-0803-4562-A5A0-8BB5F0C06134}" type="slidenum">
              <a:rPr lang="hu-HU" altLang="hu-HU"/>
              <a:pPr/>
              <a:t>4</a:t>
            </a:fld>
            <a:endParaRPr lang="hu-HU" altLang="hu-HU"/>
          </a:p>
        </p:txBody>
      </p:sp>
    </p:spTree>
    <p:extLst>
      <p:ext uri="{BB962C8B-B14F-4D97-AF65-F5344CB8AC3E}">
        <p14:creationId xmlns:p14="http://schemas.microsoft.com/office/powerpoint/2010/main" val="11186596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r>
              <a:rPr lang="hu-HU" altLang="hu-HU" sz="3400"/>
              <a:t>Osztálydiagramok a fejlesztési modellben (folyt.)</a:t>
            </a:r>
          </a:p>
        </p:txBody>
      </p:sp>
      <p:sp>
        <p:nvSpPr>
          <p:cNvPr id="131075" name="Rectangle 3"/>
          <p:cNvSpPr>
            <a:spLocks noGrp="1" noChangeArrowheads="1"/>
          </p:cNvSpPr>
          <p:nvPr>
            <p:ph idx="1"/>
          </p:nvPr>
        </p:nvSpPr>
        <p:spPr/>
        <p:txBody>
          <a:bodyPr/>
          <a:lstStyle/>
          <a:p>
            <a:r>
              <a:rPr lang="hu-HU" altLang="hu-HU"/>
              <a:t>Módszertanok:</a:t>
            </a:r>
          </a:p>
          <a:p>
            <a:pPr lvl="1"/>
            <a:r>
              <a:rPr lang="hu-HU" altLang="hu-HU"/>
              <a:t>Az osztálydiagramot három alapvető perspektíva szerint értelmezik. </a:t>
            </a:r>
          </a:p>
          <a:p>
            <a:pPr lvl="1"/>
            <a:r>
              <a:rPr lang="hu-HU" altLang="hu-HU"/>
              <a:t>Ez nem része az UML definíciójának.</a:t>
            </a:r>
          </a:p>
          <a:p>
            <a:pPr lvl="1"/>
            <a:r>
              <a:rPr lang="hu-HU" altLang="hu-HU"/>
              <a:t>Hasznos, hogy </a:t>
            </a:r>
          </a:p>
          <a:p>
            <a:pPr lvl="2"/>
            <a:r>
              <a:rPr lang="hu-HU" altLang="hu-HU"/>
              <a:t>mindig csak az aktuális probléma megoldására engedi a fejlesztésben résztvevő szakembereket koncentrálni.</a:t>
            </a:r>
          </a:p>
        </p:txBody>
      </p:sp>
      <p:sp>
        <p:nvSpPr>
          <p:cNvPr id="4" name="Dátum helye 3"/>
          <p:cNvSpPr>
            <a:spLocks noGrp="1"/>
          </p:cNvSpPr>
          <p:nvPr>
            <p:ph type="dt" sz="half" idx="10"/>
          </p:nvPr>
        </p:nvSpPr>
        <p:spPr/>
        <p:txBody>
          <a:bodyPr/>
          <a:lstStyle/>
          <a:p>
            <a:fld id="{A7EAC40F-7FC7-4590-B3E4-CD81DAD5605A}"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D7A4E3BD-F221-455F-A12B-4A275471C7FA}" type="slidenum">
              <a:rPr lang="hu-HU" altLang="hu-HU"/>
              <a:pPr/>
              <a:t>5</a:t>
            </a:fld>
            <a:endParaRPr lang="hu-HU" altLang="hu-HU"/>
          </a:p>
        </p:txBody>
      </p:sp>
    </p:spTree>
    <p:extLst>
      <p:ext uri="{BB962C8B-B14F-4D97-AF65-F5344CB8AC3E}">
        <p14:creationId xmlns:p14="http://schemas.microsoft.com/office/powerpoint/2010/main" val="30907628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lstStyle/>
          <a:p>
            <a:r>
              <a:rPr lang="hu-HU" altLang="hu-HU" sz="3400"/>
              <a:t>Osztálydiagramok a fejlesztési modellben - perspektíva</a:t>
            </a:r>
          </a:p>
        </p:txBody>
      </p:sp>
      <p:sp>
        <p:nvSpPr>
          <p:cNvPr id="132099" name="Rectangle 3"/>
          <p:cNvSpPr>
            <a:spLocks noGrp="1" noChangeArrowheads="1"/>
          </p:cNvSpPr>
          <p:nvPr>
            <p:ph idx="1"/>
          </p:nvPr>
        </p:nvSpPr>
        <p:spPr/>
        <p:txBody>
          <a:bodyPr/>
          <a:lstStyle/>
          <a:p>
            <a:r>
              <a:rPr lang="hu-HU" altLang="hu-HU"/>
              <a:t>Konceptuális perspektíva</a:t>
            </a:r>
          </a:p>
          <a:p>
            <a:r>
              <a:rPr lang="hu-HU" altLang="hu-HU"/>
              <a:t>Specifikációs perspektíva</a:t>
            </a:r>
          </a:p>
          <a:p>
            <a:r>
              <a:rPr lang="hu-HU" altLang="hu-HU"/>
              <a:t>Implementációs perspektíva</a:t>
            </a:r>
          </a:p>
        </p:txBody>
      </p:sp>
      <p:sp>
        <p:nvSpPr>
          <p:cNvPr id="4" name="Dátum helye 3"/>
          <p:cNvSpPr>
            <a:spLocks noGrp="1"/>
          </p:cNvSpPr>
          <p:nvPr>
            <p:ph type="dt" sz="half" idx="10"/>
          </p:nvPr>
        </p:nvSpPr>
        <p:spPr/>
        <p:txBody>
          <a:bodyPr/>
          <a:lstStyle/>
          <a:p>
            <a:fld id="{F63DDF32-106C-4490-9626-773DA3D08783}"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707B9A96-F994-435F-A438-F137FFF539B6}" type="slidenum">
              <a:rPr lang="hu-HU" altLang="hu-HU"/>
              <a:pPr/>
              <a:t>6</a:t>
            </a:fld>
            <a:endParaRPr lang="hu-HU" altLang="hu-HU"/>
          </a:p>
        </p:txBody>
      </p:sp>
    </p:spTree>
    <p:extLst>
      <p:ext uri="{BB962C8B-B14F-4D97-AF65-F5344CB8AC3E}">
        <p14:creationId xmlns:p14="http://schemas.microsoft.com/office/powerpoint/2010/main" val="12444277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r>
              <a:rPr lang="hu-HU" altLang="hu-HU" sz="3400"/>
              <a:t>Osztálydiagramok a fejlesztési modellben – perspektíva (folyt.)</a:t>
            </a:r>
          </a:p>
        </p:txBody>
      </p:sp>
      <p:sp>
        <p:nvSpPr>
          <p:cNvPr id="133123" name="Rectangle 3"/>
          <p:cNvSpPr>
            <a:spLocks noGrp="1" noChangeArrowheads="1"/>
          </p:cNvSpPr>
          <p:nvPr>
            <p:ph idx="1"/>
          </p:nvPr>
        </p:nvSpPr>
        <p:spPr/>
        <p:txBody>
          <a:bodyPr/>
          <a:lstStyle/>
          <a:p>
            <a:r>
              <a:rPr lang="hu-HU" altLang="hu-HU"/>
              <a:t>Konceptuális perspektíva:</a:t>
            </a:r>
          </a:p>
          <a:p>
            <a:pPr lvl="1"/>
            <a:r>
              <a:rPr lang="hu-HU" altLang="hu-HU"/>
              <a:t>a kapcsolat foka, </a:t>
            </a:r>
          </a:p>
          <a:p>
            <a:pPr lvl="1"/>
            <a:r>
              <a:rPr lang="hu-HU" altLang="hu-HU"/>
              <a:t>az asszociáció neve, </a:t>
            </a:r>
          </a:p>
          <a:p>
            <a:pPr lvl="1"/>
            <a:r>
              <a:rPr lang="hu-HU" altLang="hu-HU"/>
              <a:t>a különféle asszociációs viszonyok:</a:t>
            </a:r>
          </a:p>
          <a:p>
            <a:pPr lvl="2"/>
            <a:r>
              <a:rPr lang="hu-HU" altLang="hu-HU"/>
              <a:t>öröklődés, aggregáció, kompozíció.</a:t>
            </a:r>
            <a:r>
              <a:rPr lang="en-US" altLang="hu-HU"/>
              <a:t> </a:t>
            </a:r>
          </a:p>
          <a:p>
            <a:endParaRPr lang="hu-HU" altLang="hu-HU"/>
          </a:p>
        </p:txBody>
      </p:sp>
      <p:sp>
        <p:nvSpPr>
          <p:cNvPr id="4" name="Dátum helye 3"/>
          <p:cNvSpPr>
            <a:spLocks noGrp="1"/>
          </p:cNvSpPr>
          <p:nvPr>
            <p:ph type="dt" sz="half" idx="10"/>
          </p:nvPr>
        </p:nvSpPr>
        <p:spPr/>
        <p:txBody>
          <a:bodyPr/>
          <a:lstStyle/>
          <a:p>
            <a:fld id="{EC43FD7C-872C-412F-8883-80BAF655166C}"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5DA9BB18-8186-4BF1-B894-BB17DE62669E}" type="slidenum">
              <a:rPr lang="hu-HU" altLang="hu-HU"/>
              <a:pPr/>
              <a:t>7</a:t>
            </a:fld>
            <a:endParaRPr lang="hu-HU" altLang="hu-HU"/>
          </a:p>
        </p:txBody>
      </p:sp>
    </p:spTree>
    <p:extLst>
      <p:ext uri="{BB962C8B-B14F-4D97-AF65-F5344CB8AC3E}">
        <p14:creationId xmlns:p14="http://schemas.microsoft.com/office/powerpoint/2010/main" val="7426929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r>
              <a:rPr lang="hu-HU" altLang="hu-HU" sz="3400"/>
              <a:t>Osztálydiagramok a fejlesztési modellben – perspektíva (folyt.)</a:t>
            </a:r>
          </a:p>
        </p:txBody>
      </p:sp>
      <p:sp>
        <p:nvSpPr>
          <p:cNvPr id="134147" name="Rectangle 3"/>
          <p:cNvSpPr>
            <a:spLocks noGrp="1" noChangeArrowheads="1"/>
          </p:cNvSpPr>
          <p:nvPr>
            <p:ph idx="1"/>
          </p:nvPr>
        </p:nvSpPr>
        <p:spPr/>
        <p:txBody>
          <a:bodyPr/>
          <a:lstStyle/>
          <a:p>
            <a:r>
              <a:rPr lang="hu-HU" altLang="hu-HU" sz="2600"/>
              <a:t>Specifikációs perspektíva</a:t>
            </a:r>
          </a:p>
          <a:p>
            <a:pPr lvl="1"/>
            <a:r>
              <a:rPr lang="hu-HU" altLang="hu-HU" sz="2200"/>
              <a:t>Átmenet a konceptuális és az implementációs megközelítés között.</a:t>
            </a:r>
          </a:p>
          <a:p>
            <a:pPr lvl="1"/>
            <a:r>
              <a:rPr lang="hu-HU" altLang="hu-HU" sz="2200"/>
              <a:t>A use case-ek fizikai megvalósításának módját írja le, a megvalósítás vázát adja. </a:t>
            </a:r>
          </a:p>
          <a:p>
            <a:pPr lvl="1"/>
            <a:r>
              <a:rPr lang="hu-HU" altLang="hu-HU" sz="2200"/>
              <a:t>A modellelemekhez felelősségeket határoz meg, de ezt nem kód szinten teszi. </a:t>
            </a:r>
          </a:p>
          <a:p>
            <a:pPr lvl="1"/>
            <a:r>
              <a:rPr lang="hu-HU" altLang="hu-HU" sz="2200"/>
              <a:t>Az alkalmazás struktúrájára, felépítésére összpontosít.</a:t>
            </a:r>
          </a:p>
        </p:txBody>
      </p:sp>
      <p:sp>
        <p:nvSpPr>
          <p:cNvPr id="4" name="Dátum helye 3"/>
          <p:cNvSpPr>
            <a:spLocks noGrp="1"/>
          </p:cNvSpPr>
          <p:nvPr>
            <p:ph type="dt" sz="half" idx="10"/>
          </p:nvPr>
        </p:nvSpPr>
        <p:spPr/>
        <p:txBody>
          <a:bodyPr/>
          <a:lstStyle/>
          <a:p>
            <a:fld id="{E9828D7F-A7E9-4710-ADE8-7C82195CC1DA}"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5B9DCD87-1744-4F8B-BD56-623033482902}" type="slidenum">
              <a:rPr lang="hu-HU" altLang="hu-HU"/>
              <a:pPr/>
              <a:t>8</a:t>
            </a:fld>
            <a:endParaRPr lang="hu-HU" altLang="hu-HU"/>
          </a:p>
        </p:txBody>
      </p:sp>
    </p:spTree>
    <p:extLst>
      <p:ext uri="{BB962C8B-B14F-4D97-AF65-F5344CB8AC3E}">
        <p14:creationId xmlns:p14="http://schemas.microsoft.com/office/powerpoint/2010/main" val="18376322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p:txBody>
          <a:bodyPr/>
          <a:lstStyle/>
          <a:p>
            <a:r>
              <a:rPr lang="hu-HU" altLang="hu-HU" sz="3400"/>
              <a:t>Osztálydiagramok a fejlesztési modellben – perspektíva (folyt.)</a:t>
            </a:r>
          </a:p>
        </p:txBody>
      </p:sp>
      <p:sp>
        <p:nvSpPr>
          <p:cNvPr id="135171" name="Rectangle 3"/>
          <p:cNvSpPr>
            <a:spLocks noGrp="1" noChangeArrowheads="1"/>
          </p:cNvSpPr>
          <p:nvPr>
            <p:ph idx="1"/>
          </p:nvPr>
        </p:nvSpPr>
        <p:spPr/>
        <p:txBody>
          <a:bodyPr/>
          <a:lstStyle/>
          <a:p>
            <a:r>
              <a:rPr lang="hu-HU" altLang="hu-HU"/>
              <a:t>Implementációs perspektíva</a:t>
            </a:r>
          </a:p>
          <a:p>
            <a:pPr lvl="1"/>
            <a:r>
              <a:rPr lang="hu-HU" altLang="hu-HU"/>
              <a:t>Valódi osztályok konkrét programnyelvi környezetben.</a:t>
            </a:r>
            <a:endParaRPr lang="en-US" altLang="hu-HU"/>
          </a:p>
          <a:p>
            <a:endParaRPr lang="hu-HU" altLang="hu-HU"/>
          </a:p>
        </p:txBody>
      </p:sp>
      <p:sp>
        <p:nvSpPr>
          <p:cNvPr id="4" name="Dátum helye 3"/>
          <p:cNvSpPr>
            <a:spLocks noGrp="1"/>
          </p:cNvSpPr>
          <p:nvPr>
            <p:ph type="dt" sz="half" idx="10"/>
          </p:nvPr>
        </p:nvSpPr>
        <p:spPr/>
        <p:txBody>
          <a:bodyPr/>
          <a:lstStyle/>
          <a:p>
            <a:fld id="{7D79A3BC-A4FA-4C5F-ADFD-E39A7D9F5F82}"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341C2E2F-1CDA-4DC3-86BD-C812E16FD658}" type="slidenum">
              <a:rPr lang="hu-HU" altLang="hu-HU"/>
              <a:pPr/>
              <a:t>9</a:t>
            </a:fld>
            <a:endParaRPr lang="hu-HU" altLang="hu-HU"/>
          </a:p>
        </p:txBody>
      </p:sp>
    </p:spTree>
    <p:extLst>
      <p:ext uri="{BB962C8B-B14F-4D97-AF65-F5344CB8AC3E}">
        <p14:creationId xmlns:p14="http://schemas.microsoft.com/office/powerpoint/2010/main" val="16179000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p:txBody>
          <a:bodyPr/>
          <a:lstStyle/>
          <a:p>
            <a:r>
              <a:rPr lang="hu-HU" altLang="hu-HU"/>
              <a:t>Objektum</a:t>
            </a:r>
          </a:p>
        </p:txBody>
      </p:sp>
      <p:sp>
        <p:nvSpPr>
          <p:cNvPr id="136195" name="Rectangle 3"/>
          <p:cNvSpPr>
            <a:spLocks noGrp="1" noChangeArrowheads="1"/>
          </p:cNvSpPr>
          <p:nvPr>
            <p:ph idx="1"/>
          </p:nvPr>
        </p:nvSpPr>
        <p:spPr/>
        <p:txBody>
          <a:bodyPr/>
          <a:lstStyle/>
          <a:p>
            <a:pPr>
              <a:lnSpc>
                <a:spcPct val="90000"/>
              </a:lnSpc>
            </a:pPr>
            <a:r>
              <a:rPr lang="hu-HU" altLang="hu-HU"/>
              <a:t>Állapot:</a:t>
            </a:r>
          </a:p>
          <a:p>
            <a:pPr lvl="1">
              <a:lnSpc>
                <a:spcPct val="90000"/>
              </a:lnSpc>
            </a:pPr>
            <a:r>
              <a:rPr lang="hu-HU" altLang="hu-HU"/>
              <a:t>pillanatnyi állapot: az adott pillanatban felvett tulajdonságértékek és az objektumnak a környezetében levő más objektumokkal megvalósított kapcsolatok.</a:t>
            </a:r>
          </a:p>
          <a:p>
            <a:pPr>
              <a:lnSpc>
                <a:spcPct val="90000"/>
              </a:lnSpc>
            </a:pPr>
            <a:r>
              <a:rPr lang="hu-HU" altLang="hu-HU"/>
              <a:t>Viselkedés:</a:t>
            </a:r>
          </a:p>
          <a:p>
            <a:pPr lvl="1">
              <a:lnSpc>
                <a:spcPct val="90000"/>
              </a:lnSpc>
            </a:pPr>
            <a:r>
              <a:rPr lang="hu-HU" altLang="hu-HU"/>
              <a:t>Az objektum által végrehajtott tevékenységsorozat, reakció az általa előidézett vagy az őt ért hatásra.</a:t>
            </a:r>
          </a:p>
        </p:txBody>
      </p:sp>
      <p:sp>
        <p:nvSpPr>
          <p:cNvPr id="4" name="Dátum helye 3"/>
          <p:cNvSpPr>
            <a:spLocks noGrp="1"/>
          </p:cNvSpPr>
          <p:nvPr>
            <p:ph type="dt" sz="half" idx="10"/>
          </p:nvPr>
        </p:nvSpPr>
        <p:spPr/>
        <p:txBody>
          <a:bodyPr/>
          <a:lstStyle/>
          <a:p>
            <a:fld id="{486DA5C5-31FA-4815-8565-E0715D977A51}"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D0586471-45C5-4A04-A2FD-CEB1AD4E0931}" type="slidenum">
              <a:rPr lang="hu-HU" altLang="hu-HU"/>
              <a:pPr/>
              <a:t>10</a:t>
            </a:fld>
            <a:endParaRPr lang="hu-HU" altLang="hu-HU"/>
          </a:p>
        </p:txBody>
      </p:sp>
    </p:spTree>
    <p:extLst>
      <p:ext uri="{BB962C8B-B14F-4D97-AF65-F5344CB8AC3E}">
        <p14:creationId xmlns:p14="http://schemas.microsoft.com/office/powerpoint/2010/main" val="28809760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r>
              <a:rPr lang="hu-HU" altLang="hu-HU"/>
              <a:t>Objektum (folyt.)</a:t>
            </a:r>
          </a:p>
        </p:txBody>
      </p:sp>
      <p:sp>
        <p:nvSpPr>
          <p:cNvPr id="137219" name="Rectangle 3"/>
          <p:cNvSpPr>
            <a:spLocks noGrp="1" noChangeArrowheads="1"/>
          </p:cNvSpPr>
          <p:nvPr>
            <p:ph idx="1"/>
          </p:nvPr>
        </p:nvSpPr>
        <p:spPr/>
        <p:txBody>
          <a:bodyPr/>
          <a:lstStyle/>
          <a:p>
            <a:r>
              <a:rPr lang="hu-HU" altLang="hu-HU"/>
              <a:t>Az objektumok:</a:t>
            </a:r>
          </a:p>
          <a:p>
            <a:pPr lvl="1"/>
            <a:r>
              <a:rPr lang="hu-HU" altLang="hu-HU"/>
              <a:t>információkat tárolnak (tulajdonságok, attribútumok), </a:t>
            </a:r>
          </a:p>
          <a:p>
            <a:pPr lvl="1"/>
            <a:r>
              <a:rPr lang="hu-HU" altLang="hu-HU"/>
              <a:t>kérésre feladatokat (metódusok) hajtanak végre. </a:t>
            </a:r>
          </a:p>
          <a:p>
            <a:pPr lvl="1"/>
            <a:r>
              <a:rPr lang="hu-HU" altLang="hu-HU"/>
              <a:t>Adatok és metódusok összessége, mely felelős feladatai elvégzéséért.</a:t>
            </a:r>
          </a:p>
        </p:txBody>
      </p:sp>
      <p:sp>
        <p:nvSpPr>
          <p:cNvPr id="4" name="Dátum helye 3"/>
          <p:cNvSpPr>
            <a:spLocks noGrp="1"/>
          </p:cNvSpPr>
          <p:nvPr>
            <p:ph type="dt" sz="half" idx="10"/>
          </p:nvPr>
        </p:nvSpPr>
        <p:spPr/>
        <p:txBody>
          <a:bodyPr/>
          <a:lstStyle/>
          <a:p>
            <a:fld id="{6214236E-2FA8-45A1-B473-603383BB4882}"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EDC6532E-8D12-42B5-8F40-2036636FCA68}" type="slidenum">
              <a:rPr lang="hu-HU" altLang="hu-HU"/>
              <a:pPr/>
              <a:t>11</a:t>
            </a:fld>
            <a:endParaRPr lang="hu-HU" altLang="hu-HU"/>
          </a:p>
        </p:txBody>
      </p:sp>
    </p:spTree>
    <p:extLst>
      <p:ext uri="{BB962C8B-B14F-4D97-AF65-F5344CB8AC3E}">
        <p14:creationId xmlns:p14="http://schemas.microsoft.com/office/powerpoint/2010/main" val="32830833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r>
              <a:rPr lang="hu-HU" altLang="hu-HU"/>
              <a:t>Osztály</a:t>
            </a:r>
          </a:p>
        </p:txBody>
      </p:sp>
      <p:sp>
        <p:nvSpPr>
          <p:cNvPr id="138243" name="Rectangle 3"/>
          <p:cNvSpPr>
            <a:spLocks noGrp="1" noChangeArrowheads="1"/>
          </p:cNvSpPr>
          <p:nvPr>
            <p:ph idx="1"/>
          </p:nvPr>
        </p:nvSpPr>
        <p:spPr/>
        <p:txBody>
          <a:bodyPr/>
          <a:lstStyle/>
          <a:p>
            <a:r>
              <a:rPr lang="hu-HU" altLang="hu-HU"/>
              <a:t>A közös tulajdonságokkal (attribútumok), </a:t>
            </a:r>
          </a:p>
          <a:p>
            <a:r>
              <a:rPr lang="hu-HU" altLang="hu-HU"/>
              <a:t>viselkedéssel (metódusok) és </a:t>
            </a:r>
          </a:p>
          <a:p>
            <a:r>
              <a:rPr lang="hu-HU" altLang="hu-HU"/>
              <a:t>kapcsolatokkal rendelkező objektumok csoportjának, halmazának leírására szolgálnak</a:t>
            </a:r>
          </a:p>
        </p:txBody>
      </p:sp>
      <p:sp>
        <p:nvSpPr>
          <p:cNvPr id="4" name="Dátum helye 3"/>
          <p:cNvSpPr>
            <a:spLocks noGrp="1"/>
          </p:cNvSpPr>
          <p:nvPr>
            <p:ph type="dt" sz="half" idx="10"/>
          </p:nvPr>
        </p:nvSpPr>
        <p:spPr/>
        <p:txBody>
          <a:bodyPr/>
          <a:lstStyle/>
          <a:p>
            <a:fld id="{E607E8B7-3F61-442B-8208-BA7F9B4CF43B}"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87C369BE-C909-4775-A61A-4574F7A26112}" type="slidenum">
              <a:rPr lang="hu-HU" altLang="hu-HU"/>
              <a:pPr/>
              <a:t>12</a:t>
            </a:fld>
            <a:endParaRPr lang="hu-HU" altLang="hu-HU"/>
          </a:p>
        </p:txBody>
      </p:sp>
    </p:spTree>
    <p:extLst>
      <p:ext uri="{BB962C8B-B14F-4D97-AF65-F5344CB8AC3E}">
        <p14:creationId xmlns:p14="http://schemas.microsoft.com/office/powerpoint/2010/main" val="17298657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hu-HU" altLang="hu-HU"/>
              <a:t>Osztály (folyt.)</a:t>
            </a:r>
          </a:p>
        </p:txBody>
      </p:sp>
      <p:sp>
        <p:nvSpPr>
          <p:cNvPr id="139267" name="Rectangle 3"/>
          <p:cNvSpPr>
            <a:spLocks noGrp="1" noChangeArrowheads="1"/>
          </p:cNvSpPr>
          <p:nvPr>
            <p:ph idx="1"/>
          </p:nvPr>
        </p:nvSpPr>
        <p:spPr/>
        <p:txBody>
          <a:bodyPr/>
          <a:lstStyle/>
          <a:p>
            <a:r>
              <a:rPr lang="hu-HU" altLang="hu-HU"/>
              <a:t>Az objektum:</a:t>
            </a:r>
          </a:p>
          <a:p>
            <a:pPr lvl="1"/>
            <a:r>
              <a:rPr lang="hu-HU" altLang="hu-HU"/>
              <a:t>az osztály konkrét megjelenési formája, egyedi példánya (instancia). </a:t>
            </a:r>
          </a:p>
          <a:p>
            <a:pPr lvl="1"/>
            <a:r>
              <a:rPr lang="hu-HU" altLang="hu-HU"/>
              <a:t>Az osztály attribútumok és metódusok (függvények, eljárások) gyűjteménye.</a:t>
            </a:r>
          </a:p>
        </p:txBody>
      </p:sp>
      <p:sp>
        <p:nvSpPr>
          <p:cNvPr id="4" name="Dátum helye 3"/>
          <p:cNvSpPr>
            <a:spLocks noGrp="1"/>
          </p:cNvSpPr>
          <p:nvPr>
            <p:ph type="dt" sz="half" idx="10"/>
          </p:nvPr>
        </p:nvSpPr>
        <p:spPr/>
        <p:txBody>
          <a:bodyPr/>
          <a:lstStyle/>
          <a:p>
            <a:fld id="{BD741AD5-C746-4B0B-B9B5-3224AF2CEE88}"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8BC76653-FC24-4503-B70F-79285F4F8C93}" type="slidenum">
              <a:rPr lang="hu-HU" altLang="hu-HU"/>
              <a:pPr/>
              <a:t>13</a:t>
            </a:fld>
            <a:endParaRPr lang="hu-HU" altLang="hu-HU"/>
          </a:p>
        </p:txBody>
      </p:sp>
    </p:spTree>
    <p:extLst>
      <p:ext uri="{BB962C8B-B14F-4D97-AF65-F5344CB8AC3E}">
        <p14:creationId xmlns:p14="http://schemas.microsoft.com/office/powerpoint/2010/main" val="38758485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r>
              <a:rPr lang="hu-HU" altLang="hu-HU"/>
              <a:t>Osztály (folyt.)</a:t>
            </a:r>
          </a:p>
        </p:txBody>
      </p:sp>
      <p:sp>
        <p:nvSpPr>
          <p:cNvPr id="140291" name="Rectangle 3"/>
          <p:cNvSpPr>
            <a:spLocks noGrp="1" noChangeArrowheads="1"/>
          </p:cNvSpPr>
          <p:nvPr>
            <p:ph idx="1"/>
          </p:nvPr>
        </p:nvSpPr>
        <p:spPr/>
        <p:txBody>
          <a:bodyPr/>
          <a:lstStyle/>
          <a:p>
            <a:r>
              <a:rPr lang="hu-HU" altLang="hu-HU"/>
              <a:t>Az osztályt az UML-ben egy három részre osztott téglalap modellez:</a:t>
            </a:r>
          </a:p>
          <a:p>
            <a:pPr lvl="1"/>
            <a:r>
              <a:rPr lang="hu-HU" altLang="hu-HU"/>
              <a:t>az osztály megnevezését a felső részben adjuk meg, </a:t>
            </a:r>
          </a:p>
          <a:p>
            <a:pPr lvl="1"/>
            <a:r>
              <a:rPr lang="hu-HU" altLang="hu-HU"/>
              <a:t>a középső részben találhatók az attribútumok (tulajdonságok),</a:t>
            </a:r>
          </a:p>
          <a:p>
            <a:pPr lvl="1"/>
            <a:r>
              <a:rPr lang="hu-HU" altLang="hu-HU"/>
              <a:t>az alsó rész a műveleteket tartalmazza.</a:t>
            </a:r>
          </a:p>
        </p:txBody>
      </p:sp>
      <p:sp>
        <p:nvSpPr>
          <p:cNvPr id="5" name="Dátum helye 3"/>
          <p:cNvSpPr>
            <a:spLocks noGrp="1"/>
          </p:cNvSpPr>
          <p:nvPr>
            <p:ph type="dt" sz="half" idx="10"/>
          </p:nvPr>
        </p:nvSpPr>
        <p:spPr/>
        <p:txBody>
          <a:bodyPr/>
          <a:lstStyle/>
          <a:p>
            <a:fld id="{D941D3C6-E87D-4516-A6DA-B711844958FD}" type="datetime1">
              <a:rPr lang="hu-HU" altLang="hu-HU"/>
              <a:pPr/>
              <a:t>2024. 11. 28.</a:t>
            </a:fld>
            <a:endParaRPr lang="hu-HU" altLang="hu-HU"/>
          </a:p>
        </p:txBody>
      </p:sp>
      <p:sp>
        <p:nvSpPr>
          <p:cNvPr id="6" name="Élőláb helye 4"/>
          <p:cNvSpPr>
            <a:spLocks noGrp="1"/>
          </p:cNvSpPr>
          <p:nvPr>
            <p:ph type="ftr" sz="quarter" idx="11"/>
          </p:nvPr>
        </p:nvSpPr>
        <p:spPr/>
        <p:txBody>
          <a:bodyPr/>
          <a:lstStyle/>
          <a:p>
            <a:r>
              <a:rPr lang="hu-HU" altLang="hu-HU"/>
              <a:t>Szoftvertechnológia II.</a:t>
            </a:r>
          </a:p>
        </p:txBody>
      </p:sp>
      <p:sp>
        <p:nvSpPr>
          <p:cNvPr id="7" name="Dia számának helye 5"/>
          <p:cNvSpPr>
            <a:spLocks noGrp="1"/>
          </p:cNvSpPr>
          <p:nvPr>
            <p:ph type="sldNum" sz="quarter" idx="12"/>
          </p:nvPr>
        </p:nvSpPr>
        <p:spPr/>
        <p:txBody>
          <a:bodyPr/>
          <a:lstStyle/>
          <a:p>
            <a:fld id="{F73F6668-93AA-4DC2-BF22-D9191289EC2D}" type="slidenum">
              <a:rPr lang="hu-HU" altLang="hu-HU"/>
              <a:pPr/>
              <a:t>14</a:t>
            </a:fld>
            <a:endParaRPr lang="hu-HU" altLang="hu-HU"/>
          </a:p>
        </p:txBody>
      </p:sp>
      <p:pic>
        <p:nvPicPr>
          <p:cNvPr id="140292" name="Picture 4"/>
          <p:cNvPicPr>
            <a:picLocks noChangeAspect="1" noChangeArrowheads="1"/>
          </p:cNvPicPr>
          <p:nvPr/>
        </p:nvPicPr>
        <p:blipFill>
          <a:blip r:embed="rId2">
            <a:extLst>
              <a:ext uri="{28A0092B-C50C-407E-A947-70E740481C1C}">
                <a14:useLocalDpi xmlns:a14="http://schemas.microsoft.com/office/drawing/2010/main" val="0"/>
              </a:ext>
            </a:extLst>
          </a:blip>
          <a:srcRect l="7982" t="17549" r="8508" b="6863"/>
          <a:stretch>
            <a:fillRect/>
          </a:stretch>
        </p:blipFill>
        <p:spPr bwMode="auto">
          <a:xfrm>
            <a:off x="7391400" y="4941888"/>
            <a:ext cx="2014538" cy="163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76317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r>
              <a:rPr lang="hu-HU" altLang="hu-HU"/>
              <a:t>Attribútum</a:t>
            </a:r>
          </a:p>
        </p:txBody>
      </p:sp>
      <p:sp>
        <p:nvSpPr>
          <p:cNvPr id="141315" name="Rectangle 3"/>
          <p:cNvSpPr>
            <a:spLocks noGrp="1" noChangeArrowheads="1"/>
          </p:cNvSpPr>
          <p:nvPr>
            <p:ph idx="1"/>
          </p:nvPr>
        </p:nvSpPr>
        <p:spPr/>
        <p:txBody>
          <a:bodyPr/>
          <a:lstStyle/>
          <a:p>
            <a:r>
              <a:rPr lang="hu-HU" altLang="hu-HU"/>
              <a:t>Attribútum-érték az attribútum egy konkrét előfordulása, egy adott pillanatban felvett állapot, az objektumpéldányban tárolt elemi adat.</a:t>
            </a:r>
          </a:p>
          <a:p>
            <a:r>
              <a:rPr lang="hu-HU" altLang="hu-HU"/>
              <a:t>Specifikációja:</a:t>
            </a:r>
          </a:p>
          <a:p>
            <a:pPr>
              <a:buFont typeface="Wingdings" panose="05000000000000000000" pitchFamily="2" charset="2"/>
              <a:buNone/>
            </a:pPr>
            <a:r>
              <a:rPr lang="hu-HU" altLang="hu-HU" b="1"/>
              <a:t>[láthatóság] név [: típus] [= kezdeti érték] [{jelleg}]</a:t>
            </a:r>
          </a:p>
        </p:txBody>
      </p:sp>
      <p:sp>
        <p:nvSpPr>
          <p:cNvPr id="4" name="Dátum helye 3"/>
          <p:cNvSpPr>
            <a:spLocks noGrp="1"/>
          </p:cNvSpPr>
          <p:nvPr>
            <p:ph type="dt" sz="half" idx="10"/>
          </p:nvPr>
        </p:nvSpPr>
        <p:spPr/>
        <p:txBody>
          <a:bodyPr/>
          <a:lstStyle/>
          <a:p>
            <a:fld id="{35E8E24A-5339-42AA-BBE4-465545EAF365}"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DF78FEE4-CE25-4C68-9A42-D60BD2CC6FB1}" type="slidenum">
              <a:rPr lang="hu-HU" altLang="hu-HU"/>
              <a:pPr/>
              <a:t>15</a:t>
            </a:fld>
            <a:endParaRPr lang="hu-HU" altLang="hu-HU"/>
          </a:p>
        </p:txBody>
      </p:sp>
    </p:spTree>
    <p:extLst>
      <p:ext uri="{BB962C8B-B14F-4D97-AF65-F5344CB8AC3E}">
        <p14:creationId xmlns:p14="http://schemas.microsoft.com/office/powerpoint/2010/main" val="330832236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hu-HU" altLang="hu-HU"/>
              <a:t>Attribútum (folyt.)</a:t>
            </a:r>
          </a:p>
        </p:txBody>
      </p:sp>
      <p:sp>
        <p:nvSpPr>
          <p:cNvPr id="142339" name="Rectangle 3"/>
          <p:cNvSpPr>
            <a:spLocks noGrp="1" noChangeArrowheads="1"/>
          </p:cNvSpPr>
          <p:nvPr>
            <p:ph idx="1"/>
          </p:nvPr>
        </p:nvSpPr>
        <p:spPr/>
        <p:txBody>
          <a:bodyPr/>
          <a:lstStyle/>
          <a:p>
            <a:pPr>
              <a:lnSpc>
                <a:spcPct val="90000"/>
              </a:lnSpc>
            </a:pPr>
            <a:r>
              <a:rPr lang="hu-HU" altLang="hu-HU"/>
              <a:t>Attribútumok: információkat tárolnak</a:t>
            </a:r>
          </a:p>
          <a:p>
            <a:pPr lvl="1">
              <a:lnSpc>
                <a:spcPct val="90000"/>
              </a:lnSpc>
            </a:pPr>
            <a:r>
              <a:rPr lang="hu-HU" altLang="hu-HU"/>
              <a:t>Az értékük az, ami fontos, azaz objektum egy tulajdonságát tartalmazzák valamilyen szempontból.</a:t>
            </a:r>
          </a:p>
          <a:p>
            <a:pPr lvl="1">
              <a:lnSpc>
                <a:spcPct val="90000"/>
              </a:lnSpc>
            </a:pPr>
            <a:r>
              <a:rPr lang="hu-HU" altLang="hu-HU"/>
              <a:t>Az objektum kizárólagos tulajdonában vannak (azaz nem hivatkozik rájuk más objektum).</a:t>
            </a:r>
          </a:p>
          <a:p>
            <a:pPr lvl="1">
              <a:lnSpc>
                <a:spcPct val="90000"/>
              </a:lnSpc>
            </a:pPr>
            <a:r>
              <a:rPr lang="hu-HU" altLang="hu-HU"/>
              <a:t>Get/set műveletek és egyszerű transzformációk végezhetők rajtuk, nincs valódi viselkedésük.</a:t>
            </a:r>
          </a:p>
        </p:txBody>
      </p:sp>
      <p:sp>
        <p:nvSpPr>
          <p:cNvPr id="4" name="Dátum helye 3"/>
          <p:cNvSpPr>
            <a:spLocks noGrp="1"/>
          </p:cNvSpPr>
          <p:nvPr>
            <p:ph type="dt" sz="half" idx="10"/>
          </p:nvPr>
        </p:nvSpPr>
        <p:spPr/>
        <p:txBody>
          <a:bodyPr/>
          <a:lstStyle/>
          <a:p>
            <a:fld id="{A727BC77-D9E7-45E8-88FC-8A2E5242E437}"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7DE38B91-9947-4B42-A6BD-E0EF90FEB674}" type="slidenum">
              <a:rPr lang="hu-HU" altLang="hu-HU"/>
              <a:pPr/>
              <a:t>16</a:t>
            </a:fld>
            <a:endParaRPr lang="hu-HU" altLang="hu-HU"/>
          </a:p>
        </p:txBody>
      </p:sp>
    </p:spTree>
    <p:extLst>
      <p:ext uri="{BB962C8B-B14F-4D97-AF65-F5344CB8AC3E}">
        <p14:creationId xmlns:p14="http://schemas.microsoft.com/office/powerpoint/2010/main" val="172136781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r>
              <a:rPr lang="hu-HU" altLang="hu-HU"/>
              <a:t>Attribútum (folyt.)</a:t>
            </a:r>
          </a:p>
        </p:txBody>
      </p:sp>
      <p:sp>
        <p:nvSpPr>
          <p:cNvPr id="143363" name="Rectangle 3"/>
          <p:cNvSpPr>
            <a:spLocks noGrp="1" noChangeArrowheads="1"/>
          </p:cNvSpPr>
          <p:nvPr>
            <p:ph idx="1"/>
          </p:nvPr>
        </p:nvSpPr>
        <p:spPr/>
        <p:txBody>
          <a:bodyPr/>
          <a:lstStyle/>
          <a:p>
            <a:r>
              <a:rPr lang="hu-HU" altLang="hu-HU"/>
              <a:t>Az attribútum neve mindig főnév és az attribútum által hordozott információtartalomra utal.</a:t>
            </a:r>
          </a:p>
          <a:p>
            <a:pPr lvl="1"/>
            <a:r>
              <a:rPr lang="hu-HU" altLang="hu-HU"/>
              <a:t>Rövid leírás: csak abban az esetben hagyható el, ha az attribútum neve minden kétséget kizár.</a:t>
            </a:r>
          </a:p>
          <a:p>
            <a:r>
              <a:rPr lang="hu-HU" altLang="hu-HU"/>
              <a:t>Az attribútum típusa: egyszerű adattípus az elemzés során.</a:t>
            </a:r>
          </a:p>
        </p:txBody>
      </p:sp>
      <p:sp>
        <p:nvSpPr>
          <p:cNvPr id="4" name="Dátum helye 3"/>
          <p:cNvSpPr>
            <a:spLocks noGrp="1"/>
          </p:cNvSpPr>
          <p:nvPr>
            <p:ph type="dt" sz="half" idx="10"/>
          </p:nvPr>
        </p:nvSpPr>
        <p:spPr/>
        <p:txBody>
          <a:bodyPr/>
          <a:lstStyle/>
          <a:p>
            <a:fld id="{B2215C69-5161-470E-9ED8-703E635B752F}"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7CF19B74-349F-4D82-AC78-9252060BB0A7}" type="slidenum">
              <a:rPr lang="hu-HU" altLang="hu-HU"/>
              <a:pPr/>
              <a:t>17</a:t>
            </a:fld>
            <a:endParaRPr lang="hu-HU" altLang="hu-HU"/>
          </a:p>
        </p:txBody>
      </p:sp>
    </p:spTree>
    <p:extLst>
      <p:ext uri="{BB962C8B-B14F-4D97-AF65-F5344CB8AC3E}">
        <p14:creationId xmlns:p14="http://schemas.microsoft.com/office/powerpoint/2010/main" val="182351282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r>
              <a:rPr lang="hu-HU" altLang="hu-HU"/>
              <a:t>Attribútum (folyt.)</a:t>
            </a:r>
          </a:p>
        </p:txBody>
      </p:sp>
      <p:sp>
        <p:nvSpPr>
          <p:cNvPr id="145411" name="Rectangle 3"/>
          <p:cNvSpPr>
            <a:spLocks noGrp="1" noChangeArrowheads="1"/>
          </p:cNvSpPr>
          <p:nvPr>
            <p:ph idx="1"/>
          </p:nvPr>
        </p:nvSpPr>
        <p:spPr/>
        <p:txBody>
          <a:bodyPr/>
          <a:lstStyle/>
          <a:p>
            <a:r>
              <a:rPr lang="hu-HU" altLang="hu-HU" sz="2700"/>
              <a:t>Az UML szintaktikája:</a:t>
            </a:r>
            <a:br>
              <a:rPr lang="hu-HU" altLang="hu-HU" sz="2700"/>
            </a:br>
            <a:r>
              <a:rPr lang="hu-HU" altLang="hu-HU" sz="2700"/>
              <a:t>láthatóság név: típus = kezdetiÉrték </a:t>
            </a:r>
            <a:r>
              <a:rPr lang="en-US" altLang="hu-HU" sz="2700"/>
              <a:t>{</a:t>
            </a:r>
            <a:r>
              <a:rPr lang="hu-HU" altLang="hu-HU" sz="2700"/>
              <a:t>jellemzők</a:t>
            </a:r>
            <a:r>
              <a:rPr lang="en-US" altLang="hu-HU" sz="2700"/>
              <a:t>}</a:t>
            </a:r>
            <a:endParaRPr lang="hu-HU" altLang="hu-HU" sz="2700"/>
          </a:p>
          <a:p>
            <a:pPr lvl="1"/>
            <a:r>
              <a:rPr lang="hu-HU" altLang="hu-HU" sz="2300"/>
              <a:t>Az attribútum-név elnevezi a szempontot, </a:t>
            </a:r>
          </a:p>
          <a:p>
            <a:pPr lvl="1"/>
            <a:r>
              <a:rPr lang="hu-HU" altLang="hu-HU" sz="2300"/>
              <a:t>az attribútum típusa megadja a lehetséges értékeket (egyszerű adattípus),</a:t>
            </a:r>
          </a:p>
          <a:p>
            <a:pPr lvl="1"/>
            <a:r>
              <a:rPr lang="hu-HU" altLang="hu-HU" sz="2300"/>
              <a:t>a kezdeti érték az objektum készítésekor beállítandó értéket jelenti,</a:t>
            </a:r>
          </a:p>
          <a:p>
            <a:pPr lvl="1"/>
            <a:r>
              <a:rPr lang="hu-HU" altLang="hu-HU" sz="2300"/>
              <a:t>az attribútum-érték megadja, hogy az objektum milyen az adott szempontból.</a:t>
            </a:r>
            <a:endParaRPr lang="hu-HU" altLang="hu-HU" sz="2200"/>
          </a:p>
        </p:txBody>
      </p:sp>
      <p:sp>
        <p:nvSpPr>
          <p:cNvPr id="4" name="Dátum helye 3"/>
          <p:cNvSpPr>
            <a:spLocks noGrp="1"/>
          </p:cNvSpPr>
          <p:nvPr>
            <p:ph type="dt" sz="half" idx="10"/>
          </p:nvPr>
        </p:nvSpPr>
        <p:spPr/>
        <p:txBody>
          <a:bodyPr/>
          <a:lstStyle/>
          <a:p>
            <a:fld id="{EF81C9BA-3CBB-43BE-BC54-3CBD2B2D27B7}"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F56B691A-B76A-4635-9503-697339F6CCBD}" type="slidenum">
              <a:rPr lang="hu-HU" altLang="hu-HU"/>
              <a:pPr/>
              <a:t>18</a:t>
            </a:fld>
            <a:endParaRPr lang="hu-HU" altLang="hu-HU"/>
          </a:p>
        </p:txBody>
      </p:sp>
    </p:spTree>
    <p:extLst>
      <p:ext uri="{BB962C8B-B14F-4D97-AF65-F5344CB8AC3E}">
        <p14:creationId xmlns:p14="http://schemas.microsoft.com/office/powerpoint/2010/main" val="306317208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a:lstStyle/>
          <a:p>
            <a:r>
              <a:rPr lang="hu-HU" altLang="hu-HU"/>
              <a:t>Attribútum (folyt.)</a:t>
            </a:r>
          </a:p>
        </p:txBody>
      </p:sp>
      <p:sp>
        <p:nvSpPr>
          <p:cNvPr id="148483" name="Rectangle 3"/>
          <p:cNvSpPr>
            <a:spLocks noGrp="1" noChangeArrowheads="1"/>
          </p:cNvSpPr>
          <p:nvPr>
            <p:ph idx="1"/>
          </p:nvPr>
        </p:nvSpPr>
        <p:spPr/>
        <p:txBody>
          <a:bodyPr/>
          <a:lstStyle/>
          <a:p>
            <a:pPr>
              <a:lnSpc>
                <a:spcPct val="90000"/>
              </a:lnSpc>
            </a:pPr>
            <a:r>
              <a:rPr lang="hu-HU" altLang="hu-HU"/>
              <a:t>Az attribútumok meghatározásakor figyelmesen kell eljárni, mert egyes adatok az elemzés/tervezés későbbi szakaszaiban maguk is objektumoknak minősülhetnek (pl. lakcím vagy dátum). </a:t>
            </a:r>
          </a:p>
          <a:p>
            <a:pPr>
              <a:lnSpc>
                <a:spcPct val="90000"/>
              </a:lnSpc>
            </a:pPr>
            <a:r>
              <a:rPr lang="hu-HU" altLang="hu-HU"/>
              <a:t>Az ilyen attribútumok számára a modellben külön osztályt kell definiálni.</a:t>
            </a:r>
          </a:p>
        </p:txBody>
      </p:sp>
      <p:sp>
        <p:nvSpPr>
          <p:cNvPr id="4" name="Dátum helye 3"/>
          <p:cNvSpPr>
            <a:spLocks noGrp="1"/>
          </p:cNvSpPr>
          <p:nvPr>
            <p:ph type="dt" sz="half" idx="10"/>
          </p:nvPr>
        </p:nvSpPr>
        <p:spPr/>
        <p:txBody>
          <a:bodyPr/>
          <a:lstStyle/>
          <a:p>
            <a:fld id="{614C17C2-5771-4F63-B084-D425ACFA49A5}"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CBA57F79-A998-49BD-A398-BA965EA87B22}" type="slidenum">
              <a:rPr lang="hu-HU" altLang="hu-HU"/>
              <a:pPr/>
              <a:t>19</a:t>
            </a:fld>
            <a:endParaRPr lang="hu-HU" altLang="hu-HU"/>
          </a:p>
        </p:txBody>
      </p:sp>
    </p:spTree>
    <p:extLst>
      <p:ext uri="{BB962C8B-B14F-4D97-AF65-F5344CB8AC3E}">
        <p14:creationId xmlns:p14="http://schemas.microsoft.com/office/powerpoint/2010/main" val="400278435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lstStyle/>
          <a:p>
            <a:r>
              <a:rPr lang="hu-HU" altLang="hu-HU"/>
              <a:t>Attribútum (folyt.)</a:t>
            </a:r>
          </a:p>
        </p:txBody>
      </p:sp>
      <p:sp>
        <p:nvSpPr>
          <p:cNvPr id="149507" name="Rectangle 3"/>
          <p:cNvSpPr>
            <a:spLocks noGrp="1" noChangeArrowheads="1"/>
          </p:cNvSpPr>
          <p:nvPr>
            <p:ph idx="1"/>
          </p:nvPr>
        </p:nvSpPr>
        <p:spPr/>
        <p:txBody>
          <a:bodyPr/>
          <a:lstStyle/>
          <a:p>
            <a:pPr>
              <a:lnSpc>
                <a:spcPct val="90000"/>
              </a:lnSpc>
            </a:pPr>
            <a:r>
              <a:rPr lang="hu-HU" altLang="hu-HU" sz="2600"/>
              <a:t>Az attribútumok tekinthetők kicsi, egyszerű és korlátozott funkcionalitású osztályokként.</a:t>
            </a:r>
          </a:p>
          <a:p>
            <a:pPr>
              <a:lnSpc>
                <a:spcPct val="90000"/>
              </a:lnSpc>
            </a:pPr>
            <a:r>
              <a:rPr lang="hu-HU" altLang="hu-HU" sz="2600"/>
              <a:t>Az objektumot egyedi módon azonosító objektum-azonosítót (OID) nem szabad attribútumként felvenni, mivel az a megvalósításhoz kapcsolódik.</a:t>
            </a:r>
          </a:p>
          <a:p>
            <a:pPr>
              <a:lnSpc>
                <a:spcPct val="90000"/>
              </a:lnSpc>
            </a:pPr>
            <a:r>
              <a:rPr lang="hu-HU" altLang="hu-HU" sz="2600"/>
              <a:t>Az osztály és az attribútum nem áll messze egymástól.</a:t>
            </a:r>
          </a:p>
          <a:p>
            <a:pPr>
              <a:lnSpc>
                <a:spcPct val="90000"/>
              </a:lnSpc>
            </a:pPr>
            <a:r>
              <a:rPr lang="hu-HU" altLang="hu-HU" sz="2600"/>
              <a:t>Az </a:t>
            </a:r>
            <a:r>
              <a:rPr lang="hu-HU" altLang="hu-HU" sz="2600" u="sng"/>
              <a:t>osztály szintű attribútumot</a:t>
            </a:r>
            <a:r>
              <a:rPr lang="hu-HU" altLang="hu-HU" sz="2600"/>
              <a:t> aláhúzással jelöli az UML.</a:t>
            </a:r>
          </a:p>
        </p:txBody>
      </p:sp>
      <p:sp>
        <p:nvSpPr>
          <p:cNvPr id="4" name="Dátum helye 3"/>
          <p:cNvSpPr>
            <a:spLocks noGrp="1"/>
          </p:cNvSpPr>
          <p:nvPr>
            <p:ph type="dt" sz="half" idx="10"/>
          </p:nvPr>
        </p:nvSpPr>
        <p:spPr/>
        <p:txBody>
          <a:bodyPr/>
          <a:lstStyle/>
          <a:p>
            <a:fld id="{4F90AE67-5C17-4EE5-857F-1AEFAF1D4344}"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CF4F005C-C998-4744-9D3A-735ED0C0FFFC}" type="slidenum">
              <a:rPr lang="hu-HU" altLang="hu-HU"/>
              <a:pPr/>
              <a:t>20</a:t>
            </a:fld>
            <a:endParaRPr lang="hu-HU" altLang="hu-HU"/>
          </a:p>
        </p:txBody>
      </p:sp>
    </p:spTree>
    <p:extLst>
      <p:ext uri="{BB962C8B-B14F-4D97-AF65-F5344CB8AC3E}">
        <p14:creationId xmlns:p14="http://schemas.microsoft.com/office/powerpoint/2010/main" val="272806760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r>
              <a:rPr lang="hu-HU" altLang="hu-HU"/>
              <a:t>Láthatóság</a:t>
            </a:r>
          </a:p>
        </p:txBody>
      </p:sp>
      <p:sp>
        <p:nvSpPr>
          <p:cNvPr id="146435" name="Rectangle 3"/>
          <p:cNvSpPr>
            <a:spLocks noGrp="1" noChangeArrowheads="1"/>
          </p:cNvSpPr>
          <p:nvPr>
            <p:ph idx="1"/>
          </p:nvPr>
        </p:nvSpPr>
        <p:spPr/>
        <p:txBody>
          <a:bodyPr/>
          <a:lstStyle/>
          <a:p>
            <a:r>
              <a:rPr lang="hu-HU" altLang="hu-HU"/>
              <a:t>Az objektum különböző tulajdonságai, metódusai mennyire fedhetők fel a külvilág számára. Az UML az osztályjellemzőkhöz (attribútum, művelet) három láthatósági szintet javasol:</a:t>
            </a:r>
          </a:p>
          <a:p>
            <a:pPr lvl="1"/>
            <a:r>
              <a:rPr lang="hu-HU" altLang="hu-HU"/>
              <a:t>a</a:t>
            </a:r>
            <a:r>
              <a:rPr lang="hu-HU" altLang="hu-HU" b="1"/>
              <a:t> + </a:t>
            </a:r>
            <a:r>
              <a:rPr lang="hu-HU" altLang="hu-HU"/>
              <a:t>public</a:t>
            </a:r>
          </a:p>
          <a:p>
            <a:pPr lvl="1"/>
            <a:r>
              <a:rPr lang="hu-HU" altLang="hu-HU"/>
              <a:t>a </a:t>
            </a:r>
            <a:r>
              <a:rPr lang="hu-HU" altLang="hu-HU" b="1"/>
              <a:t>– </a:t>
            </a:r>
            <a:r>
              <a:rPr lang="hu-HU" altLang="hu-HU"/>
              <a:t>private</a:t>
            </a:r>
          </a:p>
          <a:p>
            <a:pPr lvl="1"/>
            <a:r>
              <a:rPr lang="hu-HU" altLang="hu-HU"/>
              <a:t>a </a:t>
            </a:r>
            <a:r>
              <a:rPr lang="hu-HU" altLang="hu-HU" b="1"/>
              <a:t># </a:t>
            </a:r>
            <a:r>
              <a:rPr lang="hu-HU" altLang="hu-HU"/>
              <a:t>protected</a:t>
            </a:r>
          </a:p>
        </p:txBody>
      </p:sp>
      <p:sp>
        <p:nvSpPr>
          <p:cNvPr id="4" name="Dátum helye 3"/>
          <p:cNvSpPr>
            <a:spLocks noGrp="1"/>
          </p:cNvSpPr>
          <p:nvPr>
            <p:ph type="dt" sz="half" idx="10"/>
          </p:nvPr>
        </p:nvSpPr>
        <p:spPr/>
        <p:txBody>
          <a:bodyPr/>
          <a:lstStyle/>
          <a:p>
            <a:fld id="{C88F679E-FE91-4715-98BF-8FD93EAFD299}"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1CD5B000-067F-44E2-8F9C-742A38DB22DD}" type="slidenum">
              <a:rPr lang="hu-HU" altLang="hu-HU"/>
              <a:pPr/>
              <a:t>21</a:t>
            </a:fld>
            <a:endParaRPr lang="hu-HU" altLang="hu-HU"/>
          </a:p>
        </p:txBody>
      </p:sp>
    </p:spTree>
    <p:extLst>
      <p:ext uri="{BB962C8B-B14F-4D97-AF65-F5344CB8AC3E}">
        <p14:creationId xmlns:p14="http://schemas.microsoft.com/office/powerpoint/2010/main" val="157858140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r>
              <a:rPr lang="hu-HU" altLang="hu-HU"/>
              <a:t>Láthatóság (folyt.)</a:t>
            </a:r>
          </a:p>
        </p:txBody>
      </p:sp>
      <p:sp>
        <p:nvSpPr>
          <p:cNvPr id="147459" name="Rectangle 3"/>
          <p:cNvSpPr>
            <a:spLocks noGrp="1" noChangeArrowheads="1"/>
          </p:cNvSpPr>
          <p:nvPr>
            <p:ph idx="1"/>
          </p:nvPr>
        </p:nvSpPr>
        <p:spPr/>
        <p:txBody>
          <a:bodyPr/>
          <a:lstStyle/>
          <a:p>
            <a:r>
              <a:rPr lang="hu-HU" altLang="hu-HU" sz="2600" b="1"/>
              <a:t>+</a:t>
            </a:r>
            <a:r>
              <a:rPr lang="hu-HU" altLang="hu-HU" sz="2600"/>
              <a:t>: A jellemző interfészen keresztül tetszőlegesen minden osztály által elérhető, nincs szükség metódusra az eléréséhez.</a:t>
            </a:r>
          </a:p>
          <a:p>
            <a:r>
              <a:rPr lang="hu-HU" altLang="hu-HU" sz="2600" b="1"/>
              <a:t>- </a:t>
            </a:r>
            <a:r>
              <a:rPr lang="hu-HU" altLang="hu-HU" sz="2600"/>
              <a:t>: Csak az osztály látja, csak saját objektumon belül látszik.</a:t>
            </a:r>
          </a:p>
          <a:p>
            <a:r>
              <a:rPr lang="hu-HU" altLang="hu-HU" sz="2600" b="1"/>
              <a:t># </a:t>
            </a:r>
            <a:r>
              <a:rPr lang="hu-HU" altLang="hu-HU" sz="2600"/>
              <a:t>: A jellemző csak saját objektumból és az utódokból látszik, csak az adott osztályon érhető el, a gyermek (leszármazott) és a barát (friend) osztályok látják.</a:t>
            </a:r>
            <a:r>
              <a:rPr lang="en-US" altLang="hu-HU" sz="2600"/>
              <a:t> </a:t>
            </a:r>
            <a:endParaRPr lang="hu-HU" altLang="hu-HU" sz="2600"/>
          </a:p>
        </p:txBody>
      </p:sp>
      <p:sp>
        <p:nvSpPr>
          <p:cNvPr id="4" name="Dátum helye 3"/>
          <p:cNvSpPr>
            <a:spLocks noGrp="1"/>
          </p:cNvSpPr>
          <p:nvPr>
            <p:ph type="dt" sz="half" idx="10"/>
          </p:nvPr>
        </p:nvSpPr>
        <p:spPr/>
        <p:txBody>
          <a:bodyPr/>
          <a:lstStyle/>
          <a:p>
            <a:fld id="{7B20B3B9-2099-4F97-AAF9-36E45579365F}"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C8D8A52E-27BF-4F56-BA8E-EDBF3230992A}" type="slidenum">
              <a:rPr lang="hu-HU" altLang="hu-HU"/>
              <a:pPr/>
              <a:t>22</a:t>
            </a:fld>
            <a:endParaRPr lang="hu-HU" altLang="hu-HU"/>
          </a:p>
        </p:txBody>
      </p:sp>
    </p:spTree>
    <p:extLst>
      <p:ext uri="{BB962C8B-B14F-4D97-AF65-F5344CB8AC3E}">
        <p14:creationId xmlns:p14="http://schemas.microsoft.com/office/powerpoint/2010/main" val="393935290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a:lstStyle/>
          <a:p>
            <a:r>
              <a:rPr lang="hu-HU" altLang="hu-HU"/>
              <a:t>Műveletek</a:t>
            </a:r>
          </a:p>
        </p:txBody>
      </p:sp>
      <p:sp>
        <p:nvSpPr>
          <p:cNvPr id="150531" name="Rectangle 3"/>
          <p:cNvSpPr>
            <a:spLocks noGrp="1" noChangeArrowheads="1"/>
          </p:cNvSpPr>
          <p:nvPr>
            <p:ph idx="1"/>
          </p:nvPr>
        </p:nvSpPr>
        <p:spPr/>
        <p:txBody>
          <a:bodyPr/>
          <a:lstStyle/>
          <a:p>
            <a:r>
              <a:rPr lang="hu-HU" altLang="hu-HU"/>
              <a:t>Az osztály által nyújtott szolgáltatás.</a:t>
            </a:r>
          </a:p>
          <a:p>
            <a:r>
              <a:rPr lang="hu-HU" altLang="hu-HU"/>
              <a:t>Feladat, tevékenység, amit az osztály végre tud hajtani.</a:t>
            </a:r>
          </a:p>
          <a:p>
            <a:r>
              <a:rPr lang="hu-HU" altLang="hu-HU"/>
              <a:t>Az osztályok által nyújtott szolgáltatásokat elsősorban eseménykövetési diagramok üzenetei alapján azonosítjuk.</a:t>
            </a:r>
          </a:p>
        </p:txBody>
      </p:sp>
      <p:sp>
        <p:nvSpPr>
          <p:cNvPr id="4" name="Dátum helye 3"/>
          <p:cNvSpPr>
            <a:spLocks noGrp="1"/>
          </p:cNvSpPr>
          <p:nvPr>
            <p:ph type="dt" sz="half" idx="10"/>
          </p:nvPr>
        </p:nvSpPr>
        <p:spPr/>
        <p:txBody>
          <a:bodyPr/>
          <a:lstStyle/>
          <a:p>
            <a:fld id="{4164E3D2-73B4-46F6-9751-16FD0EEC4264}"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CBA26CDE-D62E-4C4C-AB5A-BD83A193566A}" type="slidenum">
              <a:rPr lang="hu-HU" altLang="hu-HU"/>
              <a:pPr/>
              <a:t>23</a:t>
            </a:fld>
            <a:endParaRPr lang="hu-HU" altLang="hu-HU"/>
          </a:p>
        </p:txBody>
      </p:sp>
    </p:spTree>
    <p:extLst>
      <p:ext uri="{BB962C8B-B14F-4D97-AF65-F5344CB8AC3E}">
        <p14:creationId xmlns:p14="http://schemas.microsoft.com/office/powerpoint/2010/main" val="343460853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p:txBody>
          <a:bodyPr/>
          <a:lstStyle/>
          <a:p>
            <a:endParaRPr lang="hu-HU" altLang="hu-HU"/>
          </a:p>
        </p:txBody>
      </p:sp>
      <p:sp>
        <p:nvSpPr>
          <p:cNvPr id="151555" name="Rectangle 3"/>
          <p:cNvSpPr>
            <a:spLocks noGrp="1" noChangeArrowheads="1"/>
          </p:cNvSpPr>
          <p:nvPr>
            <p:ph idx="1"/>
          </p:nvPr>
        </p:nvSpPr>
        <p:spPr/>
        <p:txBody>
          <a:bodyPr/>
          <a:lstStyle/>
          <a:p>
            <a:pPr>
              <a:buFont typeface="Wingdings" panose="05000000000000000000" pitchFamily="2" charset="2"/>
              <a:buNone/>
            </a:pPr>
            <a:endParaRPr lang="hu-HU" altLang="hu-HU"/>
          </a:p>
        </p:txBody>
      </p:sp>
      <p:sp>
        <p:nvSpPr>
          <p:cNvPr id="104" name="Dátum helye 3"/>
          <p:cNvSpPr>
            <a:spLocks noGrp="1"/>
          </p:cNvSpPr>
          <p:nvPr>
            <p:ph type="dt" sz="half" idx="10"/>
          </p:nvPr>
        </p:nvSpPr>
        <p:spPr/>
        <p:txBody>
          <a:bodyPr/>
          <a:lstStyle/>
          <a:p>
            <a:fld id="{1869E5D5-2571-4012-A83A-0CFBE14BB735}" type="datetime1">
              <a:rPr lang="hu-HU" altLang="hu-HU"/>
              <a:pPr/>
              <a:t>2024. 11. 28.</a:t>
            </a:fld>
            <a:endParaRPr lang="hu-HU" altLang="hu-HU"/>
          </a:p>
        </p:txBody>
      </p:sp>
      <p:sp>
        <p:nvSpPr>
          <p:cNvPr id="105" name="Élőláb helye 4"/>
          <p:cNvSpPr>
            <a:spLocks noGrp="1"/>
          </p:cNvSpPr>
          <p:nvPr>
            <p:ph type="ftr" sz="quarter" idx="11"/>
          </p:nvPr>
        </p:nvSpPr>
        <p:spPr/>
        <p:txBody>
          <a:bodyPr/>
          <a:lstStyle/>
          <a:p>
            <a:r>
              <a:rPr lang="hu-HU" altLang="hu-HU"/>
              <a:t>Szoftvertechnológia II.</a:t>
            </a:r>
          </a:p>
        </p:txBody>
      </p:sp>
      <p:sp>
        <p:nvSpPr>
          <p:cNvPr id="106" name="Dia számának helye 5"/>
          <p:cNvSpPr>
            <a:spLocks noGrp="1"/>
          </p:cNvSpPr>
          <p:nvPr>
            <p:ph type="sldNum" sz="quarter" idx="12"/>
          </p:nvPr>
        </p:nvSpPr>
        <p:spPr/>
        <p:txBody>
          <a:bodyPr/>
          <a:lstStyle/>
          <a:p>
            <a:fld id="{DF815360-D398-41CF-8807-7473C661D02C}" type="slidenum">
              <a:rPr lang="hu-HU" altLang="hu-HU"/>
              <a:pPr/>
              <a:t>24</a:t>
            </a:fld>
            <a:endParaRPr lang="hu-HU" altLang="hu-HU"/>
          </a:p>
        </p:txBody>
      </p:sp>
      <p:grpSp>
        <p:nvGrpSpPr>
          <p:cNvPr id="151556" name="Group 4"/>
          <p:cNvGrpSpPr>
            <a:grpSpLocks/>
          </p:cNvGrpSpPr>
          <p:nvPr/>
        </p:nvGrpSpPr>
        <p:grpSpPr bwMode="auto">
          <a:xfrm>
            <a:off x="1398588" y="922339"/>
            <a:ext cx="9269413" cy="6175375"/>
            <a:chOff x="-79" y="581"/>
            <a:chExt cx="5839" cy="3890"/>
          </a:xfrm>
        </p:grpSpPr>
        <p:sp>
          <p:nvSpPr>
            <p:cNvPr id="151557" name="Line 5"/>
            <p:cNvSpPr>
              <a:spLocks noChangeShapeType="1"/>
            </p:cNvSpPr>
            <p:nvPr/>
          </p:nvSpPr>
          <p:spPr bwMode="auto">
            <a:xfrm>
              <a:off x="732" y="4124"/>
              <a:ext cx="4746" cy="1"/>
            </a:xfrm>
            <a:prstGeom prst="line">
              <a:avLst/>
            </a:prstGeom>
            <a:noFill/>
            <a:ln w="0">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558" name="Line 6"/>
            <p:cNvSpPr>
              <a:spLocks noChangeShapeType="1"/>
            </p:cNvSpPr>
            <p:nvPr/>
          </p:nvSpPr>
          <p:spPr bwMode="auto">
            <a:xfrm flipH="1">
              <a:off x="5413" y="4124"/>
              <a:ext cx="65" cy="30"/>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559" name="Line 7"/>
            <p:cNvSpPr>
              <a:spLocks noChangeShapeType="1"/>
            </p:cNvSpPr>
            <p:nvPr/>
          </p:nvSpPr>
          <p:spPr bwMode="auto">
            <a:xfrm flipH="1" flipV="1">
              <a:off x="5413" y="4094"/>
              <a:ext cx="65" cy="30"/>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560" name="Oval 8"/>
            <p:cNvSpPr>
              <a:spLocks noChangeArrowheads="1"/>
            </p:cNvSpPr>
            <p:nvPr/>
          </p:nvSpPr>
          <p:spPr bwMode="auto">
            <a:xfrm>
              <a:off x="85" y="581"/>
              <a:ext cx="100" cy="102"/>
            </a:xfrm>
            <a:prstGeom prst="ellipse">
              <a:avLst/>
            </a:prstGeom>
            <a:noFill/>
            <a:ln w="0">
              <a:solidFill>
                <a:srgbClr val="990033"/>
              </a:solidFill>
              <a:round/>
              <a:headEnd/>
              <a:tailEnd/>
            </a:ln>
            <a:extLst>
              <a:ext uri="{909E8E84-426E-40DD-AFC4-6F175D3DCCD1}">
                <a14:hiddenFill xmlns:a14="http://schemas.microsoft.com/office/drawing/2010/main">
                  <a:solidFill>
                    <a:srgbClr val="FFFFFF"/>
                  </a:solidFill>
                </a14:hiddenFill>
              </a:ext>
            </a:extLst>
          </p:spPr>
          <p:txBody>
            <a:bodyPr/>
            <a:lstStyle/>
            <a:p>
              <a:endParaRPr lang="hu-HU"/>
            </a:p>
          </p:txBody>
        </p:sp>
        <p:sp>
          <p:nvSpPr>
            <p:cNvPr id="151561" name="Line 9"/>
            <p:cNvSpPr>
              <a:spLocks noChangeShapeType="1"/>
            </p:cNvSpPr>
            <p:nvPr/>
          </p:nvSpPr>
          <p:spPr bwMode="auto">
            <a:xfrm>
              <a:off x="132" y="677"/>
              <a:ext cx="1" cy="83"/>
            </a:xfrm>
            <a:prstGeom prst="line">
              <a:avLst/>
            </a:prstGeom>
            <a:noFill/>
            <a:ln w="0">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562" name="Line 10"/>
            <p:cNvSpPr>
              <a:spLocks noChangeShapeType="1"/>
            </p:cNvSpPr>
            <p:nvPr/>
          </p:nvSpPr>
          <p:spPr bwMode="auto">
            <a:xfrm>
              <a:off x="56" y="701"/>
              <a:ext cx="147" cy="1"/>
            </a:xfrm>
            <a:prstGeom prst="line">
              <a:avLst/>
            </a:prstGeom>
            <a:noFill/>
            <a:ln w="0">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563" name="Freeform 11"/>
            <p:cNvSpPr>
              <a:spLocks/>
            </p:cNvSpPr>
            <p:nvPr/>
          </p:nvSpPr>
          <p:spPr bwMode="auto">
            <a:xfrm>
              <a:off x="26" y="760"/>
              <a:ext cx="206" cy="108"/>
            </a:xfrm>
            <a:custGeom>
              <a:avLst/>
              <a:gdLst>
                <a:gd name="T0" fmla="*/ 0 w 35"/>
                <a:gd name="T1" fmla="*/ 18 h 18"/>
                <a:gd name="T2" fmla="*/ 18 w 35"/>
                <a:gd name="T3" fmla="*/ 0 h 18"/>
                <a:gd name="T4" fmla="*/ 35 w 35"/>
                <a:gd name="T5" fmla="*/ 18 h 18"/>
              </a:gdLst>
              <a:ahLst/>
              <a:cxnLst>
                <a:cxn ang="0">
                  <a:pos x="T0" y="T1"/>
                </a:cxn>
                <a:cxn ang="0">
                  <a:pos x="T2" y="T3"/>
                </a:cxn>
                <a:cxn ang="0">
                  <a:pos x="T4" y="T5"/>
                </a:cxn>
              </a:cxnLst>
              <a:rect l="0" t="0" r="r" b="b"/>
              <a:pathLst>
                <a:path w="35" h="18">
                  <a:moveTo>
                    <a:pt x="0" y="18"/>
                  </a:moveTo>
                  <a:lnTo>
                    <a:pt x="18" y="0"/>
                  </a:lnTo>
                  <a:lnTo>
                    <a:pt x="35" y="18"/>
                  </a:lnTo>
                </a:path>
              </a:pathLst>
            </a:custGeom>
            <a:noFill/>
            <a:ln w="0">
              <a:solidFill>
                <a:srgbClr val="99003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hu-HU"/>
            </a:p>
          </p:txBody>
        </p:sp>
        <p:sp>
          <p:nvSpPr>
            <p:cNvPr id="151564" name="Rectangle 12"/>
            <p:cNvSpPr>
              <a:spLocks noChangeArrowheads="1"/>
            </p:cNvSpPr>
            <p:nvPr/>
          </p:nvSpPr>
          <p:spPr bwMode="auto">
            <a:xfrm>
              <a:off x="-79" y="928"/>
              <a:ext cx="44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u="sng">
                  <a:solidFill>
                    <a:srgbClr val="000000"/>
                  </a:solidFill>
                </a:rPr>
                <a:t> : Jelentkezõ</a:t>
              </a:r>
              <a:endParaRPr lang="hu-HU" altLang="hu-HU" sz="1000"/>
            </a:p>
          </p:txBody>
        </p:sp>
        <p:sp>
          <p:nvSpPr>
            <p:cNvPr id="151565" name="Line 13"/>
            <p:cNvSpPr>
              <a:spLocks noChangeShapeType="1"/>
            </p:cNvSpPr>
            <p:nvPr/>
          </p:nvSpPr>
          <p:spPr bwMode="auto">
            <a:xfrm>
              <a:off x="132" y="999"/>
              <a:ext cx="1" cy="3472"/>
            </a:xfrm>
            <a:prstGeom prst="line">
              <a:avLst/>
            </a:prstGeom>
            <a:noFill/>
            <a:ln w="0">
              <a:solidFill>
                <a:srgbClr val="000000"/>
              </a:solidFill>
              <a:prstDash val="sysDash"/>
              <a:round/>
              <a:headEnd/>
              <a:tailEnd/>
            </a:ln>
            <a:extLst>
              <a:ext uri="{909E8E84-426E-40DD-AFC4-6F175D3DCCD1}">
                <a14:hiddenFill xmlns:a14="http://schemas.microsoft.com/office/drawing/2010/main">
                  <a:noFill/>
                </a14:hiddenFill>
              </a:ext>
            </a:extLst>
          </p:spPr>
          <p:txBody>
            <a:bodyPr/>
            <a:lstStyle/>
            <a:p>
              <a:endParaRPr lang="hu-HU"/>
            </a:p>
          </p:txBody>
        </p:sp>
        <p:sp>
          <p:nvSpPr>
            <p:cNvPr id="151566" name="Rectangle 14"/>
            <p:cNvSpPr>
              <a:spLocks noChangeArrowheads="1"/>
            </p:cNvSpPr>
            <p:nvPr/>
          </p:nvSpPr>
          <p:spPr bwMode="auto">
            <a:xfrm>
              <a:off x="1113" y="713"/>
              <a:ext cx="564" cy="215"/>
            </a:xfrm>
            <a:prstGeom prst="rect">
              <a:avLst/>
            </a:prstGeom>
            <a:solidFill>
              <a:srgbClr val="FFFFCC"/>
            </a:solidFill>
            <a:ln w="0">
              <a:solidFill>
                <a:srgbClr val="990033"/>
              </a:solidFill>
              <a:miter lim="800000"/>
              <a:headEnd/>
              <a:tailEnd/>
            </a:ln>
          </p:spPr>
          <p:txBody>
            <a:bodyPr/>
            <a:lstStyle/>
            <a:p>
              <a:endParaRPr lang="hu-HU"/>
            </a:p>
          </p:txBody>
        </p:sp>
        <p:sp>
          <p:nvSpPr>
            <p:cNvPr id="151567" name="Rectangle 15"/>
            <p:cNvSpPr>
              <a:spLocks noChangeArrowheads="1"/>
            </p:cNvSpPr>
            <p:nvPr/>
          </p:nvSpPr>
          <p:spPr bwMode="auto">
            <a:xfrm>
              <a:off x="1217" y="730"/>
              <a:ext cx="38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u="sng">
                  <a:solidFill>
                    <a:srgbClr val="000000"/>
                  </a:solidFill>
                </a:rPr>
                <a:t> : DlgLogin</a:t>
              </a:r>
              <a:endParaRPr lang="hu-HU" altLang="hu-HU" sz="1000"/>
            </a:p>
          </p:txBody>
        </p:sp>
        <p:sp>
          <p:nvSpPr>
            <p:cNvPr id="151568" name="Line 16"/>
            <p:cNvSpPr>
              <a:spLocks noChangeShapeType="1"/>
            </p:cNvSpPr>
            <p:nvPr/>
          </p:nvSpPr>
          <p:spPr bwMode="auto">
            <a:xfrm>
              <a:off x="1395" y="999"/>
              <a:ext cx="1" cy="3472"/>
            </a:xfrm>
            <a:prstGeom prst="line">
              <a:avLst/>
            </a:prstGeom>
            <a:noFill/>
            <a:ln w="0">
              <a:solidFill>
                <a:srgbClr val="000000"/>
              </a:solidFill>
              <a:prstDash val="sysDash"/>
              <a:round/>
              <a:headEnd/>
              <a:tailEnd/>
            </a:ln>
            <a:extLst>
              <a:ext uri="{909E8E84-426E-40DD-AFC4-6F175D3DCCD1}">
                <a14:hiddenFill xmlns:a14="http://schemas.microsoft.com/office/drawing/2010/main">
                  <a:noFill/>
                </a14:hiddenFill>
              </a:ext>
            </a:extLst>
          </p:spPr>
          <p:txBody>
            <a:bodyPr/>
            <a:lstStyle/>
            <a:p>
              <a:endParaRPr lang="hu-HU"/>
            </a:p>
          </p:txBody>
        </p:sp>
        <p:sp>
          <p:nvSpPr>
            <p:cNvPr id="151569" name="Rectangle 17"/>
            <p:cNvSpPr>
              <a:spLocks noChangeArrowheads="1"/>
            </p:cNvSpPr>
            <p:nvPr/>
          </p:nvSpPr>
          <p:spPr bwMode="auto">
            <a:xfrm>
              <a:off x="1771" y="713"/>
              <a:ext cx="564" cy="215"/>
            </a:xfrm>
            <a:prstGeom prst="rect">
              <a:avLst/>
            </a:prstGeom>
            <a:solidFill>
              <a:srgbClr val="FFFFCC"/>
            </a:solidFill>
            <a:ln w="0">
              <a:solidFill>
                <a:srgbClr val="990033"/>
              </a:solidFill>
              <a:miter lim="800000"/>
              <a:headEnd/>
              <a:tailEnd/>
            </a:ln>
          </p:spPr>
          <p:txBody>
            <a:bodyPr/>
            <a:lstStyle/>
            <a:p>
              <a:endParaRPr lang="hu-HU"/>
            </a:p>
          </p:txBody>
        </p:sp>
        <p:sp>
          <p:nvSpPr>
            <p:cNvPr id="151570" name="Rectangle 18"/>
            <p:cNvSpPr>
              <a:spLocks noChangeArrowheads="1"/>
            </p:cNvSpPr>
            <p:nvPr/>
          </p:nvSpPr>
          <p:spPr bwMode="auto">
            <a:xfrm>
              <a:off x="1925" y="730"/>
              <a:ext cx="29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u="sng">
                  <a:solidFill>
                    <a:srgbClr val="000000"/>
                  </a:solidFill>
                </a:rPr>
                <a:t> : Ugyfel</a:t>
              </a:r>
              <a:endParaRPr lang="hu-HU" altLang="hu-HU" sz="1000"/>
            </a:p>
          </p:txBody>
        </p:sp>
        <p:sp>
          <p:nvSpPr>
            <p:cNvPr id="151571" name="Line 19"/>
            <p:cNvSpPr>
              <a:spLocks noChangeShapeType="1"/>
            </p:cNvSpPr>
            <p:nvPr/>
          </p:nvSpPr>
          <p:spPr bwMode="auto">
            <a:xfrm>
              <a:off x="2053" y="999"/>
              <a:ext cx="1" cy="3472"/>
            </a:xfrm>
            <a:prstGeom prst="line">
              <a:avLst/>
            </a:prstGeom>
            <a:noFill/>
            <a:ln w="0">
              <a:solidFill>
                <a:srgbClr val="000000"/>
              </a:solidFill>
              <a:prstDash val="sysDash"/>
              <a:round/>
              <a:headEnd/>
              <a:tailEnd/>
            </a:ln>
            <a:extLst>
              <a:ext uri="{909E8E84-426E-40DD-AFC4-6F175D3DCCD1}">
                <a14:hiddenFill xmlns:a14="http://schemas.microsoft.com/office/drawing/2010/main">
                  <a:noFill/>
                </a14:hiddenFill>
              </a:ext>
            </a:extLst>
          </p:spPr>
          <p:txBody>
            <a:bodyPr/>
            <a:lstStyle/>
            <a:p>
              <a:endParaRPr lang="hu-HU"/>
            </a:p>
          </p:txBody>
        </p:sp>
        <p:sp>
          <p:nvSpPr>
            <p:cNvPr id="151572" name="Rectangle 20"/>
            <p:cNvSpPr>
              <a:spLocks noChangeArrowheads="1"/>
            </p:cNvSpPr>
            <p:nvPr/>
          </p:nvSpPr>
          <p:spPr bwMode="auto">
            <a:xfrm>
              <a:off x="2435" y="713"/>
              <a:ext cx="564" cy="215"/>
            </a:xfrm>
            <a:prstGeom prst="rect">
              <a:avLst/>
            </a:prstGeom>
            <a:solidFill>
              <a:srgbClr val="FFFFCC"/>
            </a:solidFill>
            <a:ln w="0">
              <a:solidFill>
                <a:srgbClr val="990033"/>
              </a:solidFill>
              <a:miter lim="800000"/>
              <a:headEnd/>
              <a:tailEnd/>
            </a:ln>
          </p:spPr>
          <p:txBody>
            <a:bodyPr/>
            <a:lstStyle/>
            <a:p>
              <a:endParaRPr lang="hu-HU"/>
            </a:p>
          </p:txBody>
        </p:sp>
        <p:sp>
          <p:nvSpPr>
            <p:cNvPr id="151573" name="Rectangle 21"/>
            <p:cNvSpPr>
              <a:spLocks noChangeArrowheads="1"/>
            </p:cNvSpPr>
            <p:nvPr/>
          </p:nvSpPr>
          <p:spPr bwMode="auto">
            <a:xfrm>
              <a:off x="2624" y="730"/>
              <a:ext cx="209"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u="sng">
                  <a:solidFill>
                    <a:srgbClr val="000000"/>
                  </a:solidFill>
                </a:rPr>
                <a:t> : Frm</a:t>
              </a:r>
              <a:endParaRPr lang="hu-HU" altLang="hu-HU" sz="1000"/>
            </a:p>
          </p:txBody>
        </p:sp>
        <p:sp>
          <p:nvSpPr>
            <p:cNvPr id="151574" name="Rectangle 22"/>
            <p:cNvSpPr>
              <a:spLocks noChangeArrowheads="1"/>
            </p:cNvSpPr>
            <p:nvPr/>
          </p:nvSpPr>
          <p:spPr bwMode="auto">
            <a:xfrm>
              <a:off x="2518" y="820"/>
              <a:ext cx="42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u="sng">
                  <a:solidFill>
                    <a:srgbClr val="000000"/>
                  </a:solidFill>
                </a:rPr>
                <a:t>Jelentkezes</a:t>
              </a:r>
              <a:endParaRPr lang="hu-HU" altLang="hu-HU" sz="1000"/>
            </a:p>
          </p:txBody>
        </p:sp>
        <p:sp>
          <p:nvSpPr>
            <p:cNvPr id="151575" name="Line 23"/>
            <p:cNvSpPr>
              <a:spLocks noChangeShapeType="1"/>
            </p:cNvSpPr>
            <p:nvPr/>
          </p:nvSpPr>
          <p:spPr bwMode="auto">
            <a:xfrm>
              <a:off x="2717" y="999"/>
              <a:ext cx="1" cy="3472"/>
            </a:xfrm>
            <a:prstGeom prst="line">
              <a:avLst/>
            </a:prstGeom>
            <a:noFill/>
            <a:ln w="0">
              <a:solidFill>
                <a:srgbClr val="000000"/>
              </a:solidFill>
              <a:prstDash val="sysDash"/>
              <a:round/>
              <a:headEnd/>
              <a:tailEnd/>
            </a:ln>
            <a:extLst>
              <a:ext uri="{909E8E84-426E-40DD-AFC4-6F175D3DCCD1}">
                <a14:hiddenFill xmlns:a14="http://schemas.microsoft.com/office/drawing/2010/main">
                  <a:noFill/>
                </a14:hiddenFill>
              </a:ext>
            </a:extLst>
          </p:spPr>
          <p:txBody>
            <a:bodyPr/>
            <a:lstStyle/>
            <a:p>
              <a:endParaRPr lang="hu-HU"/>
            </a:p>
          </p:txBody>
        </p:sp>
        <p:sp>
          <p:nvSpPr>
            <p:cNvPr id="151576" name="Rectangle 24"/>
            <p:cNvSpPr>
              <a:spLocks noChangeArrowheads="1"/>
            </p:cNvSpPr>
            <p:nvPr/>
          </p:nvSpPr>
          <p:spPr bwMode="auto">
            <a:xfrm>
              <a:off x="3093" y="713"/>
              <a:ext cx="563" cy="215"/>
            </a:xfrm>
            <a:prstGeom prst="rect">
              <a:avLst/>
            </a:prstGeom>
            <a:solidFill>
              <a:srgbClr val="FFFFCC"/>
            </a:solidFill>
            <a:ln w="0">
              <a:solidFill>
                <a:srgbClr val="990033"/>
              </a:solidFill>
              <a:miter lim="800000"/>
              <a:headEnd/>
              <a:tailEnd/>
            </a:ln>
          </p:spPr>
          <p:txBody>
            <a:bodyPr/>
            <a:lstStyle/>
            <a:p>
              <a:endParaRPr lang="hu-HU"/>
            </a:p>
          </p:txBody>
        </p:sp>
        <p:sp>
          <p:nvSpPr>
            <p:cNvPr id="151577" name="Rectangle 25"/>
            <p:cNvSpPr>
              <a:spLocks noChangeArrowheads="1"/>
            </p:cNvSpPr>
            <p:nvPr/>
          </p:nvSpPr>
          <p:spPr bwMode="auto">
            <a:xfrm>
              <a:off x="3170" y="730"/>
              <a:ext cx="43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u="sng">
                  <a:solidFill>
                    <a:srgbClr val="000000"/>
                  </a:solidFill>
                </a:rPr>
                <a:t> : Tanfolyam</a:t>
              </a:r>
              <a:endParaRPr lang="hu-HU" altLang="hu-HU" sz="1000"/>
            </a:p>
          </p:txBody>
        </p:sp>
        <p:sp>
          <p:nvSpPr>
            <p:cNvPr id="151578" name="Line 26"/>
            <p:cNvSpPr>
              <a:spLocks noChangeShapeType="1"/>
            </p:cNvSpPr>
            <p:nvPr/>
          </p:nvSpPr>
          <p:spPr bwMode="auto">
            <a:xfrm>
              <a:off x="3374" y="999"/>
              <a:ext cx="1" cy="3472"/>
            </a:xfrm>
            <a:prstGeom prst="line">
              <a:avLst/>
            </a:prstGeom>
            <a:noFill/>
            <a:ln w="0">
              <a:solidFill>
                <a:srgbClr val="000000"/>
              </a:solidFill>
              <a:prstDash val="sysDash"/>
              <a:round/>
              <a:headEnd/>
              <a:tailEnd/>
            </a:ln>
            <a:extLst>
              <a:ext uri="{909E8E84-426E-40DD-AFC4-6F175D3DCCD1}">
                <a14:hiddenFill xmlns:a14="http://schemas.microsoft.com/office/drawing/2010/main">
                  <a:noFill/>
                </a14:hiddenFill>
              </a:ext>
            </a:extLst>
          </p:spPr>
          <p:txBody>
            <a:bodyPr/>
            <a:lstStyle/>
            <a:p>
              <a:endParaRPr lang="hu-HU"/>
            </a:p>
          </p:txBody>
        </p:sp>
        <p:sp>
          <p:nvSpPr>
            <p:cNvPr id="151579" name="Rectangle 27"/>
            <p:cNvSpPr>
              <a:spLocks noChangeArrowheads="1"/>
            </p:cNvSpPr>
            <p:nvPr/>
          </p:nvSpPr>
          <p:spPr bwMode="auto">
            <a:xfrm>
              <a:off x="3786" y="713"/>
              <a:ext cx="564" cy="215"/>
            </a:xfrm>
            <a:prstGeom prst="rect">
              <a:avLst/>
            </a:prstGeom>
            <a:solidFill>
              <a:srgbClr val="FFFFCC"/>
            </a:solidFill>
            <a:ln w="0">
              <a:solidFill>
                <a:srgbClr val="990033"/>
              </a:solidFill>
              <a:miter lim="800000"/>
              <a:headEnd/>
              <a:tailEnd/>
            </a:ln>
          </p:spPr>
          <p:txBody>
            <a:bodyPr/>
            <a:lstStyle/>
            <a:p>
              <a:endParaRPr lang="hu-HU"/>
            </a:p>
          </p:txBody>
        </p:sp>
        <p:sp>
          <p:nvSpPr>
            <p:cNvPr id="151580" name="Rectangle 28"/>
            <p:cNvSpPr>
              <a:spLocks noChangeArrowheads="1"/>
            </p:cNvSpPr>
            <p:nvPr/>
          </p:nvSpPr>
          <p:spPr bwMode="auto">
            <a:xfrm>
              <a:off x="3783" y="730"/>
              <a:ext cx="60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u="sng">
                  <a:solidFill>
                    <a:srgbClr val="000000"/>
                  </a:solidFill>
                </a:rPr>
                <a:t>UML : Tanfolyam</a:t>
              </a:r>
              <a:endParaRPr lang="hu-HU" altLang="hu-HU" sz="1000"/>
            </a:p>
          </p:txBody>
        </p:sp>
        <p:sp>
          <p:nvSpPr>
            <p:cNvPr id="151581" name="Line 29"/>
            <p:cNvSpPr>
              <a:spLocks noChangeShapeType="1"/>
            </p:cNvSpPr>
            <p:nvPr/>
          </p:nvSpPr>
          <p:spPr bwMode="auto">
            <a:xfrm>
              <a:off x="4068" y="999"/>
              <a:ext cx="1" cy="3472"/>
            </a:xfrm>
            <a:prstGeom prst="line">
              <a:avLst/>
            </a:prstGeom>
            <a:noFill/>
            <a:ln w="0">
              <a:solidFill>
                <a:srgbClr val="000000"/>
              </a:solidFill>
              <a:prstDash val="sysDash"/>
              <a:round/>
              <a:headEnd/>
              <a:tailEnd/>
            </a:ln>
            <a:extLst>
              <a:ext uri="{909E8E84-426E-40DD-AFC4-6F175D3DCCD1}">
                <a14:hiddenFill xmlns:a14="http://schemas.microsoft.com/office/drawing/2010/main">
                  <a:noFill/>
                </a14:hiddenFill>
              </a:ext>
            </a:extLst>
          </p:spPr>
          <p:txBody>
            <a:bodyPr/>
            <a:lstStyle/>
            <a:p>
              <a:endParaRPr lang="hu-HU"/>
            </a:p>
          </p:txBody>
        </p:sp>
        <p:sp>
          <p:nvSpPr>
            <p:cNvPr id="151582" name="Rectangle 30"/>
            <p:cNvSpPr>
              <a:spLocks noChangeArrowheads="1"/>
            </p:cNvSpPr>
            <p:nvPr/>
          </p:nvSpPr>
          <p:spPr bwMode="auto">
            <a:xfrm>
              <a:off x="4433" y="713"/>
              <a:ext cx="716" cy="215"/>
            </a:xfrm>
            <a:prstGeom prst="rect">
              <a:avLst/>
            </a:prstGeom>
            <a:solidFill>
              <a:srgbClr val="FFFFCC"/>
            </a:solidFill>
            <a:ln w="0">
              <a:solidFill>
                <a:srgbClr val="990033"/>
              </a:solidFill>
              <a:miter lim="800000"/>
              <a:headEnd/>
              <a:tailEnd/>
            </a:ln>
          </p:spPr>
          <p:txBody>
            <a:bodyPr/>
            <a:lstStyle/>
            <a:p>
              <a:endParaRPr lang="hu-HU"/>
            </a:p>
          </p:txBody>
        </p:sp>
        <p:sp>
          <p:nvSpPr>
            <p:cNvPr id="151583" name="Rectangle 31"/>
            <p:cNvSpPr>
              <a:spLocks noChangeArrowheads="1"/>
            </p:cNvSpPr>
            <p:nvPr/>
          </p:nvSpPr>
          <p:spPr bwMode="auto">
            <a:xfrm>
              <a:off x="4512" y="730"/>
              <a:ext cx="58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u="sng">
                  <a:solidFill>
                    <a:srgbClr val="000000"/>
                  </a:solidFill>
                </a:rPr>
                <a:t>UML19990301 : </a:t>
              </a:r>
              <a:endParaRPr lang="hu-HU" altLang="hu-HU" sz="1000"/>
            </a:p>
          </p:txBody>
        </p:sp>
        <p:sp>
          <p:nvSpPr>
            <p:cNvPr id="151584" name="Rectangle 32"/>
            <p:cNvSpPr>
              <a:spLocks noChangeArrowheads="1"/>
            </p:cNvSpPr>
            <p:nvPr/>
          </p:nvSpPr>
          <p:spPr bwMode="auto">
            <a:xfrm>
              <a:off x="4476" y="820"/>
              <a:ext cx="65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u="sng">
                  <a:solidFill>
                    <a:srgbClr val="000000"/>
                  </a:solidFill>
                </a:rPr>
                <a:t>TanfolyamiIdopont</a:t>
              </a:r>
              <a:endParaRPr lang="hu-HU" altLang="hu-HU" sz="1000"/>
            </a:p>
          </p:txBody>
        </p:sp>
        <p:sp>
          <p:nvSpPr>
            <p:cNvPr id="151585" name="Line 33"/>
            <p:cNvSpPr>
              <a:spLocks noChangeShapeType="1"/>
            </p:cNvSpPr>
            <p:nvPr/>
          </p:nvSpPr>
          <p:spPr bwMode="auto">
            <a:xfrm>
              <a:off x="4790" y="999"/>
              <a:ext cx="1" cy="3472"/>
            </a:xfrm>
            <a:prstGeom prst="line">
              <a:avLst/>
            </a:prstGeom>
            <a:noFill/>
            <a:ln w="0">
              <a:solidFill>
                <a:srgbClr val="000000"/>
              </a:solidFill>
              <a:prstDash val="sysDash"/>
              <a:round/>
              <a:headEnd/>
              <a:tailEnd/>
            </a:ln>
            <a:extLst>
              <a:ext uri="{909E8E84-426E-40DD-AFC4-6F175D3DCCD1}">
                <a14:hiddenFill xmlns:a14="http://schemas.microsoft.com/office/drawing/2010/main">
                  <a:noFill/>
                </a14:hiddenFill>
              </a:ext>
            </a:extLst>
          </p:spPr>
          <p:txBody>
            <a:bodyPr/>
            <a:lstStyle/>
            <a:p>
              <a:endParaRPr lang="hu-HU"/>
            </a:p>
          </p:txBody>
        </p:sp>
        <p:sp>
          <p:nvSpPr>
            <p:cNvPr id="151586" name="Rectangle 34"/>
            <p:cNvSpPr>
              <a:spLocks noChangeArrowheads="1"/>
            </p:cNvSpPr>
            <p:nvPr/>
          </p:nvSpPr>
          <p:spPr bwMode="auto">
            <a:xfrm>
              <a:off x="5202" y="713"/>
              <a:ext cx="558" cy="215"/>
            </a:xfrm>
            <a:prstGeom prst="rect">
              <a:avLst/>
            </a:prstGeom>
            <a:solidFill>
              <a:srgbClr val="FFFFCC"/>
            </a:solidFill>
            <a:ln w="0">
              <a:solidFill>
                <a:srgbClr val="990033"/>
              </a:solidFill>
              <a:miter lim="800000"/>
              <a:headEnd/>
              <a:tailEnd/>
            </a:ln>
          </p:spPr>
          <p:txBody>
            <a:bodyPr/>
            <a:lstStyle/>
            <a:p>
              <a:endParaRPr lang="hu-HU"/>
            </a:p>
          </p:txBody>
        </p:sp>
        <p:sp>
          <p:nvSpPr>
            <p:cNvPr id="151587" name="Rectangle 35"/>
            <p:cNvSpPr>
              <a:spLocks noChangeArrowheads="1"/>
            </p:cNvSpPr>
            <p:nvPr/>
          </p:nvSpPr>
          <p:spPr bwMode="auto">
            <a:xfrm>
              <a:off x="5244" y="730"/>
              <a:ext cx="505"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u="sng">
                  <a:solidFill>
                    <a:srgbClr val="000000"/>
                  </a:solidFill>
                </a:rPr>
                <a:t>Regisztracio : </a:t>
              </a:r>
              <a:endParaRPr lang="hu-HU" altLang="hu-HU" sz="1000"/>
            </a:p>
          </p:txBody>
        </p:sp>
        <p:sp>
          <p:nvSpPr>
            <p:cNvPr id="151588" name="Rectangle 36"/>
            <p:cNvSpPr>
              <a:spLocks noChangeArrowheads="1"/>
            </p:cNvSpPr>
            <p:nvPr/>
          </p:nvSpPr>
          <p:spPr bwMode="auto">
            <a:xfrm>
              <a:off x="5280" y="820"/>
              <a:ext cx="439"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u="sng">
                  <a:solidFill>
                    <a:srgbClr val="000000"/>
                  </a:solidFill>
                </a:rPr>
                <a:t>Regisztracio</a:t>
              </a:r>
              <a:endParaRPr lang="hu-HU" altLang="hu-HU" sz="1000"/>
            </a:p>
          </p:txBody>
        </p:sp>
        <p:sp>
          <p:nvSpPr>
            <p:cNvPr id="151589" name="Line 37"/>
            <p:cNvSpPr>
              <a:spLocks noChangeShapeType="1"/>
            </p:cNvSpPr>
            <p:nvPr/>
          </p:nvSpPr>
          <p:spPr bwMode="auto">
            <a:xfrm>
              <a:off x="5484" y="999"/>
              <a:ext cx="1" cy="3472"/>
            </a:xfrm>
            <a:prstGeom prst="line">
              <a:avLst/>
            </a:prstGeom>
            <a:noFill/>
            <a:ln w="0">
              <a:solidFill>
                <a:srgbClr val="000000"/>
              </a:solidFill>
              <a:prstDash val="sysDash"/>
              <a:round/>
              <a:headEnd/>
              <a:tailEnd/>
            </a:ln>
            <a:extLst>
              <a:ext uri="{909E8E84-426E-40DD-AFC4-6F175D3DCCD1}">
                <a14:hiddenFill xmlns:a14="http://schemas.microsoft.com/office/drawing/2010/main">
                  <a:noFill/>
                </a14:hiddenFill>
              </a:ext>
            </a:extLst>
          </p:spPr>
          <p:txBody>
            <a:bodyPr/>
            <a:lstStyle/>
            <a:p>
              <a:endParaRPr lang="hu-HU"/>
            </a:p>
          </p:txBody>
        </p:sp>
        <p:sp>
          <p:nvSpPr>
            <p:cNvPr id="151590" name="Rectangle 38"/>
            <p:cNvSpPr>
              <a:spLocks noChangeArrowheads="1"/>
            </p:cNvSpPr>
            <p:nvPr/>
          </p:nvSpPr>
          <p:spPr bwMode="auto">
            <a:xfrm>
              <a:off x="450" y="713"/>
              <a:ext cx="564" cy="215"/>
            </a:xfrm>
            <a:prstGeom prst="rect">
              <a:avLst/>
            </a:prstGeom>
            <a:solidFill>
              <a:srgbClr val="FFFFCC"/>
            </a:solidFill>
            <a:ln w="0">
              <a:solidFill>
                <a:srgbClr val="990033"/>
              </a:solidFill>
              <a:miter lim="800000"/>
              <a:headEnd/>
              <a:tailEnd/>
            </a:ln>
          </p:spPr>
          <p:txBody>
            <a:bodyPr/>
            <a:lstStyle/>
            <a:p>
              <a:endParaRPr lang="hu-HU"/>
            </a:p>
          </p:txBody>
        </p:sp>
        <p:sp>
          <p:nvSpPr>
            <p:cNvPr id="151591" name="Rectangle 39"/>
            <p:cNvSpPr>
              <a:spLocks noChangeArrowheads="1"/>
            </p:cNvSpPr>
            <p:nvPr/>
          </p:nvSpPr>
          <p:spPr bwMode="auto">
            <a:xfrm>
              <a:off x="504" y="730"/>
              <a:ext cx="48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u="sng">
                  <a:solidFill>
                    <a:srgbClr val="000000"/>
                  </a:solidFill>
                </a:rPr>
                <a:t> : Jelentkezes</a:t>
              </a:r>
              <a:endParaRPr lang="hu-HU" altLang="hu-HU" sz="1000"/>
            </a:p>
          </p:txBody>
        </p:sp>
        <p:sp>
          <p:nvSpPr>
            <p:cNvPr id="151592" name="Rectangle 40"/>
            <p:cNvSpPr>
              <a:spLocks noChangeArrowheads="1"/>
            </p:cNvSpPr>
            <p:nvPr/>
          </p:nvSpPr>
          <p:spPr bwMode="auto">
            <a:xfrm>
              <a:off x="594" y="820"/>
              <a:ext cx="31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u="sng">
                  <a:solidFill>
                    <a:srgbClr val="000000"/>
                  </a:solidFill>
                </a:rPr>
                <a:t>Vezerles</a:t>
              </a:r>
              <a:endParaRPr lang="hu-HU" altLang="hu-HU" sz="1000"/>
            </a:p>
          </p:txBody>
        </p:sp>
        <p:sp>
          <p:nvSpPr>
            <p:cNvPr id="151593" name="Line 41"/>
            <p:cNvSpPr>
              <a:spLocks noChangeShapeType="1"/>
            </p:cNvSpPr>
            <p:nvPr/>
          </p:nvSpPr>
          <p:spPr bwMode="auto">
            <a:xfrm>
              <a:off x="732" y="999"/>
              <a:ext cx="1" cy="3472"/>
            </a:xfrm>
            <a:prstGeom prst="line">
              <a:avLst/>
            </a:prstGeom>
            <a:noFill/>
            <a:ln w="0">
              <a:solidFill>
                <a:srgbClr val="000000"/>
              </a:solidFill>
              <a:prstDash val="sysDash"/>
              <a:round/>
              <a:headEnd/>
              <a:tailEnd/>
            </a:ln>
            <a:extLst>
              <a:ext uri="{909E8E84-426E-40DD-AFC4-6F175D3DCCD1}">
                <a14:hiddenFill xmlns:a14="http://schemas.microsoft.com/office/drawing/2010/main">
                  <a:noFill/>
                </a14:hiddenFill>
              </a:ext>
            </a:extLst>
          </p:spPr>
          <p:txBody>
            <a:bodyPr/>
            <a:lstStyle/>
            <a:p>
              <a:endParaRPr lang="hu-HU"/>
            </a:p>
          </p:txBody>
        </p:sp>
        <p:sp>
          <p:nvSpPr>
            <p:cNvPr id="151594" name="Line 42"/>
            <p:cNvSpPr>
              <a:spLocks noChangeShapeType="1"/>
            </p:cNvSpPr>
            <p:nvPr/>
          </p:nvSpPr>
          <p:spPr bwMode="auto">
            <a:xfrm>
              <a:off x="132" y="1495"/>
              <a:ext cx="1257" cy="1"/>
            </a:xfrm>
            <a:prstGeom prst="line">
              <a:avLst/>
            </a:prstGeom>
            <a:noFill/>
            <a:ln w="0">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595" name="Line 43"/>
            <p:cNvSpPr>
              <a:spLocks noChangeShapeType="1"/>
            </p:cNvSpPr>
            <p:nvPr/>
          </p:nvSpPr>
          <p:spPr bwMode="auto">
            <a:xfrm flipH="1">
              <a:off x="1325" y="1495"/>
              <a:ext cx="64" cy="30"/>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596" name="Line 44"/>
            <p:cNvSpPr>
              <a:spLocks noChangeShapeType="1"/>
            </p:cNvSpPr>
            <p:nvPr/>
          </p:nvSpPr>
          <p:spPr bwMode="auto">
            <a:xfrm flipH="1" flipV="1">
              <a:off x="1325" y="1465"/>
              <a:ext cx="64" cy="30"/>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597" name="Rectangle 45"/>
            <p:cNvSpPr>
              <a:spLocks noChangeArrowheads="1"/>
            </p:cNvSpPr>
            <p:nvPr/>
          </p:nvSpPr>
          <p:spPr bwMode="auto">
            <a:xfrm>
              <a:off x="448" y="1364"/>
              <a:ext cx="65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a:solidFill>
                    <a:srgbClr val="000000"/>
                  </a:solidFill>
                </a:rPr>
                <a:t>Beír "név", "jelszó"</a:t>
              </a:r>
              <a:endParaRPr lang="hu-HU" altLang="hu-HU" sz="1000"/>
            </a:p>
          </p:txBody>
        </p:sp>
        <p:sp>
          <p:nvSpPr>
            <p:cNvPr id="151598" name="Line 46"/>
            <p:cNvSpPr>
              <a:spLocks noChangeShapeType="1"/>
            </p:cNvSpPr>
            <p:nvPr/>
          </p:nvSpPr>
          <p:spPr bwMode="auto">
            <a:xfrm>
              <a:off x="132" y="1675"/>
              <a:ext cx="1257" cy="1"/>
            </a:xfrm>
            <a:prstGeom prst="line">
              <a:avLst/>
            </a:prstGeom>
            <a:noFill/>
            <a:ln w="0">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599" name="Line 47"/>
            <p:cNvSpPr>
              <a:spLocks noChangeShapeType="1"/>
            </p:cNvSpPr>
            <p:nvPr/>
          </p:nvSpPr>
          <p:spPr bwMode="auto">
            <a:xfrm flipH="1">
              <a:off x="1325" y="1675"/>
              <a:ext cx="64" cy="29"/>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00" name="Line 48"/>
            <p:cNvSpPr>
              <a:spLocks noChangeShapeType="1"/>
            </p:cNvSpPr>
            <p:nvPr/>
          </p:nvSpPr>
          <p:spPr bwMode="auto">
            <a:xfrm flipH="1" flipV="1">
              <a:off x="1325" y="1651"/>
              <a:ext cx="64" cy="24"/>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01" name="Rectangle 49"/>
            <p:cNvSpPr>
              <a:spLocks noChangeArrowheads="1"/>
            </p:cNvSpPr>
            <p:nvPr/>
          </p:nvSpPr>
          <p:spPr bwMode="auto">
            <a:xfrm>
              <a:off x="477" y="1549"/>
              <a:ext cx="605"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a:solidFill>
                    <a:srgbClr val="000000"/>
                  </a:solidFill>
                </a:rPr>
                <a:t>Megnyomja "OK"</a:t>
              </a:r>
              <a:endParaRPr lang="hu-HU" altLang="hu-HU" sz="1000"/>
            </a:p>
          </p:txBody>
        </p:sp>
        <p:sp>
          <p:nvSpPr>
            <p:cNvPr id="151602" name="Line 50"/>
            <p:cNvSpPr>
              <a:spLocks noChangeShapeType="1"/>
            </p:cNvSpPr>
            <p:nvPr/>
          </p:nvSpPr>
          <p:spPr bwMode="auto">
            <a:xfrm>
              <a:off x="132" y="2870"/>
              <a:ext cx="2579" cy="1"/>
            </a:xfrm>
            <a:prstGeom prst="line">
              <a:avLst/>
            </a:prstGeom>
            <a:noFill/>
            <a:ln w="0">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03" name="Line 51"/>
            <p:cNvSpPr>
              <a:spLocks noChangeShapeType="1"/>
            </p:cNvSpPr>
            <p:nvPr/>
          </p:nvSpPr>
          <p:spPr bwMode="auto">
            <a:xfrm flipH="1">
              <a:off x="2646" y="2870"/>
              <a:ext cx="65" cy="29"/>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04" name="Line 52"/>
            <p:cNvSpPr>
              <a:spLocks noChangeShapeType="1"/>
            </p:cNvSpPr>
            <p:nvPr/>
          </p:nvSpPr>
          <p:spPr bwMode="auto">
            <a:xfrm flipH="1" flipV="1">
              <a:off x="2646" y="2840"/>
              <a:ext cx="65" cy="30"/>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05" name="Rectangle 53"/>
            <p:cNvSpPr>
              <a:spLocks noChangeArrowheads="1"/>
            </p:cNvSpPr>
            <p:nvPr/>
          </p:nvSpPr>
          <p:spPr bwMode="auto">
            <a:xfrm>
              <a:off x="1156" y="2744"/>
              <a:ext cx="56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a:solidFill>
                    <a:srgbClr val="000000"/>
                  </a:solidFill>
                </a:rPr>
                <a:t>Kiválaszt "UML"</a:t>
              </a:r>
              <a:endParaRPr lang="hu-HU" altLang="hu-HU" sz="1000"/>
            </a:p>
          </p:txBody>
        </p:sp>
        <p:sp>
          <p:nvSpPr>
            <p:cNvPr id="151606" name="Line 54"/>
            <p:cNvSpPr>
              <a:spLocks noChangeShapeType="1"/>
            </p:cNvSpPr>
            <p:nvPr/>
          </p:nvSpPr>
          <p:spPr bwMode="auto">
            <a:xfrm>
              <a:off x="132" y="3479"/>
              <a:ext cx="2579" cy="1"/>
            </a:xfrm>
            <a:prstGeom prst="line">
              <a:avLst/>
            </a:prstGeom>
            <a:noFill/>
            <a:ln w="0">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07" name="Line 55"/>
            <p:cNvSpPr>
              <a:spLocks noChangeShapeType="1"/>
            </p:cNvSpPr>
            <p:nvPr/>
          </p:nvSpPr>
          <p:spPr bwMode="auto">
            <a:xfrm flipH="1">
              <a:off x="2646" y="3479"/>
              <a:ext cx="65" cy="30"/>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08" name="Line 56"/>
            <p:cNvSpPr>
              <a:spLocks noChangeShapeType="1"/>
            </p:cNvSpPr>
            <p:nvPr/>
          </p:nvSpPr>
          <p:spPr bwMode="auto">
            <a:xfrm flipH="1" flipV="1">
              <a:off x="2646" y="3455"/>
              <a:ext cx="65" cy="24"/>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09" name="Rectangle 57"/>
            <p:cNvSpPr>
              <a:spLocks noChangeArrowheads="1"/>
            </p:cNvSpPr>
            <p:nvPr/>
          </p:nvSpPr>
          <p:spPr bwMode="auto">
            <a:xfrm>
              <a:off x="1040" y="3354"/>
              <a:ext cx="793"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a:solidFill>
                    <a:srgbClr val="000000"/>
                  </a:solidFill>
                </a:rPr>
                <a:t>Kiválaszt "1999.03.01"</a:t>
              </a:r>
              <a:endParaRPr lang="hu-HU" altLang="hu-HU" sz="1000"/>
            </a:p>
          </p:txBody>
        </p:sp>
        <p:sp>
          <p:nvSpPr>
            <p:cNvPr id="151610" name="Line 58"/>
            <p:cNvSpPr>
              <a:spLocks noChangeShapeType="1"/>
            </p:cNvSpPr>
            <p:nvPr/>
          </p:nvSpPr>
          <p:spPr bwMode="auto">
            <a:xfrm>
              <a:off x="132" y="3909"/>
              <a:ext cx="2579" cy="1"/>
            </a:xfrm>
            <a:prstGeom prst="line">
              <a:avLst/>
            </a:prstGeom>
            <a:noFill/>
            <a:ln w="0">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11" name="Line 59"/>
            <p:cNvSpPr>
              <a:spLocks noChangeShapeType="1"/>
            </p:cNvSpPr>
            <p:nvPr/>
          </p:nvSpPr>
          <p:spPr bwMode="auto">
            <a:xfrm flipH="1">
              <a:off x="2646" y="3909"/>
              <a:ext cx="65" cy="30"/>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12" name="Line 60"/>
            <p:cNvSpPr>
              <a:spLocks noChangeShapeType="1"/>
            </p:cNvSpPr>
            <p:nvPr/>
          </p:nvSpPr>
          <p:spPr bwMode="auto">
            <a:xfrm flipH="1" flipV="1">
              <a:off x="2646" y="3879"/>
              <a:ext cx="65" cy="30"/>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13" name="Rectangle 61"/>
            <p:cNvSpPr>
              <a:spLocks noChangeArrowheads="1"/>
            </p:cNvSpPr>
            <p:nvPr/>
          </p:nvSpPr>
          <p:spPr bwMode="auto">
            <a:xfrm>
              <a:off x="1266" y="3784"/>
              <a:ext cx="34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a:solidFill>
                    <a:srgbClr val="000000"/>
                  </a:solidFill>
                </a:rPr>
                <a:t>Jóváhagy</a:t>
              </a:r>
              <a:endParaRPr lang="hu-HU" altLang="hu-HU" sz="1000"/>
            </a:p>
          </p:txBody>
        </p:sp>
        <p:sp>
          <p:nvSpPr>
            <p:cNvPr id="151614" name="Line 62"/>
            <p:cNvSpPr>
              <a:spLocks noChangeShapeType="1"/>
            </p:cNvSpPr>
            <p:nvPr/>
          </p:nvSpPr>
          <p:spPr bwMode="auto">
            <a:xfrm>
              <a:off x="732" y="1280"/>
              <a:ext cx="657" cy="1"/>
            </a:xfrm>
            <a:prstGeom prst="line">
              <a:avLst/>
            </a:prstGeom>
            <a:noFill/>
            <a:ln w="0">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15" name="Line 63"/>
            <p:cNvSpPr>
              <a:spLocks noChangeShapeType="1"/>
            </p:cNvSpPr>
            <p:nvPr/>
          </p:nvSpPr>
          <p:spPr bwMode="auto">
            <a:xfrm flipH="1">
              <a:off x="1325" y="1280"/>
              <a:ext cx="64" cy="30"/>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16" name="Line 64"/>
            <p:cNvSpPr>
              <a:spLocks noChangeShapeType="1"/>
            </p:cNvSpPr>
            <p:nvPr/>
          </p:nvSpPr>
          <p:spPr bwMode="auto">
            <a:xfrm flipH="1" flipV="1">
              <a:off x="1325" y="1250"/>
              <a:ext cx="64" cy="30"/>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17" name="Rectangle 65"/>
            <p:cNvSpPr>
              <a:spLocks noChangeArrowheads="1"/>
            </p:cNvSpPr>
            <p:nvPr/>
          </p:nvSpPr>
          <p:spPr bwMode="auto">
            <a:xfrm>
              <a:off x="857" y="1155"/>
              <a:ext cx="443"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a:solidFill>
                    <a:srgbClr val="000000"/>
                  </a:solidFill>
                </a:rPr>
                <a:t>megjelenít( )</a:t>
              </a:r>
              <a:endParaRPr lang="hu-HU" altLang="hu-HU" sz="1000"/>
            </a:p>
          </p:txBody>
        </p:sp>
        <p:sp>
          <p:nvSpPr>
            <p:cNvPr id="151618" name="Line 66"/>
            <p:cNvSpPr>
              <a:spLocks noChangeShapeType="1"/>
            </p:cNvSpPr>
            <p:nvPr/>
          </p:nvSpPr>
          <p:spPr bwMode="auto">
            <a:xfrm>
              <a:off x="132" y="1191"/>
              <a:ext cx="600" cy="1"/>
            </a:xfrm>
            <a:prstGeom prst="line">
              <a:avLst/>
            </a:prstGeom>
            <a:noFill/>
            <a:ln w="0">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19" name="Line 67"/>
            <p:cNvSpPr>
              <a:spLocks noChangeShapeType="1"/>
            </p:cNvSpPr>
            <p:nvPr/>
          </p:nvSpPr>
          <p:spPr bwMode="auto">
            <a:xfrm flipH="1">
              <a:off x="661" y="1191"/>
              <a:ext cx="71" cy="23"/>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20" name="Line 68"/>
            <p:cNvSpPr>
              <a:spLocks noChangeShapeType="1"/>
            </p:cNvSpPr>
            <p:nvPr/>
          </p:nvSpPr>
          <p:spPr bwMode="auto">
            <a:xfrm flipH="1" flipV="1">
              <a:off x="661" y="1161"/>
              <a:ext cx="71" cy="30"/>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21" name="Rectangle 69"/>
            <p:cNvSpPr>
              <a:spLocks noChangeArrowheads="1"/>
            </p:cNvSpPr>
            <p:nvPr/>
          </p:nvSpPr>
          <p:spPr bwMode="auto">
            <a:xfrm>
              <a:off x="200" y="1059"/>
              <a:ext cx="495"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a:solidFill>
                    <a:srgbClr val="000000"/>
                  </a:solidFill>
                </a:rPr>
                <a:t>"Regisztráció"</a:t>
              </a:r>
              <a:endParaRPr lang="hu-HU" altLang="hu-HU" sz="1000"/>
            </a:p>
          </p:txBody>
        </p:sp>
        <p:sp>
          <p:nvSpPr>
            <p:cNvPr id="151622" name="Line 70"/>
            <p:cNvSpPr>
              <a:spLocks noChangeShapeType="1"/>
            </p:cNvSpPr>
            <p:nvPr/>
          </p:nvSpPr>
          <p:spPr bwMode="auto">
            <a:xfrm>
              <a:off x="732" y="1890"/>
              <a:ext cx="1321" cy="1"/>
            </a:xfrm>
            <a:prstGeom prst="line">
              <a:avLst/>
            </a:prstGeom>
            <a:noFill/>
            <a:ln w="0">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23" name="Line 71"/>
            <p:cNvSpPr>
              <a:spLocks noChangeShapeType="1"/>
            </p:cNvSpPr>
            <p:nvPr/>
          </p:nvSpPr>
          <p:spPr bwMode="auto">
            <a:xfrm flipH="1">
              <a:off x="1982" y="1890"/>
              <a:ext cx="71" cy="30"/>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24" name="Line 72"/>
            <p:cNvSpPr>
              <a:spLocks noChangeShapeType="1"/>
            </p:cNvSpPr>
            <p:nvPr/>
          </p:nvSpPr>
          <p:spPr bwMode="auto">
            <a:xfrm flipH="1" flipV="1">
              <a:off x="1982" y="1860"/>
              <a:ext cx="71" cy="30"/>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25" name="Rectangle 73"/>
            <p:cNvSpPr>
              <a:spLocks noChangeArrowheads="1"/>
            </p:cNvSpPr>
            <p:nvPr/>
          </p:nvSpPr>
          <p:spPr bwMode="auto">
            <a:xfrm>
              <a:off x="887" y="1764"/>
              <a:ext cx="104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a:solidFill>
                    <a:srgbClr val="000000"/>
                  </a:solidFill>
                </a:rPr>
                <a:t>ugyfelKereses("név", "jelszó")</a:t>
              </a:r>
              <a:endParaRPr lang="hu-HU" altLang="hu-HU" sz="1000"/>
            </a:p>
          </p:txBody>
        </p:sp>
        <p:sp>
          <p:nvSpPr>
            <p:cNvPr id="151626" name="Line 74"/>
            <p:cNvSpPr>
              <a:spLocks noChangeShapeType="1"/>
            </p:cNvSpPr>
            <p:nvPr/>
          </p:nvSpPr>
          <p:spPr bwMode="auto">
            <a:xfrm>
              <a:off x="732" y="2075"/>
              <a:ext cx="1979" cy="1"/>
            </a:xfrm>
            <a:prstGeom prst="line">
              <a:avLst/>
            </a:prstGeom>
            <a:noFill/>
            <a:ln w="0">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27" name="Line 75"/>
            <p:cNvSpPr>
              <a:spLocks noChangeShapeType="1"/>
            </p:cNvSpPr>
            <p:nvPr/>
          </p:nvSpPr>
          <p:spPr bwMode="auto">
            <a:xfrm flipH="1">
              <a:off x="2646" y="2075"/>
              <a:ext cx="65" cy="30"/>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28" name="Line 76"/>
            <p:cNvSpPr>
              <a:spLocks noChangeShapeType="1"/>
            </p:cNvSpPr>
            <p:nvPr/>
          </p:nvSpPr>
          <p:spPr bwMode="auto">
            <a:xfrm flipH="1" flipV="1">
              <a:off x="2646" y="2045"/>
              <a:ext cx="65" cy="30"/>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29" name="Rectangle 77"/>
            <p:cNvSpPr>
              <a:spLocks noChangeArrowheads="1"/>
            </p:cNvSpPr>
            <p:nvPr/>
          </p:nvSpPr>
          <p:spPr bwMode="auto">
            <a:xfrm>
              <a:off x="1515" y="1949"/>
              <a:ext cx="443"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a:solidFill>
                    <a:srgbClr val="000000"/>
                  </a:solidFill>
                </a:rPr>
                <a:t>megjelenít( )</a:t>
              </a:r>
              <a:endParaRPr lang="hu-HU" altLang="hu-HU" sz="1000"/>
            </a:p>
          </p:txBody>
        </p:sp>
        <p:sp>
          <p:nvSpPr>
            <p:cNvPr id="151630" name="Line 78"/>
            <p:cNvSpPr>
              <a:spLocks noChangeShapeType="1"/>
            </p:cNvSpPr>
            <p:nvPr/>
          </p:nvSpPr>
          <p:spPr bwMode="auto">
            <a:xfrm>
              <a:off x="732" y="2290"/>
              <a:ext cx="2642" cy="1"/>
            </a:xfrm>
            <a:prstGeom prst="line">
              <a:avLst/>
            </a:prstGeom>
            <a:noFill/>
            <a:ln w="0">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31" name="Line 79"/>
            <p:cNvSpPr>
              <a:spLocks noChangeShapeType="1"/>
            </p:cNvSpPr>
            <p:nvPr/>
          </p:nvSpPr>
          <p:spPr bwMode="auto">
            <a:xfrm flipH="1">
              <a:off x="3305" y="2290"/>
              <a:ext cx="69" cy="30"/>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32" name="Line 80"/>
            <p:cNvSpPr>
              <a:spLocks noChangeShapeType="1"/>
            </p:cNvSpPr>
            <p:nvPr/>
          </p:nvSpPr>
          <p:spPr bwMode="auto">
            <a:xfrm flipH="1" flipV="1">
              <a:off x="3305" y="2260"/>
              <a:ext cx="69" cy="30"/>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33" name="Rectangle 81"/>
            <p:cNvSpPr>
              <a:spLocks noChangeArrowheads="1"/>
            </p:cNvSpPr>
            <p:nvPr/>
          </p:nvSpPr>
          <p:spPr bwMode="auto">
            <a:xfrm>
              <a:off x="1777" y="2159"/>
              <a:ext cx="589"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a:solidFill>
                    <a:srgbClr val="000000"/>
                  </a:solidFill>
                </a:rPr>
                <a:t>tanfolyamLista( )</a:t>
              </a:r>
              <a:endParaRPr lang="hu-HU" altLang="hu-HU" sz="1000"/>
            </a:p>
          </p:txBody>
        </p:sp>
        <p:sp>
          <p:nvSpPr>
            <p:cNvPr id="151634" name="Line 82"/>
            <p:cNvSpPr>
              <a:spLocks noChangeShapeType="1"/>
            </p:cNvSpPr>
            <p:nvPr/>
          </p:nvSpPr>
          <p:spPr bwMode="auto">
            <a:xfrm>
              <a:off x="732" y="3055"/>
              <a:ext cx="3336" cy="1"/>
            </a:xfrm>
            <a:prstGeom prst="line">
              <a:avLst/>
            </a:prstGeom>
            <a:noFill/>
            <a:ln w="0">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35" name="Line 83"/>
            <p:cNvSpPr>
              <a:spLocks noChangeShapeType="1"/>
            </p:cNvSpPr>
            <p:nvPr/>
          </p:nvSpPr>
          <p:spPr bwMode="auto">
            <a:xfrm flipH="1">
              <a:off x="3997" y="3055"/>
              <a:ext cx="71" cy="30"/>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36" name="Line 84"/>
            <p:cNvSpPr>
              <a:spLocks noChangeShapeType="1"/>
            </p:cNvSpPr>
            <p:nvPr/>
          </p:nvSpPr>
          <p:spPr bwMode="auto">
            <a:xfrm flipH="1" flipV="1">
              <a:off x="3997" y="3025"/>
              <a:ext cx="71" cy="30"/>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37" name="Rectangle 85"/>
            <p:cNvSpPr>
              <a:spLocks noChangeArrowheads="1"/>
            </p:cNvSpPr>
            <p:nvPr/>
          </p:nvSpPr>
          <p:spPr bwMode="auto">
            <a:xfrm>
              <a:off x="2166" y="2923"/>
              <a:ext cx="50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a:solidFill>
                    <a:srgbClr val="000000"/>
                  </a:solidFill>
                </a:rPr>
                <a:t>idopontLista( )</a:t>
              </a:r>
              <a:endParaRPr lang="hu-HU" altLang="hu-HU" sz="1000"/>
            </a:p>
          </p:txBody>
        </p:sp>
        <p:sp>
          <p:nvSpPr>
            <p:cNvPr id="151638" name="Rectangle 86"/>
            <p:cNvSpPr>
              <a:spLocks noChangeArrowheads="1"/>
            </p:cNvSpPr>
            <p:nvPr/>
          </p:nvSpPr>
          <p:spPr bwMode="auto">
            <a:xfrm>
              <a:off x="2940" y="3993"/>
              <a:ext cx="359"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a:solidFill>
                    <a:srgbClr val="000000"/>
                  </a:solidFill>
                </a:rPr>
                <a:t>letrehoz( )</a:t>
              </a:r>
              <a:endParaRPr lang="hu-HU" altLang="hu-HU" sz="1000"/>
            </a:p>
          </p:txBody>
        </p:sp>
        <p:sp>
          <p:nvSpPr>
            <p:cNvPr id="151639" name="Line 87"/>
            <p:cNvSpPr>
              <a:spLocks noChangeShapeType="1"/>
            </p:cNvSpPr>
            <p:nvPr/>
          </p:nvSpPr>
          <p:spPr bwMode="auto">
            <a:xfrm>
              <a:off x="732" y="2535"/>
              <a:ext cx="1979" cy="1"/>
            </a:xfrm>
            <a:prstGeom prst="line">
              <a:avLst/>
            </a:prstGeom>
            <a:noFill/>
            <a:ln w="0">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40" name="Line 88"/>
            <p:cNvSpPr>
              <a:spLocks noChangeShapeType="1"/>
            </p:cNvSpPr>
            <p:nvPr/>
          </p:nvSpPr>
          <p:spPr bwMode="auto">
            <a:xfrm flipH="1">
              <a:off x="2646" y="2535"/>
              <a:ext cx="65" cy="30"/>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41" name="Line 89"/>
            <p:cNvSpPr>
              <a:spLocks noChangeShapeType="1"/>
            </p:cNvSpPr>
            <p:nvPr/>
          </p:nvSpPr>
          <p:spPr bwMode="auto">
            <a:xfrm flipH="1" flipV="1">
              <a:off x="2646" y="2505"/>
              <a:ext cx="65" cy="30"/>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42" name="Rectangle 90"/>
            <p:cNvSpPr>
              <a:spLocks noChangeArrowheads="1"/>
            </p:cNvSpPr>
            <p:nvPr/>
          </p:nvSpPr>
          <p:spPr bwMode="auto">
            <a:xfrm>
              <a:off x="1383" y="2403"/>
              <a:ext cx="719"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a:solidFill>
                    <a:srgbClr val="000000"/>
                  </a:solidFill>
                </a:rPr>
                <a:t>kiirTanfolyamLista( )</a:t>
              </a:r>
              <a:endParaRPr lang="hu-HU" altLang="hu-HU" sz="1000"/>
            </a:p>
          </p:txBody>
        </p:sp>
        <p:sp>
          <p:nvSpPr>
            <p:cNvPr id="151643" name="Line 91"/>
            <p:cNvSpPr>
              <a:spLocks noChangeShapeType="1"/>
            </p:cNvSpPr>
            <p:nvPr/>
          </p:nvSpPr>
          <p:spPr bwMode="auto">
            <a:xfrm>
              <a:off x="732" y="3270"/>
              <a:ext cx="1979" cy="1"/>
            </a:xfrm>
            <a:prstGeom prst="line">
              <a:avLst/>
            </a:prstGeom>
            <a:noFill/>
            <a:ln w="0">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44" name="Line 92"/>
            <p:cNvSpPr>
              <a:spLocks noChangeShapeType="1"/>
            </p:cNvSpPr>
            <p:nvPr/>
          </p:nvSpPr>
          <p:spPr bwMode="auto">
            <a:xfrm flipH="1">
              <a:off x="2646" y="3270"/>
              <a:ext cx="65" cy="24"/>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45" name="Line 93"/>
            <p:cNvSpPr>
              <a:spLocks noChangeShapeType="1"/>
            </p:cNvSpPr>
            <p:nvPr/>
          </p:nvSpPr>
          <p:spPr bwMode="auto">
            <a:xfrm flipH="1" flipV="1">
              <a:off x="2646" y="3240"/>
              <a:ext cx="65" cy="30"/>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46" name="Rectangle 94"/>
            <p:cNvSpPr>
              <a:spLocks noChangeArrowheads="1"/>
            </p:cNvSpPr>
            <p:nvPr/>
          </p:nvSpPr>
          <p:spPr bwMode="auto">
            <a:xfrm>
              <a:off x="1437" y="3138"/>
              <a:ext cx="611"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a:solidFill>
                    <a:srgbClr val="000000"/>
                  </a:solidFill>
                </a:rPr>
                <a:t>kiirIdopontLista( )</a:t>
              </a:r>
              <a:endParaRPr lang="hu-HU" altLang="hu-HU" sz="1000"/>
            </a:p>
          </p:txBody>
        </p:sp>
        <p:sp>
          <p:nvSpPr>
            <p:cNvPr id="151647" name="Freeform 95"/>
            <p:cNvSpPr>
              <a:spLocks/>
            </p:cNvSpPr>
            <p:nvPr/>
          </p:nvSpPr>
          <p:spPr bwMode="auto">
            <a:xfrm>
              <a:off x="1871" y="1477"/>
              <a:ext cx="658" cy="263"/>
            </a:xfrm>
            <a:custGeom>
              <a:avLst/>
              <a:gdLst>
                <a:gd name="T0" fmla="*/ 0 w 669"/>
                <a:gd name="T1" fmla="*/ 0 h 263"/>
                <a:gd name="T2" fmla="*/ 598 w 669"/>
                <a:gd name="T3" fmla="*/ 0 h 263"/>
                <a:gd name="T4" fmla="*/ 669 w 669"/>
                <a:gd name="T5" fmla="*/ 72 h 263"/>
                <a:gd name="T6" fmla="*/ 669 w 669"/>
                <a:gd name="T7" fmla="*/ 263 h 263"/>
                <a:gd name="T8" fmla="*/ 0 w 669"/>
                <a:gd name="T9" fmla="*/ 263 h 263"/>
                <a:gd name="T10" fmla="*/ 0 w 669"/>
                <a:gd name="T11" fmla="*/ 0 h 263"/>
              </a:gdLst>
              <a:ahLst/>
              <a:cxnLst>
                <a:cxn ang="0">
                  <a:pos x="T0" y="T1"/>
                </a:cxn>
                <a:cxn ang="0">
                  <a:pos x="T2" y="T3"/>
                </a:cxn>
                <a:cxn ang="0">
                  <a:pos x="T4" y="T5"/>
                </a:cxn>
                <a:cxn ang="0">
                  <a:pos x="T6" y="T7"/>
                </a:cxn>
                <a:cxn ang="0">
                  <a:pos x="T8" y="T9"/>
                </a:cxn>
                <a:cxn ang="0">
                  <a:pos x="T10" y="T11"/>
                </a:cxn>
              </a:cxnLst>
              <a:rect l="0" t="0" r="r" b="b"/>
              <a:pathLst>
                <a:path w="669" h="263">
                  <a:moveTo>
                    <a:pt x="0" y="0"/>
                  </a:moveTo>
                  <a:lnTo>
                    <a:pt x="598" y="0"/>
                  </a:lnTo>
                  <a:lnTo>
                    <a:pt x="669" y="72"/>
                  </a:lnTo>
                  <a:lnTo>
                    <a:pt x="669" y="263"/>
                  </a:lnTo>
                  <a:lnTo>
                    <a:pt x="0" y="263"/>
                  </a:lnTo>
                  <a:lnTo>
                    <a:pt x="0" y="0"/>
                  </a:lnTo>
                  <a:close/>
                </a:path>
              </a:pathLst>
            </a:custGeom>
            <a:solidFill>
              <a:srgbClr val="FFFFCC"/>
            </a:solidFill>
            <a:ln w="0">
              <a:solidFill>
                <a:srgbClr val="990033"/>
              </a:solidFill>
              <a:prstDash val="solid"/>
              <a:round/>
              <a:headEnd/>
              <a:tailEnd/>
            </a:ln>
          </p:spPr>
          <p:txBody>
            <a:bodyPr/>
            <a:lstStyle/>
            <a:p>
              <a:endParaRPr lang="hu-HU"/>
            </a:p>
          </p:txBody>
        </p:sp>
        <p:sp>
          <p:nvSpPr>
            <p:cNvPr id="151648" name="Freeform 96"/>
            <p:cNvSpPr>
              <a:spLocks/>
            </p:cNvSpPr>
            <p:nvPr/>
          </p:nvSpPr>
          <p:spPr bwMode="auto">
            <a:xfrm>
              <a:off x="1871" y="1477"/>
              <a:ext cx="658" cy="263"/>
            </a:xfrm>
            <a:custGeom>
              <a:avLst/>
              <a:gdLst>
                <a:gd name="T0" fmla="*/ 0 w 112"/>
                <a:gd name="T1" fmla="*/ 0 h 44"/>
                <a:gd name="T2" fmla="*/ 100 w 112"/>
                <a:gd name="T3" fmla="*/ 0 h 44"/>
                <a:gd name="T4" fmla="*/ 112 w 112"/>
                <a:gd name="T5" fmla="*/ 12 h 44"/>
                <a:gd name="T6" fmla="*/ 112 w 112"/>
                <a:gd name="T7" fmla="*/ 44 h 44"/>
                <a:gd name="T8" fmla="*/ 0 w 112"/>
                <a:gd name="T9" fmla="*/ 44 h 44"/>
                <a:gd name="T10" fmla="*/ 0 w 112"/>
                <a:gd name="T11" fmla="*/ 0 h 44"/>
              </a:gdLst>
              <a:ahLst/>
              <a:cxnLst>
                <a:cxn ang="0">
                  <a:pos x="T0" y="T1"/>
                </a:cxn>
                <a:cxn ang="0">
                  <a:pos x="T2" y="T3"/>
                </a:cxn>
                <a:cxn ang="0">
                  <a:pos x="T4" y="T5"/>
                </a:cxn>
                <a:cxn ang="0">
                  <a:pos x="T6" y="T7"/>
                </a:cxn>
                <a:cxn ang="0">
                  <a:pos x="T8" y="T9"/>
                </a:cxn>
                <a:cxn ang="0">
                  <a:pos x="T10" y="T11"/>
                </a:cxn>
              </a:cxnLst>
              <a:rect l="0" t="0" r="r" b="b"/>
              <a:pathLst>
                <a:path w="112" h="44">
                  <a:moveTo>
                    <a:pt x="0" y="0"/>
                  </a:moveTo>
                  <a:lnTo>
                    <a:pt x="100" y="0"/>
                  </a:lnTo>
                  <a:lnTo>
                    <a:pt x="112" y="12"/>
                  </a:lnTo>
                  <a:lnTo>
                    <a:pt x="112" y="44"/>
                  </a:lnTo>
                  <a:lnTo>
                    <a:pt x="0" y="44"/>
                  </a:lnTo>
                  <a:lnTo>
                    <a:pt x="0" y="0"/>
                  </a:lnTo>
                </a:path>
              </a:pathLst>
            </a:custGeom>
            <a:noFill/>
            <a:ln w="0">
              <a:solidFill>
                <a:srgbClr val="99003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hu-HU"/>
            </a:p>
          </p:txBody>
        </p:sp>
        <p:sp>
          <p:nvSpPr>
            <p:cNvPr id="151649" name="Freeform 97"/>
            <p:cNvSpPr>
              <a:spLocks/>
            </p:cNvSpPr>
            <p:nvPr/>
          </p:nvSpPr>
          <p:spPr bwMode="auto">
            <a:xfrm>
              <a:off x="2459" y="1477"/>
              <a:ext cx="70" cy="72"/>
            </a:xfrm>
            <a:custGeom>
              <a:avLst/>
              <a:gdLst>
                <a:gd name="T0" fmla="*/ 0 w 12"/>
                <a:gd name="T1" fmla="*/ 0 h 12"/>
                <a:gd name="T2" fmla="*/ 0 w 12"/>
                <a:gd name="T3" fmla="*/ 12 h 12"/>
                <a:gd name="T4" fmla="*/ 12 w 12"/>
                <a:gd name="T5" fmla="*/ 12 h 12"/>
              </a:gdLst>
              <a:ahLst/>
              <a:cxnLst>
                <a:cxn ang="0">
                  <a:pos x="T0" y="T1"/>
                </a:cxn>
                <a:cxn ang="0">
                  <a:pos x="T2" y="T3"/>
                </a:cxn>
                <a:cxn ang="0">
                  <a:pos x="T4" y="T5"/>
                </a:cxn>
              </a:cxnLst>
              <a:rect l="0" t="0" r="r" b="b"/>
              <a:pathLst>
                <a:path w="12" h="12">
                  <a:moveTo>
                    <a:pt x="0" y="0"/>
                  </a:moveTo>
                  <a:lnTo>
                    <a:pt x="0" y="12"/>
                  </a:lnTo>
                  <a:lnTo>
                    <a:pt x="12" y="12"/>
                  </a:lnTo>
                </a:path>
              </a:pathLst>
            </a:custGeom>
            <a:noFill/>
            <a:ln w="0">
              <a:solidFill>
                <a:srgbClr val="99003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hu-HU"/>
            </a:p>
          </p:txBody>
        </p:sp>
        <p:sp>
          <p:nvSpPr>
            <p:cNvPr id="151650" name="Rectangle 98"/>
            <p:cNvSpPr>
              <a:spLocks noChangeArrowheads="1"/>
            </p:cNvSpPr>
            <p:nvPr/>
          </p:nvSpPr>
          <p:spPr bwMode="auto">
            <a:xfrm>
              <a:off x="1876" y="1489"/>
              <a:ext cx="561"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a:solidFill>
                    <a:srgbClr val="000000"/>
                  </a:solidFill>
                </a:rPr>
                <a:t>Van ilyen ügyfél</a:t>
              </a:r>
              <a:endParaRPr lang="hu-HU" altLang="hu-HU" sz="1000"/>
            </a:p>
          </p:txBody>
        </p:sp>
        <p:sp>
          <p:nvSpPr>
            <p:cNvPr id="151651" name="Line 99"/>
            <p:cNvSpPr>
              <a:spLocks noChangeShapeType="1"/>
            </p:cNvSpPr>
            <p:nvPr/>
          </p:nvSpPr>
          <p:spPr bwMode="auto">
            <a:xfrm flipH="1">
              <a:off x="1395" y="1728"/>
              <a:ext cx="476" cy="162"/>
            </a:xfrm>
            <a:prstGeom prst="line">
              <a:avLst/>
            </a:prstGeom>
            <a:noFill/>
            <a:ln w="0">
              <a:solidFill>
                <a:srgbClr val="000000"/>
              </a:solidFill>
              <a:prstDash val="sysDash"/>
              <a:round/>
              <a:headEnd/>
              <a:tailEnd/>
            </a:ln>
            <a:extLst>
              <a:ext uri="{909E8E84-426E-40DD-AFC4-6F175D3DCCD1}">
                <a14:hiddenFill xmlns:a14="http://schemas.microsoft.com/office/drawing/2010/main">
                  <a:noFill/>
                </a14:hiddenFill>
              </a:ext>
            </a:extLst>
          </p:spPr>
          <p:txBody>
            <a:bodyPr/>
            <a:lstStyle/>
            <a:p>
              <a:endParaRPr lang="hu-HU"/>
            </a:p>
          </p:txBody>
        </p:sp>
        <p:sp>
          <p:nvSpPr>
            <p:cNvPr id="151652" name="Line 100"/>
            <p:cNvSpPr>
              <a:spLocks noChangeShapeType="1"/>
            </p:cNvSpPr>
            <p:nvPr/>
          </p:nvSpPr>
          <p:spPr bwMode="auto">
            <a:xfrm>
              <a:off x="732" y="3694"/>
              <a:ext cx="4058" cy="1"/>
            </a:xfrm>
            <a:prstGeom prst="line">
              <a:avLst/>
            </a:prstGeom>
            <a:noFill/>
            <a:ln w="0">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53" name="Line 101"/>
            <p:cNvSpPr>
              <a:spLocks noChangeShapeType="1"/>
            </p:cNvSpPr>
            <p:nvPr/>
          </p:nvSpPr>
          <p:spPr bwMode="auto">
            <a:xfrm flipH="1">
              <a:off x="4721" y="3694"/>
              <a:ext cx="69" cy="30"/>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54" name="Line 102"/>
            <p:cNvSpPr>
              <a:spLocks noChangeShapeType="1"/>
            </p:cNvSpPr>
            <p:nvPr/>
          </p:nvSpPr>
          <p:spPr bwMode="auto">
            <a:xfrm flipH="1" flipV="1">
              <a:off x="4721" y="3664"/>
              <a:ext cx="69" cy="30"/>
            </a:xfrm>
            <a:prstGeom prst="line">
              <a:avLst/>
            </a:prstGeom>
            <a:noFill/>
            <a:ln w="9525">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51655" name="Rectangle 103"/>
            <p:cNvSpPr>
              <a:spLocks noChangeArrowheads="1"/>
            </p:cNvSpPr>
            <p:nvPr/>
          </p:nvSpPr>
          <p:spPr bwMode="auto">
            <a:xfrm>
              <a:off x="2468" y="3569"/>
              <a:ext cx="619"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000">
                  <a:solidFill>
                    <a:srgbClr val="000000"/>
                  </a:solidFill>
                </a:rPr>
                <a:t>vanSzabadhely( )</a:t>
              </a:r>
              <a:endParaRPr lang="hu-HU" altLang="hu-HU" sz="1000"/>
            </a:p>
          </p:txBody>
        </p:sp>
      </p:grpSp>
    </p:spTree>
    <p:extLst>
      <p:ext uri="{BB962C8B-B14F-4D97-AF65-F5344CB8AC3E}">
        <p14:creationId xmlns:p14="http://schemas.microsoft.com/office/powerpoint/2010/main" val="394291240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p:txBody>
          <a:bodyPr/>
          <a:lstStyle/>
          <a:p>
            <a:r>
              <a:rPr lang="hu-HU" altLang="hu-HU"/>
              <a:t>Példa</a:t>
            </a:r>
          </a:p>
        </p:txBody>
      </p:sp>
      <p:sp>
        <p:nvSpPr>
          <p:cNvPr id="152579" name="Rectangle 3"/>
          <p:cNvSpPr>
            <a:spLocks noGrp="1" noChangeArrowheads="1"/>
          </p:cNvSpPr>
          <p:nvPr>
            <p:ph idx="1"/>
          </p:nvPr>
        </p:nvSpPr>
        <p:spPr/>
        <p:txBody>
          <a:bodyPr/>
          <a:lstStyle/>
          <a:p>
            <a:r>
              <a:rPr lang="hu-HU" altLang="hu-HU"/>
              <a:t>osztálydiagram</a:t>
            </a:r>
          </a:p>
        </p:txBody>
      </p:sp>
      <p:sp>
        <p:nvSpPr>
          <p:cNvPr id="36" name="Dátum helye 3"/>
          <p:cNvSpPr>
            <a:spLocks noGrp="1"/>
          </p:cNvSpPr>
          <p:nvPr>
            <p:ph type="dt" sz="half" idx="10"/>
          </p:nvPr>
        </p:nvSpPr>
        <p:spPr/>
        <p:txBody>
          <a:bodyPr/>
          <a:lstStyle/>
          <a:p>
            <a:fld id="{8F2D924A-8BDC-4938-8D16-FC92AA8B9FBE}" type="datetime1">
              <a:rPr lang="hu-HU" altLang="hu-HU"/>
              <a:pPr/>
              <a:t>2024. 11. 28.</a:t>
            </a:fld>
            <a:endParaRPr lang="hu-HU" altLang="hu-HU"/>
          </a:p>
        </p:txBody>
      </p:sp>
      <p:sp>
        <p:nvSpPr>
          <p:cNvPr id="37" name="Élőláb helye 4"/>
          <p:cNvSpPr>
            <a:spLocks noGrp="1"/>
          </p:cNvSpPr>
          <p:nvPr>
            <p:ph type="ftr" sz="quarter" idx="11"/>
          </p:nvPr>
        </p:nvSpPr>
        <p:spPr/>
        <p:txBody>
          <a:bodyPr/>
          <a:lstStyle/>
          <a:p>
            <a:r>
              <a:rPr lang="hu-HU" altLang="hu-HU"/>
              <a:t>Szoftvertechnológia II.</a:t>
            </a:r>
          </a:p>
        </p:txBody>
      </p:sp>
      <p:sp>
        <p:nvSpPr>
          <p:cNvPr id="38" name="Dia számának helye 5"/>
          <p:cNvSpPr>
            <a:spLocks noGrp="1"/>
          </p:cNvSpPr>
          <p:nvPr>
            <p:ph type="sldNum" sz="quarter" idx="12"/>
          </p:nvPr>
        </p:nvSpPr>
        <p:spPr/>
        <p:txBody>
          <a:bodyPr/>
          <a:lstStyle/>
          <a:p>
            <a:fld id="{3521CF93-DA79-4B57-8F3C-4ACAEA3654AA}" type="slidenum">
              <a:rPr lang="hu-HU" altLang="hu-HU"/>
              <a:pPr/>
              <a:t>25</a:t>
            </a:fld>
            <a:endParaRPr lang="hu-HU" altLang="hu-HU"/>
          </a:p>
        </p:txBody>
      </p:sp>
      <p:grpSp>
        <p:nvGrpSpPr>
          <p:cNvPr id="152580" name="Group 4"/>
          <p:cNvGrpSpPr>
            <a:grpSpLocks/>
          </p:cNvGrpSpPr>
          <p:nvPr/>
        </p:nvGrpSpPr>
        <p:grpSpPr bwMode="auto">
          <a:xfrm>
            <a:off x="7912100" y="2905125"/>
            <a:ext cx="2660650" cy="2508250"/>
            <a:chOff x="132" y="1258"/>
            <a:chExt cx="1676" cy="1580"/>
          </a:xfrm>
        </p:grpSpPr>
        <p:sp>
          <p:nvSpPr>
            <p:cNvPr id="152581" name="Rectangle 5"/>
            <p:cNvSpPr>
              <a:spLocks noChangeArrowheads="1"/>
            </p:cNvSpPr>
            <p:nvPr/>
          </p:nvSpPr>
          <p:spPr bwMode="auto">
            <a:xfrm>
              <a:off x="132" y="1258"/>
              <a:ext cx="1676" cy="1580"/>
            </a:xfrm>
            <a:prstGeom prst="rect">
              <a:avLst/>
            </a:prstGeom>
            <a:solidFill>
              <a:srgbClr val="FFFFCC"/>
            </a:solidFill>
            <a:ln w="0">
              <a:solidFill>
                <a:srgbClr val="990033"/>
              </a:solidFill>
              <a:miter lim="800000"/>
              <a:headEnd/>
              <a:tailEnd/>
            </a:ln>
          </p:spPr>
          <p:txBody>
            <a:bodyPr/>
            <a:lstStyle/>
            <a:p>
              <a:endParaRPr lang="hu-HU"/>
            </a:p>
          </p:txBody>
        </p:sp>
        <p:sp>
          <p:nvSpPr>
            <p:cNvPr id="152582" name="Rectangle 6"/>
            <p:cNvSpPr>
              <a:spLocks noChangeArrowheads="1"/>
            </p:cNvSpPr>
            <p:nvPr/>
          </p:nvSpPr>
          <p:spPr bwMode="auto">
            <a:xfrm>
              <a:off x="796" y="1473"/>
              <a:ext cx="40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a:solidFill>
                    <a:srgbClr val="000000"/>
                  </a:solidFill>
                </a:rPr>
                <a:t>Ugyfel</a:t>
              </a:r>
              <a:endParaRPr lang="hu-HU" altLang="hu-HU"/>
            </a:p>
          </p:txBody>
        </p:sp>
        <p:sp>
          <p:nvSpPr>
            <p:cNvPr id="152583" name="Rectangle 7"/>
            <p:cNvSpPr>
              <a:spLocks noChangeArrowheads="1"/>
            </p:cNvSpPr>
            <p:nvPr/>
          </p:nvSpPr>
          <p:spPr bwMode="auto">
            <a:xfrm>
              <a:off x="132" y="1665"/>
              <a:ext cx="1676" cy="1173"/>
            </a:xfrm>
            <a:prstGeom prst="rect">
              <a:avLst/>
            </a:prstGeom>
            <a:noFill/>
            <a:ln w="0">
              <a:solidFill>
                <a:srgbClr val="990033"/>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hu-HU"/>
            </a:p>
          </p:txBody>
        </p:sp>
        <p:sp>
          <p:nvSpPr>
            <p:cNvPr id="152584" name="Rectangle 8"/>
            <p:cNvSpPr>
              <a:spLocks noChangeArrowheads="1"/>
            </p:cNvSpPr>
            <p:nvPr/>
          </p:nvSpPr>
          <p:spPr bwMode="auto">
            <a:xfrm>
              <a:off x="132" y="2479"/>
              <a:ext cx="1676" cy="359"/>
            </a:xfrm>
            <a:prstGeom prst="rect">
              <a:avLst/>
            </a:prstGeom>
            <a:noFill/>
            <a:ln w="0">
              <a:solidFill>
                <a:srgbClr val="990033"/>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hu-HU"/>
            </a:p>
          </p:txBody>
        </p:sp>
        <p:sp>
          <p:nvSpPr>
            <p:cNvPr id="152585" name="Rectangle 9"/>
            <p:cNvSpPr>
              <a:spLocks noChangeArrowheads="1"/>
            </p:cNvSpPr>
            <p:nvPr/>
          </p:nvSpPr>
          <p:spPr bwMode="auto">
            <a:xfrm>
              <a:off x="197" y="1689"/>
              <a:ext cx="79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a:solidFill>
                    <a:srgbClr val="000000"/>
                  </a:solidFill>
                </a:rPr>
                <a:t>- nev : string</a:t>
              </a:r>
              <a:endParaRPr lang="hu-HU" altLang="hu-HU"/>
            </a:p>
          </p:txBody>
        </p:sp>
        <p:sp>
          <p:nvSpPr>
            <p:cNvPr id="152586" name="Rectangle 10"/>
            <p:cNvSpPr>
              <a:spLocks noChangeArrowheads="1"/>
            </p:cNvSpPr>
            <p:nvPr/>
          </p:nvSpPr>
          <p:spPr bwMode="auto">
            <a:xfrm>
              <a:off x="209" y="1868"/>
              <a:ext cx="8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a:solidFill>
                    <a:srgbClr val="000000"/>
                  </a:solidFill>
                </a:rPr>
                <a:t>- lakcim : cim</a:t>
              </a:r>
              <a:endParaRPr lang="hu-HU" altLang="hu-HU"/>
            </a:p>
          </p:txBody>
        </p:sp>
        <p:sp>
          <p:nvSpPr>
            <p:cNvPr id="152587" name="Rectangle 11"/>
            <p:cNvSpPr>
              <a:spLocks noChangeArrowheads="1"/>
            </p:cNvSpPr>
            <p:nvPr/>
          </p:nvSpPr>
          <p:spPr bwMode="auto">
            <a:xfrm>
              <a:off x="212" y="2048"/>
              <a:ext cx="15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a:solidFill>
                    <a:srgbClr val="000000"/>
                  </a:solidFill>
                </a:rPr>
                <a:t>- felhasznaloiNev : string</a:t>
              </a:r>
              <a:endParaRPr lang="hu-HU" altLang="hu-HU"/>
            </a:p>
          </p:txBody>
        </p:sp>
        <p:sp>
          <p:nvSpPr>
            <p:cNvPr id="152588" name="Rectangle 12"/>
            <p:cNvSpPr>
              <a:spLocks noChangeArrowheads="1"/>
            </p:cNvSpPr>
            <p:nvPr/>
          </p:nvSpPr>
          <p:spPr bwMode="auto">
            <a:xfrm>
              <a:off x="206" y="2228"/>
              <a:ext cx="133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a:solidFill>
                    <a:srgbClr val="000000"/>
                  </a:solidFill>
                </a:rPr>
                <a:t>- jelszo : kodoltString</a:t>
              </a:r>
              <a:endParaRPr lang="hu-HU" altLang="hu-HU"/>
            </a:p>
          </p:txBody>
        </p:sp>
        <p:sp>
          <p:nvSpPr>
            <p:cNvPr id="152589" name="Rectangle 13"/>
            <p:cNvSpPr>
              <a:spLocks noChangeArrowheads="1"/>
            </p:cNvSpPr>
            <p:nvPr/>
          </p:nvSpPr>
          <p:spPr bwMode="auto">
            <a:xfrm>
              <a:off x="212" y="2587"/>
              <a:ext cx="113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a:solidFill>
                    <a:srgbClr val="000000"/>
                  </a:solidFill>
                </a:rPr>
                <a:t>+ ugyfelKereses()</a:t>
              </a:r>
              <a:endParaRPr lang="hu-HU" altLang="hu-HU"/>
            </a:p>
          </p:txBody>
        </p:sp>
        <p:sp>
          <p:nvSpPr>
            <p:cNvPr id="152590" name="Rectangle 14"/>
            <p:cNvSpPr>
              <a:spLocks noChangeArrowheads="1"/>
            </p:cNvSpPr>
            <p:nvPr/>
          </p:nvSpPr>
          <p:spPr bwMode="auto">
            <a:xfrm>
              <a:off x="660" y="1294"/>
              <a:ext cx="6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a:solidFill>
                    <a:srgbClr val="000000"/>
                  </a:solidFill>
                </a:rPr>
                <a:t>&lt;&lt;entity&gt;&gt;</a:t>
              </a:r>
              <a:endParaRPr lang="hu-HU" altLang="hu-HU"/>
            </a:p>
          </p:txBody>
        </p:sp>
      </p:grpSp>
      <p:grpSp>
        <p:nvGrpSpPr>
          <p:cNvPr id="152591" name="Group 15"/>
          <p:cNvGrpSpPr>
            <a:grpSpLocks/>
          </p:cNvGrpSpPr>
          <p:nvPr/>
        </p:nvGrpSpPr>
        <p:grpSpPr bwMode="auto">
          <a:xfrm>
            <a:off x="5122863" y="2905125"/>
            <a:ext cx="2260600" cy="2243138"/>
            <a:chOff x="2275" y="1222"/>
            <a:chExt cx="1424" cy="1413"/>
          </a:xfrm>
        </p:grpSpPr>
        <p:sp>
          <p:nvSpPr>
            <p:cNvPr id="152592" name="Rectangle 16"/>
            <p:cNvSpPr>
              <a:spLocks noChangeArrowheads="1"/>
            </p:cNvSpPr>
            <p:nvPr/>
          </p:nvSpPr>
          <p:spPr bwMode="auto">
            <a:xfrm>
              <a:off x="2275" y="1222"/>
              <a:ext cx="1424" cy="1413"/>
            </a:xfrm>
            <a:prstGeom prst="rect">
              <a:avLst/>
            </a:prstGeom>
            <a:solidFill>
              <a:srgbClr val="FFFFCC"/>
            </a:solidFill>
            <a:ln w="0">
              <a:solidFill>
                <a:srgbClr val="990033"/>
              </a:solidFill>
              <a:miter lim="800000"/>
              <a:headEnd/>
              <a:tailEnd/>
            </a:ln>
          </p:spPr>
          <p:txBody>
            <a:bodyPr/>
            <a:lstStyle/>
            <a:p>
              <a:endParaRPr lang="hu-HU"/>
            </a:p>
          </p:txBody>
        </p:sp>
        <p:sp>
          <p:nvSpPr>
            <p:cNvPr id="152593" name="Rectangle 17"/>
            <p:cNvSpPr>
              <a:spLocks noChangeArrowheads="1"/>
            </p:cNvSpPr>
            <p:nvPr/>
          </p:nvSpPr>
          <p:spPr bwMode="auto">
            <a:xfrm>
              <a:off x="2424" y="1437"/>
              <a:ext cx="118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a:solidFill>
                    <a:srgbClr val="000000"/>
                  </a:solidFill>
                </a:rPr>
                <a:t>TanfolyamiIdopont</a:t>
              </a:r>
              <a:endParaRPr lang="hu-HU" altLang="hu-HU"/>
            </a:p>
          </p:txBody>
        </p:sp>
        <p:sp>
          <p:nvSpPr>
            <p:cNvPr id="152594" name="Rectangle 18"/>
            <p:cNvSpPr>
              <a:spLocks noChangeArrowheads="1"/>
            </p:cNvSpPr>
            <p:nvPr/>
          </p:nvSpPr>
          <p:spPr bwMode="auto">
            <a:xfrm>
              <a:off x="2275" y="1629"/>
              <a:ext cx="1424" cy="1006"/>
            </a:xfrm>
            <a:prstGeom prst="rect">
              <a:avLst/>
            </a:prstGeom>
            <a:noFill/>
            <a:ln w="0">
              <a:solidFill>
                <a:srgbClr val="990033"/>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hu-HU"/>
            </a:p>
          </p:txBody>
        </p:sp>
        <p:sp>
          <p:nvSpPr>
            <p:cNvPr id="152595" name="Rectangle 19"/>
            <p:cNvSpPr>
              <a:spLocks noChangeArrowheads="1"/>
            </p:cNvSpPr>
            <p:nvPr/>
          </p:nvSpPr>
          <p:spPr bwMode="auto">
            <a:xfrm>
              <a:off x="2275" y="2263"/>
              <a:ext cx="1424" cy="372"/>
            </a:xfrm>
            <a:prstGeom prst="rect">
              <a:avLst/>
            </a:prstGeom>
            <a:noFill/>
            <a:ln w="0">
              <a:solidFill>
                <a:srgbClr val="990033"/>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hu-HU"/>
            </a:p>
          </p:txBody>
        </p:sp>
        <p:sp>
          <p:nvSpPr>
            <p:cNvPr id="152596" name="Rectangle 20"/>
            <p:cNvSpPr>
              <a:spLocks noChangeArrowheads="1"/>
            </p:cNvSpPr>
            <p:nvPr/>
          </p:nvSpPr>
          <p:spPr bwMode="auto">
            <a:xfrm>
              <a:off x="2333" y="1653"/>
              <a:ext cx="91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a:solidFill>
                    <a:srgbClr val="000000"/>
                  </a:solidFill>
                </a:rPr>
                <a:t>- kezdet : date</a:t>
              </a:r>
              <a:endParaRPr lang="hu-HU" altLang="hu-HU"/>
            </a:p>
          </p:txBody>
        </p:sp>
        <p:sp>
          <p:nvSpPr>
            <p:cNvPr id="152597" name="Rectangle 21"/>
            <p:cNvSpPr>
              <a:spLocks noChangeArrowheads="1"/>
            </p:cNvSpPr>
            <p:nvPr/>
          </p:nvSpPr>
          <p:spPr bwMode="auto">
            <a:xfrm>
              <a:off x="2334" y="1832"/>
              <a:ext cx="72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a:solidFill>
                    <a:srgbClr val="000000"/>
                  </a:solidFill>
                </a:rPr>
                <a:t>- veg : date</a:t>
              </a:r>
              <a:endParaRPr lang="hu-HU" altLang="hu-HU"/>
            </a:p>
          </p:txBody>
        </p:sp>
        <p:sp>
          <p:nvSpPr>
            <p:cNvPr id="152598" name="Rectangle 22"/>
            <p:cNvSpPr>
              <a:spLocks noChangeArrowheads="1"/>
            </p:cNvSpPr>
            <p:nvPr/>
          </p:nvSpPr>
          <p:spPr bwMode="auto">
            <a:xfrm>
              <a:off x="2342" y="2012"/>
              <a:ext cx="8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a:solidFill>
                    <a:srgbClr val="000000"/>
                  </a:solidFill>
                </a:rPr>
                <a:t>- hely : string</a:t>
              </a:r>
              <a:endParaRPr lang="hu-HU" altLang="hu-HU"/>
            </a:p>
          </p:txBody>
        </p:sp>
        <p:sp>
          <p:nvSpPr>
            <p:cNvPr id="152599" name="Rectangle 23"/>
            <p:cNvSpPr>
              <a:spLocks noChangeArrowheads="1"/>
            </p:cNvSpPr>
            <p:nvPr/>
          </p:nvSpPr>
          <p:spPr bwMode="auto">
            <a:xfrm>
              <a:off x="2337" y="2371"/>
              <a:ext cx="120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a:solidFill>
                    <a:srgbClr val="000000"/>
                  </a:solidFill>
                </a:rPr>
                <a:t>+ vanSzabadhely()</a:t>
              </a:r>
              <a:endParaRPr lang="hu-HU" altLang="hu-HU"/>
            </a:p>
          </p:txBody>
        </p:sp>
        <p:sp>
          <p:nvSpPr>
            <p:cNvPr id="152600" name="Rectangle 24"/>
            <p:cNvSpPr>
              <a:spLocks noChangeArrowheads="1"/>
            </p:cNvSpPr>
            <p:nvPr/>
          </p:nvSpPr>
          <p:spPr bwMode="auto">
            <a:xfrm>
              <a:off x="2683" y="1258"/>
              <a:ext cx="6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a:solidFill>
                    <a:srgbClr val="000000"/>
                  </a:solidFill>
                </a:rPr>
                <a:t>&lt;&lt;entity&gt;&gt;</a:t>
              </a:r>
              <a:endParaRPr lang="hu-HU" altLang="hu-HU"/>
            </a:p>
          </p:txBody>
        </p:sp>
      </p:grpSp>
      <p:grpSp>
        <p:nvGrpSpPr>
          <p:cNvPr id="152601" name="Group 25"/>
          <p:cNvGrpSpPr>
            <a:grpSpLocks/>
          </p:cNvGrpSpPr>
          <p:nvPr/>
        </p:nvGrpSpPr>
        <p:grpSpPr bwMode="auto">
          <a:xfrm>
            <a:off x="2257425" y="2905125"/>
            <a:ext cx="2336800" cy="2508250"/>
            <a:chOff x="4154" y="1258"/>
            <a:chExt cx="1472" cy="1580"/>
          </a:xfrm>
        </p:grpSpPr>
        <p:sp>
          <p:nvSpPr>
            <p:cNvPr id="152602" name="Rectangle 26"/>
            <p:cNvSpPr>
              <a:spLocks noChangeArrowheads="1"/>
            </p:cNvSpPr>
            <p:nvPr/>
          </p:nvSpPr>
          <p:spPr bwMode="auto">
            <a:xfrm>
              <a:off x="4154" y="1258"/>
              <a:ext cx="1472" cy="1580"/>
            </a:xfrm>
            <a:prstGeom prst="rect">
              <a:avLst/>
            </a:prstGeom>
            <a:solidFill>
              <a:srgbClr val="FFFFCC"/>
            </a:solidFill>
            <a:ln w="0">
              <a:solidFill>
                <a:srgbClr val="990033"/>
              </a:solidFill>
              <a:miter lim="800000"/>
              <a:headEnd/>
              <a:tailEnd/>
            </a:ln>
          </p:spPr>
          <p:txBody>
            <a:bodyPr/>
            <a:lstStyle/>
            <a:p>
              <a:endParaRPr lang="hu-HU"/>
            </a:p>
          </p:txBody>
        </p:sp>
        <p:sp>
          <p:nvSpPr>
            <p:cNvPr id="152603" name="Rectangle 27"/>
            <p:cNvSpPr>
              <a:spLocks noChangeArrowheads="1"/>
            </p:cNvSpPr>
            <p:nvPr/>
          </p:nvSpPr>
          <p:spPr bwMode="auto">
            <a:xfrm>
              <a:off x="4584" y="1473"/>
              <a:ext cx="6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a:solidFill>
                    <a:srgbClr val="000000"/>
                  </a:solidFill>
                </a:rPr>
                <a:t>Tanfolyam</a:t>
              </a:r>
              <a:endParaRPr lang="hu-HU" altLang="hu-HU"/>
            </a:p>
          </p:txBody>
        </p:sp>
        <p:sp>
          <p:nvSpPr>
            <p:cNvPr id="152604" name="Rectangle 28"/>
            <p:cNvSpPr>
              <a:spLocks noChangeArrowheads="1"/>
            </p:cNvSpPr>
            <p:nvPr/>
          </p:nvSpPr>
          <p:spPr bwMode="auto">
            <a:xfrm>
              <a:off x="4154" y="1665"/>
              <a:ext cx="1472" cy="1173"/>
            </a:xfrm>
            <a:prstGeom prst="rect">
              <a:avLst/>
            </a:prstGeom>
            <a:noFill/>
            <a:ln w="0">
              <a:solidFill>
                <a:srgbClr val="990033"/>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hu-HU"/>
            </a:p>
          </p:txBody>
        </p:sp>
        <p:sp>
          <p:nvSpPr>
            <p:cNvPr id="152605" name="Rectangle 29"/>
            <p:cNvSpPr>
              <a:spLocks noChangeArrowheads="1"/>
            </p:cNvSpPr>
            <p:nvPr/>
          </p:nvSpPr>
          <p:spPr bwMode="auto">
            <a:xfrm>
              <a:off x="4154" y="2299"/>
              <a:ext cx="1472" cy="539"/>
            </a:xfrm>
            <a:prstGeom prst="rect">
              <a:avLst/>
            </a:prstGeom>
            <a:noFill/>
            <a:ln w="0">
              <a:solidFill>
                <a:srgbClr val="990033"/>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hu-HU"/>
            </a:p>
          </p:txBody>
        </p:sp>
        <p:sp>
          <p:nvSpPr>
            <p:cNvPr id="152606" name="Rectangle 30"/>
            <p:cNvSpPr>
              <a:spLocks noChangeArrowheads="1"/>
            </p:cNvSpPr>
            <p:nvPr/>
          </p:nvSpPr>
          <p:spPr bwMode="auto">
            <a:xfrm>
              <a:off x="4232" y="1689"/>
              <a:ext cx="13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a:solidFill>
                    <a:srgbClr val="000000"/>
                  </a:solidFill>
                </a:rPr>
                <a:t>- megnevezes : string</a:t>
              </a:r>
              <a:endParaRPr lang="hu-HU" altLang="hu-HU"/>
            </a:p>
          </p:txBody>
        </p:sp>
        <p:sp>
          <p:nvSpPr>
            <p:cNvPr id="152607" name="Rectangle 31"/>
            <p:cNvSpPr>
              <a:spLocks noChangeArrowheads="1"/>
            </p:cNvSpPr>
            <p:nvPr/>
          </p:nvSpPr>
          <p:spPr bwMode="auto">
            <a:xfrm>
              <a:off x="4230" y="1868"/>
              <a:ext cx="124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a:solidFill>
                    <a:srgbClr val="000000"/>
                  </a:solidFill>
                </a:rPr>
                <a:t>- idotartam : integer</a:t>
              </a:r>
              <a:endParaRPr lang="hu-HU" altLang="hu-HU"/>
            </a:p>
          </p:txBody>
        </p:sp>
        <p:sp>
          <p:nvSpPr>
            <p:cNvPr id="152608" name="Rectangle 32"/>
            <p:cNvSpPr>
              <a:spLocks noChangeArrowheads="1"/>
            </p:cNvSpPr>
            <p:nvPr/>
          </p:nvSpPr>
          <p:spPr bwMode="auto">
            <a:xfrm>
              <a:off x="4230" y="2048"/>
              <a:ext cx="110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a:solidFill>
                    <a:srgbClr val="000000"/>
                  </a:solidFill>
                </a:rPr>
                <a:t>- tematika : string</a:t>
              </a:r>
              <a:endParaRPr lang="hu-HU" altLang="hu-HU"/>
            </a:p>
          </p:txBody>
        </p:sp>
        <p:sp>
          <p:nvSpPr>
            <p:cNvPr id="152609" name="Rectangle 33"/>
            <p:cNvSpPr>
              <a:spLocks noChangeArrowheads="1"/>
            </p:cNvSpPr>
            <p:nvPr/>
          </p:nvSpPr>
          <p:spPr bwMode="auto">
            <a:xfrm>
              <a:off x="4232" y="2407"/>
              <a:ext cx="114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a:solidFill>
                    <a:srgbClr val="000000"/>
                  </a:solidFill>
                </a:rPr>
                <a:t>+ tanfolyamLista()</a:t>
              </a:r>
              <a:endParaRPr lang="hu-HU" altLang="hu-HU"/>
            </a:p>
          </p:txBody>
        </p:sp>
        <p:sp>
          <p:nvSpPr>
            <p:cNvPr id="152610" name="Rectangle 34"/>
            <p:cNvSpPr>
              <a:spLocks noChangeArrowheads="1"/>
            </p:cNvSpPr>
            <p:nvPr/>
          </p:nvSpPr>
          <p:spPr bwMode="auto">
            <a:xfrm>
              <a:off x="4236" y="2587"/>
              <a:ext cx="99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a:solidFill>
                    <a:srgbClr val="000000"/>
                  </a:solidFill>
                </a:rPr>
                <a:t>+ idopontLista()</a:t>
              </a:r>
              <a:endParaRPr lang="hu-HU" altLang="hu-HU"/>
            </a:p>
          </p:txBody>
        </p:sp>
        <p:sp>
          <p:nvSpPr>
            <p:cNvPr id="152611" name="Rectangle 35"/>
            <p:cNvSpPr>
              <a:spLocks noChangeArrowheads="1"/>
            </p:cNvSpPr>
            <p:nvPr/>
          </p:nvSpPr>
          <p:spPr bwMode="auto">
            <a:xfrm>
              <a:off x="4574" y="1294"/>
              <a:ext cx="6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a:solidFill>
                    <a:srgbClr val="000000"/>
                  </a:solidFill>
                </a:rPr>
                <a:t>&lt;&lt;entity&gt;&gt;</a:t>
              </a:r>
              <a:endParaRPr lang="hu-HU" altLang="hu-HU"/>
            </a:p>
          </p:txBody>
        </p:sp>
      </p:grpSp>
    </p:spTree>
    <p:extLst>
      <p:ext uri="{BB962C8B-B14F-4D97-AF65-F5344CB8AC3E}">
        <p14:creationId xmlns:p14="http://schemas.microsoft.com/office/powerpoint/2010/main" val="358080153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lstStyle/>
          <a:p>
            <a:r>
              <a:rPr lang="hu-HU" altLang="hu-HU"/>
              <a:t>Műveletek</a:t>
            </a:r>
          </a:p>
        </p:txBody>
      </p:sp>
      <p:sp>
        <p:nvSpPr>
          <p:cNvPr id="153603" name="Rectangle 3"/>
          <p:cNvSpPr>
            <a:spLocks noGrp="1" noChangeArrowheads="1"/>
          </p:cNvSpPr>
          <p:nvPr>
            <p:ph idx="1"/>
          </p:nvPr>
        </p:nvSpPr>
        <p:spPr/>
        <p:txBody>
          <a:bodyPr/>
          <a:lstStyle/>
          <a:p>
            <a:r>
              <a:rPr lang="hu-HU" altLang="hu-HU"/>
              <a:t>A művelet megvalósítása a metódus. </a:t>
            </a:r>
          </a:p>
          <a:p>
            <a:r>
              <a:rPr lang="hu-HU" altLang="hu-HU"/>
              <a:t>Egy osztály minden konkrét objektuma azonos műveletekkel rendelkezik. </a:t>
            </a:r>
          </a:p>
          <a:p>
            <a:r>
              <a:rPr lang="hu-HU" altLang="hu-HU"/>
              <a:t>A metódusok segítségével végzünk műveleteket a tulajdonságokon, ill. módosíthatjuk azokat.</a:t>
            </a:r>
          </a:p>
        </p:txBody>
      </p:sp>
      <p:sp>
        <p:nvSpPr>
          <p:cNvPr id="4" name="Dátum helye 3"/>
          <p:cNvSpPr>
            <a:spLocks noGrp="1"/>
          </p:cNvSpPr>
          <p:nvPr>
            <p:ph type="dt" sz="half" idx="10"/>
          </p:nvPr>
        </p:nvSpPr>
        <p:spPr/>
        <p:txBody>
          <a:bodyPr/>
          <a:lstStyle/>
          <a:p>
            <a:fld id="{9CF1B3D3-0BBC-43B9-8A2B-C38FF792102B}"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DD56CA65-5FF3-4CFF-858F-9F560D3ACC6D}" type="slidenum">
              <a:rPr lang="hu-HU" altLang="hu-HU"/>
              <a:pPr/>
              <a:t>26</a:t>
            </a:fld>
            <a:endParaRPr lang="hu-HU" altLang="hu-HU"/>
          </a:p>
        </p:txBody>
      </p:sp>
    </p:spTree>
    <p:extLst>
      <p:ext uri="{BB962C8B-B14F-4D97-AF65-F5344CB8AC3E}">
        <p14:creationId xmlns:p14="http://schemas.microsoft.com/office/powerpoint/2010/main" val="212157506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r>
              <a:rPr lang="hu-HU" altLang="hu-HU"/>
              <a:t>Műveletek (folyt.)</a:t>
            </a:r>
          </a:p>
        </p:txBody>
      </p:sp>
      <p:sp>
        <p:nvSpPr>
          <p:cNvPr id="154627" name="Rectangle 3"/>
          <p:cNvSpPr>
            <a:spLocks noGrp="1" noChangeArrowheads="1"/>
          </p:cNvSpPr>
          <p:nvPr>
            <p:ph idx="1"/>
          </p:nvPr>
        </p:nvSpPr>
        <p:spPr/>
        <p:txBody>
          <a:bodyPr/>
          <a:lstStyle/>
          <a:p>
            <a:r>
              <a:rPr lang="hu-HU" altLang="hu-HU"/>
              <a:t>Minden művelet implicit argumentumként "ismeri" az objektumát, el tudja érni annak attribútumait és műveleteit.</a:t>
            </a:r>
          </a:p>
          <a:p>
            <a:r>
              <a:rPr lang="hu-HU" altLang="hu-HU"/>
              <a:t>UML szintaktika:</a:t>
            </a:r>
          </a:p>
          <a:p>
            <a:pPr lvl="1"/>
            <a:r>
              <a:rPr lang="hu-HU" altLang="hu-HU"/>
              <a:t>láthatóság név(paraméterek):típus {jellemzők}</a:t>
            </a:r>
          </a:p>
          <a:p>
            <a:pPr lvl="1"/>
            <a:r>
              <a:rPr lang="hu-HU" altLang="hu-HU"/>
              <a:t>paraméterek :- </a:t>
            </a:r>
            <a:r>
              <a:rPr lang="en-US" altLang="hu-HU"/>
              <a:t>{in,out,inout} </a:t>
            </a:r>
            <a:r>
              <a:rPr lang="hu-HU" altLang="hu-HU"/>
              <a:t>név:típus=alapértelmezett</a:t>
            </a:r>
          </a:p>
        </p:txBody>
      </p:sp>
      <p:sp>
        <p:nvSpPr>
          <p:cNvPr id="4" name="Dátum helye 3"/>
          <p:cNvSpPr>
            <a:spLocks noGrp="1"/>
          </p:cNvSpPr>
          <p:nvPr>
            <p:ph type="dt" sz="half" idx="10"/>
          </p:nvPr>
        </p:nvSpPr>
        <p:spPr/>
        <p:txBody>
          <a:bodyPr/>
          <a:lstStyle/>
          <a:p>
            <a:fld id="{F8FC2E72-1427-4749-842D-FFFDA97939F6}"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374DC965-0466-4C1E-B417-FE08B81F9489}" type="slidenum">
              <a:rPr lang="hu-HU" altLang="hu-HU"/>
              <a:pPr/>
              <a:t>27</a:t>
            </a:fld>
            <a:endParaRPr lang="hu-HU" altLang="hu-HU"/>
          </a:p>
        </p:txBody>
      </p:sp>
    </p:spTree>
    <p:extLst>
      <p:ext uri="{BB962C8B-B14F-4D97-AF65-F5344CB8AC3E}">
        <p14:creationId xmlns:p14="http://schemas.microsoft.com/office/powerpoint/2010/main" val="80698275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p:txBody>
          <a:bodyPr/>
          <a:lstStyle/>
          <a:p>
            <a:r>
              <a:rPr lang="hu-HU" altLang="hu-HU"/>
              <a:t>Műveletek csoportosítása</a:t>
            </a:r>
          </a:p>
        </p:txBody>
      </p:sp>
      <p:sp>
        <p:nvSpPr>
          <p:cNvPr id="156675" name="Rectangle 3"/>
          <p:cNvSpPr>
            <a:spLocks noGrp="1" noChangeArrowheads="1"/>
          </p:cNvSpPr>
          <p:nvPr>
            <p:ph idx="1"/>
          </p:nvPr>
        </p:nvSpPr>
        <p:spPr/>
        <p:txBody>
          <a:bodyPr>
            <a:normAutofit/>
          </a:bodyPr>
          <a:lstStyle/>
          <a:p>
            <a:pPr>
              <a:lnSpc>
                <a:spcPct val="90000"/>
              </a:lnSpc>
            </a:pPr>
            <a:r>
              <a:rPr lang="hu-HU" altLang="hu-HU" sz="2600"/>
              <a:t>Lekérdezés (query): mindössze értékeket kér le</a:t>
            </a:r>
          </a:p>
          <a:p>
            <a:pPr lvl="1">
              <a:lnSpc>
                <a:spcPct val="90000"/>
              </a:lnSpc>
            </a:pPr>
            <a:r>
              <a:rPr lang="hu-HU" altLang="hu-HU" sz="2200"/>
              <a:t>nem változtatja a megfigyelhető állapotot, </a:t>
            </a:r>
          </a:p>
          <a:p>
            <a:pPr lvl="1">
              <a:lnSpc>
                <a:spcPct val="90000"/>
              </a:lnSpc>
            </a:pPr>
            <a:r>
              <a:rPr lang="hu-HU" altLang="hu-HU" sz="2200"/>
              <a:t>tetszőleges sorrendben végrehajthatók.</a:t>
            </a:r>
          </a:p>
          <a:p>
            <a:pPr>
              <a:lnSpc>
                <a:spcPct val="90000"/>
              </a:lnSpc>
            </a:pPr>
            <a:r>
              <a:rPr lang="hu-HU" altLang="hu-HU" sz="2600"/>
              <a:t>Módosító (modifier)</a:t>
            </a:r>
          </a:p>
          <a:p>
            <a:pPr lvl="1">
              <a:lnSpc>
                <a:spcPct val="90000"/>
              </a:lnSpc>
            </a:pPr>
            <a:r>
              <a:rPr lang="hu-HU" altLang="hu-HU" sz="2200"/>
              <a:t>Végrehajtása után van olyan művelet, amelynek a végrehajtása nem ugyan azzal az eredménnyel jár, mint előtte. Ez tehát a megfigyelhető állapotot módosítja. </a:t>
            </a:r>
          </a:p>
          <a:p>
            <a:pPr lvl="1">
              <a:lnSpc>
                <a:spcPct val="90000"/>
              </a:lnSpc>
            </a:pPr>
            <a:r>
              <a:rPr lang="hu-HU" altLang="hu-HU" sz="2200"/>
              <a:t>Ezek végrehajtási sorrendje nem közömbös és ha tranzakció kezelésre kerül a sor, akkor ezekre kell figyelni.</a:t>
            </a:r>
          </a:p>
        </p:txBody>
      </p:sp>
      <p:sp>
        <p:nvSpPr>
          <p:cNvPr id="4" name="Dátum helye 3"/>
          <p:cNvSpPr>
            <a:spLocks noGrp="1"/>
          </p:cNvSpPr>
          <p:nvPr>
            <p:ph type="dt" sz="half" idx="10"/>
          </p:nvPr>
        </p:nvSpPr>
        <p:spPr/>
        <p:txBody>
          <a:bodyPr/>
          <a:lstStyle/>
          <a:p>
            <a:fld id="{7A1D17B2-DB87-4502-8E03-68EA1CBF8F29}"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13B0F3B4-9ABE-4258-B57A-A458BC62D327}" type="slidenum">
              <a:rPr lang="hu-HU" altLang="hu-HU"/>
              <a:pPr/>
              <a:t>28</a:t>
            </a:fld>
            <a:endParaRPr lang="hu-HU" altLang="hu-HU"/>
          </a:p>
        </p:txBody>
      </p:sp>
    </p:spTree>
    <p:extLst>
      <p:ext uri="{BB962C8B-B14F-4D97-AF65-F5344CB8AC3E}">
        <p14:creationId xmlns:p14="http://schemas.microsoft.com/office/powerpoint/2010/main" val="369614991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lstStyle/>
          <a:p>
            <a:r>
              <a:rPr lang="hu-HU" altLang="hu-HU"/>
              <a:t>Láthatóság</a:t>
            </a:r>
          </a:p>
        </p:txBody>
      </p:sp>
      <p:sp>
        <p:nvSpPr>
          <p:cNvPr id="157699" name="Rectangle 3"/>
          <p:cNvSpPr>
            <a:spLocks noGrp="1" noChangeArrowheads="1"/>
          </p:cNvSpPr>
          <p:nvPr>
            <p:ph idx="1"/>
          </p:nvPr>
        </p:nvSpPr>
        <p:spPr/>
        <p:txBody>
          <a:bodyPr>
            <a:normAutofit/>
          </a:bodyPr>
          <a:lstStyle/>
          <a:p>
            <a:r>
              <a:rPr lang="hu-HU" altLang="hu-HU" sz="2600"/>
              <a:t>Láthatóság</a:t>
            </a:r>
          </a:p>
          <a:p>
            <a:pPr lvl="1"/>
            <a:r>
              <a:rPr lang="hu-HU" altLang="hu-HU" sz="2200"/>
              <a:t>+	(public) nyilvános</a:t>
            </a:r>
          </a:p>
          <a:p>
            <a:pPr lvl="1"/>
            <a:r>
              <a:rPr lang="hu-HU" altLang="hu-HU" sz="2200"/>
              <a:t>- 	(private) saját</a:t>
            </a:r>
          </a:p>
          <a:p>
            <a:pPr lvl="1"/>
            <a:r>
              <a:rPr lang="hu-HU" altLang="hu-HU" sz="2200"/>
              <a:t>#	(protected) védett</a:t>
            </a:r>
          </a:p>
          <a:p>
            <a:r>
              <a:rPr lang="hu-HU" altLang="hu-HU" sz="2600"/>
              <a:t>Jellemzőként is megadható, pl.: {public}. </a:t>
            </a:r>
          </a:p>
          <a:p>
            <a:r>
              <a:rPr lang="hu-HU" altLang="hu-HU" sz="2600"/>
              <a:t>Nyelvfüggő módon értelmezik, azonban a nyilvános felelősségek a teljes alkalmazásból elérhetők, ha az osztály is elérhető.</a:t>
            </a:r>
          </a:p>
        </p:txBody>
      </p:sp>
      <p:sp>
        <p:nvSpPr>
          <p:cNvPr id="4" name="Dátum helye 3"/>
          <p:cNvSpPr>
            <a:spLocks noGrp="1"/>
          </p:cNvSpPr>
          <p:nvPr>
            <p:ph type="dt" sz="half" idx="10"/>
          </p:nvPr>
        </p:nvSpPr>
        <p:spPr/>
        <p:txBody>
          <a:bodyPr/>
          <a:lstStyle/>
          <a:p>
            <a:fld id="{7F3CF9DE-E86C-4925-937E-D1E23F65F6AB}"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5DD45752-EDA7-467D-B4DA-14E3EEC5C555}" type="slidenum">
              <a:rPr lang="hu-HU" altLang="hu-HU"/>
              <a:pPr/>
              <a:t>29</a:t>
            </a:fld>
            <a:endParaRPr lang="hu-HU" altLang="hu-HU"/>
          </a:p>
        </p:txBody>
      </p:sp>
    </p:spTree>
    <p:extLst>
      <p:ext uri="{BB962C8B-B14F-4D97-AF65-F5344CB8AC3E}">
        <p14:creationId xmlns:p14="http://schemas.microsoft.com/office/powerpoint/2010/main" val="154180520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p:txBody>
          <a:bodyPr/>
          <a:lstStyle/>
          <a:p>
            <a:r>
              <a:rPr lang="hu-HU" altLang="hu-HU"/>
              <a:t>Osztályok közötti asszociációk</a:t>
            </a:r>
          </a:p>
        </p:txBody>
      </p:sp>
      <p:sp>
        <p:nvSpPr>
          <p:cNvPr id="158723" name="Rectangle 3"/>
          <p:cNvSpPr>
            <a:spLocks noGrp="1" noChangeArrowheads="1"/>
          </p:cNvSpPr>
          <p:nvPr>
            <p:ph idx="1"/>
          </p:nvPr>
        </p:nvSpPr>
        <p:spPr/>
        <p:txBody>
          <a:bodyPr>
            <a:normAutofit lnSpcReduction="10000"/>
          </a:bodyPr>
          <a:lstStyle/>
          <a:p>
            <a:pPr>
              <a:lnSpc>
                <a:spcPct val="90000"/>
              </a:lnSpc>
            </a:pPr>
            <a:r>
              <a:rPr lang="hu-HU" altLang="hu-HU" sz="2100"/>
              <a:t>Az osztályok szolgáltatásaikat rendszerint csak más osztályokkal együttműködve tudják biztosítani - kapcsolatnak kell lenni közöttük.</a:t>
            </a:r>
          </a:p>
          <a:p>
            <a:pPr>
              <a:lnSpc>
                <a:spcPct val="90000"/>
              </a:lnSpc>
            </a:pPr>
            <a:r>
              <a:rPr lang="hu-HU" altLang="hu-HU" sz="2100"/>
              <a:t>Formák:</a:t>
            </a:r>
          </a:p>
          <a:p>
            <a:pPr lvl="1">
              <a:lnSpc>
                <a:spcPct val="90000"/>
              </a:lnSpc>
            </a:pPr>
            <a:r>
              <a:rPr lang="hu-HU" altLang="hu-HU" sz="2000"/>
              <a:t>Egy objektum lehet globális, és akkor a rendszer bármely osztálya küldhet üzenetet neki.</a:t>
            </a:r>
          </a:p>
          <a:p>
            <a:pPr lvl="1">
              <a:lnSpc>
                <a:spcPct val="90000"/>
              </a:lnSpc>
            </a:pPr>
            <a:r>
              <a:rPr lang="hu-HU" altLang="hu-HU" sz="2000"/>
              <a:t>Egy objektumot paraméterként át lehet adni és így egy  objektum tud üzenetet küldeni a paraméterként kapott objektumnak.</a:t>
            </a:r>
          </a:p>
          <a:p>
            <a:pPr lvl="1">
              <a:lnSpc>
                <a:spcPct val="90000"/>
              </a:lnSpc>
            </a:pPr>
            <a:r>
              <a:rPr lang="hu-HU" altLang="hu-HU" sz="2000"/>
              <a:t>Egy objektumnak állandó kapcsolata lehet, egy másikkal, amelyiknek üzenetet küld – asszociáció.</a:t>
            </a:r>
          </a:p>
          <a:p>
            <a:pPr>
              <a:lnSpc>
                <a:spcPct val="90000"/>
              </a:lnSpc>
            </a:pPr>
            <a:r>
              <a:rPr lang="hu-HU" altLang="hu-HU" sz="2100"/>
              <a:t>Nem az elemzés során kell dönteni, hogy valóban asszociáció lesz-e, de itt azt használjuk!</a:t>
            </a:r>
          </a:p>
        </p:txBody>
      </p:sp>
      <p:sp>
        <p:nvSpPr>
          <p:cNvPr id="4" name="Dátum helye 3"/>
          <p:cNvSpPr>
            <a:spLocks noGrp="1"/>
          </p:cNvSpPr>
          <p:nvPr>
            <p:ph type="dt" sz="half" idx="10"/>
          </p:nvPr>
        </p:nvSpPr>
        <p:spPr/>
        <p:txBody>
          <a:bodyPr/>
          <a:lstStyle/>
          <a:p>
            <a:fld id="{2AD4B765-CA54-4928-83C3-8FB74434582C}"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3B0F05FF-5CA1-4CC7-BED0-6ABD174878EF}" type="slidenum">
              <a:rPr lang="hu-HU" altLang="hu-HU"/>
              <a:pPr/>
              <a:t>30</a:t>
            </a:fld>
            <a:endParaRPr lang="hu-HU" altLang="hu-HU"/>
          </a:p>
        </p:txBody>
      </p:sp>
    </p:spTree>
    <p:extLst>
      <p:ext uri="{BB962C8B-B14F-4D97-AF65-F5344CB8AC3E}">
        <p14:creationId xmlns:p14="http://schemas.microsoft.com/office/powerpoint/2010/main" val="99865454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p:txBody>
          <a:bodyPr/>
          <a:lstStyle/>
          <a:p>
            <a:r>
              <a:rPr lang="hu-HU" altLang="hu-HU"/>
              <a:t>Asszociáció</a:t>
            </a:r>
          </a:p>
        </p:txBody>
      </p:sp>
      <p:sp>
        <p:nvSpPr>
          <p:cNvPr id="160771" name="Rectangle 3"/>
          <p:cNvSpPr>
            <a:spLocks noGrp="1" noChangeArrowheads="1"/>
          </p:cNvSpPr>
          <p:nvPr>
            <p:ph idx="1"/>
          </p:nvPr>
        </p:nvSpPr>
        <p:spPr/>
        <p:txBody>
          <a:bodyPr/>
          <a:lstStyle/>
          <a:p>
            <a:r>
              <a:rPr lang="hu-HU" altLang="hu-HU"/>
              <a:t>Az osztályok objektumai közötti kapcsolat leírása, absztrakciója. </a:t>
            </a:r>
          </a:p>
          <a:p>
            <a:r>
              <a:rPr lang="hu-HU" altLang="hu-HU"/>
              <a:t>Az asszociációt, mint viszonyt megtestesítő fogalmat az osztályok közötti viszonyokra értjük. </a:t>
            </a:r>
          </a:p>
          <a:p>
            <a:r>
              <a:rPr lang="hu-HU" altLang="hu-HU"/>
              <a:t>A kapcsolat fogalmat az objektumok közötti viszonyra értelmezzük.</a:t>
            </a:r>
            <a:r>
              <a:rPr lang="en-US" altLang="hu-HU"/>
              <a:t> </a:t>
            </a:r>
            <a:endParaRPr lang="hu-HU" altLang="hu-HU"/>
          </a:p>
        </p:txBody>
      </p:sp>
      <p:sp>
        <p:nvSpPr>
          <p:cNvPr id="4" name="Dátum helye 3"/>
          <p:cNvSpPr>
            <a:spLocks noGrp="1"/>
          </p:cNvSpPr>
          <p:nvPr>
            <p:ph type="dt" sz="half" idx="10"/>
          </p:nvPr>
        </p:nvSpPr>
        <p:spPr/>
        <p:txBody>
          <a:bodyPr/>
          <a:lstStyle/>
          <a:p>
            <a:fld id="{5B31528C-A08F-4535-92F7-1E1C771C4FCF}"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3EB4F22B-066D-4784-A193-D1FA96946652}" type="slidenum">
              <a:rPr lang="hu-HU" altLang="hu-HU"/>
              <a:pPr/>
              <a:t>31</a:t>
            </a:fld>
            <a:endParaRPr lang="hu-HU" altLang="hu-HU"/>
          </a:p>
        </p:txBody>
      </p:sp>
    </p:spTree>
    <p:extLst>
      <p:ext uri="{BB962C8B-B14F-4D97-AF65-F5344CB8AC3E}">
        <p14:creationId xmlns:p14="http://schemas.microsoft.com/office/powerpoint/2010/main" val="425918909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p:txBody>
          <a:bodyPr/>
          <a:lstStyle/>
          <a:p>
            <a:r>
              <a:rPr lang="hu-HU" altLang="hu-HU"/>
              <a:t>Asszociációk leírása</a:t>
            </a:r>
          </a:p>
        </p:txBody>
      </p:sp>
      <p:sp>
        <p:nvSpPr>
          <p:cNvPr id="161795" name="Rectangle 3"/>
          <p:cNvSpPr>
            <a:spLocks noGrp="1" noChangeArrowheads="1"/>
          </p:cNvSpPr>
          <p:nvPr>
            <p:ph idx="1"/>
          </p:nvPr>
        </p:nvSpPr>
        <p:spPr/>
        <p:txBody>
          <a:bodyPr/>
          <a:lstStyle/>
          <a:p>
            <a:r>
              <a:rPr lang="hu-HU" altLang="hu-HU"/>
              <a:t>Ha két objektum között kapcsolat van, az azt jelzi, hogy az osztályaik között asszociációnak kell lennie.</a:t>
            </a:r>
          </a:p>
          <a:p>
            <a:r>
              <a:rPr lang="hu-HU" altLang="hu-HU"/>
              <a:t>Az együttműködési diagram még kifejezőbb, hiszen ott az objektum kapcsolat egyből megmutatja az asszociációkat.</a:t>
            </a:r>
          </a:p>
          <a:p>
            <a:endParaRPr lang="hu-HU" altLang="hu-HU"/>
          </a:p>
        </p:txBody>
      </p:sp>
      <p:sp>
        <p:nvSpPr>
          <p:cNvPr id="4" name="Dátum helye 3"/>
          <p:cNvSpPr>
            <a:spLocks noGrp="1"/>
          </p:cNvSpPr>
          <p:nvPr>
            <p:ph type="dt" sz="half" idx="10"/>
          </p:nvPr>
        </p:nvSpPr>
        <p:spPr/>
        <p:txBody>
          <a:bodyPr/>
          <a:lstStyle/>
          <a:p>
            <a:fld id="{BE296736-8760-4BC6-A443-A9F2BD3C315C}"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C4280A4B-D78D-41E8-A159-DFE470B00C84}" type="slidenum">
              <a:rPr lang="hu-HU" altLang="hu-HU"/>
              <a:pPr/>
              <a:t>32</a:t>
            </a:fld>
            <a:endParaRPr lang="hu-HU" altLang="hu-HU"/>
          </a:p>
        </p:txBody>
      </p:sp>
    </p:spTree>
    <p:extLst>
      <p:ext uri="{BB962C8B-B14F-4D97-AF65-F5344CB8AC3E}">
        <p14:creationId xmlns:p14="http://schemas.microsoft.com/office/powerpoint/2010/main" val="339654926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a:lstStyle/>
          <a:p>
            <a:r>
              <a:rPr lang="hu-HU" altLang="hu-HU"/>
              <a:t>Asszociációk</a:t>
            </a:r>
          </a:p>
        </p:txBody>
      </p:sp>
      <p:sp>
        <p:nvSpPr>
          <p:cNvPr id="162819" name="Rectangle 3"/>
          <p:cNvSpPr>
            <a:spLocks noGrp="1" noChangeArrowheads="1"/>
          </p:cNvSpPr>
          <p:nvPr>
            <p:ph idx="1"/>
          </p:nvPr>
        </p:nvSpPr>
        <p:spPr/>
        <p:txBody>
          <a:bodyPr/>
          <a:lstStyle/>
          <a:p>
            <a:r>
              <a:rPr lang="hu-HU" altLang="hu-HU"/>
              <a:t>Általában bináris (a magasabb fokú asszociációk általában felbonthatók binárisokra, bár ekkor részben elveszíti a mondanivalóját).</a:t>
            </a:r>
          </a:p>
          <a:p>
            <a:r>
              <a:rPr lang="hu-HU" altLang="hu-HU"/>
              <a:t>Az asszociáció nagyon sok szabály és megkötés kifejezésére alkalmas, de mindenre nem.</a:t>
            </a:r>
          </a:p>
        </p:txBody>
      </p:sp>
      <p:sp>
        <p:nvSpPr>
          <p:cNvPr id="4" name="Dátum helye 3"/>
          <p:cNvSpPr>
            <a:spLocks noGrp="1"/>
          </p:cNvSpPr>
          <p:nvPr>
            <p:ph type="dt" sz="half" idx="10"/>
          </p:nvPr>
        </p:nvSpPr>
        <p:spPr/>
        <p:txBody>
          <a:bodyPr/>
          <a:lstStyle/>
          <a:p>
            <a:fld id="{0E56C151-E223-43EE-9512-5042311541D8}"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C69C5A5A-C4CB-4FA1-9C97-494599F75265}" type="slidenum">
              <a:rPr lang="hu-HU" altLang="hu-HU"/>
              <a:pPr/>
              <a:t>33</a:t>
            </a:fld>
            <a:endParaRPr lang="hu-HU" altLang="hu-HU"/>
          </a:p>
        </p:txBody>
      </p:sp>
    </p:spTree>
    <p:extLst>
      <p:ext uri="{BB962C8B-B14F-4D97-AF65-F5344CB8AC3E}">
        <p14:creationId xmlns:p14="http://schemas.microsoft.com/office/powerpoint/2010/main" val="382043821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p:txBody>
          <a:bodyPr/>
          <a:lstStyle/>
          <a:p>
            <a:r>
              <a:rPr lang="hu-HU" altLang="hu-HU"/>
              <a:t>Asszociációk (folyt.)</a:t>
            </a:r>
          </a:p>
        </p:txBody>
      </p:sp>
      <p:sp>
        <p:nvSpPr>
          <p:cNvPr id="163843" name="Rectangle 3"/>
          <p:cNvSpPr>
            <a:spLocks noGrp="1" noChangeArrowheads="1"/>
          </p:cNvSpPr>
          <p:nvPr>
            <p:ph idx="1"/>
          </p:nvPr>
        </p:nvSpPr>
        <p:spPr/>
        <p:txBody>
          <a:bodyPr/>
          <a:lstStyle/>
          <a:p>
            <a:r>
              <a:rPr lang="hu-HU" altLang="hu-HU" sz="3400"/>
              <a:t>Két osztály vagy osztályok közötti kapcsolatot a </a:t>
            </a:r>
            <a:r>
              <a:rPr lang="hu-HU" altLang="hu-HU" sz="3400" b="1"/>
              <a:t>két osztályt összekötő vonal</a:t>
            </a:r>
            <a:r>
              <a:rPr lang="hu-HU" altLang="hu-HU" sz="3400"/>
              <a:t> reprezentálja.</a:t>
            </a:r>
          </a:p>
          <a:p>
            <a:r>
              <a:rPr lang="hu-HU" altLang="hu-HU"/>
              <a:t>Az </a:t>
            </a:r>
            <a:r>
              <a:rPr lang="hu-HU" altLang="hu-HU" b="1"/>
              <a:t>asszociációhoz név rendelhető</a:t>
            </a:r>
            <a:r>
              <a:rPr lang="hu-HU" altLang="hu-HU"/>
              <a:t>: a nevet az osztályokat összekötő vonal fölé, középre helyezve írjuk.</a:t>
            </a:r>
          </a:p>
        </p:txBody>
      </p:sp>
      <p:sp>
        <p:nvSpPr>
          <p:cNvPr id="4" name="Dátum helye 3"/>
          <p:cNvSpPr>
            <a:spLocks noGrp="1"/>
          </p:cNvSpPr>
          <p:nvPr>
            <p:ph type="dt" sz="half" idx="10"/>
          </p:nvPr>
        </p:nvSpPr>
        <p:spPr/>
        <p:txBody>
          <a:bodyPr/>
          <a:lstStyle/>
          <a:p>
            <a:fld id="{C199710A-8376-4098-944B-C6A34342AFCF}"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D3F16A71-599E-41C4-975F-BB9EBA48E539}" type="slidenum">
              <a:rPr lang="hu-HU" altLang="hu-HU"/>
              <a:pPr/>
              <a:t>34</a:t>
            </a:fld>
            <a:endParaRPr lang="hu-HU" altLang="hu-HU"/>
          </a:p>
        </p:txBody>
      </p:sp>
    </p:spTree>
    <p:extLst>
      <p:ext uri="{BB962C8B-B14F-4D97-AF65-F5344CB8AC3E}">
        <p14:creationId xmlns:p14="http://schemas.microsoft.com/office/powerpoint/2010/main" val="247864299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lstStyle/>
          <a:p>
            <a:r>
              <a:rPr lang="hu-HU" altLang="hu-HU"/>
              <a:t>Szerep</a:t>
            </a:r>
          </a:p>
        </p:txBody>
      </p:sp>
      <p:sp>
        <p:nvSpPr>
          <p:cNvPr id="164867" name="Rectangle 3"/>
          <p:cNvSpPr>
            <a:spLocks noGrp="1" noChangeArrowheads="1"/>
          </p:cNvSpPr>
          <p:nvPr>
            <p:ph idx="1"/>
          </p:nvPr>
        </p:nvSpPr>
        <p:spPr/>
        <p:txBody>
          <a:bodyPr/>
          <a:lstStyle/>
          <a:p>
            <a:r>
              <a:rPr lang="hu-HU" altLang="hu-HU" sz="2600"/>
              <a:t>Megadhatjuk az osztályoknak az asszociációban játszott </a:t>
            </a:r>
            <a:r>
              <a:rPr lang="hu-HU" altLang="hu-HU" sz="2600" b="1"/>
              <a:t>szerep</a:t>
            </a:r>
            <a:r>
              <a:rPr lang="hu-HU" altLang="hu-HU" sz="2600"/>
              <a:t>ét.</a:t>
            </a:r>
          </a:p>
          <a:p>
            <a:r>
              <a:rPr lang="hu-HU" altLang="hu-HU" sz="2600"/>
              <a:t>Minden kapcsolathoz két szerep rendelhető, melyek az asszociáció két végén levő osztályoknak az adott asszociációban betöltött szerepére vonatkoznak. </a:t>
            </a:r>
          </a:p>
          <a:p>
            <a:r>
              <a:rPr lang="hu-HU" altLang="hu-HU" sz="2600"/>
              <a:t>A szerepek definiálásával párhuzamosan általában megadjuk a kapcsolat (asszociáció) irányát. </a:t>
            </a:r>
          </a:p>
          <a:p>
            <a:endParaRPr lang="hu-HU" altLang="hu-HU" sz="2600"/>
          </a:p>
        </p:txBody>
      </p:sp>
      <p:sp>
        <p:nvSpPr>
          <p:cNvPr id="4" name="Dátum helye 3"/>
          <p:cNvSpPr>
            <a:spLocks noGrp="1"/>
          </p:cNvSpPr>
          <p:nvPr>
            <p:ph type="dt" sz="half" idx="10"/>
          </p:nvPr>
        </p:nvSpPr>
        <p:spPr/>
        <p:txBody>
          <a:bodyPr/>
          <a:lstStyle/>
          <a:p>
            <a:fld id="{08B19E1F-9D4A-4669-9406-22041A017685}"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C01AE39D-ADA5-4533-825F-B833A9EB1E6A}" type="slidenum">
              <a:rPr lang="hu-HU" altLang="hu-HU"/>
              <a:pPr/>
              <a:t>35</a:t>
            </a:fld>
            <a:endParaRPr lang="hu-HU" altLang="hu-HU"/>
          </a:p>
        </p:txBody>
      </p:sp>
    </p:spTree>
    <p:extLst>
      <p:ext uri="{BB962C8B-B14F-4D97-AF65-F5344CB8AC3E}">
        <p14:creationId xmlns:p14="http://schemas.microsoft.com/office/powerpoint/2010/main" val="108295124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p:txBody>
          <a:bodyPr/>
          <a:lstStyle/>
          <a:p>
            <a:r>
              <a:rPr lang="hu-HU" altLang="hu-HU"/>
              <a:t>Multiplicitás</a:t>
            </a:r>
          </a:p>
        </p:txBody>
      </p:sp>
      <p:sp>
        <p:nvSpPr>
          <p:cNvPr id="165891" name="Rectangle 3"/>
          <p:cNvSpPr>
            <a:spLocks noGrp="1" noChangeArrowheads="1"/>
          </p:cNvSpPr>
          <p:nvPr>
            <p:ph idx="1"/>
          </p:nvPr>
        </p:nvSpPr>
        <p:spPr/>
        <p:txBody>
          <a:bodyPr/>
          <a:lstStyle/>
          <a:p>
            <a:pPr>
              <a:lnSpc>
                <a:spcPct val="90000"/>
              </a:lnSpc>
            </a:pPr>
            <a:r>
              <a:rPr lang="hu-HU" altLang="hu-HU" sz="2600"/>
              <a:t>Hány objektum vehet részt az asszociációban.</a:t>
            </a:r>
          </a:p>
          <a:p>
            <a:pPr>
              <a:lnSpc>
                <a:spcPct val="90000"/>
              </a:lnSpc>
            </a:pPr>
            <a:r>
              <a:rPr lang="hu-HU" altLang="hu-HU" sz="2600" b="1"/>
              <a:t>Multiplicitás:</a:t>
            </a:r>
          </a:p>
          <a:p>
            <a:pPr lvl="1">
              <a:lnSpc>
                <a:spcPct val="90000"/>
              </a:lnSpc>
            </a:pPr>
            <a:r>
              <a:rPr lang="hu-HU" altLang="hu-HU" sz="2200"/>
              <a:t>az egyik osztály egy objektumához a  másik osztályból hány objektum tartozik, vagyis kifejezi, hogy az osztályok objektumai milyen számosságban kapcsolódnak egymáshoz.</a:t>
            </a:r>
          </a:p>
          <a:p>
            <a:pPr>
              <a:lnSpc>
                <a:spcPct val="90000"/>
              </a:lnSpc>
            </a:pPr>
            <a:r>
              <a:rPr lang="hu-HU" altLang="hu-HU" sz="2600"/>
              <a:t>Kardinalitás, a számosság fogalma. </a:t>
            </a:r>
          </a:p>
          <a:p>
            <a:pPr lvl="1">
              <a:lnSpc>
                <a:spcPct val="90000"/>
              </a:lnSpc>
            </a:pPr>
            <a:r>
              <a:rPr lang="hu-HU" altLang="hu-HU" sz="2200"/>
              <a:t>Megadja az adott osztályban specifikálható előfordulások minimális, illetve maximális számát.</a:t>
            </a:r>
            <a:endParaRPr lang="en-US" altLang="hu-HU" sz="2200"/>
          </a:p>
          <a:p>
            <a:pPr>
              <a:lnSpc>
                <a:spcPct val="90000"/>
              </a:lnSpc>
            </a:pPr>
            <a:endParaRPr lang="hu-HU" altLang="hu-HU" sz="2600"/>
          </a:p>
        </p:txBody>
      </p:sp>
      <p:sp>
        <p:nvSpPr>
          <p:cNvPr id="4" name="Dátum helye 3"/>
          <p:cNvSpPr>
            <a:spLocks noGrp="1"/>
          </p:cNvSpPr>
          <p:nvPr>
            <p:ph type="dt" sz="half" idx="10"/>
          </p:nvPr>
        </p:nvSpPr>
        <p:spPr/>
        <p:txBody>
          <a:bodyPr/>
          <a:lstStyle/>
          <a:p>
            <a:fld id="{43E3F211-59BD-4C34-93EF-0EF518CA692E}"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3DD205A5-2FFF-4266-828C-711FF4EA7E45}" type="slidenum">
              <a:rPr lang="hu-HU" altLang="hu-HU"/>
              <a:pPr/>
              <a:t>36</a:t>
            </a:fld>
            <a:endParaRPr lang="hu-HU" altLang="hu-HU"/>
          </a:p>
        </p:txBody>
      </p:sp>
    </p:spTree>
    <p:extLst>
      <p:ext uri="{BB962C8B-B14F-4D97-AF65-F5344CB8AC3E}">
        <p14:creationId xmlns:p14="http://schemas.microsoft.com/office/powerpoint/2010/main" val="294265473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p:txBody>
          <a:bodyPr/>
          <a:lstStyle/>
          <a:p>
            <a:r>
              <a:rPr lang="hu-HU" altLang="hu-HU"/>
              <a:t>Multiplicitás jelölése UML-ben</a:t>
            </a:r>
          </a:p>
        </p:txBody>
      </p:sp>
      <p:sp>
        <p:nvSpPr>
          <p:cNvPr id="166915" name="Rectangle 3"/>
          <p:cNvSpPr>
            <a:spLocks noGrp="1" noChangeArrowheads="1"/>
          </p:cNvSpPr>
          <p:nvPr>
            <p:ph idx="1"/>
          </p:nvPr>
        </p:nvSpPr>
        <p:spPr/>
        <p:txBody>
          <a:bodyPr/>
          <a:lstStyle/>
          <a:p>
            <a:pPr>
              <a:lnSpc>
                <a:spcPct val="90000"/>
              </a:lnSpc>
            </a:pPr>
            <a:r>
              <a:rPr lang="hu-HU" altLang="hu-HU" sz="2100" b="1"/>
              <a:t>1</a:t>
            </a:r>
            <a:r>
              <a:rPr lang="hu-HU" altLang="hu-HU" sz="2100"/>
              <a:t>: az adott osztály egy objektumához a másik osztályból pontosan egy objektum kapcsolódik.</a:t>
            </a:r>
            <a:endParaRPr lang="hu-HU" altLang="hu-HU" sz="2100" b="1"/>
          </a:p>
          <a:p>
            <a:pPr>
              <a:lnSpc>
                <a:spcPct val="90000"/>
              </a:lnSpc>
            </a:pPr>
            <a:r>
              <a:rPr lang="hu-HU" altLang="hu-HU" sz="2100" b="1"/>
              <a:t>0..1</a:t>
            </a:r>
            <a:r>
              <a:rPr lang="hu-HU" altLang="hu-HU" sz="2100"/>
              <a:t>: 0 vagy 1 objektum kapcsolódik, opcionális kapcsolat.</a:t>
            </a:r>
            <a:endParaRPr lang="hu-HU" altLang="hu-HU" sz="2100" b="1"/>
          </a:p>
          <a:p>
            <a:pPr>
              <a:lnSpc>
                <a:spcPct val="90000"/>
              </a:lnSpc>
            </a:pPr>
            <a:r>
              <a:rPr lang="hu-HU" altLang="hu-HU" sz="2100" b="1"/>
              <a:t>0..*</a:t>
            </a:r>
            <a:r>
              <a:rPr lang="hu-HU" altLang="hu-HU" sz="2100"/>
              <a:t>: opcionális többes kapcsolat.</a:t>
            </a:r>
            <a:endParaRPr lang="hu-HU" altLang="hu-HU" sz="2100" b="1"/>
          </a:p>
          <a:p>
            <a:pPr>
              <a:lnSpc>
                <a:spcPct val="90000"/>
              </a:lnSpc>
            </a:pPr>
            <a:r>
              <a:rPr lang="hu-HU" altLang="hu-HU" sz="2100" b="1"/>
              <a:t>1..*</a:t>
            </a:r>
            <a:r>
              <a:rPr lang="hu-HU" altLang="hu-HU" sz="2100"/>
              <a:t>: 1 vagy többes kapcsolódás, kötelező többes kapcsolat.</a:t>
            </a:r>
            <a:endParaRPr lang="hu-HU" altLang="hu-HU" sz="2100" b="1"/>
          </a:p>
          <a:p>
            <a:pPr>
              <a:lnSpc>
                <a:spcPct val="90000"/>
              </a:lnSpc>
            </a:pPr>
            <a:r>
              <a:rPr lang="hu-HU" altLang="hu-HU" sz="2100" b="1"/>
              <a:t>22.. 44</a:t>
            </a:r>
            <a:r>
              <a:rPr lang="hu-HU" altLang="hu-HU" sz="2100"/>
              <a:t>: egy objektumhoz [22,44] zárt intervallumnak megfelelő számú objektum kapcsolódhat.</a:t>
            </a:r>
            <a:endParaRPr lang="hu-HU" altLang="hu-HU" sz="2100" b="1"/>
          </a:p>
          <a:p>
            <a:pPr>
              <a:lnSpc>
                <a:spcPct val="90000"/>
              </a:lnSpc>
            </a:pPr>
            <a:r>
              <a:rPr lang="hu-HU" altLang="hu-HU" sz="2100" b="1"/>
              <a:t>9</a:t>
            </a:r>
            <a:r>
              <a:rPr lang="hu-HU" altLang="hu-HU" sz="2100"/>
              <a:t>: ebben az esetben pontosan 9 objektum kapcsolódik a megjelölt osztály egy objektumához.</a:t>
            </a:r>
          </a:p>
        </p:txBody>
      </p:sp>
      <p:sp>
        <p:nvSpPr>
          <p:cNvPr id="4" name="Dátum helye 3"/>
          <p:cNvSpPr>
            <a:spLocks noGrp="1"/>
          </p:cNvSpPr>
          <p:nvPr>
            <p:ph type="dt" sz="half" idx="10"/>
          </p:nvPr>
        </p:nvSpPr>
        <p:spPr/>
        <p:txBody>
          <a:bodyPr/>
          <a:lstStyle/>
          <a:p>
            <a:fld id="{83E37E81-BC9C-428B-B389-9FF972AA18D4}"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F82BA5FB-2DAF-4529-98E6-BD048A382563}" type="slidenum">
              <a:rPr lang="hu-HU" altLang="hu-HU"/>
              <a:pPr/>
              <a:t>37</a:t>
            </a:fld>
            <a:endParaRPr lang="hu-HU" altLang="hu-HU"/>
          </a:p>
        </p:txBody>
      </p:sp>
    </p:spTree>
    <p:extLst>
      <p:ext uri="{BB962C8B-B14F-4D97-AF65-F5344CB8AC3E}">
        <p14:creationId xmlns:p14="http://schemas.microsoft.com/office/powerpoint/2010/main" val="428001110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p:txBody>
          <a:bodyPr/>
          <a:lstStyle/>
          <a:p>
            <a:r>
              <a:rPr lang="hu-HU" altLang="hu-HU"/>
              <a:t>Navigálhatóság iránya</a:t>
            </a:r>
          </a:p>
        </p:txBody>
      </p:sp>
      <p:sp>
        <p:nvSpPr>
          <p:cNvPr id="167939" name="Rectangle 3"/>
          <p:cNvSpPr>
            <a:spLocks noGrp="1" noChangeArrowheads="1"/>
          </p:cNvSpPr>
          <p:nvPr>
            <p:ph idx="1"/>
          </p:nvPr>
        </p:nvSpPr>
        <p:spPr/>
        <p:txBody>
          <a:bodyPr/>
          <a:lstStyle/>
          <a:p>
            <a:pPr>
              <a:lnSpc>
                <a:spcPct val="90000"/>
              </a:lnSpc>
            </a:pPr>
            <a:r>
              <a:rPr lang="hu-HU" altLang="hu-HU" sz="2600"/>
              <a:t>Az asszociáció bejárhatóságának iránya.</a:t>
            </a:r>
          </a:p>
          <a:p>
            <a:pPr>
              <a:lnSpc>
                <a:spcPct val="90000"/>
              </a:lnSpc>
            </a:pPr>
            <a:r>
              <a:rPr lang="hu-HU" altLang="hu-HU" sz="2600"/>
              <a:t>A kapcsolatok mentén kommunikáció zajlik, amely lehet egy vagy kétirányú. A kommunikáció irányának jelölésére az osztályokat összekötő vonalra nyilat helyezünk. </a:t>
            </a:r>
          </a:p>
          <a:p>
            <a:pPr>
              <a:lnSpc>
                <a:spcPct val="90000"/>
              </a:lnSpc>
            </a:pPr>
            <a:r>
              <a:rPr lang="hu-HU" altLang="hu-HU" sz="2600"/>
              <a:t>Megadja, hogy az asszociációval összekötött osztályok közül melyik kezdeményezi a kommunikációt, melyik osztály objektumainak kell ismernie a másik osztály objektumait.</a:t>
            </a:r>
          </a:p>
        </p:txBody>
      </p:sp>
      <p:sp>
        <p:nvSpPr>
          <p:cNvPr id="4" name="Dátum helye 3"/>
          <p:cNvSpPr>
            <a:spLocks noGrp="1"/>
          </p:cNvSpPr>
          <p:nvPr>
            <p:ph type="dt" sz="half" idx="10"/>
          </p:nvPr>
        </p:nvSpPr>
        <p:spPr/>
        <p:txBody>
          <a:bodyPr/>
          <a:lstStyle/>
          <a:p>
            <a:fld id="{22571D92-FD14-497D-BB46-0DCAB773CCDC}"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47166BD2-C2FE-4AB1-8B5E-E50FF05B945D}" type="slidenum">
              <a:rPr lang="hu-HU" altLang="hu-HU"/>
              <a:pPr/>
              <a:t>38</a:t>
            </a:fld>
            <a:endParaRPr lang="hu-HU" altLang="hu-HU"/>
          </a:p>
        </p:txBody>
      </p:sp>
    </p:spTree>
    <p:extLst>
      <p:ext uri="{BB962C8B-B14F-4D97-AF65-F5344CB8AC3E}">
        <p14:creationId xmlns:p14="http://schemas.microsoft.com/office/powerpoint/2010/main" val="120346785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p:txBody>
          <a:bodyPr/>
          <a:lstStyle/>
          <a:p>
            <a:r>
              <a:rPr lang="hu-HU" altLang="hu-HU"/>
              <a:t>Megszorítás</a:t>
            </a:r>
          </a:p>
        </p:txBody>
      </p:sp>
      <p:sp>
        <p:nvSpPr>
          <p:cNvPr id="168963" name="Rectangle 3"/>
          <p:cNvSpPr>
            <a:spLocks noGrp="1" noChangeArrowheads="1"/>
          </p:cNvSpPr>
          <p:nvPr>
            <p:ph idx="1"/>
          </p:nvPr>
        </p:nvSpPr>
        <p:spPr/>
        <p:txBody>
          <a:bodyPr/>
          <a:lstStyle/>
          <a:p>
            <a:r>
              <a:rPr lang="hu-HU" altLang="hu-HU" sz="2600"/>
              <a:t>Constraint: </a:t>
            </a:r>
          </a:p>
          <a:p>
            <a:pPr lvl="1"/>
            <a:r>
              <a:rPr lang="hu-HU" altLang="hu-HU" sz="2200"/>
              <a:t>korlátozás, ami az egyes modellelemek között definiált asszociációs viszony finomítására szolgál. </a:t>
            </a:r>
          </a:p>
          <a:p>
            <a:r>
              <a:rPr lang="hu-HU" altLang="hu-HU" sz="2600"/>
              <a:t>Példa:</a:t>
            </a:r>
          </a:p>
          <a:p>
            <a:pPr lvl="1"/>
            <a:r>
              <a:rPr lang="hu-HU" altLang="hu-HU" sz="2200"/>
              <a:t>azt akarjuk hangsúlyozni, hogy az asszociációban az egyik objektummal kapcsolatban levő objektumok rendezve legyenek elérhetőek, láthatóak. A megszorítások a modellben kapcsos zárójelek {} között szerepelnek.</a:t>
            </a:r>
          </a:p>
        </p:txBody>
      </p:sp>
      <p:sp>
        <p:nvSpPr>
          <p:cNvPr id="4" name="Dátum helye 3"/>
          <p:cNvSpPr>
            <a:spLocks noGrp="1"/>
          </p:cNvSpPr>
          <p:nvPr>
            <p:ph type="dt" sz="half" idx="10"/>
          </p:nvPr>
        </p:nvSpPr>
        <p:spPr/>
        <p:txBody>
          <a:bodyPr/>
          <a:lstStyle/>
          <a:p>
            <a:fld id="{661E2F24-82AF-480A-86D2-211F38624994}"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88444967-0AC3-4B15-801F-0B74C8CDBAF5}" type="slidenum">
              <a:rPr lang="hu-HU" altLang="hu-HU"/>
              <a:pPr/>
              <a:t>39</a:t>
            </a:fld>
            <a:endParaRPr lang="hu-HU" altLang="hu-HU"/>
          </a:p>
        </p:txBody>
      </p:sp>
    </p:spTree>
    <p:extLst>
      <p:ext uri="{BB962C8B-B14F-4D97-AF65-F5344CB8AC3E}">
        <p14:creationId xmlns:p14="http://schemas.microsoft.com/office/powerpoint/2010/main" val="293399003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p:txBody>
          <a:bodyPr/>
          <a:lstStyle/>
          <a:p>
            <a:r>
              <a:rPr lang="hu-HU" altLang="hu-HU"/>
              <a:t>Megszorítás (folyt.)</a:t>
            </a:r>
          </a:p>
        </p:txBody>
      </p:sp>
      <p:sp>
        <p:nvSpPr>
          <p:cNvPr id="169987" name="Rectangle 3"/>
          <p:cNvSpPr>
            <a:spLocks noGrp="1" noChangeArrowheads="1"/>
          </p:cNvSpPr>
          <p:nvPr>
            <p:ph idx="1"/>
          </p:nvPr>
        </p:nvSpPr>
        <p:spPr/>
        <p:txBody>
          <a:bodyPr/>
          <a:lstStyle/>
          <a:p>
            <a:r>
              <a:rPr lang="hu-HU" altLang="hu-HU"/>
              <a:t>Megszorítások megfogalmazására az UML specifikáció részét képező OCL (Object Constraint Language) nyelv ad lehetőséget. </a:t>
            </a:r>
          </a:p>
          <a:p>
            <a:r>
              <a:rPr lang="hu-HU" altLang="hu-HU"/>
              <a:t>Az OCL segítségével további szemantikai értelmezéssel lehet finomítani a modellt.</a:t>
            </a:r>
          </a:p>
        </p:txBody>
      </p:sp>
      <p:sp>
        <p:nvSpPr>
          <p:cNvPr id="4" name="Dátum helye 3"/>
          <p:cNvSpPr>
            <a:spLocks noGrp="1"/>
          </p:cNvSpPr>
          <p:nvPr>
            <p:ph type="dt" sz="half" idx="10"/>
          </p:nvPr>
        </p:nvSpPr>
        <p:spPr/>
        <p:txBody>
          <a:bodyPr/>
          <a:lstStyle/>
          <a:p>
            <a:fld id="{27D8ACAB-EE93-4327-A3E4-9B2C0B0E113E}"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06708DDE-6A56-47B4-BD70-C7341D3F15DF}" type="slidenum">
              <a:rPr lang="hu-HU" altLang="hu-HU"/>
              <a:pPr/>
              <a:t>40</a:t>
            </a:fld>
            <a:endParaRPr lang="hu-HU" altLang="hu-HU"/>
          </a:p>
        </p:txBody>
      </p:sp>
    </p:spTree>
    <p:extLst>
      <p:ext uri="{BB962C8B-B14F-4D97-AF65-F5344CB8AC3E}">
        <p14:creationId xmlns:p14="http://schemas.microsoft.com/office/powerpoint/2010/main" val="406952558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r>
              <a:rPr lang="hu-HU" altLang="hu-HU"/>
              <a:t>Példa</a:t>
            </a:r>
          </a:p>
        </p:txBody>
      </p:sp>
      <p:pic>
        <p:nvPicPr>
          <p:cNvPr id="171016" name="Picture 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1907" t="6131" r="954" b="1183"/>
          <a:stretch>
            <a:fillRect/>
          </a:stretch>
        </p:blipFill>
        <p:spPr>
          <a:xfrm>
            <a:off x="2279651" y="1704975"/>
            <a:ext cx="7777163" cy="4387850"/>
          </a:xfrm>
          <a:noFill/>
          <a:ln/>
        </p:spPr>
      </p:pic>
      <p:sp>
        <p:nvSpPr>
          <p:cNvPr id="4" name="Dátum helye 3"/>
          <p:cNvSpPr>
            <a:spLocks noGrp="1"/>
          </p:cNvSpPr>
          <p:nvPr>
            <p:ph type="dt" sz="half" idx="10"/>
          </p:nvPr>
        </p:nvSpPr>
        <p:spPr/>
        <p:txBody>
          <a:bodyPr/>
          <a:lstStyle/>
          <a:p>
            <a:fld id="{849A38A8-B486-497C-A333-E593B557AE96}"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332877B2-00AD-43DA-BCAC-DB71A35FC571}" type="slidenum">
              <a:rPr lang="hu-HU" altLang="hu-HU"/>
              <a:pPr/>
              <a:t>41</a:t>
            </a:fld>
            <a:endParaRPr lang="hu-HU" altLang="hu-HU"/>
          </a:p>
        </p:txBody>
      </p:sp>
    </p:spTree>
    <p:extLst>
      <p:ext uri="{BB962C8B-B14F-4D97-AF65-F5344CB8AC3E}">
        <p14:creationId xmlns:p14="http://schemas.microsoft.com/office/powerpoint/2010/main" val="130878696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p:txBody>
          <a:bodyPr/>
          <a:lstStyle/>
          <a:p>
            <a:r>
              <a:rPr lang="hu-HU" altLang="hu-HU"/>
              <a:t>Kapcsolatok implementálása</a:t>
            </a:r>
          </a:p>
        </p:txBody>
      </p:sp>
      <p:sp>
        <p:nvSpPr>
          <p:cNvPr id="172035" name="Rectangle 3"/>
          <p:cNvSpPr>
            <a:spLocks noGrp="1" noChangeArrowheads="1"/>
          </p:cNvSpPr>
          <p:nvPr>
            <p:ph idx="1"/>
          </p:nvPr>
        </p:nvSpPr>
        <p:spPr/>
        <p:txBody>
          <a:bodyPr/>
          <a:lstStyle/>
          <a:p>
            <a:r>
              <a:rPr lang="hu-HU" altLang="hu-HU"/>
              <a:t>Konceptuális modell</a:t>
            </a:r>
          </a:p>
          <a:p>
            <a:r>
              <a:rPr lang="hu-HU" altLang="hu-HU"/>
              <a:t>Specifikációs modell</a:t>
            </a:r>
          </a:p>
          <a:p>
            <a:r>
              <a:rPr lang="hu-HU" altLang="hu-HU"/>
              <a:t>Implementációs modell</a:t>
            </a:r>
          </a:p>
        </p:txBody>
      </p:sp>
      <p:sp>
        <p:nvSpPr>
          <p:cNvPr id="4" name="Dátum helye 3"/>
          <p:cNvSpPr>
            <a:spLocks noGrp="1"/>
          </p:cNvSpPr>
          <p:nvPr>
            <p:ph type="dt" sz="half" idx="10"/>
          </p:nvPr>
        </p:nvSpPr>
        <p:spPr/>
        <p:txBody>
          <a:bodyPr/>
          <a:lstStyle/>
          <a:p>
            <a:fld id="{ABCD8661-5FFF-4E35-B09A-75D019A6DBCA}"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5E3C841F-6233-4515-869C-85A0DDBE4DD2}" type="slidenum">
              <a:rPr lang="hu-HU" altLang="hu-HU"/>
              <a:pPr/>
              <a:t>42</a:t>
            </a:fld>
            <a:endParaRPr lang="hu-HU" altLang="hu-HU"/>
          </a:p>
        </p:txBody>
      </p:sp>
    </p:spTree>
    <p:extLst>
      <p:ext uri="{BB962C8B-B14F-4D97-AF65-F5344CB8AC3E}">
        <p14:creationId xmlns:p14="http://schemas.microsoft.com/office/powerpoint/2010/main" val="217370468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p:txBody>
          <a:bodyPr/>
          <a:lstStyle/>
          <a:p>
            <a:r>
              <a:rPr lang="hu-HU" altLang="hu-HU"/>
              <a:t>Konceptuális modell</a:t>
            </a:r>
          </a:p>
        </p:txBody>
      </p:sp>
      <p:sp>
        <p:nvSpPr>
          <p:cNvPr id="173059" name="Rectangle 3"/>
          <p:cNvSpPr>
            <a:spLocks noGrp="1" noChangeArrowheads="1"/>
          </p:cNvSpPr>
          <p:nvPr>
            <p:ph idx="1"/>
          </p:nvPr>
        </p:nvSpPr>
        <p:spPr/>
        <p:txBody>
          <a:bodyPr/>
          <a:lstStyle/>
          <a:p>
            <a:r>
              <a:rPr lang="hu-HU" altLang="hu-HU"/>
              <a:t>Csak a lényegi elemekre, az elemek közötti kapcsolatok leírására koncentrál. </a:t>
            </a:r>
          </a:p>
          <a:p>
            <a:r>
              <a:rPr lang="hu-HU" altLang="hu-HU"/>
              <a:t>A diagramban ábrázolhatjuk a kapcsolat fokát, megadhatjuk az asszociáció nevét és különféle asszociációs viszonyokat ábrázolhatunk.</a:t>
            </a:r>
          </a:p>
        </p:txBody>
      </p:sp>
      <p:sp>
        <p:nvSpPr>
          <p:cNvPr id="4" name="Dátum helye 3"/>
          <p:cNvSpPr>
            <a:spLocks noGrp="1"/>
          </p:cNvSpPr>
          <p:nvPr>
            <p:ph type="dt" sz="half" idx="10"/>
          </p:nvPr>
        </p:nvSpPr>
        <p:spPr/>
        <p:txBody>
          <a:bodyPr/>
          <a:lstStyle/>
          <a:p>
            <a:fld id="{928B7AED-AA85-4536-BDE0-47B6948201AF}"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82A7BDE5-44A7-45C9-A366-AB2F4E6AF519}" type="slidenum">
              <a:rPr lang="hu-HU" altLang="hu-HU"/>
              <a:pPr/>
              <a:t>43</a:t>
            </a:fld>
            <a:endParaRPr lang="hu-HU" altLang="hu-HU"/>
          </a:p>
        </p:txBody>
      </p:sp>
    </p:spTree>
    <p:extLst>
      <p:ext uri="{BB962C8B-B14F-4D97-AF65-F5344CB8AC3E}">
        <p14:creationId xmlns:p14="http://schemas.microsoft.com/office/powerpoint/2010/main" val="79222340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r>
              <a:rPr lang="hu-HU" altLang="hu-HU"/>
              <a:t>Példa</a:t>
            </a:r>
          </a:p>
        </p:txBody>
      </p:sp>
      <p:pic>
        <p:nvPicPr>
          <p:cNvPr id="174088" name="Picture 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229" t="7716" r="2229" b="1537"/>
          <a:stretch>
            <a:fillRect/>
          </a:stretch>
        </p:blipFill>
        <p:spPr>
          <a:xfrm>
            <a:off x="2640014" y="1779589"/>
            <a:ext cx="6696075" cy="4359275"/>
          </a:xfrm>
          <a:noFill/>
          <a:ln/>
        </p:spPr>
      </p:pic>
      <p:sp>
        <p:nvSpPr>
          <p:cNvPr id="4" name="Dátum helye 3"/>
          <p:cNvSpPr>
            <a:spLocks noGrp="1"/>
          </p:cNvSpPr>
          <p:nvPr>
            <p:ph type="dt" sz="half" idx="10"/>
          </p:nvPr>
        </p:nvSpPr>
        <p:spPr/>
        <p:txBody>
          <a:bodyPr/>
          <a:lstStyle/>
          <a:p>
            <a:fld id="{75E7B779-00AE-4CD3-82E0-58B9B4472D50}"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8CB84E39-FA08-4731-99BD-1EE36505DA4B}" type="slidenum">
              <a:rPr lang="hu-HU" altLang="hu-HU"/>
              <a:pPr/>
              <a:t>44</a:t>
            </a:fld>
            <a:endParaRPr lang="hu-HU" altLang="hu-HU"/>
          </a:p>
        </p:txBody>
      </p:sp>
    </p:spTree>
    <p:extLst>
      <p:ext uri="{BB962C8B-B14F-4D97-AF65-F5344CB8AC3E}">
        <p14:creationId xmlns:p14="http://schemas.microsoft.com/office/powerpoint/2010/main" val="114398274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p:txBody>
          <a:bodyPr/>
          <a:lstStyle/>
          <a:p>
            <a:r>
              <a:rPr lang="hu-HU" altLang="hu-HU"/>
              <a:t>Specifikációs szintű modell</a:t>
            </a:r>
          </a:p>
        </p:txBody>
      </p:sp>
      <p:sp>
        <p:nvSpPr>
          <p:cNvPr id="175107" name="Rectangle 3"/>
          <p:cNvSpPr>
            <a:spLocks noGrp="1" noChangeArrowheads="1"/>
          </p:cNvSpPr>
          <p:nvPr>
            <p:ph idx="1"/>
          </p:nvPr>
        </p:nvSpPr>
        <p:spPr/>
        <p:txBody>
          <a:bodyPr/>
          <a:lstStyle/>
          <a:p>
            <a:r>
              <a:rPr lang="hu-HU" altLang="hu-HU"/>
              <a:t>Csak felelősségeket definiál, de nem kód szinten: egy Order-nek lesz olyan felelőssége, hogy megmondja melyik Customer-hez tartozik. </a:t>
            </a:r>
          </a:p>
          <a:p>
            <a:r>
              <a:rPr lang="hu-HU" altLang="hu-HU"/>
              <a:t>A modell azt fejezi ki, hogy egy Order-nek az a felelőssége, hogy megmondja pontosan melyik egyedi azonosítójú Customer tartozik hozzá.</a:t>
            </a:r>
          </a:p>
        </p:txBody>
      </p:sp>
      <p:sp>
        <p:nvSpPr>
          <p:cNvPr id="4" name="Dátum helye 3"/>
          <p:cNvSpPr>
            <a:spLocks noGrp="1"/>
          </p:cNvSpPr>
          <p:nvPr>
            <p:ph type="dt" sz="half" idx="10"/>
          </p:nvPr>
        </p:nvSpPr>
        <p:spPr/>
        <p:txBody>
          <a:bodyPr/>
          <a:lstStyle/>
          <a:p>
            <a:fld id="{4322D3CB-A002-4E0D-94BA-3157A1F0D49A}"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191EA8A1-692A-44A6-89F0-9B47BF43EAA1}" type="slidenum">
              <a:rPr lang="hu-HU" altLang="hu-HU"/>
              <a:pPr/>
              <a:t>45</a:t>
            </a:fld>
            <a:endParaRPr lang="hu-HU" altLang="hu-HU"/>
          </a:p>
        </p:txBody>
      </p:sp>
    </p:spTree>
    <p:extLst>
      <p:ext uri="{BB962C8B-B14F-4D97-AF65-F5344CB8AC3E}">
        <p14:creationId xmlns:p14="http://schemas.microsoft.com/office/powerpoint/2010/main" val="230546106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r>
              <a:rPr lang="hu-HU" altLang="hu-HU"/>
              <a:t>Példa</a:t>
            </a:r>
          </a:p>
        </p:txBody>
      </p:sp>
      <p:sp>
        <p:nvSpPr>
          <p:cNvPr id="176131" name="Rectangle 3"/>
          <p:cNvSpPr>
            <a:spLocks noGrp="1" noChangeArrowheads="1"/>
          </p:cNvSpPr>
          <p:nvPr>
            <p:ph idx="1"/>
          </p:nvPr>
        </p:nvSpPr>
        <p:spPr/>
        <p:txBody>
          <a:bodyPr/>
          <a:lstStyle/>
          <a:p>
            <a:pPr>
              <a:buFont typeface="Wingdings" panose="05000000000000000000" pitchFamily="2" charset="2"/>
              <a:buNone/>
            </a:pPr>
            <a:r>
              <a:rPr lang="hu-HU" altLang="hu-HU"/>
              <a:t>class Order {</a:t>
            </a:r>
          </a:p>
          <a:p>
            <a:pPr>
              <a:buFont typeface="Wingdings" panose="05000000000000000000" pitchFamily="2" charset="2"/>
              <a:buNone/>
            </a:pPr>
            <a:r>
              <a:rPr lang="hu-HU" altLang="hu-HU"/>
              <a:t>	public Customer customer() {…}</a:t>
            </a:r>
          </a:p>
          <a:p>
            <a:pPr>
              <a:buFont typeface="Wingdings" panose="05000000000000000000" pitchFamily="2" charset="2"/>
              <a:buNone/>
            </a:pPr>
            <a:endParaRPr lang="hu-HU" altLang="hu-HU"/>
          </a:p>
          <a:p>
            <a:pPr>
              <a:buFont typeface="Wingdings" panose="05000000000000000000" pitchFamily="2" charset="2"/>
              <a:buNone/>
            </a:pPr>
            <a:r>
              <a:rPr lang="hu-HU" altLang="hu-HU"/>
              <a:t>	/*Az Order osztálytól lekérdezhetők hozzátartozó orderLine-ok.*/</a:t>
            </a:r>
          </a:p>
          <a:p>
            <a:pPr>
              <a:buFont typeface="Wingdings" panose="05000000000000000000" pitchFamily="2" charset="2"/>
              <a:buNone/>
            </a:pPr>
            <a:r>
              <a:rPr lang="hu-HU" altLang="hu-HU"/>
              <a:t>	public Enumeration orderLines() {…} </a:t>
            </a:r>
          </a:p>
          <a:p>
            <a:pPr>
              <a:buFont typeface="Wingdings" panose="05000000000000000000" pitchFamily="2" charset="2"/>
              <a:buNone/>
            </a:pPr>
            <a:r>
              <a:rPr lang="hu-HU" altLang="hu-HU"/>
              <a:t>}</a:t>
            </a:r>
            <a:endParaRPr lang="en-US" altLang="hu-HU"/>
          </a:p>
          <a:p>
            <a:endParaRPr lang="hu-HU" altLang="hu-HU"/>
          </a:p>
        </p:txBody>
      </p:sp>
      <p:sp>
        <p:nvSpPr>
          <p:cNvPr id="4" name="Dátum helye 3"/>
          <p:cNvSpPr>
            <a:spLocks noGrp="1"/>
          </p:cNvSpPr>
          <p:nvPr>
            <p:ph type="dt" sz="half" idx="10"/>
          </p:nvPr>
        </p:nvSpPr>
        <p:spPr/>
        <p:txBody>
          <a:bodyPr/>
          <a:lstStyle/>
          <a:p>
            <a:fld id="{725A1819-8261-47EC-B2A8-E88127BFD425}"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30534DFD-489B-4686-925B-80E2D4F227C1}" type="slidenum">
              <a:rPr lang="hu-HU" altLang="hu-HU"/>
              <a:pPr/>
              <a:t>46</a:t>
            </a:fld>
            <a:endParaRPr lang="hu-HU" altLang="hu-HU"/>
          </a:p>
        </p:txBody>
      </p:sp>
    </p:spTree>
    <p:extLst>
      <p:ext uri="{BB962C8B-B14F-4D97-AF65-F5344CB8AC3E}">
        <p14:creationId xmlns:p14="http://schemas.microsoft.com/office/powerpoint/2010/main" val="168864262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p:txBody>
          <a:bodyPr/>
          <a:lstStyle/>
          <a:p>
            <a:r>
              <a:rPr lang="hu-HU" altLang="hu-HU"/>
              <a:t>Implementációs modell</a:t>
            </a:r>
          </a:p>
        </p:txBody>
      </p:sp>
      <p:sp>
        <p:nvSpPr>
          <p:cNvPr id="177155" name="Rectangle 3"/>
          <p:cNvSpPr>
            <a:spLocks noGrp="1" noChangeArrowheads="1"/>
          </p:cNvSpPr>
          <p:nvPr>
            <p:ph idx="1"/>
          </p:nvPr>
        </p:nvSpPr>
        <p:spPr/>
        <p:txBody>
          <a:bodyPr/>
          <a:lstStyle/>
          <a:p>
            <a:r>
              <a:rPr lang="hu-HU" altLang="hu-HU"/>
              <a:t>Már a felelősségek pontos megvalósítását is definiáljuk. </a:t>
            </a:r>
          </a:p>
          <a:p>
            <a:r>
              <a:rPr lang="hu-HU" altLang="hu-HU"/>
              <a:t>Az implementációs osztály-diagramban azt írjuk le, hogy minden Order típusú objektum tartalmaz egy referenciát, amelyik pontosan egy adott Customer objektumra mutat.</a:t>
            </a:r>
            <a:endParaRPr lang="en-US" altLang="hu-HU"/>
          </a:p>
          <a:p>
            <a:endParaRPr lang="hu-HU" altLang="hu-HU"/>
          </a:p>
        </p:txBody>
      </p:sp>
      <p:sp>
        <p:nvSpPr>
          <p:cNvPr id="4" name="Dátum helye 3"/>
          <p:cNvSpPr>
            <a:spLocks noGrp="1"/>
          </p:cNvSpPr>
          <p:nvPr>
            <p:ph type="dt" sz="half" idx="10"/>
          </p:nvPr>
        </p:nvSpPr>
        <p:spPr/>
        <p:txBody>
          <a:bodyPr/>
          <a:lstStyle/>
          <a:p>
            <a:fld id="{8EA79185-9BAA-4FA3-B2F2-B68C372F8B2D}"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BD87B4FB-9B9A-4F13-BD15-7B3D0CA71B75}" type="slidenum">
              <a:rPr lang="hu-HU" altLang="hu-HU"/>
              <a:pPr/>
              <a:t>47</a:t>
            </a:fld>
            <a:endParaRPr lang="hu-HU" altLang="hu-HU"/>
          </a:p>
        </p:txBody>
      </p:sp>
    </p:spTree>
    <p:extLst>
      <p:ext uri="{BB962C8B-B14F-4D97-AF65-F5344CB8AC3E}">
        <p14:creationId xmlns:p14="http://schemas.microsoft.com/office/powerpoint/2010/main" val="416979659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p:txBody>
          <a:bodyPr/>
          <a:lstStyle/>
          <a:p>
            <a:r>
              <a:rPr lang="hu-HU" altLang="hu-HU"/>
              <a:t>Példa</a:t>
            </a:r>
          </a:p>
        </p:txBody>
      </p:sp>
      <p:sp>
        <p:nvSpPr>
          <p:cNvPr id="178179" name="Rectangle 3"/>
          <p:cNvSpPr>
            <a:spLocks noGrp="1" noChangeArrowheads="1"/>
          </p:cNvSpPr>
          <p:nvPr>
            <p:ph idx="1"/>
          </p:nvPr>
        </p:nvSpPr>
        <p:spPr/>
        <p:txBody>
          <a:bodyPr>
            <a:normAutofit fontScale="92500" lnSpcReduction="20000"/>
          </a:bodyPr>
          <a:lstStyle/>
          <a:p>
            <a:pPr>
              <a:lnSpc>
                <a:spcPct val="90000"/>
              </a:lnSpc>
              <a:buFont typeface="Wingdings" panose="05000000000000000000" pitchFamily="2" charset="2"/>
              <a:buNone/>
            </a:pPr>
            <a:r>
              <a:rPr lang="hu-HU" altLang="hu-HU" sz="2100"/>
              <a:t>class Order { // Az Order osztály definíciója</a:t>
            </a:r>
          </a:p>
          <a:p>
            <a:pPr>
              <a:lnSpc>
                <a:spcPct val="90000"/>
              </a:lnSpc>
              <a:buFont typeface="Wingdings" panose="05000000000000000000" pitchFamily="2" charset="2"/>
              <a:buNone/>
            </a:pPr>
            <a:r>
              <a:rPr lang="hu-HU" altLang="hu-HU" sz="2100"/>
              <a:t>	private long price;</a:t>
            </a:r>
          </a:p>
          <a:p>
            <a:pPr>
              <a:lnSpc>
                <a:spcPct val="90000"/>
              </a:lnSpc>
              <a:buFont typeface="Wingdings" panose="05000000000000000000" pitchFamily="2" charset="2"/>
              <a:buNone/>
            </a:pPr>
            <a:r>
              <a:rPr lang="hu-HU" altLang="hu-HU" sz="2100"/>
              <a:t>	private long number; 	</a:t>
            </a:r>
          </a:p>
          <a:p>
            <a:pPr>
              <a:lnSpc>
                <a:spcPct val="90000"/>
              </a:lnSpc>
              <a:buFont typeface="Wingdings" panose="05000000000000000000" pitchFamily="2" charset="2"/>
              <a:buNone/>
            </a:pPr>
            <a:r>
              <a:rPr lang="hu-HU" altLang="hu-HU" sz="2100"/>
              <a:t>	private Customer customersOrder;</a:t>
            </a:r>
          </a:p>
          <a:p>
            <a:pPr>
              <a:lnSpc>
                <a:spcPct val="90000"/>
              </a:lnSpc>
              <a:buFont typeface="Wingdings" panose="05000000000000000000" pitchFamily="2" charset="2"/>
              <a:buNone/>
            </a:pPr>
            <a:r>
              <a:rPr lang="hu-HU" altLang="hu-HU" sz="2100"/>
              <a:t>	</a:t>
            </a:r>
          </a:p>
          <a:p>
            <a:pPr>
              <a:lnSpc>
                <a:spcPct val="90000"/>
              </a:lnSpc>
              <a:buFont typeface="Wingdings" panose="05000000000000000000" pitchFamily="2" charset="2"/>
              <a:buNone/>
            </a:pPr>
            <a:r>
              <a:rPr lang="hu-HU" altLang="hu-HU" sz="2100"/>
              <a:t>	public Order() {…}</a:t>
            </a:r>
          </a:p>
          <a:p>
            <a:pPr>
              <a:lnSpc>
                <a:spcPct val="90000"/>
              </a:lnSpc>
              <a:buFont typeface="Wingdings" panose="05000000000000000000" pitchFamily="2" charset="2"/>
              <a:buNone/>
            </a:pPr>
            <a:r>
              <a:rPr lang="hu-HU" altLang="hu-HU" sz="2100"/>
              <a:t>	protected void finalize() {…}</a:t>
            </a:r>
          </a:p>
          <a:p>
            <a:pPr>
              <a:lnSpc>
                <a:spcPct val="90000"/>
              </a:lnSpc>
              <a:buFont typeface="Wingdings" panose="05000000000000000000" pitchFamily="2" charset="2"/>
              <a:buNone/>
            </a:pPr>
            <a:r>
              <a:rPr lang="hu-HU" altLang="hu-HU" sz="2100"/>
              <a:t>	Customer getCustomersOrder() {</a:t>
            </a:r>
          </a:p>
          <a:p>
            <a:pPr>
              <a:lnSpc>
                <a:spcPct val="90000"/>
              </a:lnSpc>
              <a:buFont typeface="Wingdings" panose="05000000000000000000" pitchFamily="2" charset="2"/>
              <a:buNone/>
            </a:pPr>
            <a:r>
              <a:rPr lang="hu-HU" altLang="hu-HU" sz="2100"/>
              <a:t>		return customersOrder;</a:t>
            </a:r>
          </a:p>
          <a:p>
            <a:pPr>
              <a:lnSpc>
                <a:spcPct val="90000"/>
              </a:lnSpc>
              <a:buFont typeface="Wingdings" panose="05000000000000000000" pitchFamily="2" charset="2"/>
              <a:buNone/>
            </a:pPr>
            <a:r>
              <a:rPr lang="hu-HU" altLang="hu-HU" sz="2100"/>
              <a:t>	}</a:t>
            </a:r>
          </a:p>
          <a:p>
            <a:pPr>
              <a:lnSpc>
                <a:spcPct val="90000"/>
              </a:lnSpc>
              <a:buFont typeface="Wingdings" panose="05000000000000000000" pitchFamily="2" charset="2"/>
              <a:buNone/>
            </a:pPr>
            <a:r>
              <a:rPr lang="hu-HU" altLang="hu-HU" sz="2100"/>
              <a:t>}</a:t>
            </a:r>
          </a:p>
        </p:txBody>
      </p:sp>
      <p:sp>
        <p:nvSpPr>
          <p:cNvPr id="4" name="Dátum helye 3"/>
          <p:cNvSpPr>
            <a:spLocks noGrp="1"/>
          </p:cNvSpPr>
          <p:nvPr>
            <p:ph type="dt" sz="half" idx="10"/>
          </p:nvPr>
        </p:nvSpPr>
        <p:spPr/>
        <p:txBody>
          <a:bodyPr/>
          <a:lstStyle/>
          <a:p>
            <a:fld id="{364A2D2F-4F17-4C5D-B7AE-81C96AE678EE}"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4F4BE3B5-63E6-4723-BA68-D223C40C1B42}" type="slidenum">
              <a:rPr lang="hu-HU" altLang="hu-HU"/>
              <a:pPr/>
              <a:t>48</a:t>
            </a:fld>
            <a:endParaRPr lang="hu-HU" altLang="hu-HU"/>
          </a:p>
        </p:txBody>
      </p:sp>
    </p:spTree>
    <p:extLst>
      <p:ext uri="{BB962C8B-B14F-4D97-AF65-F5344CB8AC3E}">
        <p14:creationId xmlns:p14="http://schemas.microsoft.com/office/powerpoint/2010/main" val="354353805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p:txBody>
          <a:bodyPr/>
          <a:lstStyle/>
          <a:p>
            <a:r>
              <a:rPr lang="hu-HU" altLang="hu-HU"/>
              <a:t>Az öröklődés</a:t>
            </a:r>
          </a:p>
        </p:txBody>
      </p:sp>
      <p:sp>
        <p:nvSpPr>
          <p:cNvPr id="179203" name="Rectangle 3"/>
          <p:cNvSpPr>
            <a:spLocks noGrp="1" noChangeArrowheads="1"/>
          </p:cNvSpPr>
          <p:nvPr>
            <p:ph idx="1"/>
          </p:nvPr>
        </p:nvSpPr>
        <p:spPr/>
        <p:txBody>
          <a:bodyPr>
            <a:normAutofit lnSpcReduction="10000"/>
          </a:bodyPr>
          <a:lstStyle/>
          <a:p>
            <a:r>
              <a:rPr lang="hu-HU" altLang="hu-HU" sz="2600"/>
              <a:t>A modellelemek (use case-ek, osztályok) között értelmezett sajátos viszony. </a:t>
            </a:r>
          </a:p>
          <a:p>
            <a:r>
              <a:rPr lang="hu-HU" altLang="hu-HU" sz="2600"/>
              <a:t>A modellelem sajátjaként kezeli a nála általánosabb szinten definiált modellelem jellemzőit (a modellelemek jellemzőihez beállított láthatóság alapján).</a:t>
            </a:r>
          </a:p>
          <a:p>
            <a:r>
              <a:rPr lang="hu-HU" altLang="hu-HU" sz="2600"/>
              <a:t>Az utód osztály (leszármazott) sajátjaként kezeli a nála általánosabb/magasabb szinten levő osztály (ős osztály) attribútumait és műveleteit.</a:t>
            </a:r>
          </a:p>
        </p:txBody>
      </p:sp>
      <p:sp>
        <p:nvSpPr>
          <p:cNvPr id="4" name="Dátum helye 3"/>
          <p:cNvSpPr>
            <a:spLocks noGrp="1"/>
          </p:cNvSpPr>
          <p:nvPr>
            <p:ph type="dt" sz="half" idx="10"/>
          </p:nvPr>
        </p:nvSpPr>
        <p:spPr/>
        <p:txBody>
          <a:bodyPr/>
          <a:lstStyle/>
          <a:p>
            <a:fld id="{82A53F77-5CFD-4DD2-B326-91CC982F1160}"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712EE21F-A517-4564-9451-B0862D28F5F4}" type="slidenum">
              <a:rPr lang="hu-HU" altLang="hu-HU"/>
              <a:pPr/>
              <a:t>49</a:t>
            </a:fld>
            <a:endParaRPr lang="hu-HU" altLang="hu-HU"/>
          </a:p>
        </p:txBody>
      </p:sp>
    </p:spTree>
    <p:extLst>
      <p:ext uri="{BB962C8B-B14F-4D97-AF65-F5344CB8AC3E}">
        <p14:creationId xmlns:p14="http://schemas.microsoft.com/office/powerpoint/2010/main" val="235368636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r>
              <a:rPr lang="hu-HU" altLang="hu-HU"/>
              <a:t>Öröklődési viszony UML-ben</a:t>
            </a:r>
          </a:p>
        </p:txBody>
      </p:sp>
      <p:sp>
        <p:nvSpPr>
          <p:cNvPr id="180227" name="Rectangle 3"/>
          <p:cNvSpPr>
            <a:spLocks noGrp="1" noChangeArrowheads="1"/>
          </p:cNvSpPr>
          <p:nvPr>
            <p:ph idx="1"/>
          </p:nvPr>
        </p:nvSpPr>
        <p:spPr/>
        <p:txBody>
          <a:bodyPr/>
          <a:lstStyle/>
          <a:p>
            <a:r>
              <a:rPr lang="hu-HU" altLang="hu-HU"/>
              <a:t>Az öröklődés jele egy üres háromszögben végződő nyíl, a háromszög csúcsa az ős osztálynál található.</a:t>
            </a:r>
          </a:p>
        </p:txBody>
      </p:sp>
      <p:sp>
        <p:nvSpPr>
          <p:cNvPr id="5" name="Dátum helye 3"/>
          <p:cNvSpPr>
            <a:spLocks noGrp="1"/>
          </p:cNvSpPr>
          <p:nvPr>
            <p:ph type="dt" sz="half" idx="10"/>
          </p:nvPr>
        </p:nvSpPr>
        <p:spPr/>
        <p:txBody>
          <a:bodyPr/>
          <a:lstStyle/>
          <a:p>
            <a:fld id="{8912C00C-751C-40BA-8F8D-CB4E77475BE9}" type="datetime1">
              <a:rPr lang="hu-HU" altLang="hu-HU"/>
              <a:pPr/>
              <a:t>2024. 11. 28.</a:t>
            </a:fld>
            <a:endParaRPr lang="hu-HU" altLang="hu-HU"/>
          </a:p>
        </p:txBody>
      </p:sp>
      <p:sp>
        <p:nvSpPr>
          <p:cNvPr id="6" name="Élőláb helye 4"/>
          <p:cNvSpPr>
            <a:spLocks noGrp="1"/>
          </p:cNvSpPr>
          <p:nvPr>
            <p:ph type="ftr" sz="quarter" idx="11"/>
          </p:nvPr>
        </p:nvSpPr>
        <p:spPr/>
        <p:txBody>
          <a:bodyPr/>
          <a:lstStyle/>
          <a:p>
            <a:r>
              <a:rPr lang="hu-HU" altLang="hu-HU"/>
              <a:t>Szoftvertechnológia II.</a:t>
            </a:r>
          </a:p>
        </p:txBody>
      </p:sp>
      <p:sp>
        <p:nvSpPr>
          <p:cNvPr id="7" name="Dia számának helye 5"/>
          <p:cNvSpPr>
            <a:spLocks noGrp="1"/>
          </p:cNvSpPr>
          <p:nvPr>
            <p:ph type="sldNum" sz="quarter" idx="12"/>
          </p:nvPr>
        </p:nvSpPr>
        <p:spPr/>
        <p:txBody>
          <a:bodyPr/>
          <a:lstStyle/>
          <a:p>
            <a:fld id="{2451277B-1D7D-410C-9110-5C2C77DD2C3F}" type="slidenum">
              <a:rPr lang="hu-HU" altLang="hu-HU"/>
              <a:pPr/>
              <a:t>50</a:t>
            </a:fld>
            <a:endParaRPr lang="hu-HU" altLang="hu-HU"/>
          </a:p>
        </p:txBody>
      </p:sp>
      <p:pic>
        <p:nvPicPr>
          <p:cNvPr id="180229" name="Picture 5"/>
          <p:cNvPicPr>
            <a:picLocks noChangeAspect="1" noChangeArrowheads="1"/>
          </p:cNvPicPr>
          <p:nvPr/>
        </p:nvPicPr>
        <p:blipFill>
          <a:blip r:embed="rId2">
            <a:extLst>
              <a:ext uri="{28A0092B-C50C-407E-A947-70E740481C1C}">
                <a14:useLocalDpi xmlns:a14="http://schemas.microsoft.com/office/drawing/2010/main" val="0"/>
              </a:ext>
            </a:extLst>
          </a:blip>
          <a:srcRect l="3928" t="12134" r="2115" b="3200"/>
          <a:stretch>
            <a:fillRect/>
          </a:stretch>
        </p:blipFill>
        <p:spPr bwMode="auto">
          <a:xfrm>
            <a:off x="3863975" y="3644900"/>
            <a:ext cx="4248150" cy="2478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896794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p:txBody>
          <a:bodyPr/>
          <a:lstStyle/>
          <a:p>
            <a:r>
              <a:rPr lang="hu-HU" altLang="hu-HU"/>
              <a:t>Öröklődési viszonyok</a:t>
            </a:r>
          </a:p>
        </p:txBody>
      </p:sp>
      <p:sp>
        <p:nvSpPr>
          <p:cNvPr id="181251" name="Rectangle 3"/>
          <p:cNvSpPr>
            <a:spLocks noGrp="1" noChangeArrowheads="1"/>
          </p:cNvSpPr>
          <p:nvPr>
            <p:ph idx="1"/>
          </p:nvPr>
        </p:nvSpPr>
        <p:spPr/>
        <p:txBody>
          <a:bodyPr/>
          <a:lstStyle/>
          <a:p>
            <a:r>
              <a:rPr lang="hu-HU" altLang="hu-HU"/>
              <a:t>Öröklődési viszony:</a:t>
            </a:r>
          </a:p>
          <a:p>
            <a:pPr lvl="1"/>
            <a:r>
              <a:rPr lang="hu-HU" altLang="hu-HU" b="1"/>
              <a:t>Általánosítás</a:t>
            </a:r>
            <a:r>
              <a:rPr lang="hu-HU" altLang="hu-HU"/>
              <a:t> (generalizáció – generalization)</a:t>
            </a:r>
          </a:p>
          <a:p>
            <a:pPr lvl="1"/>
            <a:r>
              <a:rPr lang="hu-HU" altLang="hu-HU" b="1"/>
              <a:t>Specializáció</a:t>
            </a:r>
            <a:r>
              <a:rPr lang="hu-HU" altLang="hu-HU"/>
              <a:t> (pontosítás – specialization)</a:t>
            </a:r>
            <a:endParaRPr lang="en-US" altLang="hu-HU"/>
          </a:p>
          <a:p>
            <a:endParaRPr lang="hu-HU" altLang="hu-HU"/>
          </a:p>
        </p:txBody>
      </p:sp>
      <p:sp>
        <p:nvSpPr>
          <p:cNvPr id="4" name="Dátum helye 3"/>
          <p:cNvSpPr>
            <a:spLocks noGrp="1"/>
          </p:cNvSpPr>
          <p:nvPr>
            <p:ph type="dt" sz="half" idx="10"/>
          </p:nvPr>
        </p:nvSpPr>
        <p:spPr/>
        <p:txBody>
          <a:bodyPr/>
          <a:lstStyle/>
          <a:p>
            <a:fld id="{18D366CC-F314-4668-8E3D-EAF17FE8169D}"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E46D53A8-1CE6-43CE-B24A-470FB71C424B}" type="slidenum">
              <a:rPr lang="hu-HU" altLang="hu-HU"/>
              <a:pPr/>
              <a:t>51</a:t>
            </a:fld>
            <a:endParaRPr lang="hu-HU" altLang="hu-HU"/>
          </a:p>
        </p:txBody>
      </p:sp>
    </p:spTree>
    <p:extLst>
      <p:ext uri="{BB962C8B-B14F-4D97-AF65-F5344CB8AC3E}">
        <p14:creationId xmlns:p14="http://schemas.microsoft.com/office/powerpoint/2010/main" val="166886475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p:txBody>
          <a:bodyPr/>
          <a:lstStyle/>
          <a:p>
            <a:r>
              <a:rPr lang="hu-HU" altLang="hu-HU"/>
              <a:t>Általánosítás</a:t>
            </a:r>
          </a:p>
        </p:txBody>
      </p:sp>
      <p:sp>
        <p:nvSpPr>
          <p:cNvPr id="182275" name="Rectangle 3"/>
          <p:cNvSpPr>
            <a:spLocks noGrp="1" noChangeArrowheads="1"/>
          </p:cNvSpPr>
          <p:nvPr>
            <p:ph idx="1"/>
          </p:nvPr>
        </p:nvSpPr>
        <p:spPr/>
        <p:txBody>
          <a:bodyPr/>
          <a:lstStyle/>
          <a:p>
            <a:pPr>
              <a:lnSpc>
                <a:spcPct val="90000"/>
              </a:lnSpc>
            </a:pPr>
            <a:r>
              <a:rPr lang="hu-HU" altLang="hu-HU" sz="2100"/>
              <a:t>A különböző objektumok sokszor tartalmaznak közös jellemzőket (adatok, műveletek). </a:t>
            </a:r>
          </a:p>
          <a:p>
            <a:pPr>
              <a:lnSpc>
                <a:spcPct val="90000"/>
              </a:lnSpc>
            </a:pPr>
            <a:r>
              <a:rPr lang="hu-HU" altLang="hu-HU" sz="2100"/>
              <a:t>Az általánosítás az a folyamat, amikor ezeket a közös jellemzőket kiemeljük egy ős osztályba (alulról-felfelé).</a:t>
            </a:r>
          </a:p>
          <a:p>
            <a:pPr>
              <a:lnSpc>
                <a:spcPct val="90000"/>
              </a:lnSpc>
            </a:pPr>
            <a:r>
              <a:rPr lang="hu-HU" altLang="hu-HU" sz="2100"/>
              <a:t>Eredményként létrejön:</a:t>
            </a:r>
          </a:p>
          <a:p>
            <a:pPr lvl="1">
              <a:lnSpc>
                <a:spcPct val="90000"/>
              </a:lnSpc>
            </a:pPr>
            <a:r>
              <a:rPr lang="hu-HU" altLang="hu-HU" sz="2000"/>
              <a:t>egy általános/közös sajátosságokat tartalmazó ős vagy szülő osztály, amelyhez tartozik </a:t>
            </a:r>
          </a:p>
          <a:p>
            <a:pPr lvl="1">
              <a:lnSpc>
                <a:spcPct val="90000"/>
              </a:lnSpc>
            </a:pPr>
            <a:r>
              <a:rPr lang="hu-HU" altLang="hu-HU" sz="2000"/>
              <a:t>egy vagy több speciális tulajdonságokkal rendelkező al vagy gyerek osztály.</a:t>
            </a:r>
          </a:p>
          <a:p>
            <a:pPr>
              <a:lnSpc>
                <a:spcPct val="90000"/>
              </a:lnSpc>
            </a:pPr>
            <a:r>
              <a:rPr lang="hu-HU" altLang="hu-HU" sz="2100"/>
              <a:t>Használatának célja a kód újrafelhasználási fokának emelése a rendszerben.</a:t>
            </a:r>
          </a:p>
        </p:txBody>
      </p:sp>
      <p:sp>
        <p:nvSpPr>
          <p:cNvPr id="4" name="Dátum helye 3"/>
          <p:cNvSpPr>
            <a:spLocks noGrp="1"/>
          </p:cNvSpPr>
          <p:nvPr>
            <p:ph type="dt" sz="half" idx="10"/>
          </p:nvPr>
        </p:nvSpPr>
        <p:spPr/>
        <p:txBody>
          <a:bodyPr/>
          <a:lstStyle/>
          <a:p>
            <a:fld id="{E4B89903-A181-4D67-9E5E-DEC7479A8A4B}"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C74307AB-C001-4F41-89CA-AA95BBC41C63}" type="slidenum">
              <a:rPr lang="hu-HU" altLang="hu-HU"/>
              <a:pPr/>
              <a:t>52</a:t>
            </a:fld>
            <a:endParaRPr lang="hu-HU" altLang="hu-HU"/>
          </a:p>
        </p:txBody>
      </p:sp>
    </p:spTree>
    <p:extLst>
      <p:ext uri="{BB962C8B-B14F-4D97-AF65-F5344CB8AC3E}">
        <p14:creationId xmlns:p14="http://schemas.microsoft.com/office/powerpoint/2010/main" val="357470776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p:txBody>
          <a:bodyPr/>
          <a:lstStyle/>
          <a:p>
            <a:r>
              <a:rPr lang="hu-HU" altLang="hu-HU"/>
              <a:t>Általánosítás (folyt.)</a:t>
            </a:r>
          </a:p>
        </p:txBody>
      </p:sp>
      <p:sp>
        <p:nvSpPr>
          <p:cNvPr id="183299" name="Rectangle 3"/>
          <p:cNvSpPr>
            <a:spLocks noGrp="1" noChangeArrowheads="1"/>
          </p:cNvSpPr>
          <p:nvPr>
            <p:ph idx="1"/>
          </p:nvPr>
        </p:nvSpPr>
        <p:spPr/>
        <p:txBody>
          <a:bodyPr/>
          <a:lstStyle/>
          <a:p>
            <a:r>
              <a:rPr lang="hu-HU" altLang="hu-HU"/>
              <a:t>Az ős osztály általában absztrakt osztály.</a:t>
            </a:r>
          </a:p>
          <a:p>
            <a:pPr lvl="1"/>
            <a:r>
              <a:rPr lang="hu-HU" altLang="hu-HU"/>
              <a:t>Osztály, aminek nincsenek példányai.</a:t>
            </a:r>
          </a:p>
          <a:p>
            <a:r>
              <a:rPr lang="hu-HU" altLang="hu-HU"/>
              <a:t>Az ős osztály szerepe:</a:t>
            </a:r>
          </a:p>
          <a:p>
            <a:pPr lvl="1"/>
            <a:r>
              <a:rPr lang="hu-HU" altLang="hu-HU"/>
              <a:t>csak a közös sajátosságok egy helyen történő tárolása, segítségével jelentősen egyszerűsödik a modellünk felépítése.</a:t>
            </a:r>
          </a:p>
        </p:txBody>
      </p:sp>
      <p:sp>
        <p:nvSpPr>
          <p:cNvPr id="4" name="Dátum helye 3"/>
          <p:cNvSpPr>
            <a:spLocks noGrp="1"/>
          </p:cNvSpPr>
          <p:nvPr>
            <p:ph type="dt" sz="half" idx="10"/>
          </p:nvPr>
        </p:nvSpPr>
        <p:spPr/>
        <p:txBody>
          <a:bodyPr/>
          <a:lstStyle/>
          <a:p>
            <a:fld id="{3844DC5D-7142-4768-959E-9B5490B4DAD5}"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FAB18E39-1200-4211-A409-0387A170F578}" type="slidenum">
              <a:rPr lang="hu-HU" altLang="hu-HU"/>
              <a:pPr/>
              <a:t>53</a:t>
            </a:fld>
            <a:endParaRPr lang="hu-HU" altLang="hu-HU"/>
          </a:p>
        </p:txBody>
      </p:sp>
    </p:spTree>
    <p:extLst>
      <p:ext uri="{BB962C8B-B14F-4D97-AF65-F5344CB8AC3E}">
        <p14:creationId xmlns:p14="http://schemas.microsoft.com/office/powerpoint/2010/main" val="330020974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r>
              <a:rPr lang="hu-HU" altLang="hu-HU"/>
              <a:t>Példa</a:t>
            </a:r>
          </a:p>
        </p:txBody>
      </p:sp>
      <p:pic>
        <p:nvPicPr>
          <p:cNvPr id="184326"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3209131" y="3444081"/>
            <a:ext cx="3533775" cy="1314450"/>
          </a:xfrm>
          <a:noFill/>
          <a:ln/>
          <a:extLst>
            <a:ext uri="{91240B29-F687-4F45-9708-019B960494DF}">
              <a14:hiddenLine xmlns:a14="http://schemas.microsoft.com/office/drawing/2010/main" w="25400" cap="flat" cmpd="sng">
                <a:solidFill>
                  <a:schemeClr val="tx1"/>
                </a:solidFill>
                <a:prstDash val="solid"/>
                <a:miter lim="800000"/>
                <a:headEnd type="none" w="med" len="med"/>
                <a:tailEnd type="none" w="med" len="med"/>
              </a14:hiddenLine>
            </a:ext>
          </a:extLst>
        </p:spPr>
      </p:pic>
      <p:sp>
        <p:nvSpPr>
          <p:cNvPr id="4" name="Dátum helye 3"/>
          <p:cNvSpPr>
            <a:spLocks noGrp="1"/>
          </p:cNvSpPr>
          <p:nvPr>
            <p:ph type="dt" sz="half" idx="10"/>
          </p:nvPr>
        </p:nvSpPr>
        <p:spPr/>
        <p:txBody>
          <a:bodyPr/>
          <a:lstStyle/>
          <a:p>
            <a:fld id="{4CA92700-7DF3-4E84-9219-92291B2E06EC}"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9557B727-9A4C-4DFC-9AA2-2030A6526164}" type="slidenum">
              <a:rPr lang="hu-HU" altLang="hu-HU"/>
              <a:pPr/>
              <a:t>54</a:t>
            </a:fld>
            <a:endParaRPr lang="hu-HU" altLang="hu-HU"/>
          </a:p>
        </p:txBody>
      </p:sp>
    </p:spTree>
    <p:extLst>
      <p:ext uri="{BB962C8B-B14F-4D97-AF65-F5344CB8AC3E}">
        <p14:creationId xmlns:p14="http://schemas.microsoft.com/office/powerpoint/2010/main" val="339343783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p:txBody>
          <a:bodyPr/>
          <a:lstStyle/>
          <a:p>
            <a:r>
              <a:rPr lang="hu-HU" altLang="hu-HU"/>
              <a:t>Példa (folyt.)</a:t>
            </a:r>
          </a:p>
        </p:txBody>
      </p:sp>
      <p:sp>
        <p:nvSpPr>
          <p:cNvPr id="4" name="Dátum helye 3"/>
          <p:cNvSpPr>
            <a:spLocks noGrp="1"/>
          </p:cNvSpPr>
          <p:nvPr>
            <p:ph type="dt" sz="half" idx="10"/>
          </p:nvPr>
        </p:nvSpPr>
        <p:spPr/>
        <p:txBody>
          <a:bodyPr/>
          <a:lstStyle/>
          <a:p>
            <a:fld id="{7B498677-75AA-4E37-BC72-701A8AD7E211}"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A85070E1-5BF5-480F-9DF8-8531C2A53CBB}" type="slidenum">
              <a:rPr lang="hu-HU" altLang="hu-HU"/>
              <a:pPr/>
              <a:t>55</a:t>
            </a:fld>
            <a:endParaRPr lang="hu-HU" altLang="hu-HU"/>
          </a:p>
        </p:txBody>
      </p:sp>
      <p:pic>
        <p:nvPicPr>
          <p:cNvPr id="185353" name="Picture 9"/>
          <p:cNvPicPr>
            <a:picLocks noChangeAspect="1" noChangeArrowheads="1"/>
          </p:cNvPicPr>
          <p:nvPr/>
        </p:nvPicPr>
        <p:blipFill>
          <a:blip r:embed="rId2">
            <a:extLst>
              <a:ext uri="{28A0092B-C50C-407E-A947-70E740481C1C}">
                <a14:useLocalDpi xmlns:a14="http://schemas.microsoft.com/office/drawing/2010/main" val="0"/>
              </a:ext>
            </a:extLst>
          </a:blip>
          <a:srcRect l="3894" t="11574" r="2605" b="2361"/>
          <a:stretch>
            <a:fillRect/>
          </a:stretch>
        </p:blipFill>
        <p:spPr bwMode="auto">
          <a:xfrm>
            <a:off x="3143250" y="2133601"/>
            <a:ext cx="5905500" cy="336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7054406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p:txBody>
          <a:bodyPr/>
          <a:lstStyle/>
          <a:p>
            <a:r>
              <a:rPr lang="hu-HU" altLang="hu-HU"/>
              <a:t>Specializáció</a:t>
            </a:r>
          </a:p>
        </p:txBody>
      </p:sp>
      <p:sp>
        <p:nvSpPr>
          <p:cNvPr id="186371" name="Rectangle 3"/>
          <p:cNvSpPr>
            <a:spLocks noGrp="1" noChangeArrowheads="1"/>
          </p:cNvSpPr>
          <p:nvPr>
            <p:ph idx="1"/>
          </p:nvPr>
        </p:nvSpPr>
        <p:spPr/>
        <p:txBody>
          <a:bodyPr/>
          <a:lstStyle/>
          <a:p>
            <a:r>
              <a:rPr lang="en-US" altLang="hu-HU"/>
              <a:t>M</a:t>
            </a:r>
            <a:r>
              <a:rPr lang="hu-HU" altLang="hu-HU"/>
              <a:t>eglevő osztályokból származtatott osztályokat képezünk finomítással (fentről-lefelé). </a:t>
            </a:r>
            <a:endParaRPr lang="en-US" altLang="hu-HU"/>
          </a:p>
          <a:p>
            <a:r>
              <a:rPr lang="hu-HU" altLang="hu-HU"/>
              <a:t>A finomítás célja </a:t>
            </a:r>
            <a:endParaRPr lang="en-US" altLang="hu-HU"/>
          </a:p>
          <a:p>
            <a:pPr lvl="1"/>
            <a:r>
              <a:rPr lang="hu-HU" altLang="hu-HU"/>
              <a:t>az osztályok specifikációjának pontosítása, az objektumok egyedi jellegének megerősítése az egyedi jellegre utaló jellemzők definiálásával.</a:t>
            </a:r>
          </a:p>
        </p:txBody>
      </p:sp>
      <p:sp>
        <p:nvSpPr>
          <p:cNvPr id="4" name="Dátum helye 3"/>
          <p:cNvSpPr>
            <a:spLocks noGrp="1"/>
          </p:cNvSpPr>
          <p:nvPr>
            <p:ph type="dt" sz="half" idx="10"/>
          </p:nvPr>
        </p:nvSpPr>
        <p:spPr/>
        <p:txBody>
          <a:bodyPr/>
          <a:lstStyle/>
          <a:p>
            <a:fld id="{799E49C4-3171-4A5A-87B3-9E8E834277E8}"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EA5B5F56-0272-4BD1-B078-85AD7D8C3D11}" type="slidenum">
              <a:rPr lang="hu-HU" altLang="hu-HU"/>
              <a:pPr/>
              <a:t>56</a:t>
            </a:fld>
            <a:endParaRPr lang="hu-HU" altLang="hu-HU"/>
          </a:p>
        </p:txBody>
      </p:sp>
    </p:spTree>
    <p:extLst>
      <p:ext uri="{BB962C8B-B14F-4D97-AF65-F5344CB8AC3E}">
        <p14:creationId xmlns:p14="http://schemas.microsoft.com/office/powerpoint/2010/main" val="239873320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p:txBody>
          <a:bodyPr/>
          <a:lstStyle/>
          <a:p>
            <a:r>
              <a:rPr lang="hu-HU" altLang="hu-HU"/>
              <a:t>Specializáció (folyt.)</a:t>
            </a:r>
          </a:p>
        </p:txBody>
      </p:sp>
      <p:sp>
        <p:nvSpPr>
          <p:cNvPr id="187395" name="Rectangle 3"/>
          <p:cNvSpPr>
            <a:spLocks noGrp="1" noChangeArrowheads="1"/>
          </p:cNvSpPr>
          <p:nvPr>
            <p:ph idx="1"/>
          </p:nvPr>
        </p:nvSpPr>
        <p:spPr/>
        <p:txBody>
          <a:bodyPr/>
          <a:lstStyle/>
          <a:p>
            <a:pPr>
              <a:lnSpc>
                <a:spcPct val="80000"/>
              </a:lnSpc>
            </a:pPr>
            <a:r>
              <a:rPr lang="hu-HU" altLang="hu-HU" sz="2600"/>
              <a:t>A származtatott osztályok keresése során feltételezzük, hogy az osztályok általánosak (gyűjtőfogalmat jelenítenek meg). </a:t>
            </a:r>
            <a:endParaRPr lang="en-US" altLang="hu-HU" sz="2600"/>
          </a:p>
          <a:p>
            <a:pPr>
              <a:lnSpc>
                <a:spcPct val="80000"/>
              </a:lnSpc>
            </a:pPr>
            <a:r>
              <a:rPr lang="hu-HU" altLang="hu-HU" sz="2600"/>
              <a:t>A specializáció során azt vizsgáljuk, hogy újabb attribútumok és műveletek hozzáadásával milyen, a feladat szempontjából értelmes osztályok határozhatók meg. </a:t>
            </a:r>
            <a:endParaRPr lang="en-US" altLang="hu-HU" sz="2600"/>
          </a:p>
          <a:p>
            <a:pPr>
              <a:lnSpc>
                <a:spcPct val="80000"/>
              </a:lnSpc>
            </a:pPr>
            <a:r>
              <a:rPr lang="hu-HU" altLang="hu-HU" sz="2600"/>
              <a:t>Az attribútumokat és az asszociációkat mindig a legáltalánosabb osztályhoz rendeljük. </a:t>
            </a:r>
            <a:endParaRPr lang="en-US" altLang="hu-HU" sz="2600"/>
          </a:p>
          <a:p>
            <a:pPr lvl="1">
              <a:lnSpc>
                <a:spcPct val="80000"/>
              </a:lnSpc>
            </a:pPr>
            <a:r>
              <a:rPr lang="en-US" altLang="hu-HU" sz="2200"/>
              <a:t>A</a:t>
            </a:r>
            <a:r>
              <a:rPr lang="hu-HU" altLang="hu-HU" sz="2200"/>
              <a:t> ős osztály nem feltétlenül absztrakt.</a:t>
            </a:r>
            <a:endParaRPr lang="hu-HU" altLang="hu-HU" sz="2200" b="1"/>
          </a:p>
        </p:txBody>
      </p:sp>
      <p:sp>
        <p:nvSpPr>
          <p:cNvPr id="4" name="Dátum helye 3"/>
          <p:cNvSpPr>
            <a:spLocks noGrp="1"/>
          </p:cNvSpPr>
          <p:nvPr>
            <p:ph type="dt" sz="half" idx="10"/>
          </p:nvPr>
        </p:nvSpPr>
        <p:spPr/>
        <p:txBody>
          <a:bodyPr/>
          <a:lstStyle/>
          <a:p>
            <a:fld id="{4E5404AF-EDC1-4553-88FB-639FB5119B7A}"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B8392466-EC34-48AB-B1E7-F8304D9F2F0E}" type="slidenum">
              <a:rPr lang="hu-HU" altLang="hu-HU"/>
              <a:pPr/>
              <a:t>57</a:t>
            </a:fld>
            <a:endParaRPr lang="hu-HU" altLang="hu-HU"/>
          </a:p>
        </p:txBody>
      </p:sp>
    </p:spTree>
    <p:extLst>
      <p:ext uri="{BB962C8B-B14F-4D97-AF65-F5344CB8AC3E}">
        <p14:creationId xmlns:p14="http://schemas.microsoft.com/office/powerpoint/2010/main" val="136108971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r>
              <a:rPr lang="hu-HU" altLang="hu-HU"/>
              <a:t>Példa</a:t>
            </a:r>
          </a:p>
        </p:txBody>
      </p:sp>
      <p:pic>
        <p:nvPicPr>
          <p:cNvPr id="188420"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3004344" y="3005931"/>
            <a:ext cx="3943350" cy="2190750"/>
          </a:xfrm>
          <a:noFill/>
          <a:ln/>
        </p:spPr>
      </p:pic>
      <p:sp>
        <p:nvSpPr>
          <p:cNvPr id="4" name="Dátum helye 3"/>
          <p:cNvSpPr>
            <a:spLocks noGrp="1"/>
          </p:cNvSpPr>
          <p:nvPr>
            <p:ph type="dt" sz="half" idx="10"/>
          </p:nvPr>
        </p:nvSpPr>
        <p:spPr/>
        <p:txBody>
          <a:bodyPr/>
          <a:lstStyle/>
          <a:p>
            <a:fld id="{2799C3EC-070D-4205-8FA9-4C2191138A96}"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188C4491-D8EC-4BBD-AD84-10C9D2625999}" type="slidenum">
              <a:rPr lang="hu-HU" altLang="hu-HU"/>
              <a:pPr/>
              <a:t>58</a:t>
            </a:fld>
            <a:endParaRPr lang="hu-HU" altLang="hu-HU"/>
          </a:p>
        </p:txBody>
      </p:sp>
    </p:spTree>
    <p:extLst>
      <p:ext uri="{BB962C8B-B14F-4D97-AF65-F5344CB8AC3E}">
        <p14:creationId xmlns:p14="http://schemas.microsoft.com/office/powerpoint/2010/main" val="137419513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p:txBody>
          <a:bodyPr/>
          <a:lstStyle/>
          <a:p>
            <a:r>
              <a:rPr lang="hu-HU" altLang="hu-HU"/>
              <a:t>Öröklődési hierarchia</a:t>
            </a:r>
          </a:p>
        </p:txBody>
      </p:sp>
      <p:sp>
        <p:nvSpPr>
          <p:cNvPr id="189443" name="Rectangle 3"/>
          <p:cNvSpPr>
            <a:spLocks noGrp="1" noChangeArrowheads="1"/>
          </p:cNvSpPr>
          <p:nvPr>
            <p:ph idx="1"/>
          </p:nvPr>
        </p:nvSpPr>
        <p:spPr/>
        <p:txBody>
          <a:bodyPr>
            <a:normAutofit/>
          </a:bodyPr>
          <a:lstStyle/>
          <a:p>
            <a:r>
              <a:rPr lang="hu-HU" altLang="hu-HU" sz="2600" b="1"/>
              <a:t>Öröklődési lánc</a:t>
            </a:r>
            <a:r>
              <a:rPr lang="hu-HU" altLang="hu-HU" sz="2600"/>
              <a:t>.</a:t>
            </a:r>
          </a:p>
          <a:p>
            <a:r>
              <a:rPr lang="hu-HU" altLang="hu-HU" sz="2600"/>
              <a:t>A hierarchiában azokat az osztályokat, amik nem örökölnek másoktól sajátosságokat – vagyis nincsenek szüleik (gyökér osztály) </a:t>
            </a:r>
          </a:p>
          <a:p>
            <a:pPr lvl="1"/>
            <a:r>
              <a:rPr lang="hu-HU" altLang="hu-HU" sz="2200"/>
              <a:t>a {root} megszorítással jelöljük.</a:t>
            </a:r>
          </a:p>
          <a:p>
            <a:r>
              <a:rPr lang="hu-HU" altLang="hu-HU" sz="2600"/>
              <a:t>Az öröklődési lánc legalsó szintjén, amik nem örökítenek tovább jellemzőket (levél osztályok)</a:t>
            </a:r>
          </a:p>
          <a:p>
            <a:pPr lvl="1"/>
            <a:r>
              <a:rPr lang="hu-HU" altLang="hu-HU" sz="2200"/>
              <a:t>a {leaf} megszorítással jelöljük.</a:t>
            </a:r>
          </a:p>
        </p:txBody>
      </p:sp>
      <p:sp>
        <p:nvSpPr>
          <p:cNvPr id="4" name="Dátum helye 3"/>
          <p:cNvSpPr>
            <a:spLocks noGrp="1"/>
          </p:cNvSpPr>
          <p:nvPr>
            <p:ph type="dt" sz="half" idx="10"/>
          </p:nvPr>
        </p:nvSpPr>
        <p:spPr/>
        <p:txBody>
          <a:bodyPr/>
          <a:lstStyle/>
          <a:p>
            <a:fld id="{BC005B90-813E-41A6-AC09-931EE50677CE}"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9E0F1943-4972-4B3E-BB8B-D130C4ADC42F}" type="slidenum">
              <a:rPr lang="hu-HU" altLang="hu-HU"/>
              <a:pPr/>
              <a:t>59</a:t>
            </a:fld>
            <a:endParaRPr lang="hu-HU" altLang="hu-HU"/>
          </a:p>
        </p:txBody>
      </p:sp>
    </p:spTree>
    <p:extLst>
      <p:ext uri="{BB962C8B-B14F-4D97-AF65-F5344CB8AC3E}">
        <p14:creationId xmlns:p14="http://schemas.microsoft.com/office/powerpoint/2010/main" val="281066035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r>
              <a:rPr lang="hu-HU" altLang="hu-HU"/>
              <a:t>Öröklődési hierarchia (folyt.)</a:t>
            </a:r>
          </a:p>
        </p:txBody>
      </p:sp>
      <p:pic>
        <p:nvPicPr>
          <p:cNvPr id="190468"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977" t="8482" r="3265" b="1682"/>
          <a:stretch>
            <a:fillRect/>
          </a:stretch>
        </p:blipFill>
        <p:spPr>
          <a:xfrm>
            <a:off x="4092575" y="1700214"/>
            <a:ext cx="4008438" cy="4249737"/>
          </a:xfrm>
          <a:noFill/>
          <a:ln/>
        </p:spPr>
      </p:pic>
      <p:sp>
        <p:nvSpPr>
          <p:cNvPr id="4" name="Dátum helye 3"/>
          <p:cNvSpPr>
            <a:spLocks noGrp="1"/>
          </p:cNvSpPr>
          <p:nvPr>
            <p:ph type="dt" sz="half" idx="10"/>
          </p:nvPr>
        </p:nvSpPr>
        <p:spPr/>
        <p:txBody>
          <a:bodyPr/>
          <a:lstStyle/>
          <a:p>
            <a:fld id="{F585D5D6-C38C-4EFC-8E2D-94B4E4157CE6}"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38C2C587-9345-4485-A3B3-A0EA976B076E}" type="slidenum">
              <a:rPr lang="hu-HU" altLang="hu-HU"/>
              <a:pPr/>
              <a:t>60</a:t>
            </a:fld>
            <a:endParaRPr lang="hu-HU" altLang="hu-HU"/>
          </a:p>
        </p:txBody>
      </p:sp>
    </p:spTree>
    <p:extLst>
      <p:ext uri="{BB962C8B-B14F-4D97-AF65-F5344CB8AC3E}">
        <p14:creationId xmlns:p14="http://schemas.microsoft.com/office/powerpoint/2010/main" val="155901124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r>
              <a:rPr lang="hu-HU" altLang="hu-HU"/>
              <a:t>Öröklési viszony</a:t>
            </a:r>
          </a:p>
        </p:txBody>
      </p:sp>
      <p:sp>
        <p:nvSpPr>
          <p:cNvPr id="191491" name="Rectangle 3"/>
          <p:cNvSpPr>
            <a:spLocks noGrp="1" noChangeArrowheads="1"/>
          </p:cNvSpPr>
          <p:nvPr>
            <p:ph idx="1"/>
          </p:nvPr>
        </p:nvSpPr>
        <p:spPr/>
        <p:txBody>
          <a:bodyPr/>
          <a:lstStyle/>
          <a:p>
            <a:r>
              <a:rPr lang="hu-HU" altLang="hu-HU"/>
              <a:t>Egyszeres: egy osztálynak csak egy őse lehet.</a:t>
            </a:r>
          </a:p>
          <a:p>
            <a:r>
              <a:rPr lang="hu-HU" altLang="hu-HU"/>
              <a:t>Többszörös: a kapcsolatban egy osztálynak több szülője is lehet.</a:t>
            </a:r>
          </a:p>
          <a:p>
            <a:r>
              <a:rPr lang="hu-HU" altLang="hu-HU"/>
              <a:t>Többszintű: egy osztálynak legalább egy őse és több leszármazottja van. Ez az osztály az öröklődési lánc köztes szintjén helyezkedik el.</a:t>
            </a:r>
          </a:p>
        </p:txBody>
      </p:sp>
      <p:sp>
        <p:nvSpPr>
          <p:cNvPr id="4" name="Dátum helye 3"/>
          <p:cNvSpPr>
            <a:spLocks noGrp="1"/>
          </p:cNvSpPr>
          <p:nvPr>
            <p:ph type="dt" sz="half" idx="10"/>
          </p:nvPr>
        </p:nvSpPr>
        <p:spPr/>
        <p:txBody>
          <a:bodyPr/>
          <a:lstStyle/>
          <a:p>
            <a:fld id="{310994EA-9630-4C38-8654-8E586580E904}"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89F62E75-0943-43C1-90C9-AF683147992F}" type="slidenum">
              <a:rPr lang="hu-HU" altLang="hu-HU"/>
              <a:pPr/>
              <a:t>61</a:t>
            </a:fld>
            <a:endParaRPr lang="hu-HU" altLang="hu-HU"/>
          </a:p>
        </p:txBody>
      </p:sp>
    </p:spTree>
    <p:extLst>
      <p:ext uri="{BB962C8B-B14F-4D97-AF65-F5344CB8AC3E}">
        <p14:creationId xmlns:p14="http://schemas.microsoft.com/office/powerpoint/2010/main" val="260500446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r>
              <a:rPr lang="hu-HU" altLang="hu-HU" sz="3400"/>
              <a:t>Speciális fogalmak, asszociációs viszonyok</a:t>
            </a:r>
          </a:p>
        </p:txBody>
      </p:sp>
      <p:sp>
        <p:nvSpPr>
          <p:cNvPr id="192515" name="Rectangle 3"/>
          <p:cNvSpPr>
            <a:spLocks noGrp="1" noChangeArrowheads="1"/>
          </p:cNvSpPr>
          <p:nvPr>
            <p:ph idx="1"/>
          </p:nvPr>
        </p:nvSpPr>
        <p:spPr/>
        <p:txBody>
          <a:bodyPr/>
          <a:lstStyle/>
          <a:p>
            <a:r>
              <a:rPr lang="hu-HU" altLang="hu-HU"/>
              <a:t>Aggregáció – kompozíció</a:t>
            </a:r>
          </a:p>
          <a:p>
            <a:r>
              <a:rPr lang="hu-HU" altLang="hu-HU"/>
              <a:t>Minősített asszociáció</a:t>
            </a:r>
          </a:p>
        </p:txBody>
      </p:sp>
      <p:sp>
        <p:nvSpPr>
          <p:cNvPr id="4" name="Dátum helye 3"/>
          <p:cNvSpPr>
            <a:spLocks noGrp="1"/>
          </p:cNvSpPr>
          <p:nvPr>
            <p:ph type="dt" sz="half" idx="10"/>
          </p:nvPr>
        </p:nvSpPr>
        <p:spPr/>
        <p:txBody>
          <a:bodyPr/>
          <a:lstStyle/>
          <a:p>
            <a:fld id="{9F252592-C3B8-4848-A3D1-CEE75BDABAB9}"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C4494AD4-F0BF-4112-B9DB-3EE5A0ACA21D}" type="slidenum">
              <a:rPr lang="hu-HU" altLang="hu-HU"/>
              <a:pPr/>
              <a:t>62</a:t>
            </a:fld>
            <a:endParaRPr lang="hu-HU" altLang="hu-HU"/>
          </a:p>
        </p:txBody>
      </p:sp>
    </p:spTree>
    <p:extLst>
      <p:ext uri="{BB962C8B-B14F-4D97-AF65-F5344CB8AC3E}">
        <p14:creationId xmlns:p14="http://schemas.microsoft.com/office/powerpoint/2010/main" val="270608273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p:txBody>
          <a:bodyPr/>
          <a:lstStyle/>
          <a:p>
            <a:r>
              <a:rPr lang="hu-HU" altLang="hu-HU"/>
              <a:t>Aggregáció</a:t>
            </a:r>
          </a:p>
        </p:txBody>
      </p:sp>
      <p:sp>
        <p:nvSpPr>
          <p:cNvPr id="193539" name="Rectangle 3"/>
          <p:cNvSpPr>
            <a:spLocks noGrp="1" noChangeArrowheads="1"/>
          </p:cNvSpPr>
          <p:nvPr>
            <p:ph idx="1"/>
          </p:nvPr>
        </p:nvSpPr>
        <p:spPr/>
        <p:txBody>
          <a:bodyPr>
            <a:normAutofit lnSpcReduction="10000"/>
          </a:bodyPr>
          <a:lstStyle/>
          <a:p>
            <a:r>
              <a:rPr lang="hu-HU" altLang="hu-HU" sz="2600"/>
              <a:t>Egy objektum több másik objektumból épül fel, vagyis egy objektum egy vagy több másik objektumot tartalmaz. </a:t>
            </a:r>
          </a:p>
          <a:p>
            <a:r>
              <a:rPr lang="hu-HU" altLang="hu-HU" sz="2600"/>
              <a:t>Az UML lehetőséget ad összetett objektumok definiálására és kezelésére, aminek eredményeként az osztályok között ún. rész-egész viszony jön létre. </a:t>
            </a:r>
          </a:p>
          <a:p>
            <a:r>
              <a:rPr lang="hu-HU" altLang="hu-HU" sz="2600"/>
              <a:t>A rész-egész viszony formái:</a:t>
            </a:r>
          </a:p>
          <a:p>
            <a:pPr lvl="1"/>
            <a:r>
              <a:rPr lang="hu-HU" altLang="hu-HU" sz="2200"/>
              <a:t>aggregáció</a:t>
            </a:r>
          </a:p>
          <a:p>
            <a:pPr lvl="1"/>
            <a:r>
              <a:rPr lang="hu-HU" altLang="hu-HU" sz="2200"/>
              <a:t>kompozíció</a:t>
            </a:r>
          </a:p>
        </p:txBody>
      </p:sp>
      <p:sp>
        <p:nvSpPr>
          <p:cNvPr id="4" name="Dátum helye 3"/>
          <p:cNvSpPr>
            <a:spLocks noGrp="1"/>
          </p:cNvSpPr>
          <p:nvPr>
            <p:ph type="dt" sz="half" idx="10"/>
          </p:nvPr>
        </p:nvSpPr>
        <p:spPr/>
        <p:txBody>
          <a:bodyPr/>
          <a:lstStyle/>
          <a:p>
            <a:fld id="{B9769955-A7CE-46D8-B09D-27DE683A0F01}"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2E2897C3-5450-4782-8F7F-E9319F308652}" type="slidenum">
              <a:rPr lang="hu-HU" altLang="hu-HU"/>
              <a:pPr/>
              <a:t>63</a:t>
            </a:fld>
            <a:endParaRPr lang="hu-HU" altLang="hu-HU"/>
          </a:p>
        </p:txBody>
      </p:sp>
    </p:spTree>
    <p:extLst>
      <p:ext uri="{BB962C8B-B14F-4D97-AF65-F5344CB8AC3E}">
        <p14:creationId xmlns:p14="http://schemas.microsoft.com/office/powerpoint/2010/main" val="69498731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r>
              <a:rPr lang="hu-HU" altLang="hu-HU"/>
              <a:t>Aggregáció (folyt.)</a:t>
            </a:r>
          </a:p>
        </p:txBody>
      </p:sp>
      <p:sp>
        <p:nvSpPr>
          <p:cNvPr id="194563" name="Rectangle 3"/>
          <p:cNvSpPr>
            <a:spLocks noGrp="1" noChangeArrowheads="1"/>
          </p:cNvSpPr>
          <p:nvPr>
            <p:ph idx="1"/>
          </p:nvPr>
        </p:nvSpPr>
        <p:spPr/>
        <p:txBody>
          <a:bodyPr/>
          <a:lstStyle/>
          <a:p>
            <a:r>
              <a:rPr lang="hu-HU" altLang="hu-HU"/>
              <a:t>Más UML szimbólum az aggregáció és a kompozíció jelölésére. </a:t>
            </a:r>
          </a:p>
          <a:p>
            <a:r>
              <a:rPr lang="hu-HU" altLang="hu-HU"/>
              <a:t>Az aggregációt egy rombusz, a kompozíciót egy sötétített rombusz szimbolizálja, </a:t>
            </a:r>
          </a:p>
          <a:p>
            <a:r>
              <a:rPr lang="hu-HU" altLang="hu-HU"/>
              <a:t>a rombuszok a tartalmazó osztály felöli oldalon helyezkednek el.</a:t>
            </a:r>
          </a:p>
        </p:txBody>
      </p:sp>
      <p:sp>
        <p:nvSpPr>
          <p:cNvPr id="4" name="Dátum helye 3"/>
          <p:cNvSpPr>
            <a:spLocks noGrp="1"/>
          </p:cNvSpPr>
          <p:nvPr>
            <p:ph type="dt" sz="half" idx="10"/>
          </p:nvPr>
        </p:nvSpPr>
        <p:spPr/>
        <p:txBody>
          <a:bodyPr/>
          <a:lstStyle/>
          <a:p>
            <a:fld id="{F6988B3E-AA34-4B32-88C9-B67A0BF5B402}"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0C07E3C7-3ABD-4F28-84D6-B179AB126A95}" type="slidenum">
              <a:rPr lang="hu-HU" altLang="hu-HU"/>
              <a:pPr/>
              <a:t>64</a:t>
            </a:fld>
            <a:endParaRPr lang="hu-HU" altLang="hu-HU"/>
          </a:p>
        </p:txBody>
      </p:sp>
    </p:spTree>
    <p:extLst>
      <p:ext uri="{BB962C8B-B14F-4D97-AF65-F5344CB8AC3E}">
        <p14:creationId xmlns:p14="http://schemas.microsoft.com/office/powerpoint/2010/main" val="98764486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p:txBody>
          <a:bodyPr/>
          <a:lstStyle/>
          <a:p>
            <a:r>
              <a:rPr lang="hu-HU" altLang="hu-HU"/>
              <a:t>Aggregáció (folyt.)</a:t>
            </a:r>
          </a:p>
        </p:txBody>
      </p:sp>
      <p:sp>
        <p:nvSpPr>
          <p:cNvPr id="195587" name="Rectangle 3"/>
          <p:cNvSpPr>
            <a:spLocks noGrp="1" noChangeArrowheads="1"/>
          </p:cNvSpPr>
          <p:nvPr>
            <p:ph idx="1"/>
          </p:nvPr>
        </p:nvSpPr>
        <p:spPr/>
        <p:txBody>
          <a:bodyPr/>
          <a:lstStyle/>
          <a:p>
            <a:r>
              <a:rPr lang="hu-HU" altLang="hu-HU" sz="2600"/>
              <a:t>A rész-egész viszony gyengébb formája. </a:t>
            </a:r>
          </a:p>
          <a:p>
            <a:r>
              <a:rPr lang="hu-HU" altLang="hu-HU" sz="2600"/>
              <a:t>A tároló objektum (az egész osztály) és az azt felépítő részobjektumok (részelemek) elkülönülnek. </a:t>
            </a:r>
          </a:p>
          <a:p>
            <a:r>
              <a:rPr lang="hu-HU" altLang="hu-HU" sz="2600"/>
              <a:t>A részoldal nem értelmes az egész nélkül. </a:t>
            </a:r>
          </a:p>
          <a:p>
            <a:pPr lvl="1"/>
            <a:r>
              <a:rPr lang="hu-HU" altLang="hu-HU" sz="2200"/>
              <a:t>Abban az esetben, amikor az osztály a másik oldal nélkül is értelmes, akkor a két modellelem között egyszerű asszociációs viszony van.</a:t>
            </a:r>
          </a:p>
        </p:txBody>
      </p:sp>
      <p:sp>
        <p:nvSpPr>
          <p:cNvPr id="4" name="Dátum helye 3"/>
          <p:cNvSpPr>
            <a:spLocks noGrp="1"/>
          </p:cNvSpPr>
          <p:nvPr>
            <p:ph type="dt" sz="half" idx="10"/>
          </p:nvPr>
        </p:nvSpPr>
        <p:spPr/>
        <p:txBody>
          <a:bodyPr/>
          <a:lstStyle/>
          <a:p>
            <a:fld id="{D408C1BB-ED5A-4CFE-BFAF-0D2A0B22C42C}"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4C56B77E-3C5A-4DAA-8D48-3931174609B6}" type="slidenum">
              <a:rPr lang="hu-HU" altLang="hu-HU"/>
              <a:pPr/>
              <a:t>65</a:t>
            </a:fld>
            <a:endParaRPr lang="hu-HU" altLang="hu-HU"/>
          </a:p>
        </p:txBody>
      </p:sp>
    </p:spTree>
    <p:extLst>
      <p:ext uri="{BB962C8B-B14F-4D97-AF65-F5344CB8AC3E}">
        <p14:creationId xmlns:p14="http://schemas.microsoft.com/office/powerpoint/2010/main" val="277625828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r>
              <a:rPr lang="hu-HU" altLang="hu-HU"/>
              <a:t>Aggregáció (folyt.)</a:t>
            </a:r>
          </a:p>
        </p:txBody>
      </p:sp>
      <p:pic>
        <p:nvPicPr>
          <p:cNvPr id="196614"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3332956" y="3315494"/>
            <a:ext cx="3286125" cy="1571625"/>
          </a:xfrm>
          <a:noFill/>
          <a:ln/>
          <a:extLst>
            <a:ext uri="{91240B29-F687-4F45-9708-019B960494DF}">
              <a14:hiddenLine xmlns:a14="http://schemas.microsoft.com/office/drawing/2010/main" w="25400" cap="flat" cmpd="sng">
                <a:solidFill>
                  <a:schemeClr val="tx1"/>
                </a:solidFill>
                <a:prstDash val="solid"/>
                <a:miter lim="800000"/>
                <a:headEnd type="none" w="med" len="med"/>
                <a:tailEnd type="none" w="med" len="med"/>
              </a14:hiddenLine>
            </a:ext>
          </a:extLst>
        </p:spPr>
      </p:pic>
      <p:sp>
        <p:nvSpPr>
          <p:cNvPr id="4" name="Dátum helye 3"/>
          <p:cNvSpPr>
            <a:spLocks noGrp="1"/>
          </p:cNvSpPr>
          <p:nvPr>
            <p:ph type="dt" sz="half" idx="10"/>
          </p:nvPr>
        </p:nvSpPr>
        <p:spPr/>
        <p:txBody>
          <a:bodyPr/>
          <a:lstStyle/>
          <a:p>
            <a:fld id="{9B9330A2-7DEC-456E-9A06-D473035D4196}"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AE9FA415-2C10-4096-B66C-9C814F79BA42}" type="slidenum">
              <a:rPr lang="hu-HU" altLang="hu-HU"/>
              <a:pPr/>
              <a:t>66</a:t>
            </a:fld>
            <a:endParaRPr lang="hu-HU" altLang="hu-HU"/>
          </a:p>
        </p:txBody>
      </p:sp>
    </p:spTree>
    <p:extLst>
      <p:ext uri="{BB962C8B-B14F-4D97-AF65-F5344CB8AC3E}">
        <p14:creationId xmlns:p14="http://schemas.microsoft.com/office/powerpoint/2010/main" val="270508032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lstStyle/>
          <a:p>
            <a:r>
              <a:rPr lang="hu-HU" altLang="hu-HU"/>
              <a:t>Kompozíció</a:t>
            </a:r>
          </a:p>
        </p:txBody>
      </p:sp>
      <p:sp>
        <p:nvSpPr>
          <p:cNvPr id="197635" name="Rectangle 3"/>
          <p:cNvSpPr>
            <a:spLocks noGrp="1" noChangeArrowheads="1"/>
          </p:cNvSpPr>
          <p:nvPr>
            <p:ph idx="1"/>
          </p:nvPr>
        </p:nvSpPr>
        <p:spPr/>
        <p:txBody>
          <a:bodyPr/>
          <a:lstStyle/>
          <a:p>
            <a:r>
              <a:rPr lang="hu-HU" altLang="hu-HU"/>
              <a:t>A rész-egész viszony erősebb változata. </a:t>
            </a:r>
          </a:p>
          <a:p>
            <a:r>
              <a:rPr lang="hu-HU" altLang="hu-HU"/>
              <a:t>A tároló objektum a részobjektumokat is fizikailag tartalmazza </a:t>
            </a:r>
          </a:p>
          <a:p>
            <a:pPr lvl="1"/>
            <a:r>
              <a:rPr lang="hu-HU" altLang="hu-HU"/>
              <a:t>együtt keletkeznek és szűnnek meg, vagyis az egész megszűntével a rész is megszűnik. </a:t>
            </a:r>
          </a:p>
          <a:p>
            <a:pPr lvl="1"/>
            <a:r>
              <a:rPr lang="hu-HU" altLang="hu-HU"/>
              <a:t>Az egész oldal számossága csak 1 lehet.</a:t>
            </a:r>
          </a:p>
        </p:txBody>
      </p:sp>
      <p:sp>
        <p:nvSpPr>
          <p:cNvPr id="4" name="Dátum helye 3"/>
          <p:cNvSpPr>
            <a:spLocks noGrp="1"/>
          </p:cNvSpPr>
          <p:nvPr>
            <p:ph type="dt" sz="half" idx="10"/>
          </p:nvPr>
        </p:nvSpPr>
        <p:spPr/>
        <p:txBody>
          <a:bodyPr/>
          <a:lstStyle/>
          <a:p>
            <a:fld id="{FD8EBB19-934C-4AA6-910B-1B6822C65A1B}"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2DD16B8D-02B4-4A0D-A144-F3B070587456}" type="slidenum">
              <a:rPr lang="hu-HU" altLang="hu-HU"/>
              <a:pPr/>
              <a:t>67</a:t>
            </a:fld>
            <a:endParaRPr lang="hu-HU" altLang="hu-HU"/>
          </a:p>
        </p:txBody>
      </p:sp>
    </p:spTree>
    <p:extLst>
      <p:ext uri="{BB962C8B-B14F-4D97-AF65-F5344CB8AC3E}">
        <p14:creationId xmlns:p14="http://schemas.microsoft.com/office/powerpoint/2010/main" val="417727470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r>
              <a:rPr lang="hu-HU" altLang="hu-HU"/>
              <a:t>Kompozíció (folyt.)</a:t>
            </a:r>
          </a:p>
        </p:txBody>
      </p:sp>
      <p:pic>
        <p:nvPicPr>
          <p:cNvPr id="198660"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4410" t="10713" r="2919" b="3387"/>
          <a:stretch>
            <a:fillRect/>
          </a:stretch>
        </p:blipFill>
        <p:spPr>
          <a:xfrm>
            <a:off x="3503614" y="2419351"/>
            <a:ext cx="5184775" cy="3127375"/>
          </a:xfrm>
          <a:noFill/>
          <a:ln/>
          <a:extLst>
            <a:ext uri="{91240B29-F687-4F45-9708-019B960494DF}">
              <a14:hiddenLine xmlns:a14="http://schemas.microsoft.com/office/drawing/2010/main" w="25400" cap="flat" cmpd="sng">
                <a:solidFill>
                  <a:schemeClr val="tx1"/>
                </a:solidFill>
                <a:prstDash val="solid"/>
                <a:miter lim="800000"/>
                <a:headEnd type="none" w="med" len="med"/>
                <a:tailEnd type="none" w="med" len="med"/>
              </a14:hiddenLine>
            </a:ext>
          </a:extLst>
        </p:spPr>
      </p:pic>
      <p:sp>
        <p:nvSpPr>
          <p:cNvPr id="4" name="Dátum helye 3"/>
          <p:cNvSpPr>
            <a:spLocks noGrp="1"/>
          </p:cNvSpPr>
          <p:nvPr>
            <p:ph type="dt" sz="half" idx="10"/>
          </p:nvPr>
        </p:nvSpPr>
        <p:spPr/>
        <p:txBody>
          <a:bodyPr/>
          <a:lstStyle/>
          <a:p>
            <a:fld id="{9B37E1CC-C354-4671-B89A-DF9AEBD687CA}"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69C13650-46DE-4CF1-A8C6-4A9344EC7995}" type="slidenum">
              <a:rPr lang="hu-HU" altLang="hu-HU"/>
              <a:pPr/>
              <a:t>68</a:t>
            </a:fld>
            <a:endParaRPr lang="hu-HU" altLang="hu-HU"/>
          </a:p>
        </p:txBody>
      </p:sp>
    </p:spTree>
    <p:extLst>
      <p:ext uri="{BB962C8B-B14F-4D97-AF65-F5344CB8AC3E}">
        <p14:creationId xmlns:p14="http://schemas.microsoft.com/office/powerpoint/2010/main" val="330076035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r>
              <a:rPr lang="hu-HU" altLang="hu-HU"/>
              <a:t>Minősített asszociáció</a:t>
            </a:r>
          </a:p>
        </p:txBody>
      </p:sp>
      <p:sp>
        <p:nvSpPr>
          <p:cNvPr id="199683" name="Rectangle 3"/>
          <p:cNvSpPr>
            <a:spLocks noGrp="1" noChangeArrowheads="1"/>
          </p:cNvSpPr>
          <p:nvPr>
            <p:ph idx="1"/>
          </p:nvPr>
        </p:nvSpPr>
        <p:spPr/>
        <p:txBody>
          <a:bodyPr>
            <a:normAutofit fontScale="92500"/>
          </a:bodyPr>
          <a:lstStyle/>
          <a:p>
            <a:r>
              <a:rPr lang="hu-HU" altLang="hu-HU" sz="2600"/>
              <a:t>Két osztály között asszociációs viszony áll fenn és az egyik osztály egy tulajdonságot, attribútumot (</a:t>
            </a:r>
            <a:r>
              <a:rPr lang="hu-HU" altLang="hu-HU" sz="2600" b="1"/>
              <a:t>minősítő</a:t>
            </a:r>
            <a:r>
              <a:rPr lang="hu-HU" altLang="hu-HU" sz="2600"/>
              <a:t>) használ fel kulcs gyanánt az asszociáció másik oldalán levő objektumok elérésére, azonosítására. </a:t>
            </a:r>
          </a:p>
          <a:p>
            <a:r>
              <a:rPr lang="hu-HU" altLang="hu-HU" sz="2600"/>
              <a:t>Azt az osztályt, amelyik a másik osztály objektumait akarja a minősítő attribútum felhasználásával elérni, célosztálynak, </a:t>
            </a:r>
          </a:p>
          <a:p>
            <a:r>
              <a:rPr lang="hu-HU" altLang="hu-HU" sz="2600"/>
              <a:t>a kapcsolatban részt vevő másik osztályelemet forrásosztálynak nevezzük.</a:t>
            </a:r>
          </a:p>
        </p:txBody>
      </p:sp>
      <p:sp>
        <p:nvSpPr>
          <p:cNvPr id="4" name="Dátum helye 3"/>
          <p:cNvSpPr>
            <a:spLocks noGrp="1"/>
          </p:cNvSpPr>
          <p:nvPr>
            <p:ph type="dt" sz="half" idx="10"/>
          </p:nvPr>
        </p:nvSpPr>
        <p:spPr/>
        <p:txBody>
          <a:bodyPr/>
          <a:lstStyle/>
          <a:p>
            <a:fld id="{26003A3D-1898-4253-8189-B2BDA6D5FD93}"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C40046F1-8D7B-4E20-9885-023C7A0BF993}" type="slidenum">
              <a:rPr lang="hu-HU" altLang="hu-HU"/>
              <a:pPr/>
              <a:t>69</a:t>
            </a:fld>
            <a:endParaRPr lang="hu-HU" altLang="hu-HU"/>
          </a:p>
        </p:txBody>
      </p:sp>
    </p:spTree>
    <p:extLst>
      <p:ext uri="{BB962C8B-B14F-4D97-AF65-F5344CB8AC3E}">
        <p14:creationId xmlns:p14="http://schemas.microsoft.com/office/powerpoint/2010/main" val="1117297477"/>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r>
              <a:rPr lang="hu-HU" altLang="hu-HU"/>
              <a:t>Minősített asszociáció (folyt.)</a:t>
            </a:r>
          </a:p>
        </p:txBody>
      </p:sp>
      <p:sp>
        <p:nvSpPr>
          <p:cNvPr id="200707" name="Rectangle 3"/>
          <p:cNvSpPr>
            <a:spLocks noGrp="1" noChangeArrowheads="1"/>
          </p:cNvSpPr>
          <p:nvPr>
            <p:ph idx="1"/>
          </p:nvPr>
        </p:nvSpPr>
        <p:spPr/>
        <p:txBody>
          <a:bodyPr/>
          <a:lstStyle/>
          <a:p>
            <a:pPr>
              <a:lnSpc>
                <a:spcPct val="90000"/>
              </a:lnSpc>
            </a:pPr>
            <a:r>
              <a:rPr lang="hu-HU" altLang="hu-HU" sz="2600"/>
              <a:t>A rendszer működése során a meghatározott minősítő attribútumok (kulcsértékek) alapján kérdezhetők le az egyes elemek. </a:t>
            </a:r>
          </a:p>
          <a:p>
            <a:pPr>
              <a:lnSpc>
                <a:spcPct val="90000"/>
              </a:lnSpc>
            </a:pPr>
            <a:r>
              <a:rPr lang="hu-HU" altLang="hu-HU" sz="2600"/>
              <a:t>Implementációs szinten a minősített asszociáció rendszerint a célosztály objektumaiból képzett indexelhető tömb, vagy valamilyen más, kulcs szerinti keresésre alkalmas összetett adatstruktúra (pl. hashtábla) megjelenését eredményezi a forrásosztályban.</a:t>
            </a:r>
          </a:p>
        </p:txBody>
      </p:sp>
      <p:sp>
        <p:nvSpPr>
          <p:cNvPr id="4" name="Dátum helye 3"/>
          <p:cNvSpPr>
            <a:spLocks noGrp="1"/>
          </p:cNvSpPr>
          <p:nvPr>
            <p:ph type="dt" sz="half" idx="10"/>
          </p:nvPr>
        </p:nvSpPr>
        <p:spPr/>
        <p:txBody>
          <a:bodyPr/>
          <a:lstStyle/>
          <a:p>
            <a:fld id="{10F7D13B-8FDD-4C7F-BAD3-9DA2B03EE38C}"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E60146F0-83C0-49C4-9C73-39F4AFF12406}" type="slidenum">
              <a:rPr lang="hu-HU" altLang="hu-HU"/>
              <a:pPr/>
              <a:t>70</a:t>
            </a:fld>
            <a:endParaRPr lang="hu-HU" altLang="hu-HU"/>
          </a:p>
        </p:txBody>
      </p:sp>
    </p:spTree>
    <p:extLst>
      <p:ext uri="{BB962C8B-B14F-4D97-AF65-F5344CB8AC3E}">
        <p14:creationId xmlns:p14="http://schemas.microsoft.com/office/powerpoint/2010/main" val="275296471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title"/>
          </p:nvPr>
        </p:nvSpPr>
        <p:spPr/>
        <p:txBody>
          <a:bodyPr/>
          <a:lstStyle/>
          <a:p>
            <a:r>
              <a:rPr lang="hu-HU" altLang="hu-HU"/>
              <a:t>Minősített asszociáció (folyt.)</a:t>
            </a:r>
          </a:p>
        </p:txBody>
      </p:sp>
      <p:pic>
        <p:nvPicPr>
          <p:cNvPr id="201732"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3104356" y="3444081"/>
            <a:ext cx="3743325" cy="1314450"/>
          </a:xfrm>
          <a:noFill/>
          <a:ln/>
        </p:spPr>
      </p:pic>
      <p:sp>
        <p:nvSpPr>
          <p:cNvPr id="4" name="Dátum helye 3"/>
          <p:cNvSpPr>
            <a:spLocks noGrp="1"/>
          </p:cNvSpPr>
          <p:nvPr>
            <p:ph type="dt" sz="half" idx="10"/>
          </p:nvPr>
        </p:nvSpPr>
        <p:spPr/>
        <p:txBody>
          <a:bodyPr/>
          <a:lstStyle/>
          <a:p>
            <a:fld id="{CEEF501C-8AE5-4748-B199-322969BCD23B}"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AE977629-6B2D-434D-8354-16226FBF934F}" type="slidenum">
              <a:rPr lang="hu-HU" altLang="hu-HU"/>
              <a:pPr/>
              <a:t>71</a:t>
            </a:fld>
            <a:endParaRPr lang="hu-HU" altLang="hu-HU"/>
          </a:p>
        </p:txBody>
      </p:sp>
    </p:spTree>
    <p:extLst>
      <p:ext uri="{BB962C8B-B14F-4D97-AF65-F5344CB8AC3E}">
        <p14:creationId xmlns:p14="http://schemas.microsoft.com/office/powerpoint/2010/main" val="384063270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lstStyle/>
          <a:p>
            <a:r>
              <a:rPr lang="en-US" altLang="hu-HU"/>
              <a:t>A</a:t>
            </a:r>
            <a:r>
              <a:rPr lang="hu-HU" altLang="hu-HU"/>
              <a:t>sszociációs osztály</a:t>
            </a:r>
          </a:p>
        </p:txBody>
      </p:sp>
      <p:sp>
        <p:nvSpPr>
          <p:cNvPr id="202755" name="Rectangle 3"/>
          <p:cNvSpPr>
            <a:spLocks noGrp="1" noChangeArrowheads="1"/>
          </p:cNvSpPr>
          <p:nvPr>
            <p:ph idx="1"/>
          </p:nvPr>
        </p:nvSpPr>
        <p:spPr/>
        <p:txBody>
          <a:bodyPr/>
          <a:lstStyle/>
          <a:p>
            <a:pPr>
              <a:lnSpc>
                <a:spcPct val="90000"/>
              </a:lnSpc>
            </a:pPr>
            <a:r>
              <a:rPr lang="en-US" altLang="hu-HU" sz="2600"/>
              <a:t>K</a:t>
            </a:r>
            <a:r>
              <a:rPr lang="hu-HU" altLang="hu-HU" sz="2600"/>
              <a:t>ét osztály közötti kapcsolat jellemzésére, ill. annak létrejöttéhez önálló tulajdonságok, esetleg metódusok tartoznak</a:t>
            </a:r>
            <a:r>
              <a:rPr lang="en-US" altLang="hu-HU" sz="2600"/>
              <a:t>.</a:t>
            </a:r>
          </a:p>
          <a:p>
            <a:pPr>
              <a:lnSpc>
                <a:spcPct val="90000"/>
              </a:lnSpc>
            </a:pPr>
            <a:r>
              <a:rPr lang="en-US" altLang="hu-HU" sz="2600"/>
              <a:t>Alkalma</a:t>
            </a:r>
            <a:r>
              <a:rPr lang="hu-HU" altLang="hu-HU" sz="2600"/>
              <a:t>zása:</a:t>
            </a:r>
          </a:p>
          <a:p>
            <a:pPr lvl="1">
              <a:lnSpc>
                <a:spcPct val="90000"/>
              </a:lnSpc>
            </a:pPr>
            <a:r>
              <a:rPr lang="hu-HU" altLang="hu-HU" sz="2200"/>
              <a:t>két osztály elemei között több-több jellegű leképezést akarunk megvalósítani, de az egymáshoz rendelt párokhoz, ill. az asszociációval jelzett kapcsolat létrejöttéhez még további információkat is hozzá akarunk rendelni, amelyek igazából egyik osztályhoz sem tartoznak kizárólagos módon. </a:t>
            </a:r>
          </a:p>
        </p:txBody>
      </p:sp>
      <p:sp>
        <p:nvSpPr>
          <p:cNvPr id="4" name="Dátum helye 3"/>
          <p:cNvSpPr>
            <a:spLocks noGrp="1"/>
          </p:cNvSpPr>
          <p:nvPr>
            <p:ph type="dt" sz="half" idx="10"/>
          </p:nvPr>
        </p:nvSpPr>
        <p:spPr/>
        <p:txBody>
          <a:bodyPr/>
          <a:lstStyle/>
          <a:p>
            <a:fld id="{BC4544AC-50C9-4FD8-A5A9-44D95E98BFCD}"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8D1468E8-C40D-44BD-AA2D-4D2900B935F8}" type="slidenum">
              <a:rPr lang="hu-HU" altLang="hu-HU"/>
              <a:pPr/>
              <a:t>72</a:t>
            </a:fld>
            <a:endParaRPr lang="hu-HU" altLang="hu-HU"/>
          </a:p>
        </p:txBody>
      </p:sp>
    </p:spTree>
    <p:extLst>
      <p:ext uri="{BB962C8B-B14F-4D97-AF65-F5344CB8AC3E}">
        <p14:creationId xmlns:p14="http://schemas.microsoft.com/office/powerpoint/2010/main" val="394248020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r>
              <a:rPr lang="en-US" altLang="hu-HU"/>
              <a:t>A</a:t>
            </a:r>
            <a:r>
              <a:rPr lang="hu-HU" altLang="hu-HU"/>
              <a:t>sszociációs osztály (folyt.)</a:t>
            </a:r>
          </a:p>
        </p:txBody>
      </p:sp>
      <p:sp>
        <p:nvSpPr>
          <p:cNvPr id="203779" name="Rectangle 3"/>
          <p:cNvSpPr>
            <a:spLocks noGrp="1" noChangeArrowheads="1"/>
          </p:cNvSpPr>
          <p:nvPr>
            <p:ph idx="1"/>
          </p:nvPr>
        </p:nvSpPr>
        <p:spPr/>
        <p:txBody>
          <a:bodyPr/>
          <a:lstStyle/>
          <a:p>
            <a:r>
              <a:rPr lang="hu-HU" altLang="hu-HU"/>
              <a:t>Az UML-ben az asszociációs osztályt és a kapcsolatot szaggatott vonal köti össze. </a:t>
            </a:r>
          </a:p>
          <a:p>
            <a:r>
              <a:rPr lang="hu-HU" altLang="hu-HU"/>
              <a:t>Főként az elemzési fázisban.</a:t>
            </a:r>
          </a:p>
          <a:p>
            <a:r>
              <a:rPr lang="hu-HU" altLang="hu-HU"/>
              <a:t>A tervezési és az implementációs modellben ezek az osztályok normál osztályokká szerveződnek.</a:t>
            </a:r>
          </a:p>
        </p:txBody>
      </p:sp>
      <p:sp>
        <p:nvSpPr>
          <p:cNvPr id="4" name="Dátum helye 3"/>
          <p:cNvSpPr>
            <a:spLocks noGrp="1"/>
          </p:cNvSpPr>
          <p:nvPr>
            <p:ph type="dt" sz="half" idx="10"/>
          </p:nvPr>
        </p:nvSpPr>
        <p:spPr/>
        <p:txBody>
          <a:bodyPr/>
          <a:lstStyle/>
          <a:p>
            <a:fld id="{2E7A46FF-8CC1-4640-8C69-873B431123BD}"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149D0854-B091-434C-935B-8A1FC089BF1B}" type="slidenum">
              <a:rPr lang="hu-HU" altLang="hu-HU"/>
              <a:pPr/>
              <a:t>73</a:t>
            </a:fld>
            <a:endParaRPr lang="hu-HU" altLang="hu-HU"/>
          </a:p>
        </p:txBody>
      </p:sp>
    </p:spTree>
    <p:extLst>
      <p:ext uri="{BB962C8B-B14F-4D97-AF65-F5344CB8AC3E}">
        <p14:creationId xmlns:p14="http://schemas.microsoft.com/office/powerpoint/2010/main" val="1271294302"/>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a:lstStyle/>
          <a:p>
            <a:r>
              <a:rPr lang="en-US" altLang="hu-HU"/>
              <a:t>A</a:t>
            </a:r>
            <a:r>
              <a:rPr lang="hu-HU" altLang="hu-HU"/>
              <a:t>sszociációs osztály (folyt.)</a:t>
            </a:r>
          </a:p>
        </p:txBody>
      </p:sp>
      <p:pic>
        <p:nvPicPr>
          <p:cNvPr id="204804"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3061494" y="3177381"/>
            <a:ext cx="3829050" cy="1847850"/>
          </a:xfrm>
          <a:noFill/>
          <a:ln/>
          <a:extLst>
            <a:ext uri="{91240B29-F687-4F45-9708-019B960494DF}">
              <a14:hiddenLine xmlns:a14="http://schemas.microsoft.com/office/drawing/2010/main" w="25400" cap="flat" cmpd="sng">
                <a:solidFill>
                  <a:schemeClr val="tx1"/>
                </a:solidFill>
                <a:prstDash val="solid"/>
                <a:miter lim="800000"/>
                <a:headEnd type="none" w="med" len="med"/>
                <a:tailEnd type="none" w="med" len="med"/>
              </a14:hiddenLine>
            </a:ext>
          </a:extLst>
        </p:spPr>
      </p:pic>
      <p:sp>
        <p:nvSpPr>
          <p:cNvPr id="4" name="Dátum helye 3"/>
          <p:cNvSpPr>
            <a:spLocks noGrp="1"/>
          </p:cNvSpPr>
          <p:nvPr>
            <p:ph type="dt" sz="half" idx="10"/>
          </p:nvPr>
        </p:nvSpPr>
        <p:spPr/>
        <p:txBody>
          <a:bodyPr/>
          <a:lstStyle/>
          <a:p>
            <a:fld id="{65C70D41-F3AC-4D64-8D6E-1D3683A073CC}"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C0D93D91-2CFB-4759-8EFF-DE878C9721C8}" type="slidenum">
              <a:rPr lang="hu-HU" altLang="hu-HU"/>
              <a:pPr/>
              <a:t>74</a:t>
            </a:fld>
            <a:endParaRPr lang="hu-HU" altLang="hu-HU"/>
          </a:p>
        </p:txBody>
      </p:sp>
    </p:spTree>
    <p:extLst>
      <p:ext uri="{BB962C8B-B14F-4D97-AF65-F5344CB8AC3E}">
        <p14:creationId xmlns:p14="http://schemas.microsoft.com/office/powerpoint/2010/main" val="2802500286"/>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lstStyle/>
          <a:p>
            <a:r>
              <a:rPr lang="hu-HU" altLang="hu-HU"/>
              <a:t>Származtatott elemek</a:t>
            </a:r>
          </a:p>
        </p:txBody>
      </p:sp>
      <p:sp>
        <p:nvSpPr>
          <p:cNvPr id="215043" name="Rectangle 3"/>
          <p:cNvSpPr>
            <a:spLocks noGrp="1" noChangeArrowheads="1"/>
          </p:cNvSpPr>
          <p:nvPr>
            <p:ph idx="1"/>
          </p:nvPr>
        </p:nvSpPr>
        <p:spPr/>
        <p:txBody>
          <a:bodyPr/>
          <a:lstStyle/>
          <a:p>
            <a:pPr>
              <a:lnSpc>
                <a:spcPct val="90000"/>
              </a:lnSpc>
            </a:pPr>
            <a:r>
              <a:rPr lang="hu-HU" altLang="hu-HU" sz="2600"/>
              <a:t>Elemek, amelyek más, már a modellben definiált elemekből származnak, azokból számítódnak.</a:t>
            </a:r>
          </a:p>
          <a:p>
            <a:pPr>
              <a:lnSpc>
                <a:spcPct val="90000"/>
              </a:lnSpc>
            </a:pPr>
            <a:r>
              <a:rPr lang="hu-HU" altLang="hu-HU" sz="2600"/>
              <a:t> A származtatásra leggyakrabban az attribútumoknál és az asszociációknál lehet szükség.</a:t>
            </a:r>
          </a:p>
          <a:p>
            <a:pPr>
              <a:lnSpc>
                <a:spcPct val="90000"/>
              </a:lnSpc>
            </a:pPr>
            <a:r>
              <a:rPr lang="hu-HU" altLang="hu-HU" sz="2600"/>
              <a:t>A számított tulajdonságokat a tulajdonság neve előtt megjelenő per (/) jellel jelöljük. </a:t>
            </a:r>
          </a:p>
          <a:p>
            <a:pPr>
              <a:lnSpc>
                <a:spcPct val="90000"/>
              </a:lnSpc>
            </a:pPr>
            <a:r>
              <a:rPr lang="hu-HU" altLang="hu-HU" sz="2600"/>
              <a:t>A számításhoz használt kifejezést kényszerként (megszorítás) kapcsos zárójelek {} között megadva írhatjuk le.</a:t>
            </a:r>
          </a:p>
        </p:txBody>
      </p:sp>
      <p:sp>
        <p:nvSpPr>
          <p:cNvPr id="4" name="Dátum helye 3"/>
          <p:cNvSpPr>
            <a:spLocks noGrp="1"/>
          </p:cNvSpPr>
          <p:nvPr>
            <p:ph type="dt" sz="half" idx="10"/>
          </p:nvPr>
        </p:nvSpPr>
        <p:spPr/>
        <p:txBody>
          <a:bodyPr/>
          <a:lstStyle/>
          <a:p>
            <a:fld id="{A72F406F-B416-4BBB-8F95-E3F5BADCCFB6}"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22962112-11C6-45AB-B9DB-EA08A0E7D102}" type="slidenum">
              <a:rPr lang="hu-HU" altLang="hu-HU"/>
              <a:pPr/>
              <a:t>75</a:t>
            </a:fld>
            <a:endParaRPr lang="hu-HU" altLang="hu-HU"/>
          </a:p>
        </p:txBody>
      </p:sp>
    </p:spTree>
    <p:extLst>
      <p:ext uri="{BB962C8B-B14F-4D97-AF65-F5344CB8AC3E}">
        <p14:creationId xmlns:p14="http://schemas.microsoft.com/office/powerpoint/2010/main" val="4208213448"/>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p:txBody>
          <a:bodyPr/>
          <a:lstStyle/>
          <a:p>
            <a:r>
              <a:rPr lang="hu-HU" altLang="hu-HU"/>
              <a:t>Származtatott elemek (folyt.)</a:t>
            </a:r>
          </a:p>
        </p:txBody>
      </p:sp>
      <p:pic>
        <p:nvPicPr>
          <p:cNvPr id="216070"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025" t="7974" r="2048" b="3204"/>
          <a:stretch>
            <a:fillRect/>
          </a:stretch>
        </p:blipFill>
        <p:spPr>
          <a:xfrm>
            <a:off x="2424114" y="1851025"/>
            <a:ext cx="7272337" cy="4254500"/>
          </a:xfrm>
          <a:noFill/>
          <a:ln/>
          <a:extLst>
            <a:ext uri="{91240B29-F687-4F45-9708-019B960494DF}">
              <a14:hiddenLine xmlns:a14="http://schemas.microsoft.com/office/drawing/2010/main" w="25400" cap="flat" cmpd="sng">
                <a:solidFill>
                  <a:schemeClr val="tx1"/>
                </a:solidFill>
                <a:prstDash val="solid"/>
                <a:miter lim="800000"/>
                <a:headEnd type="none" w="med" len="med"/>
                <a:tailEnd type="none" w="med" len="med"/>
              </a14:hiddenLine>
            </a:ext>
          </a:extLst>
        </p:spPr>
      </p:pic>
      <p:sp>
        <p:nvSpPr>
          <p:cNvPr id="4" name="Dátum helye 3"/>
          <p:cNvSpPr>
            <a:spLocks noGrp="1"/>
          </p:cNvSpPr>
          <p:nvPr>
            <p:ph type="dt" sz="half" idx="10"/>
          </p:nvPr>
        </p:nvSpPr>
        <p:spPr/>
        <p:txBody>
          <a:bodyPr/>
          <a:lstStyle/>
          <a:p>
            <a:fld id="{74B74617-A7F4-4F19-B195-A278C39A5BA9}"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8EBE6082-4412-4DE8-9EAD-4532312AEAFF}" type="slidenum">
              <a:rPr lang="hu-HU" altLang="hu-HU"/>
              <a:pPr/>
              <a:t>76</a:t>
            </a:fld>
            <a:endParaRPr lang="hu-HU" altLang="hu-HU"/>
          </a:p>
        </p:txBody>
      </p:sp>
    </p:spTree>
    <p:extLst>
      <p:ext uri="{BB962C8B-B14F-4D97-AF65-F5344CB8AC3E}">
        <p14:creationId xmlns:p14="http://schemas.microsoft.com/office/powerpoint/2010/main" val="1814006294"/>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p:txBody>
          <a:bodyPr/>
          <a:lstStyle/>
          <a:p>
            <a:r>
              <a:rPr lang="hu-HU" altLang="hu-HU"/>
              <a:t>Sztereotípia</a:t>
            </a:r>
          </a:p>
        </p:txBody>
      </p:sp>
      <p:sp>
        <p:nvSpPr>
          <p:cNvPr id="205827" name="Rectangle 3"/>
          <p:cNvSpPr>
            <a:spLocks noGrp="1" noChangeArrowheads="1"/>
          </p:cNvSpPr>
          <p:nvPr>
            <p:ph idx="1"/>
          </p:nvPr>
        </p:nvSpPr>
        <p:spPr/>
        <p:txBody>
          <a:bodyPr/>
          <a:lstStyle/>
          <a:p>
            <a:r>
              <a:rPr lang="hu-HU" altLang="hu-HU"/>
              <a:t>A modellelemek tipizálása, minősítésre szolgál. </a:t>
            </a:r>
          </a:p>
          <a:p>
            <a:r>
              <a:rPr lang="hu-HU" altLang="hu-HU"/>
              <a:t>Sztereotípia megadása:</a:t>
            </a:r>
          </a:p>
          <a:p>
            <a:pPr lvl="1"/>
            <a:r>
              <a:rPr lang="hu-HU" altLang="hu-HU"/>
              <a:t>karaktersorának francia zárójelek közé tételével vagy </a:t>
            </a:r>
          </a:p>
          <a:p>
            <a:pPr lvl="1"/>
            <a:r>
              <a:rPr lang="hu-HU" altLang="hu-HU"/>
              <a:t>szimbólummal, vagy </a:t>
            </a:r>
          </a:p>
          <a:p>
            <a:pPr lvl="1"/>
            <a:r>
              <a:rPr lang="hu-HU" altLang="hu-HU"/>
              <a:t>a kettő egyidejű alkalmazásával.</a:t>
            </a:r>
          </a:p>
        </p:txBody>
      </p:sp>
      <p:sp>
        <p:nvSpPr>
          <p:cNvPr id="4" name="Dátum helye 3"/>
          <p:cNvSpPr>
            <a:spLocks noGrp="1"/>
          </p:cNvSpPr>
          <p:nvPr>
            <p:ph type="dt" sz="half" idx="10"/>
          </p:nvPr>
        </p:nvSpPr>
        <p:spPr/>
        <p:txBody>
          <a:bodyPr/>
          <a:lstStyle/>
          <a:p>
            <a:fld id="{E62AB282-1D99-4818-96C7-5855C8F74323}"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456FD25C-2E51-4BD6-9C05-6EE4923C4A13}" type="slidenum">
              <a:rPr lang="hu-HU" altLang="hu-HU"/>
              <a:pPr/>
              <a:t>77</a:t>
            </a:fld>
            <a:endParaRPr lang="hu-HU" altLang="hu-HU"/>
          </a:p>
        </p:txBody>
      </p:sp>
    </p:spTree>
    <p:extLst>
      <p:ext uri="{BB962C8B-B14F-4D97-AF65-F5344CB8AC3E}">
        <p14:creationId xmlns:p14="http://schemas.microsoft.com/office/powerpoint/2010/main" val="255400320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r>
              <a:rPr lang="hu-HU" altLang="hu-HU"/>
              <a:t>Elemzési osztályok sztereotípiái</a:t>
            </a:r>
          </a:p>
        </p:txBody>
      </p:sp>
      <p:sp>
        <p:nvSpPr>
          <p:cNvPr id="206851" name="Rectangle 3"/>
          <p:cNvSpPr>
            <a:spLocks noGrp="1" noChangeArrowheads="1"/>
          </p:cNvSpPr>
          <p:nvPr>
            <p:ph idx="1"/>
          </p:nvPr>
        </p:nvSpPr>
        <p:spPr/>
        <p:txBody>
          <a:bodyPr/>
          <a:lstStyle/>
          <a:p>
            <a:pPr>
              <a:lnSpc>
                <a:spcPct val="90000"/>
              </a:lnSpc>
            </a:pPr>
            <a:r>
              <a:rPr lang="hu-HU" altLang="hu-HU"/>
              <a:t>Az elemzési modellben az osztályok minősítésére:</a:t>
            </a:r>
          </a:p>
          <a:p>
            <a:pPr lvl="1">
              <a:lnSpc>
                <a:spcPct val="90000"/>
              </a:lnSpc>
            </a:pPr>
            <a:r>
              <a:rPr lang="hu-HU" altLang="hu-HU"/>
              <a:t>a &lt;&lt;boundary&gt;&gt;, </a:t>
            </a:r>
          </a:p>
          <a:p>
            <a:pPr lvl="1">
              <a:lnSpc>
                <a:spcPct val="90000"/>
              </a:lnSpc>
            </a:pPr>
            <a:r>
              <a:rPr lang="hu-HU" altLang="hu-HU"/>
              <a:t>a &lt;&lt;control&gt;&gt; és </a:t>
            </a:r>
          </a:p>
          <a:p>
            <a:pPr lvl="1">
              <a:lnSpc>
                <a:spcPct val="90000"/>
              </a:lnSpc>
            </a:pPr>
            <a:r>
              <a:rPr lang="hu-HU" altLang="hu-HU"/>
              <a:t>az &lt;&lt;entity&gt;&gt; sztereotípiákat használhatjuk. </a:t>
            </a:r>
          </a:p>
          <a:p>
            <a:pPr>
              <a:lnSpc>
                <a:spcPct val="90000"/>
              </a:lnSpc>
            </a:pPr>
            <a:r>
              <a:rPr lang="hu-HU" altLang="hu-HU"/>
              <a:t>A sztereotípusok meghatározását az interakciós diagramok készítésekor, elemzésekor lehet megtenni.</a:t>
            </a:r>
          </a:p>
        </p:txBody>
      </p:sp>
      <p:sp>
        <p:nvSpPr>
          <p:cNvPr id="4" name="Dátum helye 3"/>
          <p:cNvSpPr>
            <a:spLocks noGrp="1"/>
          </p:cNvSpPr>
          <p:nvPr>
            <p:ph type="dt" sz="half" idx="10"/>
          </p:nvPr>
        </p:nvSpPr>
        <p:spPr/>
        <p:txBody>
          <a:bodyPr/>
          <a:lstStyle/>
          <a:p>
            <a:fld id="{2673D91D-B76D-48DC-A2EC-5062689F53FA}"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F6F27843-5667-4C1B-A763-7E3925C32FEA}" type="slidenum">
              <a:rPr lang="hu-HU" altLang="hu-HU"/>
              <a:pPr/>
              <a:t>78</a:t>
            </a:fld>
            <a:endParaRPr lang="hu-HU" altLang="hu-HU"/>
          </a:p>
        </p:txBody>
      </p:sp>
    </p:spTree>
    <p:extLst>
      <p:ext uri="{BB962C8B-B14F-4D97-AF65-F5344CB8AC3E}">
        <p14:creationId xmlns:p14="http://schemas.microsoft.com/office/powerpoint/2010/main" val="1753061009"/>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p:txBody>
          <a:bodyPr/>
          <a:lstStyle/>
          <a:p>
            <a:r>
              <a:rPr lang="hu-HU" altLang="hu-HU" sz="3400"/>
              <a:t>Elemzési osztályok sztereotípiái (folyt.)</a:t>
            </a:r>
          </a:p>
        </p:txBody>
      </p:sp>
      <p:sp>
        <p:nvSpPr>
          <p:cNvPr id="207875" name="Rectangle 3"/>
          <p:cNvSpPr>
            <a:spLocks noGrp="1" noChangeArrowheads="1"/>
          </p:cNvSpPr>
          <p:nvPr>
            <p:ph idx="1"/>
          </p:nvPr>
        </p:nvSpPr>
        <p:spPr/>
        <p:txBody>
          <a:bodyPr>
            <a:normAutofit lnSpcReduction="10000"/>
          </a:bodyPr>
          <a:lstStyle/>
          <a:p>
            <a:r>
              <a:rPr lang="hu-HU" altLang="hu-HU" sz="3400"/>
              <a:t>Megkönnyíti:</a:t>
            </a:r>
          </a:p>
          <a:p>
            <a:pPr lvl="1"/>
            <a:r>
              <a:rPr lang="hu-HU" altLang="hu-HU" sz="3000"/>
              <a:t>a diagramok összeállítását, </a:t>
            </a:r>
          </a:p>
          <a:p>
            <a:pPr lvl="1"/>
            <a:r>
              <a:rPr lang="hu-HU" altLang="hu-HU" sz="3000"/>
              <a:t>értelmezését, </a:t>
            </a:r>
          </a:p>
          <a:p>
            <a:pPr lvl="1"/>
            <a:r>
              <a:rPr lang="hu-HU" altLang="hu-HU" sz="3000"/>
              <a:t>elősegíti a szoftverrendszer rétegeinek:</a:t>
            </a:r>
          </a:p>
          <a:p>
            <a:pPr lvl="2"/>
            <a:r>
              <a:rPr lang="hu-HU" altLang="hu-HU" sz="2700"/>
              <a:t>felület/prezentációs réteg,</a:t>
            </a:r>
          </a:p>
          <a:p>
            <a:pPr lvl="2"/>
            <a:r>
              <a:rPr lang="hu-HU" altLang="hu-HU" sz="2700"/>
              <a:t>alkalmazáslogika, </a:t>
            </a:r>
          </a:p>
          <a:p>
            <a:pPr lvl="2"/>
            <a:r>
              <a:rPr lang="hu-HU" altLang="hu-HU" sz="2700"/>
              <a:t>adattárolási logika szétválasztását.</a:t>
            </a:r>
          </a:p>
        </p:txBody>
      </p:sp>
      <p:sp>
        <p:nvSpPr>
          <p:cNvPr id="4" name="Dátum helye 3"/>
          <p:cNvSpPr>
            <a:spLocks noGrp="1"/>
          </p:cNvSpPr>
          <p:nvPr>
            <p:ph type="dt" sz="half" idx="10"/>
          </p:nvPr>
        </p:nvSpPr>
        <p:spPr/>
        <p:txBody>
          <a:bodyPr/>
          <a:lstStyle/>
          <a:p>
            <a:fld id="{466E5F15-49E6-4082-A037-2BB63D91ACAB}"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1579377D-82BC-40B8-A6BC-D9E7E2D3BCF9}" type="slidenum">
              <a:rPr lang="hu-HU" altLang="hu-HU"/>
              <a:pPr/>
              <a:t>79</a:t>
            </a:fld>
            <a:endParaRPr lang="hu-HU" altLang="hu-HU"/>
          </a:p>
        </p:txBody>
      </p:sp>
    </p:spTree>
    <p:extLst>
      <p:ext uri="{BB962C8B-B14F-4D97-AF65-F5344CB8AC3E}">
        <p14:creationId xmlns:p14="http://schemas.microsoft.com/office/powerpoint/2010/main" val="351255047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p:txBody>
          <a:bodyPr/>
          <a:lstStyle/>
          <a:p>
            <a:r>
              <a:rPr lang="hu-HU" altLang="hu-HU"/>
              <a:t>Absztrakt osztályok</a:t>
            </a:r>
          </a:p>
        </p:txBody>
      </p:sp>
      <p:sp>
        <p:nvSpPr>
          <p:cNvPr id="208899" name="Rectangle 3"/>
          <p:cNvSpPr>
            <a:spLocks noGrp="1" noChangeArrowheads="1"/>
          </p:cNvSpPr>
          <p:nvPr>
            <p:ph idx="1"/>
          </p:nvPr>
        </p:nvSpPr>
        <p:spPr/>
        <p:txBody>
          <a:bodyPr/>
          <a:lstStyle/>
          <a:p>
            <a:pPr>
              <a:lnSpc>
                <a:spcPct val="90000"/>
              </a:lnSpc>
            </a:pPr>
            <a:r>
              <a:rPr lang="hu-HU" altLang="hu-HU"/>
              <a:t>Speciális osztályok, amelyeknek nem hozhatunk létre példányait.</a:t>
            </a:r>
          </a:p>
          <a:p>
            <a:pPr>
              <a:lnSpc>
                <a:spcPct val="90000"/>
              </a:lnSpc>
            </a:pPr>
            <a:r>
              <a:rPr lang="hu-HU" altLang="hu-HU"/>
              <a:t>Az osztály nevét döntött betűkkel kell írni. </a:t>
            </a:r>
          </a:p>
          <a:p>
            <a:pPr>
              <a:lnSpc>
                <a:spcPct val="90000"/>
              </a:lnSpc>
            </a:pPr>
            <a:r>
              <a:rPr lang="hu-HU" altLang="hu-HU"/>
              <a:t>Az absztrakt osztályból mindig származtatunk további osztályokat, amelyek öröklik az absztrakt osztály attribútumait, műveleteit és asszociációit.</a:t>
            </a:r>
          </a:p>
        </p:txBody>
      </p:sp>
      <p:sp>
        <p:nvSpPr>
          <p:cNvPr id="4" name="Dátum helye 3"/>
          <p:cNvSpPr>
            <a:spLocks noGrp="1"/>
          </p:cNvSpPr>
          <p:nvPr>
            <p:ph type="dt" sz="half" idx="10"/>
          </p:nvPr>
        </p:nvSpPr>
        <p:spPr/>
        <p:txBody>
          <a:bodyPr/>
          <a:lstStyle/>
          <a:p>
            <a:fld id="{23533D14-23EB-4B5A-A919-F20636620B2B}"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48042AE7-D27E-46D8-A35A-5D90A88C8FC2}" type="slidenum">
              <a:rPr lang="hu-HU" altLang="hu-HU"/>
              <a:pPr/>
              <a:t>80</a:t>
            </a:fld>
            <a:endParaRPr lang="hu-HU" altLang="hu-HU"/>
          </a:p>
        </p:txBody>
      </p:sp>
    </p:spTree>
    <p:extLst>
      <p:ext uri="{BB962C8B-B14F-4D97-AF65-F5344CB8AC3E}">
        <p14:creationId xmlns:p14="http://schemas.microsoft.com/office/powerpoint/2010/main" val="1790522775"/>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p:txBody>
          <a:bodyPr/>
          <a:lstStyle/>
          <a:p>
            <a:r>
              <a:rPr lang="hu-HU" altLang="hu-HU"/>
              <a:t>Függőség</a:t>
            </a:r>
          </a:p>
        </p:txBody>
      </p:sp>
      <p:sp>
        <p:nvSpPr>
          <p:cNvPr id="209923" name="Rectangle 3"/>
          <p:cNvSpPr>
            <a:spLocks noGrp="1" noChangeArrowheads="1"/>
          </p:cNvSpPr>
          <p:nvPr>
            <p:ph idx="1"/>
          </p:nvPr>
        </p:nvSpPr>
        <p:spPr/>
        <p:txBody>
          <a:bodyPr/>
          <a:lstStyle/>
          <a:p>
            <a:r>
              <a:rPr lang="hu-HU" altLang="hu-HU"/>
              <a:t>Két elem egymásra hatását fejezi ki. </a:t>
            </a:r>
          </a:p>
          <a:p>
            <a:r>
              <a:rPr lang="hu-HU" altLang="hu-HU"/>
              <a:t>Az egyik elem definíciójának (specifikációjának) változása a másik elem megváltozását okozhatja, eredményezi.</a:t>
            </a:r>
          </a:p>
        </p:txBody>
      </p:sp>
      <p:sp>
        <p:nvSpPr>
          <p:cNvPr id="4" name="Dátum helye 3"/>
          <p:cNvSpPr>
            <a:spLocks noGrp="1"/>
          </p:cNvSpPr>
          <p:nvPr>
            <p:ph type="dt" sz="half" idx="10"/>
          </p:nvPr>
        </p:nvSpPr>
        <p:spPr/>
        <p:txBody>
          <a:bodyPr/>
          <a:lstStyle/>
          <a:p>
            <a:fld id="{FAC8E2A2-CB47-4D46-A6D6-D827AFC9DC32}"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A534F977-A629-4C37-B89B-B78D4B8DE6F4}" type="slidenum">
              <a:rPr lang="hu-HU" altLang="hu-HU"/>
              <a:pPr/>
              <a:t>81</a:t>
            </a:fld>
            <a:endParaRPr lang="hu-HU" altLang="hu-HU"/>
          </a:p>
        </p:txBody>
      </p:sp>
    </p:spTree>
    <p:extLst>
      <p:ext uri="{BB962C8B-B14F-4D97-AF65-F5344CB8AC3E}">
        <p14:creationId xmlns:p14="http://schemas.microsoft.com/office/powerpoint/2010/main" val="180341188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p:txBody>
          <a:bodyPr/>
          <a:lstStyle/>
          <a:p>
            <a:r>
              <a:rPr lang="hu-HU" altLang="hu-HU"/>
              <a:t>Függőség (folyt.)</a:t>
            </a:r>
          </a:p>
        </p:txBody>
      </p:sp>
      <p:sp>
        <p:nvSpPr>
          <p:cNvPr id="210947" name="Rectangle 3"/>
          <p:cNvSpPr>
            <a:spLocks noGrp="1" noChangeArrowheads="1"/>
          </p:cNvSpPr>
          <p:nvPr>
            <p:ph idx="1"/>
          </p:nvPr>
        </p:nvSpPr>
        <p:spPr/>
        <p:txBody>
          <a:bodyPr/>
          <a:lstStyle/>
          <a:p>
            <a:r>
              <a:rPr lang="hu-HU" altLang="hu-HU"/>
              <a:t>A kapcsolatban az előbbi a független, az utóbbi a függő elem. </a:t>
            </a:r>
          </a:p>
          <a:p>
            <a:r>
              <a:rPr lang="hu-HU" altLang="hu-HU"/>
              <a:t>A függési kapcsolatot irányított, szaggatott vonallal modellezzük. </a:t>
            </a:r>
          </a:p>
          <a:p>
            <a:r>
              <a:rPr lang="hu-HU" altLang="hu-HU"/>
              <a:t>A nyíl iránya egyben meghatározza a függőség irányát. </a:t>
            </a:r>
          </a:p>
          <a:p>
            <a:pPr lvl="1"/>
            <a:r>
              <a:rPr lang="hu-HU" altLang="hu-HU"/>
              <a:t>A nyíl a függő elemtől indul, és a felé az elem felé mutat, amitől az elem függ.</a:t>
            </a:r>
          </a:p>
        </p:txBody>
      </p:sp>
      <p:sp>
        <p:nvSpPr>
          <p:cNvPr id="4" name="Dátum helye 3"/>
          <p:cNvSpPr>
            <a:spLocks noGrp="1"/>
          </p:cNvSpPr>
          <p:nvPr>
            <p:ph type="dt" sz="half" idx="10"/>
          </p:nvPr>
        </p:nvSpPr>
        <p:spPr/>
        <p:txBody>
          <a:bodyPr/>
          <a:lstStyle/>
          <a:p>
            <a:fld id="{6158C68E-0B2E-4CA9-AE04-36C9E383AEFA}"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BDE4F38D-5F7C-4AFA-9668-B48E5E36932B}" type="slidenum">
              <a:rPr lang="hu-HU" altLang="hu-HU"/>
              <a:pPr/>
              <a:t>82</a:t>
            </a:fld>
            <a:endParaRPr lang="hu-HU" altLang="hu-HU"/>
          </a:p>
        </p:txBody>
      </p:sp>
    </p:spTree>
    <p:extLst>
      <p:ext uri="{BB962C8B-B14F-4D97-AF65-F5344CB8AC3E}">
        <p14:creationId xmlns:p14="http://schemas.microsoft.com/office/powerpoint/2010/main" val="3809436973"/>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r>
              <a:rPr lang="hu-HU" altLang="hu-HU" sz="3400"/>
              <a:t>Osztály-attribútum, osztály-művelet</a:t>
            </a:r>
          </a:p>
        </p:txBody>
      </p:sp>
      <p:sp>
        <p:nvSpPr>
          <p:cNvPr id="211971" name="Rectangle 3"/>
          <p:cNvSpPr>
            <a:spLocks noGrp="1" noChangeArrowheads="1"/>
          </p:cNvSpPr>
          <p:nvPr>
            <p:ph idx="1"/>
          </p:nvPr>
        </p:nvSpPr>
        <p:spPr/>
        <p:txBody>
          <a:bodyPr/>
          <a:lstStyle/>
          <a:p>
            <a:r>
              <a:rPr lang="hu-HU" altLang="hu-HU"/>
              <a:t>Az osztályok attribútumait és műveleteit különleges szereppel és jelleggel ruházhatjuk fel, ún. scope specifikációt rendelhetünk hozzájuk:</a:t>
            </a:r>
          </a:p>
          <a:p>
            <a:pPr lvl="1"/>
            <a:r>
              <a:rPr lang="hu-HU" altLang="hu-HU"/>
              <a:t>A </a:t>
            </a:r>
            <a:r>
              <a:rPr lang="hu-HU" altLang="hu-HU" b="1"/>
              <a:t>classifier típusú attribútumok.</a:t>
            </a:r>
            <a:endParaRPr lang="hu-HU" altLang="hu-HU"/>
          </a:p>
          <a:p>
            <a:pPr lvl="1"/>
            <a:r>
              <a:rPr lang="hu-HU" altLang="hu-HU"/>
              <a:t>A </a:t>
            </a:r>
            <a:r>
              <a:rPr lang="hu-HU" altLang="hu-HU" b="1"/>
              <a:t>classifier típusú műveletek.</a:t>
            </a:r>
          </a:p>
        </p:txBody>
      </p:sp>
      <p:sp>
        <p:nvSpPr>
          <p:cNvPr id="4" name="Dátum helye 3"/>
          <p:cNvSpPr>
            <a:spLocks noGrp="1"/>
          </p:cNvSpPr>
          <p:nvPr>
            <p:ph type="dt" sz="half" idx="10"/>
          </p:nvPr>
        </p:nvSpPr>
        <p:spPr/>
        <p:txBody>
          <a:bodyPr/>
          <a:lstStyle/>
          <a:p>
            <a:fld id="{2CF70274-363A-46CD-AC41-5ABBCC822280}"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7F42255A-2CA3-4827-B31D-0EEA2ED8967F}" type="slidenum">
              <a:rPr lang="hu-HU" altLang="hu-HU"/>
              <a:pPr/>
              <a:t>83</a:t>
            </a:fld>
            <a:endParaRPr lang="hu-HU" altLang="hu-HU"/>
          </a:p>
        </p:txBody>
      </p:sp>
    </p:spTree>
    <p:extLst>
      <p:ext uri="{BB962C8B-B14F-4D97-AF65-F5344CB8AC3E}">
        <p14:creationId xmlns:p14="http://schemas.microsoft.com/office/powerpoint/2010/main" val="2038469381"/>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p:txBody>
          <a:bodyPr/>
          <a:lstStyle/>
          <a:p>
            <a:r>
              <a:rPr lang="hu-HU" altLang="hu-HU" sz="3400"/>
              <a:t>Osztály-attribútum, osztály-művelet (folyt.)</a:t>
            </a:r>
          </a:p>
        </p:txBody>
      </p:sp>
      <p:sp>
        <p:nvSpPr>
          <p:cNvPr id="212995" name="Rectangle 3"/>
          <p:cNvSpPr>
            <a:spLocks noGrp="1" noChangeArrowheads="1"/>
          </p:cNvSpPr>
          <p:nvPr>
            <p:ph idx="1"/>
          </p:nvPr>
        </p:nvSpPr>
        <p:spPr/>
        <p:txBody>
          <a:bodyPr/>
          <a:lstStyle/>
          <a:p>
            <a:r>
              <a:rPr lang="hu-HU" altLang="hu-HU"/>
              <a:t>A </a:t>
            </a:r>
            <a:r>
              <a:rPr lang="hu-HU" altLang="hu-HU" b="1"/>
              <a:t>classifier típusú attribútumok</a:t>
            </a:r>
            <a:r>
              <a:rPr lang="hu-HU" altLang="hu-HU"/>
              <a:t> (class-scope attibute)</a:t>
            </a:r>
          </a:p>
          <a:p>
            <a:pPr lvl="1"/>
            <a:r>
              <a:rPr lang="hu-HU" altLang="hu-HU"/>
              <a:t>az osztály minden objektumában, vagyis instanciájában ugyanazt az értéket veszik fel. </a:t>
            </a:r>
          </a:p>
          <a:p>
            <a:r>
              <a:rPr lang="hu-HU" altLang="hu-HU"/>
              <a:t>A </a:t>
            </a:r>
            <a:r>
              <a:rPr lang="hu-HU" altLang="hu-HU" b="1"/>
              <a:t>classifier típusú műveletek</a:t>
            </a:r>
            <a:r>
              <a:rPr lang="hu-HU" altLang="hu-HU"/>
              <a:t> </a:t>
            </a:r>
          </a:p>
          <a:p>
            <a:pPr lvl="1"/>
            <a:r>
              <a:rPr lang="hu-HU" altLang="hu-HU"/>
              <a:t>minden objektumra, vagyis instanciára azonos módon lejátszódó műveletek. </a:t>
            </a:r>
          </a:p>
          <a:p>
            <a:r>
              <a:rPr lang="hu-HU" altLang="hu-HU"/>
              <a:t>Aláhúzással jelöljük.</a:t>
            </a:r>
          </a:p>
        </p:txBody>
      </p:sp>
      <p:sp>
        <p:nvSpPr>
          <p:cNvPr id="4" name="Dátum helye 3"/>
          <p:cNvSpPr>
            <a:spLocks noGrp="1"/>
          </p:cNvSpPr>
          <p:nvPr>
            <p:ph type="dt" sz="half" idx="10"/>
          </p:nvPr>
        </p:nvSpPr>
        <p:spPr/>
        <p:txBody>
          <a:bodyPr/>
          <a:lstStyle/>
          <a:p>
            <a:fld id="{594354B0-E66E-4D2D-B5AD-A1580FA735C0}"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D5E1BEF4-3CD0-4650-9CD7-DECA098B1222}" type="slidenum">
              <a:rPr lang="hu-HU" altLang="hu-HU"/>
              <a:pPr/>
              <a:t>84</a:t>
            </a:fld>
            <a:endParaRPr lang="hu-HU" altLang="hu-HU"/>
          </a:p>
        </p:txBody>
      </p:sp>
    </p:spTree>
    <p:extLst>
      <p:ext uri="{BB962C8B-B14F-4D97-AF65-F5344CB8AC3E}">
        <p14:creationId xmlns:p14="http://schemas.microsoft.com/office/powerpoint/2010/main" val="1656017472"/>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p:txBody>
          <a:bodyPr/>
          <a:lstStyle/>
          <a:p>
            <a:r>
              <a:rPr lang="hu-HU" altLang="hu-HU" sz="3400"/>
              <a:t>Osztály-attribútum, osztály-művelet (folyt.)</a:t>
            </a:r>
          </a:p>
        </p:txBody>
      </p:sp>
      <p:pic>
        <p:nvPicPr>
          <p:cNvPr id="214020"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4759" t="13882" r="4793" b="5414"/>
          <a:stretch>
            <a:fillRect/>
          </a:stretch>
        </p:blipFill>
        <p:spPr>
          <a:xfrm>
            <a:off x="3503613" y="1955800"/>
            <a:ext cx="4824412" cy="3894138"/>
          </a:xfrm>
          <a:noFill/>
          <a:ln/>
          <a:extLst>
            <a:ext uri="{91240B29-F687-4F45-9708-019B960494DF}">
              <a14:hiddenLine xmlns:a14="http://schemas.microsoft.com/office/drawing/2010/main" w="25400" cap="flat" cmpd="sng">
                <a:solidFill>
                  <a:schemeClr val="tx1"/>
                </a:solidFill>
                <a:prstDash val="solid"/>
                <a:miter lim="800000"/>
                <a:headEnd type="none" w="med" len="med"/>
                <a:tailEnd type="none" w="med" len="med"/>
              </a14:hiddenLine>
            </a:ext>
          </a:extLst>
        </p:spPr>
      </p:pic>
      <p:sp>
        <p:nvSpPr>
          <p:cNvPr id="4" name="Dátum helye 3"/>
          <p:cNvSpPr>
            <a:spLocks noGrp="1"/>
          </p:cNvSpPr>
          <p:nvPr>
            <p:ph type="dt" sz="half" idx="10"/>
          </p:nvPr>
        </p:nvSpPr>
        <p:spPr/>
        <p:txBody>
          <a:bodyPr/>
          <a:lstStyle/>
          <a:p>
            <a:fld id="{A55D5E38-5A13-495B-BBF0-20CB65488221}"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47B3B2E5-7860-495E-96F9-CDA818344B86}" type="slidenum">
              <a:rPr lang="hu-HU" altLang="hu-HU"/>
              <a:pPr/>
              <a:t>85</a:t>
            </a:fld>
            <a:endParaRPr lang="hu-HU" altLang="hu-HU"/>
          </a:p>
        </p:txBody>
      </p:sp>
    </p:spTree>
    <p:extLst>
      <p:ext uri="{BB962C8B-B14F-4D97-AF65-F5344CB8AC3E}">
        <p14:creationId xmlns:p14="http://schemas.microsoft.com/office/powerpoint/2010/main" val="408637612"/>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p:txBody>
          <a:bodyPr/>
          <a:lstStyle/>
          <a:p>
            <a:r>
              <a:rPr lang="hu-HU" altLang="hu-HU"/>
              <a:t>Lépések</a:t>
            </a:r>
          </a:p>
        </p:txBody>
      </p:sp>
      <p:sp>
        <p:nvSpPr>
          <p:cNvPr id="217091" name="Rectangle 3"/>
          <p:cNvSpPr>
            <a:spLocks noGrp="1" noChangeArrowheads="1"/>
          </p:cNvSpPr>
          <p:nvPr>
            <p:ph idx="1"/>
          </p:nvPr>
        </p:nvSpPr>
        <p:spPr/>
        <p:txBody>
          <a:bodyPr>
            <a:normAutofit fontScale="92500" lnSpcReduction="20000"/>
          </a:bodyPr>
          <a:lstStyle/>
          <a:p>
            <a:pPr>
              <a:lnSpc>
                <a:spcPct val="80000"/>
              </a:lnSpc>
            </a:pPr>
            <a:r>
              <a:rPr lang="hu-HU" altLang="hu-HU" sz="2600"/>
              <a:t>Tervezési osztályok kialakítása típusonként, perzisztens osztályok azonosítása.</a:t>
            </a:r>
          </a:p>
          <a:p>
            <a:pPr>
              <a:lnSpc>
                <a:spcPct val="80000"/>
              </a:lnSpc>
            </a:pPr>
            <a:r>
              <a:rPr lang="hu-HU" altLang="hu-HU" sz="2600"/>
              <a:t>Részletes tervezés:</a:t>
            </a:r>
          </a:p>
          <a:p>
            <a:pPr lvl="1">
              <a:lnSpc>
                <a:spcPct val="80000"/>
              </a:lnSpc>
            </a:pPr>
            <a:r>
              <a:rPr lang="hu-HU" altLang="hu-HU" sz="2200"/>
              <a:t>Az osztályok láthatóságának meghatározása.</a:t>
            </a:r>
          </a:p>
          <a:p>
            <a:pPr lvl="1">
              <a:lnSpc>
                <a:spcPct val="80000"/>
              </a:lnSpc>
            </a:pPr>
            <a:r>
              <a:rPr lang="hu-HU" altLang="hu-HU" sz="2200"/>
              <a:t>Műveletek, metódusok. </a:t>
            </a:r>
          </a:p>
          <a:p>
            <a:pPr lvl="1">
              <a:lnSpc>
                <a:spcPct val="80000"/>
              </a:lnSpc>
            </a:pPr>
            <a:r>
              <a:rPr lang="hu-HU" altLang="hu-HU" sz="2200"/>
              <a:t>Állapotok.</a:t>
            </a:r>
          </a:p>
          <a:p>
            <a:pPr lvl="1">
              <a:lnSpc>
                <a:spcPct val="80000"/>
              </a:lnSpc>
            </a:pPr>
            <a:r>
              <a:rPr lang="hu-HU" altLang="hu-HU" sz="2200"/>
              <a:t>Attribútumok.</a:t>
            </a:r>
          </a:p>
          <a:p>
            <a:pPr lvl="1">
              <a:lnSpc>
                <a:spcPct val="80000"/>
              </a:lnSpc>
            </a:pPr>
            <a:r>
              <a:rPr lang="hu-HU" altLang="hu-HU" sz="2200"/>
              <a:t>Függések.</a:t>
            </a:r>
          </a:p>
          <a:p>
            <a:pPr lvl="1">
              <a:lnSpc>
                <a:spcPct val="80000"/>
              </a:lnSpc>
            </a:pPr>
            <a:r>
              <a:rPr lang="hu-HU" altLang="hu-HU" sz="2200"/>
              <a:t>Asszociációk.</a:t>
            </a:r>
          </a:p>
          <a:p>
            <a:pPr lvl="1">
              <a:lnSpc>
                <a:spcPct val="80000"/>
              </a:lnSpc>
            </a:pPr>
            <a:r>
              <a:rPr lang="hu-HU" altLang="hu-HU" sz="2200"/>
              <a:t>Öröklődés.</a:t>
            </a:r>
          </a:p>
          <a:p>
            <a:pPr lvl="1">
              <a:lnSpc>
                <a:spcPct val="80000"/>
              </a:lnSpc>
            </a:pPr>
            <a:r>
              <a:rPr lang="hu-HU" altLang="hu-HU" sz="2200"/>
              <a:t>Az osztályhoz kapcsolódó nem-funkcionális követelmények kezelése.</a:t>
            </a:r>
          </a:p>
        </p:txBody>
      </p:sp>
      <p:sp>
        <p:nvSpPr>
          <p:cNvPr id="4" name="Dátum helye 3"/>
          <p:cNvSpPr>
            <a:spLocks noGrp="1"/>
          </p:cNvSpPr>
          <p:nvPr>
            <p:ph type="dt" sz="half" idx="10"/>
          </p:nvPr>
        </p:nvSpPr>
        <p:spPr/>
        <p:txBody>
          <a:bodyPr/>
          <a:lstStyle/>
          <a:p>
            <a:fld id="{6C73D7FD-52EF-40C2-9DA8-77EAD442A2BE}"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8B6155AD-CFDE-4BDE-AEBE-E18BD0169A73}" type="slidenum">
              <a:rPr lang="hu-HU" altLang="hu-HU"/>
              <a:pPr/>
              <a:t>86</a:t>
            </a:fld>
            <a:endParaRPr lang="hu-HU" altLang="hu-HU"/>
          </a:p>
        </p:txBody>
      </p:sp>
    </p:spTree>
    <p:extLst>
      <p:ext uri="{BB962C8B-B14F-4D97-AF65-F5344CB8AC3E}">
        <p14:creationId xmlns:p14="http://schemas.microsoft.com/office/powerpoint/2010/main" val="141493487"/>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p:txBody>
          <a:bodyPr/>
          <a:lstStyle/>
          <a:p>
            <a:r>
              <a:rPr lang="hu-HU" altLang="hu-HU"/>
              <a:t>Osztályok tervezése</a:t>
            </a:r>
          </a:p>
        </p:txBody>
      </p:sp>
      <p:sp>
        <p:nvSpPr>
          <p:cNvPr id="218115" name="Rectangle 3"/>
          <p:cNvSpPr>
            <a:spLocks noGrp="1" noChangeArrowheads="1"/>
          </p:cNvSpPr>
          <p:nvPr>
            <p:ph idx="1"/>
          </p:nvPr>
        </p:nvSpPr>
        <p:spPr/>
        <p:txBody>
          <a:bodyPr/>
          <a:lstStyle/>
          <a:p>
            <a:r>
              <a:rPr lang="hu-HU" altLang="hu-HU" sz="2600"/>
              <a:t>A lépések nem szekvenciálisan következnek, az osztályok specifikációja fokozatosan finomodik.</a:t>
            </a:r>
          </a:p>
          <a:p>
            <a:r>
              <a:rPr lang="hu-HU" altLang="hu-HU" sz="2600"/>
              <a:t>A megfelelő tervezési minták alkalmazása.</a:t>
            </a:r>
          </a:p>
          <a:p>
            <a:r>
              <a:rPr lang="hu-HU" altLang="hu-HU" sz="2600"/>
              <a:t>A tervezés végén az összes osztálynak közvetlenül implementálhatónak kell lennie, tehát a tervezés során használt modell szorosan összefügg az implementációs környezettel.</a:t>
            </a:r>
          </a:p>
        </p:txBody>
      </p:sp>
      <p:sp>
        <p:nvSpPr>
          <p:cNvPr id="4" name="Dátum helye 3"/>
          <p:cNvSpPr>
            <a:spLocks noGrp="1"/>
          </p:cNvSpPr>
          <p:nvPr>
            <p:ph type="dt" sz="half" idx="10"/>
          </p:nvPr>
        </p:nvSpPr>
        <p:spPr/>
        <p:txBody>
          <a:bodyPr/>
          <a:lstStyle/>
          <a:p>
            <a:fld id="{2CACB645-2A55-4F56-9C15-678C1361EA4B}"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2924529F-4167-42DD-AE2C-488D9B43E4B9}" type="slidenum">
              <a:rPr lang="hu-HU" altLang="hu-HU"/>
              <a:pPr/>
              <a:t>87</a:t>
            </a:fld>
            <a:endParaRPr lang="hu-HU" altLang="hu-HU"/>
          </a:p>
        </p:txBody>
      </p:sp>
    </p:spTree>
    <p:extLst>
      <p:ext uri="{BB962C8B-B14F-4D97-AF65-F5344CB8AC3E}">
        <p14:creationId xmlns:p14="http://schemas.microsoft.com/office/powerpoint/2010/main" val="3600488064"/>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p:txBody>
          <a:bodyPr/>
          <a:lstStyle/>
          <a:p>
            <a:r>
              <a:rPr lang="en-US" altLang="hu-HU"/>
              <a:t>&lt;&lt;Boundary&gt;&gt; oszt</a:t>
            </a:r>
            <a:r>
              <a:rPr lang="hu-HU" altLang="hu-HU"/>
              <a:t>ályok</a:t>
            </a:r>
          </a:p>
        </p:txBody>
      </p:sp>
      <p:sp>
        <p:nvSpPr>
          <p:cNvPr id="219139" name="Rectangle 3"/>
          <p:cNvSpPr>
            <a:spLocks noGrp="1" noChangeArrowheads="1"/>
          </p:cNvSpPr>
          <p:nvPr>
            <p:ph idx="1"/>
          </p:nvPr>
        </p:nvSpPr>
        <p:spPr/>
        <p:txBody>
          <a:bodyPr/>
          <a:lstStyle/>
          <a:p>
            <a:pPr>
              <a:lnSpc>
                <a:spcPct val="90000"/>
              </a:lnSpc>
            </a:pPr>
            <a:r>
              <a:rPr lang="hu-HU" altLang="hu-HU" sz="2500"/>
              <a:t>Az elemzés során egy osztályt definiáltunk minden ablak számára - nagyon magas szint.</a:t>
            </a:r>
          </a:p>
          <a:p>
            <a:pPr>
              <a:lnSpc>
                <a:spcPct val="90000"/>
              </a:lnSpc>
            </a:pPr>
            <a:r>
              <a:rPr lang="hu-HU" altLang="hu-HU" sz="2500"/>
              <a:t>A GUI fejlesztőeszközökben rendszerint létre tudjuk hozni a felhasználói felület osztályait - csak azt kell megtervezni, ami automatikusan nem jön létre.</a:t>
            </a:r>
          </a:p>
          <a:p>
            <a:pPr>
              <a:lnSpc>
                <a:spcPct val="90000"/>
              </a:lnSpc>
            </a:pPr>
            <a:r>
              <a:rPr lang="hu-HU" altLang="hu-HU" sz="2500"/>
              <a:t>A más rendszerekkel kapcsolatot tartó </a:t>
            </a:r>
            <a:r>
              <a:rPr lang="en-US" altLang="hu-HU" sz="2500"/>
              <a:t>&lt;&lt;Boundary&gt;&gt; </a:t>
            </a:r>
            <a:r>
              <a:rPr lang="hu-HU" altLang="hu-HU" sz="2500"/>
              <a:t>osztályokat általában alrendszerekként tervezzük, mivel általában összetett viselkedést takarnak. Ha egyszerű adattovábbítás a feladat, akkor lehet tervezési osztály is belőle.</a:t>
            </a:r>
          </a:p>
          <a:p>
            <a:pPr>
              <a:lnSpc>
                <a:spcPct val="90000"/>
              </a:lnSpc>
              <a:buFont typeface="Wingdings" panose="05000000000000000000" pitchFamily="2" charset="2"/>
              <a:buNone/>
            </a:pPr>
            <a:endParaRPr lang="hu-HU" altLang="hu-HU" sz="2500"/>
          </a:p>
        </p:txBody>
      </p:sp>
      <p:sp>
        <p:nvSpPr>
          <p:cNvPr id="4" name="Dátum helye 3"/>
          <p:cNvSpPr>
            <a:spLocks noGrp="1"/>
          </p:cNvSpPr>
          <p:nvPr>
            <p:ph type="dt" sz="half" idx="10"/>
          </p:nvPr>
        </p:nvSpPr>
        <p:spPr/>
        <p:txBody>
          <a:bodyPr/>
          <a:lstStyle/>
          <a:p>
            <a:fld id="{05DA1631-DB52-4F2D-AF06-0BDD6DA997D5}"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F1B3B193-10D3-40DC-9F08-A07164B059F9}" type="slidenum">
              <a:rPr lang="hu-HU" altLang="hu-HU"/>
              <a:pPr/>
              <a:t>88</a:t>
            </a:fld>
            <a:endParaRPr lang="hu-HU" altLang="hu-HU"/>
          </a:p>
        </p:txBody>
      </p:sp>
    </p:spTree>
    <p:extLst>
      <p:ext uri="{BB962C8B-B14F-4D97-AF65-F5344CB8AC3E}">
        <p14:creationId xmlns:p14="http://schemas.microsoft.com/office/powerpoint/2010/main" val="255771744"/>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p:txBody>
          <a:bodyPr/>
          <a:lstStyle/>
          <a:p>
            <a:r>
              <a:rPr lang="hu-HU" altLang="hu-HU"/>
              <a:t>Boundary </a:t>
            </a:r>
            <a:r>
              <a:rPr lang="hu-HU" altLang="hu-HU">
                <a:sym typeface="Symbol" panose="05050102010706020507" pitchFamily="18" charset="2"/>
              </a:rPr>
              <a:t> felhasználói felület</a:t>
            </a:r>
          </a:p>
        </p:txBody>
      </p:sp>
      <p:sp>
        <p:nvSpPr>
          <p:cNvPr id="220163" name="Rectangle 3"/>
          <p:cNvSpPr>
            <a:spLocks noGrp="1" noChangeArrowheads="1"/>
          </p:cNvSpPr>
          <p:nvPr>
            <p:ph idx="1"/>
          </p:nvPr>
        </p:nvSpPr>
        <p:spPr/>
        <p:txBody>
          <a:bodyPr/>
          <a:lstStyle/>
          <a:p>
            <a:r>
              <a:rPr lang="hu-HU" altLang="hu-HU"/>
              <a:t>Az elemzés eredménye egy osztály, amely leírja, hogy mit kell tudnia az adott felhasználói interakcióban a rendszernek.</a:t>
            </a:r>
          </a:p>
        </p:txBody>
      </p:sp>
      <p:sp>
        <p:nvSpPr>
          <p:cNvPr id="16" name="Dátum helye 3"/>
          <p:cNvSpPr>
            <a:spLocks noGrp="1"/>
          </p:cNvSpPr>
          <p:nvPr>
            <p:ph type="dt" sz="half" idx="10"/>
          </p:nvPr>
        </p:nvSpPr>
        <p:spPr/>
        <p:txBody>
          <a:bodyPr/>
          <a:lstStyle/>
          <a:p>
            <a:fld id="{339AEA00-40C2-456B-99F4-7B16DF38FA82}" type="datetime1">
              <a:rPr lang="hu-HU" altLang="hu-HU"/>
              <a:pPr/>
              <a:t>2024. 11. 28.</a:t>
            </a:fld>
            <a:endParaRPr lang="hu-HU" altLang="hu-HU"/>
          </a:p>
        </p:txBody>
      </p:sp>
      <p:sp>
        <p:nvSpPr>
          <p:cNvPr id="17" name="Élőláb helye 4"/>
          <p:cNvSpPr>
            <a:spLocks noGrp="1"/>
          </p:cNvSpPr>
          <p:nvPr>
            <p:ph type="ftr" sz="quarter" idx="11"/>
          </p:nvPr>
        </p:nvSpPr>
        <p:spPr/>
        <p:txBody>
          <a:bodyPr/>
          <a:lstStyle/>
          <a:p>
            <a:r>
              <a:rPr lang="hu-HU" altLang="hu-HU"/>
              <a:t>Szoftvertechnológia II.</a:t>
            </a:r>
          </a:p>
        </p:txBody>
      </p:sp>
      <p:sp>
        <p:nvSpPr>
          <p:cNvPr id="18" name="Dia számának helye 5"/>
          <p:cNvSpPr>
            <a:spLocks noGrp="1"/>
          </p:cNvSpPr>
          <p:nvPr>
            <p:ph type="sldNum" sz="quarter" idx="12"/>
          </p:nvPr>
        </p:nvSpPr>
        <p:spPr/>
        <p:txBody>
          <a:bodyPr/>
          <a:lstStyle/>
          <a:p>
            <a:fld id="{7B221AD1-9264-4B1F-92EC-29C799D61801}" type="slidenum">
              <a:rPr lang="hu-HU" altLang="hu-HU"/>
              <a:pPr/>
              <a:t>89</a:t>
            </a:fld>
            <a:endParaRPr lang="hu-HU" altLang="hu-HU"/>
          </a:p>
        </p:txBody>
      </p:sp>
      <p:grpSp>
        <p:nvGrpSpPr>
          <p:cNvPr id="220164" name="Group 4"/>
          <p:cNvGrpSpPr>
            <a:grpSpLocks/>
          </p:cNvGrpSpPr>
          <p:nvPr/>
        </p:nvGrpSpPr>
        <p:grpSpPr bwMode="auto">
          <a:xfrm>
            <a:off x="3287714" y="3789363"/>
            <a:ext cx="5826125" cy="2290762"/>
            <a:chOff x="1081" y="1892"/>
            <a:chExt cx="3670" cy="1443"/>
          </a:xfrm>
        </p:grpSpPr>
        <p:sp>
          <p:nvSpPr>
            <p:cNvPr id="220165" name="Rectangle 5"/>
            <p:cNvSpPr>
              <a:spLocks noChangeArrowheads="1"/>
            </p:cNvSpPr>
            <p:nvPr/>
          </p:nvSpPr>
          <p:spPr bwMode="auto">
            <a:xfrm>
              <a:off x="1081" y="1892"/>
              <a:ext cx="3670" cy="1443"/>
            </a:xfrm>
            <a:prstGeom prst="rect">
              <a:avLst/>
            </a:prstGeom>
            <a:solidFill>
              <a:srgbClr val="FFFFCC"/>
            </a:solidFill>
            <a:ln w="0">
              <a:solidFill>
                <a:srgbClr val="990033"/>
              </a:solidFill>
              <a:miter lim="800000"/>
              <a:headEnd/>
              <a:tailEnd/>
            </a:ln>
          </p:spPr>
          <p:txBody>
            <a:bodyPr/>
            <a:lstStyle/>
            <a:p>
              <a:endParaRPr lang="hu-HU"/>
            </a:p>
          </p:txBody>
        </p:sp>
        <p:sp>
          <p:nvSpPr>
            <p:cNvPr id="220166" name="Rectangle 6"/>
            <p:cNvSpPr>
              <a:spLocks noChangeArrowheads="1"/>
            </p:cNvSpPr>
            <p:nvPr/>
          </p:nvSpPr>
          <p:spPr bwMode="auto">
            <a:xfrm>
              <a:off x="2332" y="2068"/>
              <a:ext cx="122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500">
                  <a:solidFill>
                    <a:srgbClr val="000000"/>
                  </a:solidFill>
                </a:rPr>
                <a:t>Tanfolyami jelentkezés</a:t>
              </a:r>
              <a:endParaRPr lang="hu-HU" altLang="hu-HU" sz="2000" b="1" i="1">
                <a:solidFill>
                  <a:srgbClr val="000099"/>
                </a:solidFill>
              </a:endParaRPr>
            </a:p>
          </p:txBody>
        </p:sp>
        <p:sp>
          <p:nvSpPr>
            <p:cNvPr id="220167" name="Rectangle 7"/>
            <p:cNvSpPr>
              <a:spLocks noChangeArrowheads="1"/>
            </p:cNvSpPr>
            <p:nvPr/>
          </p:nvSpPr>
          <p:spPr bwMode="auto">
            <a:xfrm>
              <a:off x="1081" y="2234"/>
              <a:ext cx="3670" cy="1101"/>
            </a:xfrm>
            <a:prstGeom prst="rect">
              <a:avLst/>
            </a:prstGeom>
            <a:noFill/>
            <a:ln w="0">
              <a:solidFill>
                <a:srgbClr val="990033"/>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hu-HU"/>
            </a:p>
          </p:txBody>
        </p:sp>
        <p:sp>
          <p:nvSpPr>
            <p:cNvPr id="220168" name="Rectangle 8"/>
            <p:cNvSpPr>
              <a:spLocks noChangeArrowheads="1"/>
            </p:cNvSpPr>
            <p:nvPr/>
          </p:nvSpPr>
          <p:spPr bwMode="auto">
            <a:xfrm>
              <a:off x="1081" y="2308"/>
              <a:ext cx="3670" cy="1027"/>
            </a:xfrm>
            <a:prstGeom prst="rect">
              <a:avLst/>
            </a:prstGeom>
            <a:noFill/>
            <a:ln w="0">
              <a:solidFill>
                <a:srgbClr val="990033"/>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hu-HU"/>
            </a:p>
          </p:txBody>
        </p:sp>
        <p:sp>
          <p:nvSpPr>
            <p:cNvPr id="220169" name="Rectangle 9"/>
            <p:cNvSpPr>
              <a:spLocks noChangeArrowheads="1"/>
            </p:cNvSpPr>
            <p:nvPr/>
          </p:nvSpPr>
          <p:spPr bwMode="auto">
            <a:xfrm>
              <a:off x="1133" y="2401"/>
              <a:ext cx="352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500">
                  <a:solidFill>
                    <a:srgbClr val="000000"/>
                  </a:solidFill>
                </a:rPr>
                <a:t>+ Jelentkező adatainak megadása(név, cím, telefonszám, cégnév)</a:t>
              </a:r>
              <a:endParaRPr lang="hu-HU" altLang="hu-HU" sz="2000" b="1" i="1">
                <a:solidFill>
                  <a:srgbClr val="000099"/>
                </a:solidFill>
              </a:endParaRPr>
            </a:p>
          </p:txBody>
        </p:sp>
        <p:sp>
          <p:nvSpPr>
            <p:cNvPr id="220170" name="Rectangle 10"/>
            <p:cNvSpPr>
              <a:spLocks noChangeArrowheads="1"/>
            </p:cNvSpPr>
            <p:nvPr/>
          </p:nvSpPr>
          <p:spPr bwMode="auto">
            <a:xfrm>
              <a:off x="1156" y="2549"/>
              <a:ext cx="357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500">
                  <a:solidFill>
                    <a:srgbClr val="000000"/>
                  </a:solidFill>
                </a:rPr>
                <a:t>+ tanfolyam lista megjelenítése(cím, rövid tematika, teljes tematika)</a:t>
              </a:r>
              <a:endParaRPr lang="hu-HU" altLang="hu-HU" sz="2000" b="1" i="1">
                <a:solidFill>
                  <a:srgbClr val="000099"/>
                </a:solidFill>
              </a:endParaRPr>
            </a:p>
          </p:txBody>
        </p:sp>
        <p:sp>
          <p:nvSpPr>
            <p:cNvPr id="220171" name="Rectangle 11"/>
            <p:cNvSpPr>
              <a:spLocks noChangeArrowheads="1"/>
            </p:cNvSpPr>
            <p:nvPr/>
          </p:nvSpPr>
          <p:spPr bwMode="auto">
            <a:xfrm>
              <a:off x="1140" y="2697"/>
              <a:ext cx="139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500">
                  <a:solidFill>
                    <a:srgbClr val="000000"/>
                  </a:solidFill>
                </a:rPr>
                <a:t>+ tanfolyam kiválasztása()</a:t>
              </a:r>
              <a:endParaRPr lang="hu-HU" altLang="hu-HU" sz="2000" b="1" i="1">
                <a:solidFill>
                  <a:srgbClr val="000099"/>
                </a:solidFill>
              </a:endParaRPr>
            </a:p>
          </p:txBody>
        </p:sp>
        <p:sp>
          <p:nvSpPr>
            <p:cNvPr id="220172" name="Rectangle 12"/>
            <p:cNvSpPr>
              <a:spLocks noChangeArrowheads="1"/>
            </p:cNvSpPr>
            <p:nvPr/>
          </p:nvSpPr>
          <p:spPr bwMode="auto">
            <a:xfrm>
              <a:off x="1147" y="2845"/>
              <a:ext cx="322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500">
                  <a:solidFill>
                    <a:srgbClr val="000000"/>
                  </a:solidFill>
                </a:rPr>
                <a:t>+ időpontok listájának megjelenítése(kezdete, vége, oktatók)</a:t>
              </a:r>
              <a:endParaRPr lang="hu-HU" altLang="hu-HU" sz="2000" b="1" i="1">
                <a:solidFill>
                  <a:srgbClr val="000099"/>
                </a:solidFill>
              </a:endParaRPr>
            </a:p>
          </p:txBody>
        </p:sp>
        <p:sp>
          <p:nvSpPr>
            <p:cNvPr id="220173" name="Rectangle 13"/>
            <p:cNvSpPr>
              <a:spLocks noChangeArrowheads="1"/>
            </p:cNvSpPr>
            <p:nvPr/>
          </p:nvSpPr>
          <p:spPr bwMode="auto">
            <a:xfrm>
              <a:off x="1138" y="2983"/>
              <a:ext cx="126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500">
                  <a:solidFill>
                    <a:srgbClr val="000000"/>
                  </a:solidFill>
                </a:rPr>
                <a:t>+ időpont kiválasztása()</a:t>
              </a:r>
              <a:endParaRPr lang="hu-HU" altLang="hu-HU" sz="2000" b="1" i="1">
                <a:solidFill>
                  <a:srgbClr val="000099"/>
                </a:solidFill>
              </a:endParaRPr>
            </a:p>
          </p:txBody>
        </p:sp>
        <p:sp>
          <p:nvSpPr>
            <p:cNvPr id="220174" name="Rectangle 14"/>
            <p:cNvSpPr>
              <a:spLocks noChangeArrowheads="1"/>
            </p:cNvSpPr>
            <p:nvPr/>
          </p:nvSpPr>
          <p:spPr bwMode="auto">
            <a:xfrm>
              <a:off x="1144" y="3131"/>
              <a:ext cx="20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500">
                  <a:solidFill>
                    <a:srgbClr val="000000"/>
                  </a:solidFill>
                </a:rPr>
                <a:t>+ regisztráció a kiválasztott időpontra()</a:t>
              </a:r>
              <a:endParaRPr lang="hu-HU" altLang="hu-HU" sz="2000" b="1" i="1">
                <a:solidFill>
                  <a:srgbClr val="000099"/>
                </a:solidFill>
              </a:endParaRPr>
            </a:p>
          </p:txBody>
        </p:sp>
        <p:sp>
          <p:nvSpPr>
            <p:cNvPr id="220175" name="Rectangle 15"/>
            <p:cNvSpPr>
              <a:spLocks noChangeArrowheads="1"/>
            </p:cNvSpPr>
            <p:nvPr/>
          </p:nvSpPr>
          <p:spPr bwMode="auto">
            <a:xfrm>
              <a:off x="2548" y="1920"/>
              <a:ext cx="78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500">
                  <a:solidFill>
                    <a:srgbClr val="000000"/>
                  </a:solidFill>
                </a:rPr>
                <a:t>&lt;&lt;boundary&gt;&gt;</a:t>
              </a:r>
              <a:endParaRPr lang="hu-HU" altLang="hu-HU" sz="2000" b="1" i="1">
                <a:solidFill>
                  <a:srgbClr val="000099"/>
                </a:solidFill>
              </a:endParaRPr>
            </a:p>
          </p:txBody>
        </p:sp>
      </p:grpSp>
    </p:spTree>
    <p:extLst>
      <p:ext uri="{BB962C8B-B14F-4D97-AF65-F5344CB8AC3E}">
        <p14:creationId xmlns:p14="http://schemas.microsoft.com/office/powerpoint/2010/main" val="2526382883"/>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p:txBody>
          <a:bodyPr/>
          <a:lstStyle/>
          <a:p>
            <a:r>
              <a:rPr lang="hu-HU" altLang="hu-HU" sz="3400"/>
              <a:t>Felhasználói felület megvalósítva</a:t>
            </a:r>
          </a:p>
        </p:txBody>
      </p:sp>
      <p:sp>
        <p:nvSpPr>
          <p:cNvPr id="6" name="Dátum helye 3"/>
          <p:cNvSpPr>
            <a:spLocks noGrp="1"/>
          </p:cNvSpPr>
          <p:nvPr>
            <p:ph type="dt" sz="half" idx="10"/>
          </p:nvPr>
        </p:nvSpPr>
        <p:spPr/>
        <p:txBody>
          <a:bodyPr/>
          <a:lstStyle/>
          <a:p>
            <a:fld id="{9B1FDBCD-0483-4F60-B0DA-EC6AB3C92779}" type="datetime1">
              <a:rPr lang="hu-HU" altLang="hu-HU"/>
              <a:pPr/>
              <a:t>2024. 11. 28.</a:t>
            </a:fld>
            <a:endParaRPr lang="hu-HU" altLang="hu-HU"/>
          </a:p>
        </p:txBody>
      </p:sp>
      <p:sp>
        <p:nvSpPr>
          <p:cNvPr id="7" name="Élőláb helye 4"/>
          <p:cNvSpPr>
            <a:spLocks noGrp="1"/>
          </p:cNvSpPr>
          <p:nvPr>
            <p:ph type="ftr" sz="quarter" idx="11"/>
          </p:nvPr>
        </p:nvSpPr>
        <p:spPr/>
        <p:txBody>
          <a:bodyPr/>
          <a:lstStyle/>
          <a:p>
            <a:r>
              <a:rPr lang="hu-HU" altLang="hu-HU"/>
              <a:t>Szoftvertechnológia II.</a:t>
            </a:r>
          </a:p>
        </p:txBody>
      </p:sp>
      <p:sp>
        <p:nvSpPr>
          <p:cNvPr id="8" name="Dia számának helye 5"/>
          <p:cNvSpPr>
            <a:spLocks noGrp="1"/>
          </p:cNvSpPr>
          <p:nvPr>
            <p:ph type="sldNum" sz="quarter" idx="12"/>
          </p:nvPr>
        </p:nvSpPr>
        <p:spPr/>
        <p:txBody>
          <a:bodyPr/>
          <a:lstStyle/>
          <a:p>
            <a:fld id="{0FCB805E-C598-4525-B011-F5547F95A159}" type="slidenum">
              <a:rPr lang="hu-HU" altLang="hu-HU"/>
              <a:pPr/>
              <a:t>90</a:t>
            </a:fld>
            <a:endParaRPr lang="hu-HU" altLang="hu-HU"/>
          </a:p>
        </p:txBody>
      </p:sp>
      <p:pic>
        <p:nvPicPr>
          <p:cNvPr id="22118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8726" y="1768475"/>
            <a:ext cx="5541963" cy="371633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118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9876" y="2636839"/>
            <a:ext cx="4321175" cy="282098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119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0464" y="2997201"/>
            <a:ext cx="3240087" cy="3222625"/>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2305131"/>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p:txBody>
          <a:bodyPr/>
          <a:lstStyle/>
          <a:p>
            <a:r>
              <a:rPr lang="hu-HU" altLang="hu-HU"/>
              <a:t>Felhasználói felület modellje</a:t>
            </a:r>
          </a:p>
        </p:txBody>
      </p:sp>
      <p:sp>
        <p:nvSpPr>
          <p:cNvPr id="222211" name="Rectangle 3"/>
          <p:cNvSpPr>
            <a:spLocks noGrp="1" noChangeArrowheads="1"/>
          </p:cNvSpPr>
          <p:nvPr>
            <p:ph idx="1"/>
          </p:nvPr>
        </p:nvSpPr>
        <p:spPr>
          <a:xfrm>
            <a:off x="5951538" y="1752601"/>
            <a:ext cx="4140200" cy="2613025"/>
          </a:xfrm>
        </p:spPr>
        <p:txBody>
          <a:bodyPr/>
          <a:lstStyle/>
          <a:p>
            <a:pPr>
              <a:lnSpc>
                <a:spcPct val="90000"/>
              </a:lnSpc>
            </a:pPr>
            <a:r>
              <a:rPr lang="hu-HU" altLang="hu-HU" sz="2000"/>
              <a:t>A tervezés során a modellezési konvenciónak a megvalósító környezet fogalmai szerint kell megjeleníteni a szerkezetet. Ezt az architektúrális tervezés szakaszában kell kialakítani!</a:t>
            </a:r>
          </a:p>
        </p:txBody>
      </p:sp>
      <p:sp>
        <p:nvSpPr>
          <p:cNvPr id="73" name="Dátum helye 3"/>
          <p:cNvSpPr>
            <a:spLocks noGrp="1"/>
          </p:cNvSpPr>
          <p:nvPr>
            <p:ph type="dt" sz="half" idx="10"/>
          </p:nvPr>
        </p:nvSpPr>
        <p:spPr/>
        <p:txBody>
          <a:bodyPr/>
          <a:lstStyle/>
          <a:p>
            <a:fld id="{5EC332FB-BFAC-495A-805F-064977D72600}" type="datetime1">
              <a:rPr lang="hu-HU" altLang="hu-HU"/>
              <a:pPr/>
              <a:t>2024. 11. 28.</a:t>
            </a:fld>
            <a:endParaRPr lang="hu-HU" altLang="hu-HU"/>
          </a:p>
        </p:txBody>
      </p:sp>
      <p:sp>
        <p:nvSpPr>
          <p:cNvPr id="74" name="Élőláb helye 4"/>
          <p:cNvSpPr>
            <a:spLocks noGrp="1"/>
          </p:cNvSpPr>
          <p:nvPr>
            <p:ph type="ftr" sz="quarter" idx="11"/>
          </p:nvPr>
        </p:nvSpPr>
        <p:spPr/>
        <p:txBody>
          <a:bodyPr/>
          <a:lstStyle/>
          <a:p>
            <a:r>
              <a:rPr lang="hu-HU" altLang="hu-HU"/>
              <a:t>Szoftvertechnológia II.</a:t>
            </a:r>
          </a:p>
        </p:txBody>
      </p:sp>
      <p:sp>
        <p:nvSpPr>
          <p:cNvPr id="75" name="Dia számának helye 5"/>
          <p:cNvSpPr>
            <a:spLocks noGrp="1"/>
          </p:cNvSpPr>
          <p:nvPr>
            <p:ph type="sldNum" sz="quarter" idx="12"/>
          </p:nvPr>
        </p:nvSpPr>
        <p:spPr/>
        <p:txBody>
          <a:bodyPr/>
          <a:lstStyle/>
          <a:p>
            <a:fld id="{4FC68A21-C714-4712-968C-E163CCC795C4}" type="slidenum">
              <a:rPr lang="hu-HU" altLang="hu-HU"/>
              <a:pPr/>
              <a:t>91</a:t>
            </a:fld>
            <a:endParaRPr lang="hu-HU" altLang="hu-HU"/>
          </a:p>
        </p:txBody>
      </p:sp>
      <p:grpSp>
        <p:nvGrpSpPr>
          <p:cNvPr id="222212" name="Group 4"/>
          <p:cNvGrpSpPr>
            <a:grpSpLocks/>
          </p:cNvGrpSpPr>
          <p:nvPr/>
        </p:nvGrpSpPr>
        <p:grpSpPr bwMode="auto">
          <a:xfrm>
            <a:off x="2374900" y="2109789"/>
            <a:ext cx="7653338" cy="4162425"/>
            <a:chOff x="368" y="905"/>
            <a:chExt cx="4821" cy="2622"/>
          </a:xfrm>
        </p:grpSpPr>
        <p:sp>
          <p:nvSpPr>
            <p:cNvPr id="222213" name="Rectangle 5"/>
            <p:cNvSpPr>
              <a:spLocks noChangeArrowheads="1"/>
            </p:cNvSpPr>
            <p:nvPr/>
          </p:nvSpPr>
          <p:spPr bwMode="auto">
            <a:xfrm>
              <a:off x="436" y="905"/>
              <a:ext cx="1926" cy="924"/>
            </a:xfrm>
            <a:prstGeom prst="rect">
              <a:avLst/>
            </a:prstGeom>
            <a:solidFill>
              <a:srgbClr val="FFFFCC"/>
            </a:solidFill>
            <a:ln w="0">
              <a:solidFill>
                <a:srgbClr val="990033"/>
              </a:solidFill>
              <a:miter lim="800000"/>
              <a:headEnd/>
              <a:tailEnd/>
            </a:ln>
          </p:spPr>
          <p:txBody>
            <a:bodyPr/>
            <a:lstStyle/>
            <a:p>
              <a:endParaRPr lang="hu-HU"/>
            </a:p>
          </p:txBody>
        </p:sp>
        <p:sp>
          <p:nvSpPr>
            <p:cNvPr id="222214" name="Rectangle 6"/>
            <p:cNvSpPr>
              <a:spLocks noChangeArrowheads="1"/>
            </p:cNvSpPr>
            <p:nvPr/>
          </p:nvSpPr>
          <p:spPr bwMode="auto">
            <a:xfrm>
              <a:off x="1108" y="1073"/>
              <a:ext cx="63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400">
                  <a:solidFill>
                    <a:srgbClr val="000000"/>
                  </a:solidFill>
                </a:rPr>
                <a:t>tblTanfolyam</a:t>
              </a:r>
              <a:endParaRPr lang="hu-HU" altLang="hu-HU" sz="2000" b="1" i="1">
                <a:solidFill>
                  <a:srgbClr val="000099"/>
                </a:solidFill>
              </a:endParaRPr>
            </a:p>
          </p:txBody>
        </p:sp>
        <p:sp>
          <p:nvSpPr>
            <p:cNvPr id="222215" name="Rectangle 7"/>
            <p:cNvSpPr>
              <a:spLocks noChangeArrowheads="1"/>
            </p:cNvSpPr>
            <p:nvPr/>
          </p:nvSpPr>
          <p:spPr bwMode="auto">
            <a:xfrm>
              <a:off x="436" y="1224"/>
              <a:ext cx="1926" cy="605"/>
            </a:xfrm>
            <a:prstGeom prst="rect">
              <a:avLst/>
            </a:prstGeom>
            <a:noFill/>
            <a:ln w="0">
              <a:solidFill>
                <a:srgbClr val="990033"/>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hu-HU"/>
            </a:p>
          </p:txBody>
        </p:sp>
        <p:sp>
          <p:nvSpPr>
            <p:cNvPr id="222216" name="Rectangle 8"/>
            <p:cNvSpPr>
              <a:spLocks noChangeArrowheads="1"/>
            </p:cNvSpPr>
            <p:nvPr/>
          </p:nvSpPr>
          <p:spPr bwMode="auto">
            <a:xfrm>
              <a:off x="436" y="1560"/>
              <a:ext cx="1926" cy="269"/>
            </a:xfrm>
            <a:prstGeom prst="rect">
              <a:avLst/>
            </a:prstGeom>
            <a:noFill/>
            <a:ln w="0">
              <a:solidFill>
                <a:srgbClr val="990033"/>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hu-HU"/>
            </a:p>
          </p:txBody>
        </p:sp>
        <p:pic>
          <p:nvPicPr>
            <p:cNvPr id="222217"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 y="1241"/>
              <a:ext cx="135"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2218"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 y="1241"/>
              <a:ext cx="135"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2219"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 y="1241"/>
              <a:ext cx="135"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2220" name="Rectangle 12"/>
            <p:cNvSpPr>
              <a:spLocks noChangeArrowheads="1"/>
            </p:cNvSpPr>
            <p:nvPr/>
          </p:nvSpPr>
          <p:spPr bwMode="auto">
            <a:xfrm>
              <a:off x="608" y="1241"/>
              <a:ext cx="122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400">
                  <a:solidFill>
                    <a:srgbClr val="000000"/>
                  </a:solidFill>
                </a:rPr>
                <a:t>&lt;&lt;column&gt;&gt; név : String</a:t>
              </a:r>
              <a:endParaRPr lang="hu-HU" altLang="hu-HU" sz="2000" b="1" i="1">
                <a:solidFill>
                  <a:srgbClr val="000099"/>
                </a:solidFill>
              </a:endParaRPr>
            </a:p>
          </p:txBody>
        </p:sp>
        <p:pic>
          <p:nvPicPr>
            <p:cNvPr id="222221"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 y="1376"/>
              <a:ext cx="135"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2222"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 y="1376"/>
              <a:ext cx="135"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2223"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 y="1376"/>
              <a:ext cx="135"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2224" name="Rectangle 16"/>
            <p:cNvSpPr>
              <a:spLocks noChangeArrowheads="1"/>
            </p:cNvSpPr>
            <p:nvPr/>
          </p:nvSpPr>
          <p:spPr bwMode="auto">
            <a:xfrm>
              <a:off x="611" y="1376"/>
              <a:ext cx="175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400">
                  <a:solidFill>
                    <a:srgbClr val="000000"/>
                  </a:solidFill>
                </a:rPr>
                <a:t>&lt;&lt;column&gt;&gt; tematika : Long String</a:t>
              </a:r>
              <a:endParaRPr lang="hu-HU" altLang="hu-HU" sz="2000" b="1" i="1">
                <a:solidFill>
                  <a:srgbClr val="000099"/>
                </a:solidFill>
              </a:endParaRPr>
            </a:p>
          </p:txBody>
        </p:sp>
        <p:pic>
          <p:nvPicPr>
            <p:cNvPr id="222225" name="Picture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 y="1644"/>
              <a:ext cx="135"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2226" name="Picture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 y="1644"/>
              <a:ext cx="135"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2227" name="Picture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 y="1644"/>
              <a:ext cx="135"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2228" name="Rectangle 20"/>
            <p:cNvSpPr>
              <a:spLocks noChangeArrowheads="1"/>
            </p:cNvSpPr>
            <p:nvPr/>
          </p:nvSpPr>
          <p:spPr bwMode="auto">
            <a:xfrm>
              <a:off x="600" y="1644"/>
              <a:ext cx="122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400">
                  <a:solidFill>
                    <a:srgbClr val="000000"/>
                  </a:solidFill>
                </a:rPr>
                <a:t>&lt;&lt;event&gt;&gt; doubleClick()</a:t>
              </a:r>
              <a:endParaRPr lang="hu-HU" altLang="hu-HU" sz="2000" b="1" i="1">
                <a:solidFill>
                  <a:srgbClr val="000099"/>
                </a:solidFill>
              </a:endParaRPr>
            </a:p>
          </p:txBody>
        </p:sp>
        <p:sp>
          <p:nvSpPr>
            <p:cNvPr id="222229" name="Rectangle 21"/>
            <p:cNvSpPr>
              <a:spLocks noChangeArrowheads="1"/>
            </p:cNvSpPr>
            <p:nvPr/>
          </p:nvSpPr>
          <p:spPr bwMode="auto">
            <a:xfrm>
              <a:off x="979" y="939"/>
              <a:ext cx="88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400">
                  <a:solidFill>
                    <a:srgbClr val="000000"/>
                  </a:solidFill>
                </a:rPr>
                <a:t>&lt;&lt;tablewindow&gt;&gt;</a:t>
              </a:r>
              <a:endParaRPr lang="hu-HU" altLang="hu-HU" sz="2000" b="1" i="1">
                <a:solidFill>
                  <a:srgbClr val="000099"/>
                </a:solidFill>
              </a:endParaRPr>
            </a:p>
          </p:txBody>
        </p:sp>
        <p:sp>
          <p:nvSpPr>
            <p:cNvPr id="222230" name="Rectangle 22"/>
            <p:cNvSpPr>
              <a:spLocks noChangeArrowheads="1"/>
            </p:cNvSpPr>
            <p:nvPr/>
          </p:nvSpPr>
          <p:spPr bwMode="auto">
            <a:xfrm>
              <a:off x="368" y="2468"/>
              <a:ext cx="2061" cy="1059"/>
            </a:xfrm>
            <a:prstGeom prst="rect">
              <a:avLst/>
            </a:prstGeom>
            <a:solidFill>
              <a:srgbClr val="FFFFCC"/>
            </a:solidFill>
            <a:ln w="0">
              <a:solidFill>
                <a:srgbClr val="990033"/>
              </a:solidFill>
              <a:miter lim="800000"/>
              <a:headEnd/>
              <a:tailEnd/>
            </a:ln>
          </p:spPr>
          <p:txBody>
            <a:bodyPr/>
            <a:lstStyle/>
            <a:p>
              <a:endParaRPr lang="hu-HU"/>
            </a:p>
          </p:txBody>
        </p:sp>
        <p:sp>
          <p:nvSpPr>
            <p:cNvPr id="222231" name="Rectangle 23"/>
            <p:cNvSpPr>
              <a:spLocks noChangeArrowheads="1"/>
            </p:cNvSpPr>
            <p:nvPr/>
          </p:nvSpPr>
          <p:spPr bwMode="auto">
            <a:xfrm>
              <a:off x="919" y="2636"/>
              <a:ext cx="100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400">
                  <a:solidFill>
                    <a:srgbClr val="000000"/>
                  </a:solidFill>
                </a:rPr>
                <a:t>tlbTanfolyamIdopont</a:t>
              </a:r>
              <a:endParaRPr lang="hu-HU" altLang="hu-HU" sz="2000" b="1" i="1">
                <a:solidFill>
                  <a:srgbClr val="000099"/>
                </a:solidFill>
              </a:endParaRPr>
            </a:p>
          </p:txBody>
        </p:sp>
        <p:sp>
          <p:nvSpPr>
            <p:cNvPr id="222232" name="Rectangle 24"/>
            <p:cNvSpPr>
              <a:spLocks noChangeArrowheads="1"/>
            </p:cNvSpPr>
            <p:nvPr/>
          </p:nvSpPr>
          <p:spPr bwMode="auto">
            <a:xfrm>
              <a:off x="368" y="2787"/>
              <a:ext cx="2061" cy="740"/>
            </a:xfrm>
            <a:prstGeom prst="rect">
              <a:avLst/>
            </a:prstGeom>
            <a:noFill/>
            <a:ln w="0">
              <a:solidFill>
                <a:srgbClr val="990033"/>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hu-HU"/>
            </a:p>
          </p:txBody>
        </p:sp>
        <p:sp>
          <p:nvSpPr>
            <p:cNvPr id="222233" name="Rectangle 25"/>
            <p:cNvSpPr>
              <a:spLocks noChangeArrowheads="1"/>
            </p:cNvSpPr>
            <p:nvPr/>
          </p:nvSpPr>
          <p:spPr bwMode="auto">
            <a:xfrm>
              <a:off x="368" y="3258"/>
              <a:ext cx="2061" cy="269"/>
            </a:xfrm>
            <a:prstGeom prst="rect">
              <a:avLst/>
            </a:prstGeom>
            <a:noFill/>
            <a:ln w="0">
              <a:solidFill>
                <a:srgbClr val="990033"/>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hu-HU"/>
            </a:p>
          </p:txBody>
        </p:sp>
        <p:pic>
          <p:nvPicPr>
            <p:cNvPr id="222234" name="Picture 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 y="2804"/>
              <a:ext cx="134"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2235"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 y="2804"/>
              <a:ext cx="134"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2236" name="Picture 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 y="2804"/>
              <a:ext cx="134"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2237" name="Rectangle 29"/>
            <p:cNvSpPr>
              <a:spLocks noChangeArrowheads="1"/>
            </p:cNvSpPr>
            <p:nvPr/>
          </p:nvSpPr>
          <p:spPr bwMode="auto">
            <a:xfrm>
              <a:off x="539" y="2804"/>
              <a:ext cx="190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400">
                  <a:solidFill>
                    <a:srgbClr val="000000"/>
                  </a:solidFill>
                </a:rPr>
                <a:t>&lt;&lt;column&gt;&gt; tanfolyam kezdete : Date</a:t>
              </a:r>
              <a:endParaRPr lang="hu-HU" altLang="hu-HU" sz="2000" b="1" i="1">
                <a:solidFill>
                  <a:srgbClr val="000099"/>
                </a:solidFill>
              </a:endParaRPr>
            </a:p>
          </p:txBody>
        </p:sp>
        <p:pic>
          <p:nvPicPr>
            <p:cNvPr id="222238" name="Picture 3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 y="2938"/>
              <a:ext cx="134"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2239" name="Picture 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 y="2938"/>
              <a:ext cx="134"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2240" name="Picture 3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 y="2938"/>
              <a:ext cx="134"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2241" name="Rectangle 33"/>
            <p:cNvSpPr>
              <a:spLocks noChangeArrowheads="1"/>
            </p:cNvSpPr>
            <p:nvPr/>
          </p:nvSpPr>
          <p:spPr bwMode="auto">
            <a:xfrm>
              <a:off x="530" y="2938"/>
              <a:ext cx="175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400">
                  <a:solidFill>
                    <a:srgbClr val="000000"/>
                  </a:solidFill>
                </a:rPr>
                <a:t>&lt;&lt;column&gt;&gt; tanfolyam vége : Date</a:t>
              </a:r>
              <a:endParaRPr lang="hu-HU" altLang="hu-HU" sz="2000" b="1" i="1">
                <a:solidFill>
                  <a:srgbClr val="000099"/>
                </a:solidFill>
              </a:endParaRPr>
            </a:p>
          </p:txBody>
        </p:sp>
        <p:pic>
          <p:nvPicPr>
            <p:cNvPr id="222242" name="Picture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 y="3073"/>
              <a:ext cx="134"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2243" name="Picture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 y="3073"/>
              <a:ext cx="134"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2244" name="Picture 3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 y="3073"/>
              <a:ext cx="134"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2245" name="Rectangle 37"/>
            <p:cNvSpPr>
              <a:spLocks noChangeArrowheads="1"/>
            </p:cNvSpPr>
            <p:nvPr/>
          </p:nvSpPr>
          <p:spPr bwMode="auto">
            <a:xfrm>
              <a:off x="550" y="3073"/>
              <a:ext cx="1410"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400">
                  <a:solidFill>
                    <a:srgbClr val="000000"/>
                  </a:solidFill>
                </a:rPr>
                <a:t>&lt;&lt;column&gt;&gt; oktatók : String</a:t>
              </a:r>
              <a:endParaRPr lang="hu-HU" altLang="hu-HU" sz="2000" b="1" i="1">
                <a:solidFill>
                  <a:srgbClr val="000099"/>
                </a:solidFill>
              </a:endParaRPr>
            </a:p>
          </p:txBody>
        </p:sp>
        <p:pic>
          <p:nvPicPr>
            <p:cNvPr id="222246" name="Picture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 y="3342"/>
              <a:ext cx="134"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2247" name="Picture 3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4" y="3342"/>
              <a:ext cx="134"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2248" name="Picture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 y="3342"/>
              <a:ext cx="134"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2249" name="Rectangle 41"/>
            <p:cNvSpPr>
              <a:spLocks noChangeArrowheads="1"/>
            </p:cNvSpPr>
            <p:nvPr/>
          </p:nvSpPr>
          <p:spPr bwMode="auto">
            <a:xfrm>
              <a:off x="532" y="3342"/>
              <a:ext cx="122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400">
                  <a:solidFill>
                    <a:srgbClr val="000000"/>
                  </a:solidFill>
                </a:rPr>
                <a:t>&lt;&lt;event&gt;&gt; doubleClick()</a:t>
              </a:r>
              <a:endParaRPr lang="hu-HU" altLang="hu-HU" sz="2000" b="1" i="1">
                <a:solidFill>
                  <a:srgbClr val="000099"/>
                </a:solidFill>
              </a:endParaRPr>
            </a:p>
          </p:txBody>
        </p:sp>
        <p:sp>
          <p:nvSpPr>
            <p:cNvPr id="222250" name="Rectangle 42"/>
            <p:cNvSpPr>
              <a:spLocks noChangeArrowheads="1"/>
            </p:cNvSpPr>
            <p:nvPr/>
          </p:nvSpPr>
          <p:spPr bwMode="auto">
            <a:xfrm>
              <a:off x="979" y="2501"/>
              <a:ext cx="88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400">
                  <a:solidFill>
                    <a:srgbClr val="000000"/>
                  </a:solidFill>
                </a:rPr>
                <a:t>&lt;&lt;tablewindow&gt;&gt;</a:t>
              </a:r>
              <a:endParaRPr lang="hu-HU" altLang="hu-HU" sz="2000" b="1" i="1">
                <a:solidFill>
                  <a:srgbClr val="000099"/>
                </a:solidFill>
              </a:endParaRPr>
            </a:p>
          </p:txBody>
        </p:sp>
        <p:sp>
          <p:nvSpPr>
            <p:cNvPr id="222251" name="Rectangle 43"/>
            <p:cNvSpPr>
              <a:spLocks noChangeArrowheads="1"/>
            </p:cNvSpPr>
            <p:nvPr/>
          </p:nvSpPr>
          <p:spPr bwMode="auto">
            <a:xfrm>
              <a:off x="3304" y="2476"/>
              <a:ext cx="1876" cy="1042"/>
            </a:xfrm>
            <a:prstGeom prst="rect">
              <a:avLst/>
            </a:prstGeom>
            <a:solidFill>
              <a:srgbClr val="FFFFCC"/>
            </a:solidFill>
            <a:ln w="0">
              <a:solidFill>
                <a:srgbClr val="990033"/>
              </a:solidFill>
              <a:miter lim="800000"/>
              <a:headEnd/>
              <a:tailEnd/>
            </a:ln>
          </p:spPr>
          <p:txBody>
            <a:bodyPr/>
            <a:lstStyle/>
            <a:p>
              <a:endParaRPr lang="hu-HU"/>
            </a:p>
          </p:txBody>
        </p:sp>
        <p:sp>
          <p:nvSpPr>
            <p:cNvPr id="222252" name="Rectangle 44"/>
            <p:cNvSpPr>
              <a:spLocks noChangeArrowheads="1"/>
            </p:cNvSpPr>
            <p:nvPr/>
          </p:nvSpPr>
          <p:spPr bwMode="auto">
            <a:xfrm>
              <a:off x="3913" y="2510"/>
              <a:ext cx="70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400">
                  <a:solidFill>
                    <a:srgbClr val="000000"/>
                  </a:solidFill>
                </a:rPr>
                <a:t>frmJelentkezo</a:t>
              </a:r>
              <a:endParaRPr lang="hu-HU" altLang="hu-HU" sz="2000" b="1" i="1">
                <a:solidFill>
                  <a:srgbClr val="000099"/>
                </a:solidFill>
              </a:endParaRPr>
            </a:p>
          </p:txBody>
        </p:sp>
        <p:sp>
          <p:nvSpPr>
            <p:cNvPr id="222253" name="Rectangle 45"/>
            <p:cNvSpPr>
              <a:spLocks noChangeArrowheads="1"/>
            </p:cNvSpPr>
            <p:nvPr/>
          </p:nvSpPr>
          <p:spPr bwMode="auto">
            <a:xfrm>
              <a:off x="3304" y="2661"/>
              <a:ext cx="1876" cy="857"/>
            </a:xfrm>
            <a:prstGeom prst="rect">
              <a:avLst/>
            </a:prstGeom>
            <a:noFill/>
            <a:ln w="0">
              <a:solidFill>
                <a:srgbClr val="990033"/>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hu-HU"/>
            </a:p>
          </p:txBody>
        </p:sp>
        <p:sp>
          <p:nvSpPr>
            <p:cNvPr id="222254" name="Rectangle 46"/>
            <p:cNvSpPr>
              <a:spLocks noChangeArrowheads="1"/>
            </p:cNvSpPr>
            <p:nvPr/>
          </p:nvSpPr>
          <p:spPr bwMode="auto">
            <a:xfrm>
              <a:off x="3304" y="3266"/>
              <a:ext cx="1876" cy="252"/>
            </a:xfrm>
            <a:prstGeom prst="rect">
              <a:avLst/>
            </a:prstGeom>
            <a:noFill/>
            <a:ln w="0">
              <a:solidFill>
                <a:srgbClr val="990033"/>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hu-HU"/>
            </a:p>
          </p:txBody>
        </p:sp>
        <p:pic>
          <p:nvPicPr>
            <p:cNvPr id="222255" name="Picture 4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0" y="2678"/>
              <a:ext cx="134"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2256" name="Picture 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0" y="2678"/>
              <a:ext cx="134"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2257" name="Picture 4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0" y="2678"/>
              <a:ext cx="134"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2258" name="Rectangle 50"/>
            <p:cNvSpPr>
              <a:spLocks noChangeArrowheads="1"/>
            </p:cNvSpPr>
            <p:nvPr/>
          </p:nvSpPr>
          <p:spPr bwMode="auto">
            <a:xfrm>
              <a:off x="3471" y="2678"/>
              <a:ext cx="1290"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400">
                  <a:solidFill>
                    <a:srgbClr val="000000"/>
                  </a:solidFill>
                </a:rPr>
                <a:t>&lt;&lt;datafield&gt;&gt; név : String</a:t>
              </a:r>
              <a:endParaRPr lang="hu-HU" altLang="hu-HU" sz="2000" b="1" i="1">
                <a:solidFill>
                  <a:srgbClr val="000099"/>
                </a:solidFill>
              </a:endParaRPr>
            </a:p>
          </p:txBody>
        </p:sp>
        <p:pic>
          <p:nvPicPr>
            <p:cNvPr id="222259" name="Picture 5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0" y="2812"/>
              <a:ext cx="134"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2260" name="Picture 5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0" y="2812"/>
              <a:ext cx="134"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2261" name="Picture 5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0" y="2812"/>
              <a:ext cx="134"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2262" name="Rectangle 54"/>
            <p:cNvSpPr>
              <a:spLocks noChangeArrowheads="1"/>
            </p:cNvSpPr>
            <p:nvPr/>
          </p:nvSpPr>
          <p:spPr bwMode="auto">
            <a:xfrm>
              <a:off x="3472" y="2812"/>
              <a:ext cx="157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400">
                  <a:solidFill>
                    <a:srgbClr val="000000"/>
                  </a:solidFill>
                </a:rPr>
                <a:t>&lt;&lt;datafield&gt;&gt; cím : Long String</a:t>
              </a:r>
              <a:endParaRPr lang="hu-HU" altLang="hu-HU" sz="2000" b="1" i="1">
                <a:solidFill>
                  <a:srgbClr val="000099"/>
                </a:solidFill>
              </a:endParaRPr>
            </a:p>
          </p:txBody>
        </p:sp>
        <p:pic>
          <p:nvPicPr>
            <p:cNvPr id="222263" name="Picture 5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0" y="2947"/>
              <a:ext cx="134"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2264" name="Picture 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0" y="2947"/>
              <a:ext cx="134"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2265" name="Picture 5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0" y="2947"/>
              <a:ext cx="134"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2266" name="Rectangle 58"/>
            <p:cNvSpPr>
              <a:spLocks noChangeArrowheads="1"/>
            </p:cNvSpPr>
            <p:nvPr/>
          </p:nvSpPr>
          <p:spPr bwMode="auto">
            <a:xfrm>
              <a:off x="3472" y="2947"/>
              <a:ext cx="171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400">
                  <a:solidFill>
                    <a:srgbClr val="000000"/>
                  </a:solidFill>
                </a:rPr>
                <a:t>&lt;&lt;datafield&gt;&gt; telefonszám : String</a:t>
              </a:r>
              <a:endParaRPr lang="hu-HU" altLang="hu-HU" sz="2000" b="1" i="1">
                <a:solidFill>
                  <a:srgbClr val="000099"/>
                </a:solidFill>
              </a:endParaRPr>
            </a:p>
          </p:txBody>
        </p:sp>
        <p:pic>
          <p:nvPicPr>
            <p:cNvPr id="222267" name="Picture 5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0" y="3081"/>
              <a:ext cx="134"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2268" name="Picture 6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0" y="3081"/>
              <a:ext cx="134"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2269" name="Picture 6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0" y="3081"/>
              <a:ext cx="134"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2270" name="Rectangle 62"/>
            <p:cNvSpPr>
              <a:spLocks noChangeArrowheads="1"/>
            </p:cNvSpPr>
            <p:nvPr/>
          </p:nvSpPr>
          <p:spPr bwMode="auto">
            <a:xfrm>
              <a:off x="3468" y="3081"/>
              <a:ext cx="1472"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400">
                  <a:solidFill>
                    <a:srgbClr val="000000"/>
                  </a:solidFill>
                </a:rPr>
                <a:t>&lt;&lt;datafield&gt;&gt; cégnév : String</a:t>
              </a:r>
              <a:endParaRPr lang="hu-HU" altLang="hu-HU" sz="2000" b="1" i="1">
                <a:solidFill>
                  <a:srgbClr val="000099"/>
                </a:solidFill>
              </a:endParaRPr>
            </a:p>
          </p:txBody>
        </p:sp>
        <p:pic>
          <p:nvPicPr>
            <p:cNvPr id="222271" name="Picture 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0" y="3350"/>
              <a:ext cx="134"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2272" name="Picture 6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30" y="3350"/>
              <a:ext cx="134"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2273" name="Picture 6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0" y="3350"/>
              <a:ext cx="134"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2274" name="Rectangle 66"/>
            <p:cNvSpPr>
              <a:spLocks noChangeArrowheads="1"/>
            </p:cNvSpPr>
            <p:nvPr/>
          </p:nvSpPr>
          <p:spPr bwMode="auto">
            <a:xfrm>
              <a:off x="3478" y="3350"/>
              <a:ext cx="125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a:solidFill>
                    <a:schemeClr val="tx1"/>
                  </a:solidFill>
                  <a:latin typeface="Arial" panose="020B0604020202020204" pitchFamily="34" charset="0"/>
                </a:defRPr>
              </a:lvl1pPr>
              <a:lvl2pPr defTabSz="762000">
                <a:defRPr>
                  <a:solidFill>
                    <a:schemeClr val="tx1"/>
                  </a:solidFill>
                  <a:latin typeface="Arial" panose="020B0604020202020204" pitchFamily="34" charset="0"/>
                </a:defRPr>
              </a:lvl2pPr>
              <a:lvl3pPr defTabSz="762000">
                <a:defRPr>
                  <a:solidFill>
                    <a:schemeClr val="tx1"/>
                  </a:solidFill>
                  <a:latin typeface="Arial" panose="020B0604020202020204" pitchFamily="34" charset="0"/>
                </a:defRPr>
              </a:lvl3pPr>
              <a:lvl4pPr defTabSz="762000">
                <a:defRPr>
                  <a:solidFill>
                    <a:schemeClr val="tx1"/>
                  </a:solidFill>
                  <a:latin typeface="Arial" panose="020B0604020202020204" pitchFamily="34" charset="0"/>
                </a:defRPr>
              </a:lvl4pPr>
              <a:lvl5pPr defTabSz="762000">
                <a:defRPr>
                  <a:solidFill>
                    <a:schemeClr val="tx1"/>
                  </a:solidFill>
                  <a:latin typeface="Arial" panose="020B0604020202020204" pitchFamily="34" charset="0"/>
                </a:defRPr>
              </a:lvl5pPr>
              <a:lvl6pPr defTabSz="762000" fontAlgn="base">
                <a:spcBef>
                  <a:spcPct val="0"/>
                </a:spcBef>
                <a:spcAft>
                  <a:spcPct val="0"/>
                </a:spcAft>
                <a:defRPr>
                  <a:solidFill>
                    <a:schemeClr val="tx1"/>
                  </a:solidFill>
                  <a:latin typeface="Arial" panose="020B0604020202020204" pitchFamily="34" charset="0"/>
                </a:defRPr>
              </a:lvl6pPr>
              <a:lvl7pPr defTabSz="762000" fontAlgn="base">
                <a:spcBef>
                  <a:spcPct val="0"/>
                </a:spcBef>
                <a:spcAft>
                  <a:spcPct val="0"/>
                </a:spcAft>
                <a:defRPr>
                  <a:solidFill>
                    <a:schemeClr val="tx1"/>
                  </a:solidFill>
                  <a:latin typeface="Arial" panose="020B0604020202020204" pitchFamily="34" charset="0"/>
                </a:defRPr>
              </a:lvl7pPr>
              <a:lvl8pPr defTabSz="762000" fontAlgn="base">
                <a:spcBef>
                  <a:spcPct val="0"/>
                </a:spcBef>
                <a:spcAft>
                  <a:spcPct val="0"/>
                </a:spcAft>
                <a:defRPr>
                  <a:solidFill>
                    <a:schemeClr val="tx1"/>
                  </a:solidFill>
                  <a:latin typeface="Arial" panose="020B0604020202020204" pitchFamily="34" charset="0"/>
                </a:defRPr>
              </a:lvl8pPr>
              <a:lvl9pPr defTabSz="762000" fontAlgn="base">
                <a:spcBef>
                  <a:spcPct val="0"/>
                </a:spcBef>
                <a:spcAft>
                  <a:spcPct val="0"/>
                </a:spcAft>
                <a:defRPr>
                  <a:solidFill>
                    <a:schemeClr val="tx1"/>
                  </a:solidFill>
                  <a:latin typeface="Arial" panose="020B0604020202020204" pitchFamily="34" charset="0"/>
                </a:defRPr>
              </a:lvl9pPr>
            </a:lstStyle>
            <a:p>
              <a:pPr algn="ctr" eaLnBrk="0" hangingPunct="0"/>
              <a:r>
                <a:rPr lang="hu-HU" altLang="hu-HU" sz="1400">
                  <a:solidFill>
                    <a:srgbClr val="000000"/>
                  </a:solidFill>
                </a:rPr>
                <a:t>&lt;&lt;button&gt;&gt; regisztráció()</a:t>
              </a:r>
              <a:endParaRPr lang="hu-HU" altLang="hu-HU" sz="2000" b="1" i="1">
                <a:solidFill>
                  <a:srgbClr val="000099"/>
                </a:solidFill>
              </a:endParaRPr>
            </a:p>
          </p:txBody>
        </p:sp>
        <p:sp>
          <p:nvSpPr>
            <p:cNvPr id="222275" name="Line 67"/>
            <p:cNvSpPr>
              <a:spLocks noChangeShapeType="1"/>
            </p:cNvSpPr>
            <p:nvPr/>
          </p:nvSpPr>
          <p:spPr bwMode="auto">
            <a:xfrm>
              <a:off x="1403" y="1829"/>
              <a:ext cx="1" cy="639"/>
            </a:xfrm>
            <a:prstGeom prst="line">
              <a:avLst/>
            </a:prstGeom>
            <a:noFill/>
            <a:ln w="0">
              <a:solidFill>
                <a:srgbClr val="990033"/>
              </a:solidFill>
              <a:prstDash val="sysDash"/>
              <a:round/>
              <a:headEnd/>
              <a:tailEnd/>
            </a:ln>
            <a:extLst>
              <a:ext uri="{909E8E84-426E-40DD-AFC4-6F175D3DCCD1}">
                <a14:hiddenFill xmlns:a14="http://schemas.microsoft.com/office/drawing/2010/main">
                  <a:noFill/>
                </a14:hiddenFill>
              </a:ext>
            </a:extLst>
          </p:spPr>
          <p:txBody>
            <a:bodyPr/>
            <a:lstStyle/>
            <a:p>
              <a:endParaRPr lang="hu-HU"/>
            </a:p>
          </p:txBody>
        </p:sp>
        <p:sp>
          <p:nvSpPr>
            <p:cNvPr id="222276" name="Line 68"/>
            <p:cNvSpPr>
              <a:spLocks noChangeShapeType="1"/>
            </p:cNvSpPr>
            <p:nvPr/>
          </p:nvSpPr>
          <p:spPr bwMode="auto">
            <a:xfrm flipV="1">
              <a:off x="1403" y="2375"/>
              <a:ext cx="34" cy="93"/>
            </a:xfrm>
            <a:prstGeom prst="line">
              <a:avLst/>
            </a:prstGeom>
            <a:noFill/>
            <a:ln w="0">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222277" name="Line 69"/>
            <p:cNvSpPr>
              <a:spLocks noChangeShapeType="1"/>
            </p:cNvSpPr>
            <p:nvPr/>
          </p:nvSpPr>
          <p:spPr bwMode="auto">
            <a:xfrm flipH="1" flipV="1">
              <a:off x="1361" y="2375"/>
              <a:ext cx="42" cy="93"/>
            </a:xfrm>
            <a:prstGeom prst="line">
              <a:avLst/>
            </a:prstGeom>
            <a:noFill/>
            <a:ln w="0">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222278" name="Line 70"/>
            <p:cNvSpPr>
              <a:spLocks noChangeShapeType="1"/>
            </p:cNvSpPr>
            <p:nvPr/>
          </p:nvSpPr>
          <p:spPr bwMode="auto">
            <a:xfrm>
              <a:off x="2429" y="2997"/>
              <a:ext cx="875" cy="1"/>
            </a:xfrm>
            <a:prstGeom prst="line">
              <a:avLst/>
            </a:prstGeom>
            <a:noFill/>
            <a:ln w="0">
              <a:solidFill>
                <a:srgbClr val="990033"/>
              </a:solidFill>
              <a:prstDash val="sysDash"/>
              <a:round/>
              <a:headEnd/>
              <a:tailEnd/>
            </a:ln>
            <a:extLst>
              <a:ext uri="{909E8E84-426E-40DD-AFC4-6F175D3DCCD1}">
                <a14:hiddenFill xmlns:a14="http://schemas.microsoft.com/office/drawing/2010/main">
                  <a:noFill/>
                </a14:hiddenFill>
              </a:ext>
            </a:extLst>
          </p:spPr>
          <p:txBody>
            <a:bodyPr/>
            <a:lstStyle/>
            <a:p>
              <a:endParaRPr lang="hu-HU"/>
            </a:p>
          </p:txBody>
        </p:sp>
        <p:sp>
          <p:nvSpPr>
            <p:cNvPr id="222279" name="Line 71"/>
            <p:cNvSpPr>
              <a:spLocks noChangeShapeType="1"/>
            </p:cNvSpPr>
            <p:nvPr/>
          </p:nvSpPr>
          <p:spPr bwMode="auto">
            <a:xfrm flipH="1">
              <a:off x="3203" y="2997"/>
              <a:ext cx="101" cy="42"/>
            </a:xfrm>
            <a:prstGeom prst="line">
              <a:avLst/>
            </a:prstGeom>
            <a:noFill/>
            <a:ln w="0">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222280" name="Line 72"/>
            <p:cNvSpPr>
              <a:spLocks noChangeShapeType="1"/>
            </p:cNvSpPr>
            <p:nvPr/>
          </p:nvSpPr>
          <p:spPr bwMode="auto">
            <a:xfrm flipH="1" flipV="1">
              <a:off x="3203" y="2955"/>
              <a:ext cx="101" cy="42"/>
            </a:xfrm>
            <a:prstGeom prst="line">
              <a:avLst/>
            </a:prstGeom>
            <a:noFill/>
            <a:ln w="0">
              <a:solidFill>
                <a:srgbClr val="990033"/>
              </a:solidFill>
              <a:round/>
              <a:headEnd/>
              <a:tailEnd/>
            </a:ln>
            <a:extLst>
              <a:ext uri="{909E8E84-426E-40DD-AFC4-6F175D3DCCD1}">
                <a14:hiddenFill xmlns:a14="http://schemas.microsoft.com/office/drawing/2010/main">
                  <a:noFill/>
                </a14:hiddenFill>
              </a:ext>
            </a:extLst>
          </p:spPr>
          <p:txBody>
            <a:bodyPr/>
            <a:lstStyle/>
            <a:p>
              <a:endParaRPr lang="hu-HU"/>
            </a:p>
          </p:txBody>
        </p:sp>
      </p:grpSp>
    </p:spTree>
    <p:extLst>
      <p:ext uri="{BB962C8B-B14F-4D97-AF65-F5344CB8AC3E}">
        <p14:creationId xmlns:p14="http://schemas.microsoft.com/office/powerpoint/2010/main" val="2822334829"/>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r>
              <a:rPr lang="en-US" altLang="hu-HU"/>
              <a:t>&lt;&lt;Entity&gt;&gt; oszt</a:t>
            </a:r>
            <a:r>
              <a:rPr lang="hu-HU" altLang="hu-HU"/>
              <a:t>ályok</a:t>
            </a:r>
          </a:p>
        </p:txBody>
      </p:sp>
      <p:sp>
        <p:nvSpPr>
          <p:cNvPr id="223235" name="Rectangle 3"/>
          <p:cNvSpPr>
            <a:spLocks noGrp="1" noChangeArrowheads="1"/>
          </p:cNvSpPr>
          <p:nvPr>
            <p:ph idx="1"/>
          </p:nvPr>
        </p:nvSpPr>
        <p:spPr/>
        <p:txBody>
          <a:bodyPr>
            <a:normAutofit lnSpcReduction="10000"/>
          </a:bodyPr>
          <a:lstStyle/>
          <a:p>
            <a:pPr>
              <a:lnSpc>
                <a:spcPct val="80000"/>
              </a:lnSpc>
            </a:pPr>
            <a:r>
              <a:rPr lang="hu-HU" altLang="hu-HU" sz="2600"/>
              <a:t>Általában passzívak és perzisztensek.</a:t>
            </a:r>
          </a:p>
          <a:p>
            <a:pPr>
              <a:lnSpc>
                <a:spcPct val="80000"/>
              </a:lnSpc>
            </a:pPr>
            <a:r>
              <a:rPr lang="hu-HU" altLang="hu-HU" sz="2600"/>
              <a:t>Perzisztens: képes az állapotát tárolni valamilyen háttértáron.</a:t>
            </a:r>
          </a:p>
          <a:p>
            <a:pPr>
              <a:lnSpc>
                <a:spcPct val="80000"/>
              </a:lnSpc>
            </a:pPr>
            <a:r>
              <a:rPr lang="hu-HU" altLang="hu-HU" sz="2600"/>
              <a:t>Lehetnek perzisztens és tranziens példányai a perzisztensnek jelölt osztályoknak is.</a:t>
            </a:r>
          </a:p>
          <a:p>
            <a:pPr>
              <a:lnSpc>
                <a:spcPct val="80000"/>
              </a:lnSpc>
            </a:pPr>
            <a:r>
              <a:rPr lang="hu-HU" altLang="hu-HU" sz="2600"/>
              <a:t>Az adatbázis tervezés során kell őket figyelembe venni.</a:t>
            </a:r>
          </a:p>
          <a:p>
            <a:pPr>
              <a:lnSpc>
                <a:spcPct val="80000"/>
              </a:lnSpc>
            </a:pPr>
            <a:r>
              <a:rPr lang="hu-HU" altLang="hu-HU" sz="2600"/>
              <a:t>Perzisztens osztályok nemcsak </a:t>
            </a:r>
            <a:r>
              <a:rPr lang="en-US" altLang="hu-HU" sz="2600"/>
              <a:t>&lt;&lt;Entity&gt;&gt; </a:t>
            </a:r>
            <a:r>
              <a:rPr lang="hu-HU" altLang="hu-HU" sz="2600"/>
              <a:t>osztályokból keletkeznek, hanem például folyamat - vagy tranzakció - vezérlő osztályokból is (nem-funkcionális követelmények).</a:t>
            </a:r>
          </a:p>
        </p:txBody>
      </p:sp>
      <p:sp>
        <p:nvSpPr>
          <p:cNvPr id="4" name="Dátum helye 3"/>
          <p:cNvSpPr>
            <a:spLocks noGrp="1"/>
          </p:cNvSpPr>
          <p:nvPr>
            <p:ph type="dt" sz="half" idx="10"/>
          </p:nvPr>
        </p:nvSpPr>
        <p:spPr/>
        <p:txBody>
          <a:bodyPr/>
          <a:lstStyle/>
          <a:p>
            <a:fld id="{5B5DE977-88A6-4D30-8291-D7C8E0AD6029}"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A5B32129-9369-41B7-AF90-31C9FCEAAFE9}" type="slidenum">
              <a:rPr lang="hu-HU" altLang="hu-HU"/>
              <a:pPr/>
              <a:t>92</a:t>
            </a:fld>
            <a:endParaRPr lang="hu-HU" altLang="hu-HU"/>
          </a:p>
        </p:txBody>
      </p:sp>
    </p:spTree>
    <p:extLst>
      <p:ext uri="{BB962C8B-B14F-4D97-AF65-F5344CB8AC3E}">
        <p14:creationId xmlns:p14="http://schemas.microsoft.com/office/powerpoint/2010/main" val="2677558766"/>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ChangeArrowheads="1"/>
          </p:cNvSpPr>
          <p:nvPr>
            <p:ph type="title"/>
          </p:nvPr>
        </p:nvSpPr>
        <p:spPr/>
        <p:txBody>
          <a:bodyPr/>
          <a:lstStyle/>
          <a:p>
            <a:r>
              <a:rPr lang="hu-HU" altLang="hu-HU"/>
              <a:t>&lt;</a:t>
            </a:r>
            <a:r>
              <a:rPr lang="en-US" altLang="hu-HU"/>
              <a:t>&lt;Control&gt;&gt; oszt</a:t>
            </a:r>
            <a:r>
              <a:rPr lang="hu-HU" altLang="hu-HU"/>
              <a:t>ályok</a:t>
            </a:r>
          </a:p>
        </p:txBody>
      </p:sp>
      <p:sp>
        <p:nvSpPr>
          <p:cNvPr id="224259" name="Rectangle 3"/>
          <p:cNvSpPr>
            <a:spLocks noGrp="1" noChangeArrowheads="1"/>
          </p:cNvSpPr>
          <p:nvPr>
            <p:ph idx="1"/>
          </p:nvPr>
        </p:nvSpPr>
        <p:spPr/>
        <p:txBody>
          <a:bodyPr>
            <a:normAutofit/>
          </a:bodyPr>
          <a:lstStyle/>
          <a:p>
            <a:pPr>
              <a:lnSpc>
                <a:spcPct val="80000"/>
              </a:lnSpc>
            </a:pPr>
            <a:r>
              <a:rPr lang="hu-HU" altLang="hu-HU" sz="2200"/>
              <a:t>A használati esetek végrehajtásáért felelősek, azt a logikát tartalmazzák, ami nem a &lt;&lt;Boundary&gt;&gt; és nem az &lt;&lt;Entity&gt;&gt; osztályokhoz tartozik </a:t>
            </a:r>
            <a:r>
              <a:rPr lang="hu-HU" altLang="hu-HU" sz="2200">
                <a:sym typeface="Wingdings" panose="05000000000000000000" pitchFamily="2" charset="2"/>
              </a:rPr>
              <a:t> alkalmazási logika vagy üzleti logika.</a:t>
            </a:r>
          </a:p>
          <a:p>
            <a:pPr>
              <a:lnSpc>
                <a:spcPct val="80000"/>
              </a:lnSpc>
            </a:pPr>
            <a:r>
              <a:rPr lang="hu-HU" altLang="hu-HU" sz="2200">
                <a:sym typeface="Wingdings" panose="05000000000000000000" pitchFamily="2" charset="2"/>
              </a:rPr>
              <a:t>A tervezésük során figyelembeveend</a:t>
            </a:r>
            <a:r>
              <a:rPr lang="hu-HU" altLang="hu-HU" sz="2200"/>
              <a:t>ő szempontok:</a:t>
            </a:r>
          </a:p>
          <a:p>
            <a:pPr lvl="1">
              <a:lnSpc>
                <a:spcPct val="80000"/>
              </a:lnSpc>
            </a:pPr>
            <a:r>
              <a:rPr lang="hu-HU" altLang="hu-HU" sz="2100"/>
              <a:t>Komplexitás: az egyszerű vezérlés megoldható boundary vagy entity osztályokkal is.</a:t>
            </a:r>
          </a:p>
          <a:p>
            <a:pPr lvl="1">
              <a:lnSpc>
                <a:spcPct val="80000"/>
              </a:lnSpc>
            </a:pPr>
            <a:r>
              <a:rPr lang="hu-HU" altLang="hu-HU" sz="2100"/>
              <a:t>Változás valószínűsége: ha kicsi, akkor a control osztályok bevezetése nem indokolt.</a:t>
            </a:r>
          </a:p>
          <a:p>
            <a:pPr lvl="1">
              <a:lnSpc>
                <a:spcPct val="80000"/>
              </a:lnSpc>
            </a:pPr>
            <a:r>
              <a:rPr lang="hu-HU" altLang="hu-HU" sz="2100"/>
              <a:t>Elosztás és hatékonyság: ha elosztott a rendszerünk, akkor rendszerint kellenek control osztályok.</a:t>
            </a:r>
          </a:p>
          <a:p>
            <a:pPr lvl="1">
              <a:lnSpc>
                <a:spcPct val="80000"/>
              </a:lnSpc>
            </a:pPr>
            <a:r>
              <a:rPr lang="hu-HU" altLang="hu-HU" sz="2100"/>
              <a:t>Tranzakció-kezelés: ha a keretrendszerünk nem tartalmazza, akkor szükség van control osztályra.</a:t>
            </a:r>
            <a:endParaRPr lang="hu-HU" altLang="hu-HU" sz="2000"/>
          </a:p>
        </p:txBody>
      </p:sp>
      <p:sp>
        <p:nvSpPr>
          <p:cNvPr id="4" name="Dátum helye 3"/>
          <p:cNvSpPr>
            <a:spLocks noGrp="1"/>
          </p:cNvSpPr>
          <p:nvPr>
            <p:ph type="dt" sz="half" idx="10"/>
          </p:nvPr>
        </p:nvSpPr>
        <p:spPr/>
        <p:txBody>
          <a:bodyPr/>
          <a:lstStyle/>
          <a:p>
            <a:fld id="{FBCE2599-F8F4-40EE-80D6-C448CBA6CE12}"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7D86E883-2984-49A8-9AE4-AFC0FA1D83E2}" type="slidenum">
              <a:rPr lang="hu-HU" altLang="hu-HU"/>
              <a:pPr/>
              <a:t>93</a:t>
            </a:fld>
            <a:endParaRPr lang="hu-HU" altLang="hu-HU"/>
          </a:p>
        </p:txBody>
      </p:sp>
    </p:spTree>
    <p:extLst>
      <p:ext uri="{BB962C8B-B14F-4D97-AF65-F5344CB8AC3E}">
        <p14:creationId xmlns:p14="http://schemas.microsoft.com/office/powerpoint/2010/main" val="217887030"/>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p:txBody>
          <a:bodyPr/>
          <a:lstStyle/>
          <a:p>
            <a:r>
              <a:rPr lang="hu-HU" altLang="hu-HU"/>
              <a:t>Láthatóság meghatározása</a:t>
            </a:r>
          </a:p>
        </p:txBody>
      </p:sp>
      <p:sp>
        <p:nvSpPr>
          <p:cNvPr id="225283" name="Rectangle 3"/>
          <p:cNvSpPr>
            <a:spLocks noGrp="1" noChangeArrowheads="1"/>
          </p:cNvSpPr>
          <p:nvPr>
            <p:ph idx="1"/>
          </p:nvPr>
        </p:nvSpPr>
        <p:spPr/>
        <p:txBody>
          <a:bodyPr/>
          <a:lstStyle/>
          <a:p>
            <a:r>
              <a:rPr lang="hu-HU" altLang="hu-HU"/>
              <a:t>Minden egyes osztályhoz határozzuk meg a láthatóságát:</a:t>
            </a:r>
          </a:p>
          <a:p>
            <a:pPr lvl="1"/>
            <a:r>
              <a:rPr lang="hu-HU" altLang="hu-HU"/>
              <a:t>Public: az osztályt tartalmazó csomagon kívülről is elérhető.</a:t>
            </a:r>
          </a:p>
          <a:p>
            <a:pPr lvl="1"/>
            <a:r>
              <a:rPr lang="hu-HU" altLang="hu-HU"/>
              <a:t>Protected: csak a leszármazottak hivatkozhatnak rá.</a:t>
            </a:r>
          </a:p>
          <a:p>
            <a:endParaRPr lang="hu-HU" altLang="hu-HU"/>
          </a:p>
        </p:txBody>
      </p:sp>
      <p:sp>
        <p:nvSpPr>
          <p:cNvPr id="4" name="Dátum helye 3"/>
          <p:cNvSpPr>
            <a:spLocks noGrp="1"/>
          </p:cNvSpPr>
          <p:nvPr>
            <p:ph type="dt" sz="half" idx="10"/>
          </p:nvPr>
        </p:nvSpPr>
        <p:spPr/>
        <p:txBody>
          <a:bodyPr/>
          <a:lstStyle/>
          <a:p>
            <a:fld id="{42842C21-9DE6-4A25-BC07-78B842A35F04}"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AC7C7908-773B-4D6B-82BB-35E681E72773}" type="slidenum">
              <a:rPr lang="hu-HU" altLang="hu-HU"/>
              <a:pPr/>
              <a:t>94</a:t>
            </a:fld>
            <a:endParaRPr lang="hu-HU" altLang="hu-HU"/>
          </a:p>
        </p:txBody>
      </p:sp>
    </p:spTree>
    <p:extLst>
      <p:ext uri="{BB962C8B-B14F-4D97-AF65-F5344CB8AC3E}">
        <p14:creationId xmlns:p14="http://schemas.microsoft.com/office/powerpoint/2010/main" val="2302733147"/>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p:txBody>
          <a:bodyPr/>
          <a:lstStyle/>
          <a:p>
            <a:r>
              <a:rPr lang="hu-HU" altLang="hu-HU"/>
              <a:t>Műveletek definiálása</a:t>
            </a:r>
          </a:p>
        </p:txBody>
      </p:sp>
      <p:sp>
        <p:nvSpPr>
          <p:cNvPr id="228355" name="Rectangle 3"/>
          <p:cNvSpPr>
            <a:spLocks noGrp="1" noChangeArrowheads="1"/>
          </p:cNvSpPr>
          <p:nvPr>
            <p:ph idx="1"/>
          </p:nvPr>
        </p:nvSpPr>
        <p:spPr/>
        <p:txBody>
          <a:bodyPr/>
          <a:lstStyle/>
          <a:p>
            <a:pPr>
              <a:lnSpc>
                <a:spcPct val="90000"/>
              </a:lnSpc>
            </a:pPr>
            <a:r>
              <a:rPr lang="hu-HU" altLang="hu-HU" sz="2600"/>
              <a:t>Vegyük sorra az elemzési osztályok szolgáltatásait, és mindegyikhez definiáljunk egy műveletet.</a:t>
            </a:r>
          </a:p>
          <a:p>
            <a:pPr lvl="1">
              <a:lnSpc>
                <a:spcPct val="90000"/>
              </a:lnSpc>
            </a:pPr>
            <a:r>
              <a:rPr lang="hu-HU" altLang="hu-HU" sz="2200"/>
              <a:t>A szolgáltatás leírása alapján készítsük el a művelet első leírását.</a:t>
            </a:r>
          </a:p>
          <a:p>
            <a:pPr lvl="1">
              <a:lnSpc>
                <a:spcPct val="90000"/>
              </a:lnSpc>
            </a:pPr>
            <a:r>
              <a:rPr lang="hu-HU" altLang="hu-HU" sz="2200"/>
              <a:t>Nézzük meg azon használati eset megvalósításokat, amelyekben az osztály részt vesz, így pontosíthatjuk a művelet definícióját, paramétereit, visszatérési értékét, leírását.</a:t>
            </a:r>
          </a:p>
          <a:p>
            <a:pPr lvl="1">
              <a:lnSpc>
                <a:spcPct val="90000"/>
              </a:lnSpc>
            </a:pPr>
            <a:r>
              <a:rPr lang="hu-HU" altLang="hu-HU" sz="2200"/>
              <a:t>A használati esetben megfogalmazott nem-funkcionális követelményeket is vegyük figyelembe.</a:t>
            </a:r>
          </a:p>
        </p:txBody>
      </p:sp>
      <p:sp>
        <p:nvSpPr>
          <p:cNvPr id="4" name="Dátum helye 3"/>
          <p:cNvSpPr>
            <a:spLocks noGrp="1"/>
          </p:cNvSpPr>
          <p:nvPr>
            <p:ph type="dt" sz="half" idx="10"/>
          </p:nvPr>
        </p:nvSpPr>
        <p:spPr/>
        <p:txBody>
          <a:bodyPr/>
          <a:lstStyle/>
          <a:p>
            <a:fld id="{40A7D3BE-8353-4A24-A428-D2C0FF6E47BC}"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6B46B35A-B17E-4700-A409-DEC184D1E17B}" type="slidenum">
              <a:rPr lang="hu-HU" altLang="hu-HU"/>
              <a:pPr/>
              <a:t>95</a:t>
            </a:fld>
            <a:endParaRPr lang="hu-HU" altLang="hu-HU"/>
          </a:p>
        </p:txBody>
      </p:sp>
    </p:spTree>
    <p:extLst>
      <p:ext uri="{BB962C8B-B14F-4D97-AF65-F5344CB8AC3E}">
        <p14:creationId xmlns:p14="http://schemas.microsoft.com/office/powerpoint/2010/main" val="2439405212"/>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p:txBody>
          <a:bodyPr/>
          <a:lstStyle/>
          <a:p>
            <a:r>
              <a:rPr lang="hu-HU" altLang="hu-HU"/>
              <a:t>Műveletek tervezése</a:t>
            </a:r>
          </a:p>
        </p:txBody>
      </p:sp>
      <p:sp>
        <p:nvSpPr>
          <p:cNvPr id="229379" name="Rectangle 3"/>
          <p:cNvSpPr>
            <a:spLocks noGrp="1" noChangeArrowheads="1"/>
          </p:cNvSpPr>
          <p:nvPr>
            <p:ph idx="1"/>
          </p:nvPr>
        </p:nvSpPr>
        <p:spPr/>
        <p:txBody>
          <a:bodyPr>
            <a:normAutofit lnSpcReduction="10000"/>
          </a:bodyPr>
          <a:lstStyle/>
          <a:p>
            <a:pPr>
              <a:lnSpc>
                <a:spcPct val="90000"/>
              </a:lnSpc>
            </a:pPr>
            <a:r>
              <a:rPr lang="hu-HU" altLang="hu-HU" sz="2100"/>
              <a:t>A használati eset megvalósítások alapján definiálhatókon kívül műveletekre is szükség lehet:</a:t>
            </a:r>
          </a:p>
          <a:p>
            <a:pPr lvl="1">
              <a:lnSpc>
                <a:spcPct val="90000"/>
              </a:lnSpc>
            </a:pPr>
            <a:r>
              <a:rPr lang="hu-HU" altLang="hu-HU" sz="2000"/>
              <a:t>Létre lehet-e hozni, lehet-e inicializálni az osztály példányát? (Beleértve a más objektumokkal való kapcsolatot is.)</a:t>
            </a:r>
          </a:p>
          <a:p>
            <a:pPr lvl="1">
              <a:lnSpc>
                <a:spcPct val="90000"/>
              </a:lnSpc>
            </a:pPr>
            <a:r>
              <a:rPr lang="hu-HU" altLang="hu-HU" sz="2000"/>
              <a:t>Szükséges-e annak ellenőrzése, hogy két objektum azonos e (azaz attribútumaik és kapcsolataik megegyeznek-e, elosztott rendszerben nehéz ügy)?</a:t>
            </a:r>
          </a:p>
          <a:p>
            <a:pPr lvl="1">
              <a:lnSpc>
                <a:spcPct val="90000"/>
              </a:lnSpc>
            </a:pPr>
            <a:r>
              <a:rPr lang="hu-HU" altLang="hu-HU" sz="2000"/>
              <a:t>Le kell-e másolni egy objektumot?</a:t>
            </a:r>
          </a:p>
          <a:p>
            <a:pPr lvl="1">
              <a:lnSpc>
                <a:spcPct val="90000"/>
              </a:lnSpc>
            </a:pPr>
            <a:r>
              <a:rPr lang="hu-HU" altLang="hu-HU" sz="2000"/>
              <a:t>Szükség van-e egyéb műveletekre a mechanizmusok megvalósításához? (Például szemét-gyűjtési mecha-nizmus megköveteli, hogy egy objektum törölni tudja az összes egyéb objektumra vonatkozó referenciáit.)</a:t>
            </a:r>
          </a:p>
        </p:txBody>
      </p:sp>
      <p:sp>
        <p:nvSpPr>
          <p:cNvPr id="4" name="Dátum helye 3"/>
          <p:cNvSpPr>
            <a:spLocks noGrp="1"/>
          </p:cNvSpPr>
          <p:nvPr>
            <p:ph type="dt" sz="half" idx="10"/>
          </p:nvPr>
        </p:nvSpPr>
        <p:spPr/>
        <p:txBody>
          <a:bodyPr/>
          <a:lstStyle/>
          <a:p>
            <a:fld id="{5AAE5234-BCDC-4842-8463-1BD1C62AE1C9}"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AEC95744-9751-4B01-AA23-C949ED041591}" type="slidenum">
              <a:rPr lang="hu-HU" altLang="hu-HU"/>
              <a:pPr/>
              <a:t>96</a:t>
            </a:fld>
            <a:endParaRPr lang="hu-HU" altLang="hu-HU"/>
          </a:p>
        </p:txBody>
      </p:sp>
    </p:spTree>
    <p:extLst>
      <p:ext uri="{BB962C8B-B14F-4D97-AF65-F5344CB8AC3E}">
        <p14:creationId xmlns:p14="http://schemas.microsoft.com/office/powerpoint/2010/main" val="1783039165"/>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p:txBody>
          <a:bodyPr/>
          <a:lstStyle/>
          <a:p>
            <a:r>
              <a:rPr lang="hu-HU" altLang="hu-HU"/>
              <a:t>Műveletek tervezése (folyt.)</a:t>
            </a:r>
          </a:p>
        </p:txBody>
      </p:sp>
      <p:sp>
        <p:nvSpPr>
          <p:cNvPr id="230403" name="Rectangle 3"/>
          <p:cNvSpPr>
            <a:spLocks noGrp="1" noChangeArrowheads="1"/>
          </p:cNvSpPr>
          <p:nvPr>
            <p:ph idx="1"/>
          </p:nvPr>
        </p:nvSpPr>
        <p:spPr/>
        <p:txBody>
          <a:bodyPr>
            <a:normAutofit fontScale="92500" lnSpcReduction="20000"/>
          </a:bodyPr>
          <a:lstStyle/>
          <a:p>
            <a:pPr>
              <a:lnSpc>
                <a:spcPct val="80000"/>
              </a:lnSpc>
            </a:pPr>
            <a:r>
              <a:rPr lang="hu-HU" altLang="hu-HU" sz="2100"/>
              <a:t>Minden művelethez meg kell adni:</a:t>
            </a:r>
          </a:p>
          <a:p>
            <a:pPr lvl="1">
              <a:lnSpc>
                <a:spcPct val="80000"/>
              </a:lnSpc>
            </a:pPr>
            <a:r>
              <a:rPr lang="hu-HU" altLang="hu-HU" sz="2000"/>
              <a:t>A művelet neve: rövid, de kifejező név (mit fog a művelet eredményezni).</a:t>
            </a:r>
          </a:p>
          <a:p>
            <a:pPr lvl="2">
              <a:lnSpc>
                <a:spcPct val="80000"/>
              </a:lnSpc>
            </a:pPr>
            <a:r>
              <a:rPr lang="hu-HU" altLang="hu-HU" sz="1800"/>
              <a:t>Az implementációs nyelv szintaxisa szerint.</a:t>
            </a:r>
          </a:p>
          <a:p>
            <a:pPr lvl="1">
              <a:lnSpc>
                <a:spcPct val="80000"/>
              </a:lnSpc>
            </a:pPr>
            <a:r>
              <a:rPr lang="hu-HU" altLang="hu-HU" sz="2000"/>
              <a:t>Visszatérési érték típusa.</a:t>
            </a:r>
          </a:p>
          <a:p>
            <a:pPr lvl="1">
              <a:lnSpc>
                <a:spcPct val="80000"/>
              </a:lnSpc>
            </a:pPr>
            <a:r>
              <a:rPr lang="hu-HU" altLang="hu-HU" sz="2000"/>
              <a:t>Rövid leírás:  néhány mondat a művelet hívójának szemszögéből (nem algoritmus).</a:t>
            </a:r>
          </a:p>
          <a:p>
            <a:pPr lvl="1">
              <a:lnSpc>
                <a:spcPct val="80000"/>
              </a:lnSpc>
            </a:pPr>
            <a:r>
              <a:rPr lang="hu-HU" altLang="hu-HU" sz="2000"/>
              <a:t>Paraméterek:</a:t>
            </a:r>
          </a:p>
          <a:p>
            <a:pPr lvl="2">
              <a:lnSpc>
                <a:spcPct val="80000"/>
              </a:lnSpc>
            </a:pPr>
            <a:r>
              <a:rPr lang="hu-HU" altLang="hu-HU" sz="1800"/>
              <a:t>Minden paraméterhez:</a:t>
            </a:r>
          </a:p>
          <a:p>
            <a:pPr lvl="3">
              <a:lnSpc>
                <a:spcPct val="80000"/>
              </a:lnSpc>
            </a:pPr>
            <a:r>
              <a:rPr lang="hu-HU" altLang="hu-HU" sz="1600"/>
              <a:t>Név.</a:t>
            </a:r>
          </a:p>
          <a:p>
            <a:pPr lvl="3">
              <a:lnSpc>
                <a:spcPct val="80000"/>
              </a:lnSpc>
            </a:pPr>
            <a:r>
              <a:rPr lang="hu-HU" altLang="hu-HU" sz="1600"/>
              <a:t>Típus.</a:t>
            </a:r>
          </a:p>
          <a:p>
            <a:pPr lvl="3">
              <a:lnSpc>
                <a:spcPct val="80000"/>
              </a:lnSpc>
            </a:pPr>
            <a:r>
              <a:rPr lang="hu-HU" altLang="hu-HU" sz="1600"/>
              <a:t>Rövid leírás: a paraméter jelentése, cím vagy érték szerinti, kötelező vagy opcionális, default értéke, érvényes értékek.</a:t>
            </a:r>
          </a:p>
          <a:p>
            <a:pPr lvl="2">
              <a:lnSpc>
                <a:spcPct val="80000"/>
              </a:lnSpc>
            </a:pPr>
            <a:r>
              <a:rPr lang="hu-HU" altLang="hu-HU" sz="1800"/>
              <a:t>Kevesebb paraméter </a:t>
            </a:r>
            <a:r>
              <a:rPr lang="hu-HU" altLang="hu-HU" sz="1800">
                <a:sym typeface="Wingdings" panose="05000000000000000000" pitchFamily="2" charset="2"/>
              </a:rPr>
              <a:t> könnyebben használható fel újra, könnyebben érthet</a:t>
            </a:r>
            <a:r>
              <a:rPr lang="hu-HU" altLang="hu-HU" sz="1800"/>
              <a:t>ő (OO előny!).</a:t>
            </a:r>
          </a:p>
        </p:txBody>
      </p:sp>
      <p:sp>
        <p:nvSpPr>
          <p:cNvPr id="4" name="Dátum helye 3"/>
          <p:cNvSpPr>
            <a:spLocks noGrp="1"/>
          </p:cNvSpPr>
          <p:nvPr>
            <p:ph type="dt" sz="half" idx="10"/>
          </p:nvPr>
        </p:nvSpPr>
        <p:spPr/>
        <p:txBody>
          <a:bodyPr/>
          <a:lstStyle/>
          <a:p>
            <a:fld id="{310E08AB-F8A9-4041-9C5B-906B6AC9B882}"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C5FEA9B3-D7B7-4C78-AA76-C6DA1ABE0500}" type="slidenum">
              <a:rPr lang="hu-HU" altLang="hu-HU"/>
              <a:pPr/>
              <a:t>97</a:t>
            </a:fld>
            <a:endParaRPr lang="hu-HU" altLang="hu-HU"/>
          </a:p>
        </p:txBody>
      </p:sp>
    </p:spTree>
    <p:extLst>
      <p:ext uri="{BB962C8B-B14F-4D97-AF65-F5344CB8AC3E}">
        <p14:creationId xmlns:p14="http://schemas.microsoft.com/office/powerpoint/2010/main" val="77974557"/>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p:txBody>
          <a:bodyPr/>
          <a:lstStyle/>
          <a:p>
            <a:r>
              <a:rPr lang="hu-HU" altLang="hu-HU"/>
              <a:t>Műveletek tervezése (folyt.)</a:t>
            </a:r>
          </a:p>
        </p:txBody>
      </p:sp>
      <p:sp>
        <p:nvSpPr>
          <p:cNvPr id="231427" name="Rectangle 3"/>
          <p:cNvSpPr>
            <a:spLocks noGrp="1" noChangeArrowheads="1"/>
          </p:cNvSpPr>
          <p:nvPr>
            <p:ph idx="1"/>
          </p:nvPr>
        </p:nvSpPr>
        <p:spPr/>
        <p:txBody>
          <a:bodyPr>
            <a:normAutofit lnSpcReduction="10000"/>
          </a:bodyPr>
          <a:lstStyle/>
          <a:p>
            <a:pPr>
              <a:lnSpc>
                <a:spcPct val="80000"/>
              </a:lnSpc>
            </a:pPr>
            <a:r>
              <a:rPr lang="hu-HU" altLang="hu-HU" sz="2200"/>
              <a:t>Láthatóság:</a:t>
            </a:r>
          </a:p>
          <a:p>
            <a:pPr lvl="1">
              <a:lnSpc>
                <a:spcPct val="80000"/>
              </a:lnSpc>
            </a:pPr>
            <a:r>
              <a:rPr lang="hu-HU" altLang="hu-HU" sz="2100"/>
              <a:t>Public (+): minden más modell-elem hivatkozhat rá.</a:t>
            </a:r>
          </a:p>
          <a:p>
            <a:pPr lvl="1">
              <a:lnSpc>
                <a:spcPct val="80000"/>
              </a:lnSpc>
            </a:pPr>
            <a:r>
              <a:rPr lang="hu-HU" altLang="hu-HU" sz="2100"/>
              <a:t>Protected (</a:t>
            </a:r>
            <a:r>
              <a:rPr lang="en-US" altLang="hu-HU" sz="2100"/>
              <a:t>#</a:t>
            </a:r>
            <a:r>
              <a:rPr lang="hu-HU" altLang="hu-HU" sz="2100"/>
              <a:t>): az osztály, leszármazottai és barátai (friend) hivatkozhatnak rá.</a:t>
            </a:r>
          </a:p>
          <a:p>
            <a:pPr lvl="1">
              <a:lnSpc>
                <a:spcPct val="80000"/>
              </a:lnSpc>
            </a:pPr>
            <a:r>
              <a:rPr lang="hu-HU" altLang="hu-HU" sz="2100"/>
              <a:t>Private (-): csak az osztályon és az osztály barátain (friend) használható.</a:t>
            </a:r>
          </a:p>
          <a:p>
            <a:pPr>
              <a:lnSpc>
                <a:spcPct val="80000"/>
              </a:lnSpc>
            </a:pPr>
            <a:r>
              <a:rPr lang="hu-HU" altLang="hu-HU" sz="2200"/>
              <a:t> Osztály-műveletek:</a:t>
            </a:r>
          </a:p>
          <a:p>
            <a:pPr lvl="1">
              <a:lnSpc>
                <a:spcPct val="80000"/>
              </a:lnSpc>
            </a:pPr>
            <a:r>
              <a:rPr lang="hu-HU" altLang="hu-HU" sz="2100"/>
              <a:t>Szükség van néha arra, hogy egy műveletet az osztály összes példányán végrehajtsunk </a:t>
            </a:r>
            <a:r>
              <a:rPr lang="hu-HU" altLang="hu-HU" sz="2100">
                <a:sym typeface="Wingdings" panose="05000000000000000000" pitchFamily="2" charset="2"/>
              </a:rPr>
              <a:t></a:t>
            </a:r>
            <a:r>
              <a:rPr lang="hu-HU" altLang="hu-HU" sz="2100"/>
              <a:t> osztályművelet.</a:t>
            </a:r>
          </a:p>
          <a:p>
            <a:pPr lvl="1">
              <a:lnSpc>
                <a:spcPct val="80000"/>
              </a:lnSpc>
            </a:pPr>
            <a:r>
              <a:rPr lang="hu-HU" altLang="hu-HU" sz="2100"/>
              <a:t>Például: hozzunk létre új példányt, adjuk vissza az összes példányt, stb.</a:t>
            </a:r>
          </a:p>
          <a:p>
            <a:pPr lvl="1">
              <a:lnSpc>
                <a:spcPct val="80000"/>
              </a:lnSpc>
            </a:pPr>
            <a:r>
              <a:rPr lang="hu-HU" altLang="hu-HU" sz="2100"/>
              <a:t>Jelölés: a művelet aláhúzásával történik.</a:t>
            </a:r>
            <a:endParaRPr lang="hu-HU" altLang="hu-HU" sz="2000"/>
          </a:p>
        </p:txBody>
      </p:sp>
      <p:sp>
        <p:nvSpPr>
          <p:cNvPr id="4" name="Dátum helye 3"/>
          <p:cNvSpPr>
            <a:spLocks noGrp="1"/>
          </p:cNvSpPr>
          <p:nvPr>
            <p:ph type="dt" sz="half" idx="10"/>
          </p:nvPr>
        </p:nvSpPr>
        <p:spPr/>
        <p:txBody>
          <a:bodyPr/>
          <a:lstStyle/>
          <a:p>
            <a:fld id="{5B286808-46B6-4E52-A6FE-8066B8928842}"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15E5DD10-FEDE-47BA-8B2A-A6683601C106}" type="slidenum">
              <a:rPr lang="hu-HU" altLang="hu-HU"/>
              <a:pPr/>
              <a:t>98</a:t>
            </a:fld>
            <a:endParaRPr lang="hu-HU" altLang="hu-HU"/>
          </a:p>
        </p:txBody>
      </p:sp>
    </p:spTree>
    <p:extLst>
      <p:ext uri="{BB962C8B-B14F-4D97-AF65-F5344CB8AC3E}">
        <p14:creationId xmlns:p14="http://schemas.microsoft.com/office/powerpoint/2010/main" val="1999067263"/>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p:txBody>
          <a:bodyPr/>
          <a:lstStyle/>
          <a:p>
            <a:r>
              <a:rPr lang="hu-HU" altLang="hu-HU"/>
              <a:t>Műveletek tervezése (folyt.)</a:t>
            </a:r>
          </a:p>
        </p:txBody>
      </p:sp>
      <p:sp>
        <p:nvSpPr>
          <p:cNvPr id="232451" name="Rectangle 3"/>
          <p:cNvSpPr>
            <a:spLocks noGrp="1" noChangeArrowheads="1"/>
          </p:cNvSpPr>
          <p:nvPr>
            <p:ph idx="1"/>
          </p:nvPr>
        </p:nvSpPr>
        <p:spPr/>
        <p:txBody>
          <a:bodyPr/>
          <a:lstStyle/>
          <a:p>
            <a:pPr>
              <a:lnSpc>
                <a:spcPct val="90000"/>
              </a:lnSpc>
            </a:pPr>
            <a:r>
              <a:rPr lang="hu-HU" altLang="hu-HU" sz="2600"/>
              <a:t>A művelet algoritmusa (method): hogyan hajtódik végre a művelet (nemcsak mit csinál):</a:t>
            </a:r>
          </a:p>
          <a:p>
            <a:pPr lvl="1">
              <a:lnSpc>
                <a:spcPct val="90000"/>
              </a:lnSpc>
            </a:pPr>
            <a:r>
              <a:rPr lang="hu-HU" altLang="hu-HU" sz="2200"/>
              <a:t>Hogyan kell a műveletet implementálni?</a:t>
            </a:r>
          </a:p>
          <a:p>
            <a:pPr lvl="1">
              <a:lnSpc>
                <a:spcPct val="90000"/>
              </a:lnSpc>
            </a:pPr>
            <a:r>
              <a:rPr lang="hu-HU" altLang="hu-HU" sz="2200"/>
              <a:t>Milyen attribútumok kellenek és hogyan használja azokat a művelet?</a:t>
            </a:r>
          </a:p>
          <a:p>
            <a:pPr lvl="1">
              <a:lnSpc>
                <a:spcPct val="90000"/>
              </a:lnSpc>
            </a:pPr>
            <a:r>
              <a:rPr lang="hu-HU" altLang="hu-HU" sz="2200"/>
              <a:t>Milyen kapcsolatok kellenek?</a:t>
            </a:r>
          </a:p>
          <a:p>
            <a:pPr lvl="1">
              <a:lnSpc>
                <a:spcPct val="90000"/>
              </a:lnSpc>
            </a:pPr>
            <a:r>
              <a:rPr lang="hu-HU" altLang="hu-HU" sz="2200"/>
              <a:t>Együttműködési diagramok használhatóak a folyamat dokumentálására!</a:t>
            </a:r>
          </a:p>
          <a:p>
            <a:pPr lvl="1">
              <a:lnSpc>
                <a:spcPct val="90000"/>
              </a:lnSpc>
            </a:pPr>
            <a:r>
              <a:rPr lang="hu-HU" altLang="hu-HU" sz="2200"/>
              <a:t>Esetleg aktivitás diagram alkalmazható az algoritmus leírásra.</a:t>
            </a:r>
          </a:p>
        </p:txBody>
      </p:sp>
      <p:sp>
        <p:nvSpPr>
          <p:cNvPr id="4" name="Dátum helye 3"/>
          <p:cNvSpPr>
            <a:spLocks noGrp="1"/>
          </p:cNvSpPr>
          <p:nvPr>
            <p:ph type="dt" sz="half" idx="10"/>
          </p:nvPr>
        </p:nvSpPr>
        <p:spPr/>
        <p:txBody>
          <a:bodyPr/>
          <a:lstStyle/>
          <a:p>
            <a:fld id="{0907D4C4-6BE5-4B6B-A408-E7AB91568617}"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F1709517-7669-4AB1-A14B-66C165BFB31E}" type="slidenum">
              <a:rPr lang="hu-HU" altLang="hu-HU"/>
              <a:pPr/>
              <a:t>99</a:t>
            </a:fld>
            <a:endParaRPr lang="hu-HU" altLang="hu-HU"/>
          </a:p>
        </p:txBody>
      </p:sp>
    </p:spTree>
    <p:extLst>
      <p:ext uri="{BB962C8B-B14F-4D97-AF65-F5344CB8AC3E}">
        <p14:creationId xmlns:p14="http://schemas.microsoft.com/office/powerpoint/2010/main" val="2010625764"/>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p:txBody>
          <a:bodyPr/>
          <a:lstStyle/>
          <a:p>
            <a:r>
              <a:rPr lang="hu-HU" altLang="hu-HU"/>
              <a:t>Állapotok</a:t>
            </a:r>
          </a:p>
        </p:txBody>
      </p:sp>
      <p:sp>
        <p:nvSpPr>
          <p:cNvPr id="233475" name="Rectangle 3"/>
          <p:cNvSpPr>
            <a:spLocks noGrp="1" noChangeArrowheads="1"/>
          </p:cNvSpPr>
          <p:nvPr>
            <p:ph idx="1"/>
          </p:nvPr>
        </p:nvSpPr>
        <p:spPr/>
        <p:txBody>
          <a:bodyPr/>
          <a:lstStyle/>
          <a:p>
            <a:pPr>
              <a:lnSpc>
                <a:spcPct val="80000"/>
              </a:lnSpc>
            </a:pPr>
            <a:r>
              <a:rPr lang="hu-HU" altLang="hu-HU" sz="2600"/>
              <a:t>Az osztályok egy részénél a művelet végrehajtása attól függ, hogy az objektum milyen állapotban van.</a:t>
            </a:r>
          </a:p>
          <a:p>
            <a:pPr>
              <a:lnSpc>
                <a:spcPct val="80000"/>
              </a:lnSpc>
            </a:pPr>
            <a:r>
              <a:rPr lang="hu-HU" altLang="hu-HU" sz="2600" i="1"/>
              <a:t>Állapotátmenet diagram</a:t>
            </a:r>
            <a:r>
              <a:rPr lang="hu-HU" altLang="hu-HU" sz="2600"/>
              <a:t> (State Transition Diagram) vagy állapot diagram (State Diagram) használható a viselkedés ábrázolására.</a:t>
            </a:r>
          </a:p>
          <a:p>
            <a:pPr lvl="1">
              <a:lnSpc>
                <a:spcPct val="80000"/>
              </a:lnSpc>
            </a:pPr>
            <a:r>
              <a:rPr lang="hu-HU" altLang="hu-HU" sz="2200"/>
              <a:t>Ha egy művelet végrehajtása után létezik olyan művelet, amely más eredménnyel fut le mint előtte, akkor az adott osztály rendelkezik állapottal, különben honnan tudná, hogy másként kell reagálnia.</a:t>
            </a:r>
          </a:p>
          <a:p>
            <a:pPr lvl="1">
              <a:lnSpc>
                <a:spcPct val="80000"/>
              </a:lnSpc>
            </a:pPr>
            <a:r>
              <a:rPr lang="hu-HU" altLang="hu-HU" sz="2200"/>
              <a:t>Összefüggés az együttműködési diagramokkal!</a:t>
            </a:r>
          </a:p>
        </p:txBody>
      </p:sp>
      <p:sp>
        <p:nvSpPr>
          <p:cNvPr id="4" name="Dátum helye 3"/>
          <p:cNvSpPr>
            <a:spLocks noGrp="1"/>
          </p:cNvSpPr>
          <p:nvPr>
            <p:ph type="dt" sz="half" idx="10"/>
          </p:nvPr>
        </p:nvSpPr>
        <p:spPr/>
        <p:txBody>
          <a:bodyPr/>
          <a:lstStyle/>
          <a:p>
            <a:fld id="{83E122B7-CFEE-494B-B2DD-703BC6A0F8FE}" type="datetime1">
              <a:rPr lang="hu-HU" altLang="hu-HU"/>
              <a:pPr/>
              <a:t>2024. 11. 28.</a:t>
            </a:fld>
            <a:endParaRPr lang="hu-HU" altLang="hu-HU"/>
          </a:p>
        </p:txBody>
      </p:sp>
      <p:sp>
        <p:nvSpPr>
          <p:cNvPr id="6" name="Dia számának helye 5"/>
          <p:cNvSpPr>
            <a:spLocks noGrp="1"/>
          </p:cNvSpPr>
          <p:nvPr>
            <p:ph type="sldNum" sz="quarter" idx="12"/>
          </p:nvPr>
        </p:nvSpPr>
        <p:spPr/>
        <p:txBody>
          <a:bodyPr/>
          <a:lstStyle/>
          <a:p>
            <a:fld id="{0001228C-74C4-48F6-B527-1CA2BAF502BF}" type="slidenum">
              <a:rPr lang="hu-HU" altLang="hu-HU"/>
              <a:pPr/>
              <a:t>100</a:t>
            </a:fld>
            <a:endParaRPr lang="hu-HU" altLang="hu-HU"/>
          </a:p>
        </p:txBody>
      </p:sp>
    </p:spTree>
    <p:extLst>
      <p:ext uri="{BB962C8B-B14F-4D97-AF65-F5344CB8AC3E}">
        <p14:creationId xmlns:p14="http://schemas.microsoft.com/office/powerpoint/2010/main" val="2794059682"/>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Osztálydiagramok</a:t>
            </a:r>
            <a:endParaRPr lang="hu-HU" dirty="0"/>
          </a:p>
        </p:txBody>
      </p:sp>
      <p:sp>
        <p:nvSpPr>
          <p:cNvPr id="3" name="Tartalom helye 2"/>
          <p:cNvSpPr>
            <a:spLocks noGrp="1"/>
          </p:cNvSpPr>
          <p:nvPr>
            <p:ph idx="1"/>
          </p:nvPr>
        </p:nvSpPr>
        <p:spPr/>
        <p:txBody>
          <a:bodyPr/>
          <a:lstStyle/>
          <a:p>
            <a:r>
              <a:rPr lang="hu-HU" dirty="0" smtClean="0"/>
              <a:t>Statikus egységek és szerkezetek leírása</a:t>
            </a:r>
          </a:p>
          <a:p>
            <a:r>
              <a:rPr lang="hu-HU" dirty="0" smtClean="0"/>
              <a:t>Több absztrakciós szinten(Különböző jelentéssel):</a:t>
            </a:r>
          </a:p>
          <a:p>
            <a:pPr lvl="1"/>
            <a:r>
              <a:rPr lang="hu-HU" dirty="0" err="1" smtClean="0"/>
              <a:t>Szakami</a:t>
            </a:r>
            <a:r>
              <a:rPr lang="hu-HU" dirty="0" smtClean="0"/>
              <a:t> osztályok</a:t>
            </a:r>
          </a:p>
          <a:p>
            <a:pPr lvl="1"/>
            <a:r>
              <a:rPr lang="hu-HU" dirty="0" smtClean="0"/>
              <a:t>Absztrakt fogalmak</a:t>
            </a:r>
          </a:p>
          <a:p>
            <a:pPr lvl="1"/>
            <a:r>
              <a:rPr lang="hu-HU" dirty="0" smtClean="0"/>
              <a:t>Tervezési minták</a:t>
            </a:r>
          </a:p>
          <a:p>
            <a:pPr lvl="1"/>
            <a:r>
              <a:rPr lang="hu-HU" dirty="0" smtClean="0"/>
              <a:t>Megvalósítás</a:t>
            </a:r>
          </a:p>
          <a:p>
            <a:r>
              <a:rPr lang="hu-HU" dirty="0" smtClean="0"/>
              <a:t>OMT, OOSE </a:t>
            </a:r>
            <a:r>
              <a:rPr lang="hu-HU" dirty="0" smtClean="0">
                <a:sym typeface="Wingdings" pitchFamily="2" charset="2"/>
              </a:rPr>
              <a:t> ER diagram  szemantikus hálók.</a:t>
            </a:r>
          </a:p>
          <a:p>
            <a:r>
              <a:rPr lang="hu-HU" dirty="0" smtClean="0">
                <a:sym typeface="Wingdings" pitchFamily="2" charset="2"/>
              </a:rPr>
              <a:t>Objektumorientáltság célja: szemantikai rés</a:t>
            </a:r>
          </a:p>
          <a:p>
            <a:r>
              <a:rPr lang="hu-HU" dirty="0" smtClean="0">
                <a:sym typeface="Wingdings" pitchFamily="2" charset="2"/>
              </a:rPr>
              <a:t>OO modellek gerince</a:t>
            </a:r>
            <a:endParaRPr lang="hu-HU" dirty="0" smtClean="0"/>
          </a:p>
        </p:txBody>
      </p:sp>
    </p:spTree>
    <p:extLst>
      <p:ext uri="{BB962C8B-B14F-4D97-AF65-F5344CB8AC3E}">
        <p14:creationId xmlns:p14="http://schemas.microsoft.com/office/powerpoint/2010/main" val="2240404832"/>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Osztály jelentései</a:t>
            </a:r>
            <a:endParaRPr lang="hu-HU" dirty="0"/>
          </a:p>
        </p:txBody>
      </p:sp>
      <p:graphicFrame>
        <p:nvGraphicFramePr>
          <p:cNvPr id="4" name="Tartalom helye 3"/>
          <p:cNvGraphicFramePr>
            <a:graphicFrameLocks noGrp="1"/>
          </p:cNvGraphicFramePr>
          <p:nvPr>
            <p:ph idx="1"/>
            <p:extLst/>
          </p:nvPr>
        </p:nvGraphicFramePr>
        <p:xfrm>
          <a:off x="1981200" y="1600200"/>
          <a:ext cx="7467600" cy="4577080"/>
        </p:xfrm>
        <a:graphic>
          <a:graphicData uri="http://schemas.openxmlformats.org/drawingml/2006/table">
            <a:tbl>
              <a:tblPr firstRow="1" bandRow="1">
                <a:tableStyleId>{5C22544A-7EE6-4342-B048-85BDC9FD1C3A}</a:tableStyleId>
              </a:tblPr>
              <a:tblGrid>
                <a:gridCol w="1306488">
                  <a:extLst>
                    <a:ext uri="{9D8B030D-6E8A-4147-A177-3AD203B41FA5}">
                      <a16:colId xmlns:a16="http://schemas.microsoft.com/office/drawing/2014/main" val="20000"/>
                    </a:ext>
                  </a:extLst>
                </a:gridCol>
                <a:gridCol w="3096344">
                  <a:extLst>
                    <a:ext uri="{9D8B030D-6E8A-4147-A177-3AD203B41FA5}">
                      <a16:colId xmlns:a16="http://schemas.microsoft.com/office/drawing/2014/main" val="20001"/>
                    </a:ext>
                  </a:extLst>
                </a:gridCol>
                <a:gridCol w="1224136">
                  <a:extLst>
                    <a:ext uri="{9D8B030D-6E8A-4147-A177-3AD203B41FA5}">
                      <a16:colId xmlns:a16="http://schemas.microsoft.com/office/drawing/2014/main" val="20002"/>
                    </a:ext>
                  </a:extLst>
                </a:gridCol>
                <a:gridCol w="792088">
                  <a:extLst>
                    <a:ext uri="{9D8B030D-6E8A-4147-A177-3AD203B41FA5}">
                      <a16:colId xmlns:a16="http://schemas.microsoft.com/office/drawing/2014/main" val="20003"/>
                    </a:ext>
                  </a:extLst>
                </a:gridCol>
                <a:gridCol w="1048544">
                  <a:extLst>
                    <a:ext uri="{9D8B030D-6E8A-4147-A177-3AD203B41FA5}">
                      <a16:colId xmlns:a16="http://schemas.microsoft.com/office/drawing/2014/main" val="20004"/>
                    </a:ext>
                  </a:extLst>
                </a:gridCol>
              </a:tblGrid>
              <a:tr h="370840">
                <a:tc>
                  <a:txBody>
                    <a:bodyPr/>
                    <a:lstStyle/>
                    <a:p>
                      <a:endParaRPr lang="hu-HU" dirty="0"/>
                    </a:p>
                  </a:txBody>
                  <a:tcPr/>
                </a:tc>
                <a:tc>
                  <a:txBody>
                    <a:bodyPr/>
                    <a:lstStyle/>
                    <a:p>
                      <a:r>
                        <a:rPr lang="hu-HU" dirty="0" smtClean="0"/>
                        <a:t>Jelentés</a:t>
                      </a:r>
                      <a:endParaRPr lang="hu-HU" dirty="0"/>
                    </a:p>
                  </a:txBody>
                  <a:tcPr/>
                </a:tc>
                <a:tc>
                  <a:txBody>
                    <a:bodyPr/>
                    <a:lstStyle/>
                    <a:p>
                      <a:r>
                        <a:rPr lang="hu-HU" dirty="0" smtClean="0"/>
                        <a:t>Elemzés</a:t>
                      </a:r>
                      <a:endParaRPr lang="hu-HU" dirty="0"/>
                    </a:p>
                  </a:txBody>
                  <a:tcPr/>
                </a:tc>
                <a:tc>
                  <a:txBody>
                    <a:bodyPr/>
                    <a:lstStyle/>
                    <a:p>
                      <a:r>
                        <a:rPr lang="hu-HU" dirty="0" smtClean="0"/>
                        <a:t>Terv</a:t>
                      </a:r>
                      <a:endParaRPr lang="hu-HU" dirty="0"/>
                    </a:p>
                  </a:txBody>
                  <a:tcPr/>
                </a:tc>
                <a:tc>
                  <a:txBody>
                    <a:bodyPr/>
                    <a:lstStyle/>
                    <a:p>
                      <a:r>
                        <a:rPr lang="hu-HU" dirty="0" err="1" smtClean="0"/>
                        <a:t>Megval</a:t>
                      </a:r>
                      <a:endParaRPr lang="hu-HU" dirty="0"/>
                    </a:p>
                  </a:txBody>
                  <a:tcPr/>
                </a:tc>
                <a:extLst>
                  <a:ext uri="{0D108BD9-81ED-4DB2-BD59-A6C34878D82A}">
                    <a16:rowId xmlns:a16="http://schemas.microsoft.com/office/drawing/2014/main" val="10000"/>
                  </a:ext>
                </a:extLst>
              </a:tr>
              <a:tr h="370840">
                <a:tc>
                  <a:txBody>
                    <a:bodyPr/>
                    <a:lstStyle/>
                    <a:p>
                      <a:r>
                        <a:rPr lang="hu-HU" dirty="0" smtClean="0"/>
                        <a:t>… fogalom</a:t>
                      </a:r>
                      <a:endParaRPr lang="hu-HU" dirty="0"/>
                    </a:p>
                  </a:txBody>
                  <a:tcPr/>
                </a:tc>
                <a:tc>
                  <a:txBody>
                    <a:bodyPr/>
                    <a:lstStyle/>
                    <a:p>
                      <a:r>
                        <a:rPr lang="hu-HU" dirty="0" smtClean="0"/>
                        <a:t>Szakterület fogalmai – dokumentációban.</a:t>
                      </a:r>
                      <a:r>
                        <a:rPr lang="hu-HU" baseline="0" dirty="0" smtClean="0"/>
                        <a:t> Konkrét előfordulások absztrakt </a:t>
                      </a:r>
                      <a:endParaRPr lang="hu-HU" dirty="0"/>
                    </a:p>
                  </a:txBody>
                  <a:tcPr/>
                </a:tc>
                <a:tc>
                  <a:txBody>
                    <a:bodyPr/>
                    <a:lstStyle/>
                    <a:p>
                      <a:r>
                        <a:rPr lang="hu-HU" smtClean="0"/>
                        <a:t>I</a:t>
                      </a:r>
                      <a:endParaRPr lang="hu-HU" dirty="0"/>
                    </a:p>
                  </a:txBody>
                  <a:tcPr/>
                </a:tc>
                <a:tc>
                  <a:txBody>
                    <a:bodyPr/>
                    <a:lstStyle/>
                    <a:p>
                      <a:r>
                        <a:rPr lang="hu-HU" smtClean="0"/>
                        <a:t>I/N</a:t>
                      </a:r>
                      <a:endParaRPr lang="hu-HU" dirty="0"/>
                    </a:p>
                  </a:txBody>
                  <a:tcPr/>
                </a:tc>
                <a:tc>
                  <a:txBody>
                    <a:bodyPr/>
                    <a:lstStyle/>
                    <a:p>
                      <a:r>
                        <a:rPr lang="hu-HU" dirty="0" smtClean="0"/>
                        <a:t>N</a:t>
                      </a:r>
                      <a:endParaRPr lang="hu-HU" dirty="0"/>
                    </a:p>
                  </a:txBody>
                  <a:tcPr/>
                </a:tc>
                <a:extLst>
                  <a:ext uri="{0D108BD9-81ED-4DB2-BD59-A6C34878D82A}">
                    <a16:rowId xmlns:a16="http://schemas.microsoft.com/office/drawing/2014/main" val="10001"/>
                  </a:ext>
                </a:extLst>
              </a:tr>
              <a:tr h="370840">
                <a:tc>
                  <a:txBody>
                    <a:bodyPr/>
                    <a:lstStyle/>
                    <a:p>
                      <a:r>
                        <a:rPr lang="hu-HU" dirty="0" smtClean="0"/>
                        <a:t>… típus</a:t>
                      </a:r>
                      <a:endParaRPr lang="hu-HU" dirty="0"/>
                    </a:p>
                  </a:txBody>
                  <a:tcPr/>
                </a:tc>
                <a:tc>
                  <a:txBody>
                    <a:bodyPr/>
                    <a:lstStyle/>
                    <a:p>
                      <a:r>
                        <a:rPr lang="hu-HU" dirty="0" smtClean="0"/>
                        <a:t>Típusok értékei, tehát</a:t>
                      </a:r>
                      <a:r>
                        <a:rPr lang="hu-HU" baseline="0" dirty="0" smtClean="0"/>
                        <a:t> példányok, az osztályt az </a:t>
                      </a:r>
                      <a:r>
                        <a:rPr lang="hu-HU" baseline="0" dirty="0" err="1" smtClean="0"/>
                        <a:t>intenziója</a:t>
                      </a:r>
                      <a:r>
                        <a:rPr lang="hu-HU" baseline="0" dirty="0" smtClean="0"/>
                        <a:t> – a belső struktúra határozza meg.</a:t>
                      </a:r>
                      <a:endParaRPr lang="hu-H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hu-HU" dirty="0" smtClean="0"/>
                        <a:t>I/N</a:t>
                      </a:r>
                    </a:p>
                    <a:p>
                      <a:endParaRPr lang="hu-HU" dirty="0"/>
                    </a:p>
                  </a:txBody>
                  <a:tcPr/>
                </a:tc>
                <a:tc>
                  <a:txBody>
                    <a:bodyPr/>
                    <a:lstStyle/>
                    <a:p>
                      <a:r>
                        <a:rPr lang="hu-HU" dirty="0" smtClean="0"/>
                        <a:t>I</a:t>
                      </a:r>
                      <a:endParaRPr lang="hu-HU" dirty="0"/>
                    </a:p>
                  </a:txBody>
                  <a:tcPr/>
                </a:tc>
                <a:tc>
                  <a:txBody>
                    <a:bodyPr/>
                    <a:lstStyle/>
                    <a:p>
                      <a:r>
                        <a:rPr lang="hu-HU" dirty="0" smtClean="0"/>
                        <a:t>I</a:t>
                      </a:r>
                      <a:endParaRPr lang="hu-HU" dirty="0"/>
                    </a:p>
                  </a:txBody>
                  <a:tcPr/>
                </a:tc>
                <a:extLst>
                  <a:ext uri="{0D108BD9-81ED-4DB2-BD59-A6C34878D82A}">
                    <a16:rowId xmlns:a16="http://schemas.microsoft.com/office/drawing/2014/main" val="10002"/>
                  </a:ext>
                </a:extLst>
              </a:tr>
              <a:tr h="370840">
                <a:tc>
                  <a:txBody>
                    <a:bodyPr/>
                    <a:lstStyle/>
                    <a:p>
                      <a:r>
                        <a:rPr lang="hu-HU" dirty="0" smtClean="0"/>
                        <a:t>… objektumhalmaz</a:t>
                      </a:r>
                      <a:endParaRPr lang="hu-HU" dirty="0"/>
                    </a:p>
                  </a:txBody>
                  <a:tcPr/>
                </a:tc>
                <a:tc>
                  <a:txBody>
                    <a:bodyPr/>
                    <a:lstStyle/>
                    <a:p>
                      <a:r>
                        <a:rPr lang="hu-HU" dirty="0" smtClean="0"/>
                        <a:t>Bizonyos</a:t>
                      </a:r>
                      <a:r>
                        <a:rPr lang="hu-HU" baseline="0" dirty="0" smtClean="0"/>
                        <a:t> tekintetben egyforma objektumok. Itt az osztály </a:t>
                      </a:r>
                      <a:r>
                        <a:rPr lang="hu-HU" baseline="0" dirty="0" err="1" smtClean="0"/>
                        <a:t>extenzió</a:t>
                      </a:r>
                      <a:r>
                        <a:rPr lang="hu-HU" baseline="0" dirty="0" smtClean="0"/>
                        <a:t>, tiszta csoportosítás.</a:t>
                      </a:r>
                      <a:endParaRPr lang="hu-HU" dirty="0"/>
                    </a:p>
                  </a:txBody>
                  <a:tcPr/>
                </a:tc>
                <a:tc>
                  <a:txBody>
                    <a:bodyPr/>
                    <a:lstStyle/>
                    <a:p>
                      <a:r>
                        <a:rPr lang="hu-HU" dirty="0" smtClean="0"/>
                        <a:t>N</a:t>
                      </a:r>
                      <a:endParaRPr lang="hu-HU" dirty="0"/>
                    </a:p>
                  </a:txBody>
                  <a:tcPr/>
                </a:tc>
                <a:tc>
                  <a:txBody>
                    <a:bodyPr/>
                    <a:lstStyle/>
                    <a:p>
                      <a:r>
                        <a:rPr lang="hu-HU" dirty="0" smtClean="0"/>
                        <a:t>I</a:t>
                      </a:r>
                      <a:endParaRPr lang="hu-HU" dirty="0"/>
                    </a:p>
                  </a:txBody>
                  <a:tcPr/>
                </a:tc>
                <a:tc>
                  <a:txBody>
                    <a:bodyPr/>
                    <a:lstStyle/>
                    <a:p>
                      <a:r>
                        <a:rPr lang="hu-HU" dirty="0" smtClean="0"/>
                        <a:t>I</a:t>
                      </a:r>
                      <a:endParaRPr lang="hu-HU" dirty="0"/>
                    </a:p>
                  </a:txBody>
                  <a:tcPr/>
                </a:tc>
                <a:extLst>
                  <a:ext uri="{0D108BD9-81ED-4DB2-BD59-A6C34878D82A}">
                    <a16:rowId xmlns:a16="http://schemas.microsoft.com/office/drawing/2014/main" val="10003"/>
                  </a:ext>
                </a:extLst>
              </a:tr>
              <a:tr h="370840">
                <a:tc>
                  <a:txBody>
                    <a:bodyPr/>
                    <a:lstStyle/>
                    <a:p>
                      <a:r>
                        <a:rPr lang="hu-HU" dirty="0" smtClean="0"/>
                        <a:t>… implementáció</a:t>
                      </a:r>
                      <a:endParaRPr lang="hu-HU" dirty="0"/>
                    </a:p>
                  </a:txBody>
                  <a:tcPr/>
                </a:tc>
                <a:tc>
                  <a:txBody>
                    <a:bodyPr/>
                    <a:lstStyle/>
                    <a:p>
                      <a:r>
                        <a:rPr lang="hu-HU" dirty="0" smtClean="0"/>
                        <a:t>OO </a:t>
                      </a:r>
                      <a:r>
                        <a:rPr lang="hu-HU" dirty="0" err="1" smtClean="0"/>
                        <a:t>prog.nyelvekben</a:t>
                      </a:r>
                      <a:r>
                        <a:rPr lang="hu-HU" dirty="0" smtClean="0"/>
                        <a:t>.</a:t>
                      </a:r>
                      <a:r>
                        <a:rPr lang="hu-HU" baseline="0" dirty="0" smtClean="0"/>
                        <a:t> Az osztály objektumai osztoznak rajta.</a:t>
                      </a:r>
                      <a:endParaRPr lang="hu-HU" dirty="0"/>
                    </a:p>
                  </a:txBody>
                  <a:tcPr/>
                </a:tc>
                <a:tc>
                  <a:txBody>
                    <a:bodyPr/>
                    <a:lstStyle/>
                    <a:p>
                      <a:r>
                        <a:rPr lang="hu-HU" dirty="0" smtClean="0"/>
                        <a:t>N</a:t>
                      </a:r>
                      <a:endParaRPr lang="hu-H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hu-HU" dirty="0" smtClean="0"/>
                        <a:t>I/N</a:t>
                      </a:r>
                    </a:p>
                    <a:p>
                      <a:endParaRPr lang="hu-HU" dirty="0"/>
                    </a:p>
                  </a:txBody>
                  <a:tcPr/>
                </a:tc>
                <a:tc>
                  <a:txBody>
                    <a:bodyPr/>
                    <a:lstStyle/>
                    <a:p>
                      <a:r>
                        <a:rPr lang="hu-HU" dirty="0" smtClean="0"/>
                        <a:t>I</a:t>
                      </a:r>
                      <a:endParaRPr lang="hu-HU"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128397112"/>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Osztálydiagramok fajtái</a:t>
            </a:r>
            <a:endParaRPr lang="hu-HU" dirty="0"/>
          </a:p>
        </p:txBody>
      </p:sp>
      <p:graphicFrame>
        <p:nvGraphicFramePr>
          <p:cNvPr id="4" name="Tartalom helye 3"/>
          <p:cNvGraphicFramePr>
            <a:graphicFrameLocks noGrp="1"/>
          </p:cNvGraphicFramePr>
          <p:nvPr>
            <p:ph idx="1"/>
            <p:extLst/>
          </p:nvPr>
        </p:nvGraphicFramePr>
        <p:xfrm>
          <a:off x="1981200" y="1600200"/>
          <a:ext cx="7467600" cy="2570480"/>
        </p:xfrm>
        <a:graphic>
          <a:graphicData uri="http://schemas.openxmlformats.org/drawingml/2006/table">
            <a:tbl>
              <a:tblPr firstRow="1" bandRow="1">
                <a:tableStyleId>{5C22544A-7EE6-4342-B048-85BDC9FD1C3A}</a:tableStyleId>
              </a:tblPr>
              <a:tblGrid>
                <a:gridCol w="1810544">
                  <a:extLst>
                    <a:ext uri="{9D8B030D-6E8A-4147-A177-3AD203B41FA5}">
                      <a16:colId xmlns:a16="http://schemas.microsoft.com/office/drawing/2014/main" val="20000"/>
                    </a:ext>
                  </a:extLst>
                </a:gridCol>
                <a:gridCol w="5657056">
                  <a:extLst>
                    <a:ext uri="{9D8B030D-6E8A-4147-A177-3AD203B41FA5}">
                      <a16:colId xmlns:a16="http://schemas.microsoft.com/office/drawing/2014/main" val="20001"/>
                    </a:ext>
                  </a:extLst>
                </a:gridCol>
              </a:tblGrid>
              <a:tr h="370840">
                <a:tc>
                  <a:txBody>
                    <a:bodyPr/>
                    <a:lstStyle/>
                    <a:p>
                      <a:r>
                        <a:rPr lang="hu-HU" dirty="0" smtClean="0"/>
                        <a:t>Fázis</a:t>
                      </a:r>
                      <a:endParaRPr lang="hu-HU" dirty="0"/>
                    </a:p>
                  </a:txBody>
                  <a:tcPr/>
                </a:tc>
                <a:tc>
                  <a:txBody>
                    <a:bodyPr/>
                    <a:lstStyle/>
                    <a:p>
                      <a:endParaRPr lang="hu-HU" dirty="0"/>
                    </a:p>
                  </a:txBody>
                  <a:tcPr/>
                </a:tc>
                <a:extLst>
                  <a:ext uri="{0D108BD9-81ED-4DB2-BD59-A6C34878D82A}">
                    <a16:rowId xmlns:a16="http://schemas.microsoft.com/office/drawing/2014/main" val="10000"/>
                  </a:ext>
                </a:extLst>
              </a:tr>
              <a:tr h="370840">
                <a:tc>
                  <a:txBody>
                    <a:bodyPr/>
                    <a:lstStyle/>
                    <a:p>
                      <a:r>
                        <a:rPr lang="hu-HU" dirty="0" smtClean="0"/>
                        <a:t>Elemzés</a:t>
                      </a:r>
                      <a:endParaRPr lang="hu-HU" dirty="0"/>
                    </a:p>
                  </a:txBody>
                  <a:tcPr/>
                </a:tc>
                <a:tc>
                  <a:txBody>
                    <a:bodyPr/>
                    <a:lstStyle/>
                    <a:p>
                      <a:r>
                        <a:rPr lang="hu-HU" dirty="0" smtClean="0"/>
                        <a:t>Alkalmazási szakterület fogalmai. A problématér felépítéséhez</a:t>
                      </a:r>
                      <a:endParaRPr lang="hu-HU" dirty="0"/>
                    </a:p>
                  </a:txBody>
                  <a:tcPr/>
                </a:tc>
                <a:extLst>
                  <a:ext uri="{0D108BD9-81ED-4DB2-BD59-A6C34878D82A}">
                    <a16:rowId xmlns:a16="http://schemas.microsoft.com/office/drawing/2014/main" val="10001"/>
                  </a:ext>
                </a:extLst>
              </a:tr>
              <a:tr h="370840">
                <a:tc>
                  <a:txBody>
                    <a:bodyPr/>
                    <a:lstStyle/>
                    <a:p>
                      <a:r>
                        <a:rPr lang="hu-HU" dirty="0" smtClean="0"/>
                        <a:t>Tervezés</a:t>
                      </a:r>
                      <a:endParaRPr lang="hu-HU" dirty="0"/>
                    </a:p>
                  </a:txBody>
                  <a:tcPr/>
                </a:tc>
                <a:tc>
                  <a:txBody>
                    <a:bodyPr/>
                    <a:lstStyle/>
                    <a:p>
                      <a:r>
                        <a:rPr lang="hu-HU" dirty="0" smtClean="0"/>
                        <a:t>Szakmai</a:t>
                      </a:r>
                      <a:r>
                        <a:rPr lang="hu-HU" baseline="0" dirty="0" smtClean="0"/>
                        <a:t> struktúrák technikai átültetése, megoldás strukturálása, itt szakmai motiváció és technikai részek. Néhány osztály szakmai, néhány megoldáshoz kell.</a:t>
                      </a:r>
                      <a:endParaRPr lang="hu-HU" dirty="0"/>
                    </a:p>
                  </a:txBody>
                  <a:tcPr/>
                </a:tc>
                <a:extLst>
                  <a:ext uri="{0D108BD9-81ED-4DB2-BD59-A6C34878D82A}">
                    <a16:rowId xmlns:a16="http://schemas.microsoft.com/office/drawing/2014/main" val="10002"/>
                  </a:ext>
                </a:extLst>
              </a:tr>
              <a:tr h="370840">
                <a:tc>
                  <a:txBody>
                    <a:bodyPr/>
                    <a:lstStyle/>
                    <a:p>
                      <a:r>
                        <a:rPr lang="hu-HU" dirty="0" smtClean="0"/>
                        <a:t>Megvalósítás</a:t>
                      </a:r>
                      <a:endParaRPr lang="hu-HU" dirty="0"/>
                    </a:p>
                  </a:txBody>
                  <a:tcPr/>
                </a:tc>
                <a:tc>
                  <a:txBody>
                    <a:bodyPr/>
                    <a:lstStyle/>
                    <a:p>
                      <a:r>
                        <a:rPr lang="hu-HU" dirty="0" smtClean="0"/>
                        <a:t>Hogyan válik megoldássá</a:t>
                      </a:r>
                      <a:r>
                        <a:rPr lang="hu-HU" baseline="0" dirty="0" smtClean="0"/>
                        <a:t> – Java/C# vagy SQL</a:t>
                      </a:r>
                      <a:endParaRPr lang="hu-HU"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14499313"/>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ím 3"/>
          <p:cNvSpPr>
            <a:spLocks noGrp="1"/>
          </p:cNvSpPr>
          <p:nvPr>
            <p:ph type="title"/>
          </p:nvPr>
        </p:nvSpPr>
        <p:spPr/>
        <p:txBody>
          <a:bodyPr/>
          <a:lstStyle/>
          <a:p>
            <a:r>
              <a:rPr lang="hu-HU" dirty="0" smtClean="0"/>
              <a:t>Elemzési osztálydiagram	</a:t>
            </a:r>
            <a:endParaRPr lang="hu-HU" dirty="0"/>
          </a:p>
        </p:txBody>
      </p:sp>
      <p:sp>
        <p:nvSpPr>
          <p:cNvPr id="5" name="Szöveg helye 4"/>
          <p:cNvSpPr>
            <a:spLocks noGrp="1"/>
          </p:cNvSpPr>
          <p:nvPr>
            <p:ph type="body" idx="1"/>
          </p:nvPr>
        </p:nvSpPr>
        <p:spPr/>
        <p:txBody>
          <a:bodyPr/>
          <a:lstStyle/>
          <a:p>
            <a:r>
              <a:rPr lang="hu-HU" dirty="0" smtClean="0"/>
              <a:t>UML2</a:t>
            </a:r>
            <a:endParaRPr lang="hu-HU" dirty="0"/>
          </a:p>
        </p:txBody>
      </p:sp>
    </p:spTree>
    <p:extLst>
      <p:ext uri="{BB962C8B-B14F-4D97-AF65-F5344CB8AC3E}">
        <p14:creationId xmlns:p14="http://schemas.microsoft.com/office/powerpoint/2010/main" val="91470632"/>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endParaRPr lang="hu-HU"/>
          </a:p>
        </p:txBody>
      </p:sp>
      <p:sp>
        <p:nvSpPr>
          <p:cNvPr id="3" name="Tartalom helye 2"/>
          <p:cNvSpPr>
            <a:spLocks noGrp="1"/>
          </p:cNvSpPr>
          <p:nvPr>
            <p:ph idx="1"/>
          </p:nvPr>
        </p:nvSpPr>
        <p:spPr/>
        <p:txBody>
          <a:bodyPr/>
          <a:lstStyle/>
          <a:p>
            <a:r>
              <a:rPr lang="hu-HU" dirty="0" smtClean="0"/>
              <a:t>Szakmai terület / alkalmazás-szakterület</a:t>
            </a:r>
          </a:p>
          <a:p>
            <a:r>
              <a:rPr lang="hu-HU" dirty="0" smtClean="0"/>
              <a:t>Főleg szakmai áttekintés</a:t>
            </a:r>
          </a:p>
          <a:p>
            <a:r>
              <a:rPr lang="hu-HU" dirty="0" err="1" smtClean="0"/>
              <a:t>Adatb</a:t>
            </a:r>
            <a:r>
              <a:rPr lang="hu-HU" dirty="0" smtClean="0"/>
              <a:t>: </a:t>
            </a:r>
            <a:r>
              <a:rPr lang="hu-HU" dirty="0" err="1" smtClean="0"/>
              <a:t>Universe</a:t>
            </a:r>
            <a:r>
              <a:rPr lang="hu-HU" dirty="0" smtClean="0"/>
              <a:t> of </a:t>
            </a:r>
            <a:r>
              <a:rPr lang="hu-HU" dirty="0" err="1" smtClean="0"/>
              <a:t>Discourse</a:t>
            </a:r>
            <a:endParaRPr lang="hu-HU" dirty="0" smtClean="0"/>
          </a:p>
          <a:p>
            <a:endParaRPr lang="hu-HU" dirty="0"/>
          </a:p>
          <a:p>
            <a:r>
              <a:rPr lang="hu-HU" dirty="0" smtClean="0"/>
              <a:t>Szakterület dinamikus része:</a:t>
            </a:r>
          </a:p>
          <a:p>
            <a:pPr lvl="1"/>
            <a:r>
              <a:rPr lang="hu-HU" dirty="0" smtClean="0"/>
              <a:t>Üzleti folyamatok és</a:t>
            </a:r>
          </a:p>
          <a:p>
            <a:pPr lvl="1"/>
            <a:r>
              <a:rPr lang="hu-HU" dirty="0" smtClean="0"/>
              <a:t>Objektum életciklusok</a:t>
            </a:r>
          </a:p>
          <a:p>
            <a:r>
              <a:rPr lang="hu-HU" dirty="0" smtClean="0"/>
              <a:t>Szakterület statikus része:</a:t>
            </a:r>
          </a:p>
          <a:p>
            <a:pPr lvl="1"/>
            <a:r>
              <a:rPr lang="hu-HU" dirty="0" smtClean="0"/>
              <a:t>Elemzési osztálymodell</a:t>
            </a:r>
            <a:endParaRPr lang="hu-HU" dirty="0"/>
          </a:p>
        </p:txBody>
      </p:sp>
    </p:spTree>
    <p:extLst>
      <p:ext uri="{BB962C8B-B14F-4D97-AF65-F5344CB8AC3E}">
        <p14:creationId xmlns:p14="http://schemas.microsoft.com/office/powerpoint/2010/main" val="3535493926"/>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Elemzési osztályok</a:t>
            </a:r>
            <a:endParaRPr lang="hu-HU" dirty="0"/>
          </a:p>
        </p:txBody>
      </p:sp>
      <p:sp>
        <p:nvSpPr>
          <p:cNvPr id="3" name="Tartalom helye 2"/>
          <p:cNvSpPr>
            <a:spLocks noGrp="1"/>
          </p:cNvSpPr>
          <p:nvPr>
            <p:ph idx="1"/>
          </p:nvPr>
        </p:nvSpPr>
        <p:spPr/>
        <p:txBody>
          <a:bodyPr/>
          <a:lstStyle/>
          <a:p>
            <a:r>
              <a:rPr lang="hu-HU" dirty="0" smtClean="0"/>
              <a:t>Téglalapok </a:t>
            </a:r>
            <a:r>
              <a:rPr lang="hu-HU" dirty="0" smtClean="0">
                <a:sym typeface="Wingdings" pitchFamily="2" charset="2"/>
              </a:rPr>
              <a:t> fogalmak</a:t>
            </a:r>
            <a:endParaRPr lang="hu-HU"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3512" y="2060849"/>
            <a:ext cx="7776864" cy="4678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178245"/>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Kapcsolatok</a:t>
            </a:r>
            <a:endParaRPr lang="hu-HU" dirty="0"/>
          </a:p>
        </p:txBody>
      </p:sp>
      <p:sp>
        <p:nvSpPr>
          <p:cNvPr id="3" name="Tartalom helye 2"/>
          <p:cNvSpPr>
            <a:spLocks noGrp="1"/>
          </p:cNvSpPr>
          <p:nvPr>
            <p:ph idx="1"/>
          </p:nvPr>
        </p:nvSpPr>
        <p:spPr/>
        <p:txBody>
          <a:bodyPr/>
          <a:lstStyle/>
          <a:p>
            <a:r>
              <a:rPr lang="hu-HU" dirty="0" smtClean="0"/>
              <a:t>Két osztály között vonal: asszociáció</a:t>
            </a:r>
          </a:p>
          <a:p>
            <a:pPr lvl="1"/>
            <a:r>
              <a:rPr lang="hu-HU" dirty="0" smtClean="0"/>
              <a:t>irányítható</a:t>
            </a:r>
          </a:p>
          <a:p>
            <a:r>
              <a:rPr lang="hu-HU" dirty="0" smtClean="0"/>
              <a:t>Felirat: szerepkör</a:t>
            </a:r>
          </a:p>
          <a:p>
            <a:r>
              <a:rPr lang="hu-HU" dirty="0" smtClean="0"/>
              <a:t>*:mennyiség: számosság</a:t>
            </a:r>
          </a:p>
          <a:p>
            <a:pPr lvl="1"/>
            <a:r>
              <a:rPr lang="hu-HU" dirty="0" smtClean="0"/>
              <a:t>Alapértelmezett: 1, elhagyható</a:t>
            </a:r>
          </a:p>
          <a:p>
            <a:pPr lvl="1"/>
            <a:r>
              <a:rPr lang="hu-HU" dirty="0" smtClean="0"/>
              <a:t>... Tartomány is lehet.</a:t>
            </a:r>
          </a:p>
          <a:p>
            <a:r>
              <a:rPr lang="hu-HU" dirty="0" err="1" smtClean="0"/>
              <a:t>N-ary</a:t>
            </a:r>
            <a:r>
              <a:rPr lang="hu-HU" dirty="0" smtClean="0"/>
              <a:t> link: több egyenrangú résztvevő a kapcsolatban</a:t>
            </a:r>
          </a:p>
          <a:p>
            <a:r>
              <a:rPr lang="hu-HU" dirty="0" smtClean="0"/>
              <a:t>Névvel elláthatóak</a:t>
            </a:r>
          </a:p>
          <a:p>
            <a:endParaRPr lang="hu-HU"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8208" y="180648"/>
            <a:ext cx="2304256" cy="42736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7808" y="4433127"/>
            <a:ext cx="3024336" cy="2410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24161261"/>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Fogalmi szótár</a:t>
            </a:r>
            <a:endParaRPr lang="hu-HU" dirty="0"/>
          </a:p>
        </p:txBody>
      </p:sp>
      <p:graphicFrame>
        <p:nvGraphicFramePr>
          <p:cNvPr id="4" name="Tartalom helye 3"/>
          <p:cNvGraphicFramePr>
            <a:graphicFrameLocks noGrp="1"/>
          </p:cNvGraphicFramePr>
          <p:nvPr>
            <p:ph idx="1"/>
            <p:extLst/>
          </p:nvPr>
        </p:nvGraphicFramePr>
        <p:xfrm>
          <a:off x="1981200" y="1600200"/>
          <a:ext cx="7467600" cy="4124960"/>
        </p:xfrm>
        <a:graphic>
          <a:graphicData uri="http://schemas.openxmlformats.org/drawingml/2006/table">
            <a:tbl>
              <a:tblPr firstRow="1" bandRow="1">
                <a:tableStyleId>{5C22544A-7EE6-4342-B048-85BDC9FD1C3A}</a:tableStyleId>
              </a:tblPr>
              <a:tblGrid>
                <a:gridCol w="1234480">
                  <a:extLst>
                    <a:ext uri="{9D8B030D-6E8A-4147-A177-3AD203B41FA5}">
                      <a16:colId xmlns:a16="http://schemas.microsoft.com/office/drawing/2014/main" val="20000"/>
                    </a:ext>
                  </a:extLst>
                </a:gridCol>
                <a:gridCol w="2520280">
                  <a:extLst>
                    <a:ext uri="{9D8B030D-6E8A-4147-A177-3AD203B41FA5}">
                      <a16:colId xmlns:a16="http://schemas.microsoft.com/office/drawing/2014/main" val="20001"/>
                    </a:ext>
                  </a:extLst>
                </a:gridCol>
                <a:gridCol w="3712840">
                  <a:extLst>
                    <a:ext uri="{9D8B030D-6E8A-4147-A177-3AD203B41FA5}">
                      <a16:colId xmlns:a16="http://schemas.microsoft.com/office/drawing/2014/main" val="20002"/>
                    </a:ext>
                  </a:extLst>
                </a:gridCol>
              </a:tblGrid>
              <a:tr h="370840">
                <a:tc>
                  <a:txBody>
                    <a:bodyPr/>
                    <a:lstStyle/>
                    <a:p>
                      <a:r>
                        <a:rPr lang="hu-HU" dirty="0" smtClean="0"/>
                        <a:t>Fogalom</a:t>
                      </a:r>
                      <a:endParaRPr lang="hu-HU" dirty="0"/>
                    </a:p>
                  </a:txBody>
                  <a:tcPr/>
                </a:tc>
                <a:tc>
                  <a:txBody>
                    <a:bodyPr/>
                    <a:lstStyle/>
                    <a:p>
                      <a:r>
                        <a:rPr lang="hu-HU" dirty="0" err="1" smtClean="0"/>
                        <a:t>Szinoníma</a:t>
                      </a:r>
                      <a:endParaRPr lang="hu-HU" dirty="0"/>
                    </a:p>
                  </a:txBody>
                  <a:tcPr/>
                </a:tc>
                <a:tc>
                  <a:txBody>
                    <a:bodyPr/>
                    <a:lstStyle/>
                    <a:p>
                      <a:r>
                        <a:rPr lang="hu-HU" dirty="0" smtClean="0"/>
                        <a:t>Magyarázat</a:t>
                      </a:r>
                      <a:endParaRPr lang="hu-HU" dirty="0"/>
                    </a:p>
                  </a:txBody>
                  <a:tcPr/>
                </a:tc>
                <a:extLst>
                  <a:ext uri="{0D108BD9-81ED-4DB2-BD59-A6C34878D82A}">
                    <a16:rowId xmlns:a16="http://schemas.microsoft.com/office/drawing/2014/main" val="10000"/>
                  </a:ext>
                </a:extLst>
              </a:tr>
              <a:tr h="370840">
                <a:tc>
                  <a:txBody>
                    <a:bodyPr/>
                    <a:lstStyle/>
                    <a:p>
                      <a:r>
                        <a:rPr lang="hu-HU" dirty="0" smtClean="0"/>
                        <a:t>Foglalás</a:t>
                      </a:r>
                      <a:endParaRPr lang="hu-HU" dirty="0"/>
                    </a:p>
                  </a:txBody>
                  <a:tcPr/>
                </a:tc>
                <a:tc>
                  <a:txBody>
                    <a:bodyPr/>
                    <a:lstStyle/>
                    <a:p>
                      <a:r>
                        <a:rPr lang="hu-HU" dirty="0" smtClean="0"/>
                        <a:t>Járatfoglalás</a:t>
                      </a:r>
                      <a:endParaRPr lang="hu-HU" dirty="0"/>
                    </a:p>
                  </a:txBody>
                  <a:tcPr/>
                </a:tc>
                <a:tc>
                  <a:txBody>
                    <a:bodyPr/>
                    <a:lstStyle/>
                    <a:p>
                      <a:r>
                        <a:rPr lang="hu-HU" dirty="0" smtClean="0"/>
                        <a:t>A foglalás adott utas adott járatra szóló helyének</a:t>
                      </a:r>
                      <a:r>
                        <a:rPr lang="hu-HU" baseline="0" dirty="0" smtClean="0"/>
                        <a:t> lefoglalását jelenti</a:t>
                      </a:r>
                      <a:endParaRPr lang="hu-HU" dirty="0"/>
                    </a:p>
                  </a:txBody>
                  <a:tcPr/>
                </a:tc>
                <a:extLst>
                  <a:ext uri="{0D108BD9-81ED-4DB2-BD59-A6C34878D82A}">
                    <a16:rowId xmlns:a16="http://schemas.microsoft.com/office/drawing/2014/main" val="10001"/>
                  </a:ext>
                </a:extLst>
              </a:tr>
              <a:tr h="370840">
                <a:tc>
                  <a:txBody>
                    <a:bodyPr/>
                    <a:lstStyle/>
                    <a:p>
                      <a:r>
                        <a:rPr lang="hu-HU" dirty="0" smtClean="0"/>
                        <a:t>Járat</a:t>
                      </a:r>
                      <a:endParaRPr lang="hu-HU" dirty="0"/>
                    </a:p>
                  </a:txBody>
                  <a:tcPr/>
                </a:tc>
                <a:tc>
                  <a:txBody>
                    <a:bodyPr/>
                    <a:lstStyle/>
                    <a:p>
                      <a:r>
                        <a:rPr lang="hu-HU" dirty="0" err="1" smtClean="0"/>
                        <a:t>Légijárat</a:t>
                      </a:r>
                      <a:r>
                        <a:rPr lang="hu-HU" dirty="0" smtClean="0"/>
                        <a:t>, repülőjárat</a:t>
                      </a:r>
                      <a:endParaRPr lang="hu-HU" dirty="0"/>
                    </a:p>
                  </a:txBody>
                  <a:tcPr/>
                </a:tc>
                <a:tc>
                  <a:txBody>
                    <a:bodyPr/>
                    <a:lstStyle/>
                    <a:p>
                      <a:r>
                        <a:rPr lang="hu-HU" dirty="0" smtClean="0"/>
                        <a:t>A járat két reptér közti összeköttetés adott napokon, adott időpontban. Adott példányai a </a:t>
                      </a:r>
                      <a:r>
                        <a:rPr lang="hu-HU" dirty="0" err="1" smtClean="0"/>
                        <a:t>járatutak</a:t>
                      </a:r>
                      <a:r>
                        <a:rPr lang="hu-HU" dirty="0" smtClean="0"/>
                        <a:t>.</a:t>
                      </a:r>
                      <a:endParaRPr lang="hu-HU" dirty="0"/>
                    </a:p>
                  </a:txBody>
                  <a:tcPr/>
                </a:tc>
                <a:extLst>
                  <a:ext uri="{0D108BD9-81ED-4DB2-BD59-A6C34878D82A}">
                    <a16:rowId xmlns:a16="http://schemas.microsoft.com/office/drawing/2014/main" val="10002"/>
                  </a:ext>
                </a:extLst>
              </a:tr>
              <a:tr h="370840">
                <a:tc>
                  <a:txBody>
                    <a:bodyPr/>
                    <a:lstStyle/>
                    <a:p>
                      <a:r>
                        <a:rPr lang="hu-HU" dirty="0" smtClean="0"/>
                        <a:t>Járatút</a:t>
                      </a:r>
                      <a:endParaRPr lang="hu-HU" dirty="0"/>
                    </a:p>
                  </a:txBody>
                  <a:tcPr/>
                </a:tc>
                <a:tc>
                  <a:txBody>
                    <a:bodyPr/>
                    <a:lstStyle/>
                    <a:p>
                      <a:r>
                        <a:rPr lang="hu-HU" dirty="0" smtClean="0"/>
                        <a:t>Repülőút, járat megtétele, lebonyolítása</a:t>
                      </a:r>
                      <a:endParaRPr lang="hu-HU" dirty="0"/>
                    </a:p>
                  </a:txBody>
                  <a:tcPr/>
                </a:tc>
                <a:tc>
                  <a:txBody>
                    <a:bodyPr/>
                    <a:lstStyle/>
                    <a:p>
                      <a:r>
                        <a:rPr lang="hu-HU" dirty="0" smtClean="0"/>
                        <a:t>Egy járat</a:t>
                      </a:r>
                      <a:r>
                        <a:rPr lang="hu-HU" baseline="0" dirty="0" smtClean="0"/>
                        <a:t> megtétele adott napon</a:t>
                      </a:r>
                      <a:endParaRPr lang="hu-HU" dirty="0"/>
                    </a:p>
                  </a:txBody>
                  <a:tcPr/>
                </a:tc>
                <a:extLst>
                  <a:ext uri="{0D108BD9-81ED-4DB2-BD59-A6C34878D82A}">
                    <a16:rowId xmlns:a16="http://schemas.microsoft.com/office/drawing/2014/main" val="10003"/>
                  </a:ext>
                </a:extLst>
              </a:tr>
              <a:tr h="370840">
                <a:tc>
                  <a:txBody>
                    <a:bodyPr/>
                    <a:lstStyle/>
                    <a:p>
                      <a:r>
                        <a:rPr lang="hu-HU" dirty="0" smtClean="0"/>
                        <a:t>Név</a:t>
                      </a:r>
                      <a:endParaRPr lang="hu-HU" dirty="0"/>
                    </a:p>
                  </a:txBody>
                  <a:tcPr/>
                </a:tc>
                <a:tc>
                  <a:txBody>
                    <a:bodyPr/>
                    <a:lstStyle/>
                    <a:p>
                      <a:endParaRPr lang="hu-HU" dirty="0"/>
                    </a:p>
                  </a:txBody>
                  <a:tcPr/>
                </a:tc>
                <a:tc>
                  <a:txBody>
                    <a:bodyPr/>
                    <a:lstStyle/>
                    <a:p>
                      <a:r>
                        <a:rPr lang="hu-HU" dirty="0" smtClean="0"/>
                        <a:t>Keresztnév és vezetéknév, cím,</a:t>
                      </a:r>
                      <a:r>
                        <a:rPr lang="hu-HU" baseline="0" dirty="0" smtClean="0"/>
                        <a:t> megszólítás, elöljáró szavakkal</a:t>
                      </a:r>
                      <a:endParaRPr lang="hu-HU" dirty="0"/>
                    </a:p>
                  </a:txBody>
                  <a:tcPr/>
                </a:tc>
                <a:extLst>
                  <a:ext uri="{0D108BD9-81ED-4DB2-BD59-A6C34878D82A}">
                    <a16:rowId xmlns:a16="http://schemas.microsoft.com/office/drawing/2014/main" val="10004"/>
                  </a:ext>
                </a:extLst>
              </a:tr>
              <a:tr h="370840">
                <a:tc>
                  <a:txBody>
                    <a:bodyPr/>
                    <a:lstStyle/>
                    <a:p>
                      <a:r>
                        <a:rPr lang="hu-HU" dirty="0" smtClean="0"/>
                        <a:t>Utas</a:t>
                      </a:r>
                      <a:endParaRPr lang="hu-HU" dirty="0"/>
                    </a:p>
                  </a:txBody>
                  <a:tcPr/>
                </a:tc>
                <a:tc>
                  <a:txBody>
                    <a:bodyPr/>
                    <a:lstStyle/>
                    <a:p>
                      <a:r>
                        <a:rPr lang="hu-HU" dirty="0" smtClean="0"/>
                        <a:t>Ügyfél</a:t>
                      </a:r>
                      <a:endParaRPr lang="hu-HU" dirty="0"/>
                    </a:p>
                  </a:txBody>
                  <a:tcPr/>
                </a:tc>
                <a:tc>
                  <a:txBody>
                    <a:bodyPr/>
                    <a:lstStyle/>
                    <a:p>
                      <a:r>
                        <a:rPr lang="hu-HU" dirty="0" smtClean="0"/>
                        <a:t>Utas az, akinek foglalás</a:t>
                      </a:r>
                      <a:r>
                        <a:rPr lang="hu-HU" baseline="0" dirty="0" smtClean="0"/>
                        <a:t>a van.</a:t>
                      </a:r>
                      <a:endParaRPr lang="hu-HU"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348923694"/>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1981200" y="274638"/>
            <a:ext cx="7467600" cy="418058"/>
          </a:xfrm>
        </p:spPr>
        <p:txBody>
          <a:bodyPr>
            <a:normAutofit fontScale="90000"/>
          </a:bodyPr>
          <a:lstStyle/>
          <a:p>
            <a:r>
              <a:rPr lang="hu-HU" dirty="0" err="1" smtClean="0"/>
              <a:t>attributumok</a:t>
            </a:r>
            <a:endParaRPr lang="hu-HU"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91544" y="620688"/>
            <a:ext cx="7200800" cy="6257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4312084"/>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31504" y="2306580"/>
            <a:ext cx="4032448" cy="2964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1356" y="2254560"/>
            <a:ext cx="4778620" cy="3068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églalap 4"/>
          <p:cNvSpPr/>
          <p:nvPr/>
        </p:nvSpPr>
        <p:spPr>
          <a:xfrm>
            <a:off x="1847528" y="188640"/>
            <a:ext cx="8352928" cy="5355312"/>
          </a:xfrm>
          <a:prstGeom prst="rect">
            <a:avLst/>
          </a:prstGeom>
        </p:spPr>
        <p:txBody>
          <a:bodyPr wrap="square">
            <a:spAutoFit/>
          </a:bodyPr>
          <a:lstStyle/>
          <a:p>
            <a:r>
              <a:rPr lang="hu-HU" dirty="0" err="1"/>
              <a:t>Attributúmok</a:t>
            </a:r>
            <a:r>
              <a:rPr lang="hu-HU" dirty="0"/>
              <a:t> számossággal is elláthatóak!</a:t>
            </a:r>
          </a:p>
          <a:p>
            <a:r>
              <a:rPr lang="hu-HU" dirty="0"/>
              <a:t>Az asszociációk és az attribútumok egyaránt a jellemzők (</a:t>
            </a:r>
            <a:r>
              <a:rPr lang="hu-HU" dirty="0" err="1"/>
              <a:t>feature</a:t>
            </a:r>
            <a:r>
              <a:rPr lang="hu-HU" dirty="0"/>
              <a:t>) speciális esetei.</a:t>
            </a:r>
          </a:p>
          <a:p>
            <a:endParaRPr lang="hu-HU" dirty="0"/>
          </a:p>
          <a:p>
            <a:endParaRPr lang="hu-HU" dirty="0"/>
          </a:p>
          <a:p>
            <a:r>
              <a:rPr lang="hu-HU" dirty="0"/>
              <a:t>Az asszociációk és attribútumok elvben egyenértékűek:</a:t>
            </a:r>
          </a:p>
          <a:p>
            <a:r>
              <a:rPr lang="hu-HU" dirty="0"/>
              <a:t>Asszociációval és attribútumokkal ugyanaz:</a:t>
            </a:r>
          </a:p>
          <a:p>
            <a:endParaRPr lang="hu-HU" dirty="0"/>
          </a:p>
          <a:p>
            <a:endParaRPr lang="hu-HU" dirty="0"/>
          </a:p>
          <a:p>
            <a:endParaRPr lang="hu-HU" dirty="0"/>
          </a:p>
          <a:p>
            <a:endParaRPr lang="hu-HU" dirty="0"/>
          </a:p>
          <a:p>
            <a:endParaRPr lang="hu-HU" dirty="0"/>
          </a:p>
          <a:p>
            <a:r>
              <a:rPr lang="hu-HU" dirty="0"/>
              <a:t>A minősítők (</a:t>
            </a:r>
            <a:r>
              <a:rPr lang="hu-HU" dirty="0" err="1"/>
              <a:t>qualifier</a:t>
            </a:r>
            <a:r>
              <a:rPr lang="hu-HU" dirty="0"/>
              <a:t>) csökkentik a számosságot (rendszerint 1-re), vagyis a minősítőn keresztül a hozzáférés egyértelmű:</a:t>
            </a:r>
          </a:p>
          <a:p>
            <a:endParaRPr lang="hu-HU" dirty="0"/>
          </a:p>
          <a:p>
            <a:endParaRPr lang="hu-HU" dirty="0"/>
          </a:p>
          <a:p>
            <a:endParaRPr lang="hu-HU" dirty="0"/>
          </a:p>
          <a:p>
            <a:endParaRPr lang="hu-HU" dirty="0"/>
          </a:p>
          <a:p>
            <a:endParaRPr lang="hu-HU" dirty="0"/>
          </a:p>
          <a:p>
            <a:endParaRPr lang="hu-HU" dirty="0"/>
          </a:p>
        </p:txBody>
      </p:sp>
    </p:spTree>
    <p:extLst>
      <p:ext uri="{BB962C8B-B14F-4D97-AF65-F5344CB8AC3E}">
        <p14:creationId xmlns:p14="http://schemas.microsoft.com/office/powerpoint/2010/main" val="502201001"/>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Minősítők</a:t>
            </a:r>
            <a:endParaRPr lang="hu-HU"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75576" y="1988840"/>
            <a:ext cx="8856984" cy="3579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6836046"/>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Kompozíció</a:t>
            </a:r>
            <a:endParaRPr lang="hu-HU" dirty="0"/>
          </a:p>
        </p:txBody>
      </p:sp>
      <p:sp>
        <p:nvSpPr>
          <p:cNvPr id="3" name="Tartalom helye 2"/>
          <p:cNvSpPr>
            <a:spLocks noGrp="1"/>
          </p:cNvSpPr>
          <p:nvPr>
            <p:ph idx="1"/>
          </p:nvPr>
        </p:nvSpPr>
        <p:spPr/>
        <p:txBody>
          <a:bodyPr/>
          <a:lstStyle/>
          <a:p>
            <a:r>
              <a:rPr lang="hu-HU" dirty="0" smtClean="0"/>
              <a:t>Egyszerű rész-egész kapcsolat</a:t>
            </a:r>
          </a:p>
          <a:p>
            <a:r>
              <a:rPr lang="hu-HU" dirty="0" smtClean="0"/>
              <a:t>(Az asszociáció kapcsolatot jelöl)</a:t>
            </a:r>
          </a:p>
          <a:p>
            <a:r>
              <a:rPr lang="hu-HU" dirty="0" smtClean="0"/>
              <a:t>A kompozíció tulajdonlást.</a:t>
            </a:r>
          </a:p>
          <a:p>
            <a:r>
              <a:rPr lang="hu-HU" dirty="0" smtClean="0"/>
              <a:t>(tehát olyan asszociáció, melynek egyik vége </a:t>
            </a:r>
            <a:r>
              <a:rPr lang="hu-HU" dirty="0" err="1" smtClean="0"/>
              <a:t>Composite</a:t>
            </a:r>
            <a:r>
              <a:rPr lang="hu-HU" dirty="0" smtClean="0"/>
              <a:t> értékkel van ellátva)</a:t>
            </a:r>
          </a:p>
          <a:p>
            <a:r>
              <a:rPr lang="hu-HU" dirty="0" smtClean="0"/>
              <a:t>Fekete rombusz végű vonal</a:t>
            </a:r>
          </a:p>
          <a:p>
            <a:r>
              <a:rPr lang="hu-HU" dirty="0" smtClean="0"/>
              <a:t>A tartalmazó objektum megszűntével az összes részobjektum is felszámolódik</a:t>
            </a:r>
          </a:p>
          <a:p>
            <a:endParaRPr lang="hu-HU" dirty="0"/>
          </a:p>
          <a:p>
            <a:endParaRPr lang="hu-HU" dirty="0"/>
          </a:p>
        </p:txBody>
      </p:sp>
    </p:spTree>
    <p:extLst>
      <p:ext uri="{BB962C8B-B14F-4D97-AF65-F5344CB8AC3E}">
        <p14:creationId xmlns:p14="http://schemas.microsoft.com/office/powerpoint/2010/main" val="2891576293"/>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Kompozíció</a:t>
            </a:r>
            <a:endParaRPr lang="hu-HU" dirty="0"/>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19537" y="1556792"/>
            <a:ext cx="8155533" cy="4320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33883574"/>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Aggregáció</a:t>
            </a:r>
            <a:r>
              <a:rPr lang="hu-HU" dirty="0" smtClean="0"/>
              <a:t> jelölései</a:t>
            </a:r>
            <a:endParaRPr lang="hu-HU" dirty="0"/>
          </a:p>
        </p:txBody>
      </p:sp>
      <p:graphicFrame>
        <p:nvGraphicFramePr>
          <p:cNvPr id="4" name="Tartalom helye 3"/>
          <p:cNvGraphicFramePr>
            <a:graphicFrameLocks noGrp="1"/>
          </p:cNvGraphicFramePr>
          <p:nvPr>
            <p:ph idx="1"/>
            <p:extLst/>
          </p:nvPr>
        </p:nvGraphicFramePr>
        <p:xfrm>
          <a:off x="1932072" y="1556792"/>
          <a:ext cx="7692321" cy="4394200"/>
        </p:xfrm>
        <a:graphic>
          <a:graphicData uri="http://schemas.openxmlformats.org/drawingml/2006/table">
            <a:tbl>
              <a:tblPr firstRow="1" bandRow="1">
                <a:tableStyleId>{5C22544A-7EE6-4342-B048-85BDC9FD1C3A}</a:tableStyleId>
              </a:tblPr>
              <a:tblGrid>
                <a:gridCol w="1493520">
                  <a:extLst>
                    <a:ext uri="{9D8B030D-6E8A-4147-A177-3AD203B41FA5}">
                      <a16:colId xmlns:a16="http://schemas.microsoft.com/office/drawing/2014/main" val="20000"/>
                    </a:ext>
                  </a:extLst>
                </a:gridCol>
                <a:gridCol w="1386800">
                  <a:extLst>
                    <a:ext uri="{9D8B030D-6E8A-4147-A177-3AD203B41FA5}">
                      <a16:colId xmlns:a16="http://schemas.microsoft.com/office/drawing/2014/main" val="20001"/>
                    </a:ext>
                  </a:extLst>
                </a:gridCol>
                <a:gridCol w="1600240">
                  <a:extLst>
                    <a:ext uri="{9D8B030D-6E8A-4147-A177-3AD203B41FA5}">
                      <a16:colId xmlns:a16="http://schemas.microsoft.com/office/drawing/2014/main" val="20002"/>
                    </a:ext>
                  </a:extLst>
                </a:gridCol>
                <a:gridCol w="1568112">
                  <a:extLst>
                    <a:ext uri="{9D8B030D-6E8A-4147-A177-3AD203B41FA5}">
                      <a16:colId xmlns:a16="http://schemas.microsoft.com/office/drawing/2014/main" val="20003"/>
                    </a:ext>
                  </a:extLst>
                </a:gridCol>
                <a:gridCol w="1643649">
                  <a:extLst>
                    <a:ext uri="{9D8B030D-6E8A-4147-A177-3AD203B41FA5}">
                      <a16:colId xmlns:a16="http://schemas.microsoft.com/office/drawing/2014/main" val="20004"/>
                    </a:ext>
                  </a:extLst>
                </a:gridCol>
              </a:tblGrid>
              <a:tr h="370840">
                <a:tc>
                  <a:txBody>
                    <a:bodyPr/>
                    <a:lstStyle/>
                    <a:p>
                      <a:endParaRPr lang="hu-HU" dirty="0"/>
                    </a:p>
                  </a:txBody>
                  <a:tcPr/>
                </a:tc>
                <a:tc>
                  <a:txBody>
                    <a:bodyPr/>
                    <a:lstStyle/>
                    <a:p>
                      <a:r>
                        <a:rPr lang="hu-HU" dirty="0" smtClean="0"/>
                        <a:t>C++</a:t>
                      </a:r>
                      <a:endParaRPr lang="hu-HU" dirty="0"/>
                    </a:p>
                  </a:txBody>
                  <a:tcPr/>
                </a:tc>
                <a:tc>
                  <a:txBody>
                    <a:bodyPr/>
                    <a:lstStyle/>
                    <a:p>
                      <a:r>
                        <a:rPr lang="hu-HU" dirty="0" smtClean="0"/>
                        <a:t>Attribútum</a:t>
                      </a:r>
                      <a:endParaRPr lang="hu-HU" dirty="0"/>
                    </a:p>
                  </a:txBody>
                  <a:tcPr/>
                </a:tc>
                <a:tc>
                  <a:txBody>
                    <a:bodyPr/>
                    <a:lstStyle/>
                    <a:p>
                      <a:r>
                        <a:rPr lang="hu-HU" dirty="0" smtClean="0"/>
                        <a:t>Asszociáció</a:t>
                      </a:r>
                      <a:endParaRPr lang="hu-HU" dirty="0"/>
                    </a:p>
                  </a:txBody>
                  <a:tcPr/>
                </a:tc>
                <a:tc>
                  <a:txBody>
                    <a:bodyPr/>
                    <a:lstStyle/>
                    <a:p>
                      <a:r>
                        <a:rPr lang="hu-HU" dirty="0" smtClean="0"/>
                        <a:t>Beágyazás</a:t>
                      </a:r>
                      <a:endParaRPr lang="hu-HU" dirty="0"/>
                    </a:p>
                  </a:txBody>
                  <a:tcPr/>
                </a:tc>
                <a:extLst>
                  <a:ext uri="{0D108BD9-81ED-4DB2-BD59-A6C34878D82A}">
                    <a16:rowId xmlns:a16="http://schemas.microsoft.com/office/drawing/2014/main" val="10000"/>
                  </a:ext>
                </a:extLst>
              </a:tr>
              <a:tr h="370840">
                <a:tc>
                  <a:txBody>
                    <a:bodyPr/>
                    <a:lstStyle/>
                    <a:p>
                      <a:endParaRPr lang="hu-HU" dirty="0" smtClean="0"/>
                    </a:p>
                    <a:p>
                      <a:endParaRPr lang="hu-HU" dirty="0" smtClean="0"/>
                    </a:p>
                    <a:p>
                      <a:r>
                        <a:rPr lang="hu-HU" dirty="0" smtClean="0"/>
                        <a:t>Asszociációhivatkozás</a:t>
                      </a:r>
                    </a:p>
                    <a:p>
                      <a:endParaRPr lang="hu-HU" dirty="0" smtClean="0"/>
                    </a:p>
                    <a:p>
                      <a:endParaRPr lang="hu-HU" dirty="0"/>
                    </a:p>
                  </a:txBody>
                  <a:tcPr/>
                </a:tc>
                <a:tc>
                  <a:txBody>
                    <a:bodyPr/>
                    <a:lstStyle/>
                    <a:p>
                      <a:endParaRPr lang="hu-HU"/>
                    </a:p>
                  </a:txBody>
                  <a:tcPr/>
                </a:tc>
                <a:tc>
                  <a:txBody>
                    <a:bodyPr/>
                    <a:lstStyle/>
                    <a:p>
                      <a:endParaRPr lang="hu-HU" dirty="0"/>
                    </a:p>
                  </a:txBody>
                  <a:tcPr/>
                </a:tc>
                <a:tc>
                  <a:txBody>
                    <a:bodyPr/>
                    <a:lstStyle/>
                    <a:p>
                      <a:endParaRPr lang="hu-HU" dirty="0"/>
                    </a:p>
                  </a:txBody>
                  <a:tcPr/>
                </a:tc>
                <a:tc>
                  <a:txBody>
                    <a:bodyPr/>
                    <a:lstStyle/>
                    <a:p>
                      <a:endParaRPr lang="hu-HU"/>
                    </a:p>
                  </a:txBody>
                  <a:tcPr/>
                </a:tc>
                <a:extLst>
                  <a:ext uri="{0D108BD9-81ED-4DB2-BD59-A6C34878D82A}">
                    <a16:rowId xmlns:a16="http://schemas.microsoft.com/office/drawing/2014/main" val="10001"/>
                  </a:ext>
                </a:extLst>
              </a:tr>
              <a:tr h="370840">
                <a:tc>
                  <a:txBody>
                    <a:bodyPr/>
                    <a:lstStyle/>
                    <a:p>
                      <a:endParaRPr lang="hu-HU" dirty="0" smtClean="0"/>
                    </a:p>
                    <a:p>
                      <a:endParaRPr lang="hu-HU" dirty="0" smtClean="0"/>
                    </a:p>
                    <a:p>
                      <a:endParaRPr lang="hu-HU" dirty="0" smtClean="0"/>
                    </a:p>
                    <a:p>
                      <a:r>
                        <a:rPr lang="hu-HU" dirty="0" err="1" smtClean="0"/>
                        <a:t>Aggregáció</a:t>
                      </a:r>
                      <a:r>
                        <a:rPr lang="hu-HU" baseline="0" dirty="0" smtClean="0"/>
                        <a:t> kompozíció</a:t>
                      </a:r>
                      <a:endParaRPr lang="hu-HU" dirty="0" smtClean="0"/>
                    </a:p>
                    <a:p>
                      <a:endParaRPr lang="hu-HU" dirty="0" smtClean="0"/>
                    </a:p>
                    <a:p>
                      <a:endParaRPr lang="hu-HU" dirty="0" smtClean="0"/>
                    </a:p>
                    <a:p>
                      <a:endParaRPr lang="hu-HU" dirty="0"/>
                    </a:p>
                  </a:txBody>
                  <a:tcPr/>
                </a:tc>
                <a:tc>
                  <a:txBody>
                    <a:bodyPr/>
                    <a:lstStyle/>
                    <a:p>
                      <a:endParaRPr lang="hu-HU" dirty="0"/>
                    </a:p>
                  </a:txBody>
                  <a:tcPr/>
                </a:tc>
                <a:tc>
                  <a:txBody>
                    <a:bodyPr/>
                    <a:lstStyle/>
                    <a:p>
                      <a:endParaRPr lang="hu-HU" dirty="0"/>
                    </a:p>
                  </a:txBody>
                  <a:tcPr/>
                </a:tc>
                <a:tc>
                  <a:txBody>
                    <a:bodyPr/>
                    <a:lstStyle/>
                    <a:p>
                      <a:endParaRPr lang="hu-HU" dirty="0"/>
                    </a:p>
                  </a:txBody>
                  <a:tcPr/>
                </a:tc>
                <a:tc>
                  <a:txBody>
                    <a:bodyPr/>
                    <a:lstStyle/>
                    <a:p>
                      <a:endParaRPr lang="hu-HU" dirty="0"/>
                    </a:p>
                  </a:txBody>
                  <a:tcPr/>
                </a:tc>
                <a:extLst>
                  <a:ext uri="{0D108BD9-81ED-4DB2-BD59-A6C34878D82A}">
                    <a16:rowId xmlns:a16="http://schemas.microsoft.com/office/drawing/2014/main" val="10002"/>
                  </a:ext>
                </a:extLst>
              </a:tr>
            </a:tbl>
          </a:graphicData>
        </a:graphic>
      </p:graphicFrame>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7728" y="2178532"/>
            <a:ext cx="842764" cy="837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2106" y="4048302"/>
            <a:ext cx="898386" cy="914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7889" y="2149956"/>
            <a:ext cx="1155969" cy="866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1657" y="3991532"/>
            <a:ext cx="1048431" cy="944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5"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28048" y="1999212"/>
            <a:ext cx="1226046" cy="1196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6"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33642" y="3819636"/>
            <a:ext cx="1320453" cy="1288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7"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12225" y="3967564"/>
            <a:ext cx="1370825" cy="937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0075629"/>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1847528" y="-387424"/>
            <a:ext cx="7467600" cy="1143000"/>
          </a:xfrm>
        </p:spPr>
        <p:txBody>
          <a:bodyPr/>
          <a:lstStyle/>
          <a:p>
            <a:r>
              <a:rPr lang="hu-HU" dirty="0" smtClean="0"/>
              <a:t>Műveletek / Metódusok</a:t>
            </a:r>
            <a:endParaRPr lang="hu-HU" dirty="0"/>
          </a:p>
        </p:txBody>
      </p:sp>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19537" y="764704"/>
            <a:ext cx="8130911" cy="5976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5170632"/>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Műveletek / Metódusok</a:t>
            </a:r>
            <a:endParaRPr lang="hu-HU" dirty="0"/>
          </a:p>
        </p:txBody>
      </p:sp>
      <p:sp>
        <p:nvSpPr>
          <p:cNvPr id="3" name="Tartalom helye 2"/>
          <p:cNvSpPr>
            <a:spLocks noGrp="1"/>
          </p:cNvSpPr>
          <p:nvPr>
            <p:ph idx="1"/>
          </p:nvPr>
        </p:nvSpPr>
        <p:spPr/>
        <p:txBody>
          <a:bodyPr/>
          <a:lstStyle/>
          <a:p>
            <a:r>
              <a:rPr lang="hu-HU" dirty="0" smtClean="0"/>
              <a:t>Osztály alatt új dobozrész</a:t>
            </a:r>
          </a:p>
          <a:p>
            <a:r>
              <a:rPr lang="hu-HU" dirty="0" smtClean="0"/>
              <a:t>Tetszőleges dobozok</a:t>
            </a:r>
          </a:p>
          <a:p>
            <a:r>
              <a:rPr lang="hu-HU" dirty="0" smtClean="0"/>
              <a:t>Használati esetek megfogalmazhatóak a metódusok elnevezéséhez, illetve metódusok használati eseteket valósíthatnak meg</a:t>
            </a:r>
          </a:p>
          <a:p>
            <a:endParaRPr lang="hu-HU"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7688" y="3645024"/>
            <a:ext cx="4608512" cy="3053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34072863"/>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Öröklődés</a:t>
            </a:r>
            <a:endParaRPr lang="hu-HU" dirty="0"/>
          </a:p>
        </p:txBody>
      </p:sp>
      <p:graphicFrame>
        <p:nvGraphicFramePr>
          <p:cNvPr id="4" name="Tartalom helye 3"/>
          <p:cNvGraphicFramePr>
            <a:graphicFrameLocks noGrp="1"/>
          </p:cNvGraphicFramePr>
          <p:nvPr>
            <p:ph idx="1"/>
            <p:extLst/>
          </p:nvPr>
        </p:nvGraphicFramePr>
        <p:xfrm>
          <a:off x="1981200" y="1600200"/>
          <a:ext cx="7467600" cy="2661920"/>
        </p:xfrm>
        <a:graphic>
          <a:graphicData uri="http://schemas.openxmlformats.org/drawingml/2006/table">
            <a:tbl>
              <a:tblPr firstRow="1" bandRow="1">
                <a:tableStyleId>{5C22544A-7EE6-4342-B048-85BDC9FD1C3A}</a:tableStyleId>
              </a:tblPr>
              <a:tblGrid>
                <a:gridCol w="2386608">
                  <a:extLst>
                    <a:ext uri="{9D8B030D-6E8A-4147-A177-3AD203B41FA5}">
                      <a16:colId xmlns:a16="http://schemas.microsoft.com/office/drawing/2014/main" val="20000"/>
                    </a:ext>
                  </a:extLst>
                </a:gridCol>
                <a:gridCol w="5080992">
                  <a:extLst>
                    <a:ext uri="{9D8B030D-6E8A-4147-A177-3AD203B41FA5}">
                      <a16:colId xmlns:a16="http://schemas.microsoft.com/office/drawing/2014/main" val="20001"/>
                    </a:ext>
                  </a:extLst>
                </a:gridCol>
              </a:tblGrid>
              <a:tr h="370840">
                <a:tc>
                  <a:txBody>
                    <a:bodyPr/>
                    <a:lstStyle/>
                    <a:p>
                      <a:endParaRPr lang="hu-HU" dirty="0"/>
                    </a:p>
                  </a:txBody>
                  <a:tcPr/>
                </a:tc>
                <a:tc>
                  <a:txBody>
                    <a:bodyPr/>
                    <a:lstStyle/>
                    <a:p>
                      <a:r>
                        <a:rPr lang="hu-HU" dirty="0" smtClean="0"/>
                        <a:t>Jelentés</a:t>
                      </a:r>
                      <a:endParaRPr lang="hu-HU" dirty="0"/>
                    </a:p>
                  </a:txBody>
                  <a:tcPr/>
                </a:tc>
                <a:extLst>
                  <a:ext uri="{0D108BD9-81ED-4DB2-BD59-A6C34878D82A}">
                    <a16:rowId xmlns:a16="http://schemas.microsoft.com/office/drawing/2014/main" val="10000"/>
                  </a:ext>
                </a:extLst>
              </a:tr>
              <a:tr h="370840">
                <a:tc>
                  <a:txBody>
                    <a:bodyPr/>
                    <a:lstStyle/>
                    <a:p>
                      <a:r>
                        <a:rPr lang="hu-HU" dirty="0" smtClean="0"/>
                        <a:t>… fogalom</a:t>
                      </a:r>
                      <a:endParaRPr lang="hu-HU" dirty="0"/>
                    </a:p>
                  </a:txBody>
                  <a:tcPr/>
                </a:tc>
                <a:tc>
                  <a:txBody>
                    <a:bodyPr/>
                    <a:lstStyle/>
                    <a:p>
                      <a:r>
                        <a:rPr lang="hu-HU" dirty="0" smtClean="0"/>
                        <a:t>Gyűjtőfogalmak</a:t>
                      </a:r>
                      <a:r>
                        <a:rPr lang="hu-HU" baseline="0" dirty="0" smtClean="0"/>
                        <a:t> képzése, az öröklődés specializálható is.</a:t>
                      </a:r>
                      <a:endParaRPr lang="hu-HU" dirty="0"/>
                    </a:p>
                  </a:txBody>
                  <a:tcPr/>
                </a:tc>
                <a:extLst>
                  <a:ext uri="{0D108BD9-81ED-4DB2-BD59-A6C34878D82A}">
                    <a16:rowId xmlns:a16="http://schemas.microsoft.com/office/drawing/2014/main" val="10001"/>
                  </a:ext>
                </a:extLst>
              </a:tr>
              <a:tr h="370840">
                <a:tc>
                  <a:txBody>
                    <a:bodyPr/>
                    <a:lstStyle/>
                    <a:p>
                      <a:r>
                        <a:rPr lang="hu-HU" dirty="0" smtClean="0"/>
                        <a:t>… típus</a:t>
                      </a:r>
                      <a:endParaRPr lang="hu-HU" dirty="0"/>
                    </a:p>
                  </a:txBody>
                  <a:tcPr/>
                </a:tc>
                <a:tc>
                  <a:txBody>
                    <a:bodyPr/>
                    <a:lstStyle/>
                    <a:p>
                      <a:r>
                        <a:rPr lang="hu-HU" dirty="0" smtClean="0"/>
                        <a:t>Altípusképzés.</a:t>
                      </a:r>
                      <a:r>
                        <a:rPr lang="hu-HU" baseline="0" dirty="0" smtClean="0"/>
                        <a:t> Az alosztály példányai az ősosztály speciális esetei.</a:t>
                      </a:r>
                      <a:endParaRPr lang="hu-HU" dirty="0"/>
                    </a:p>
                  </a:txBody>
                  <a:tcPr/>
                </a:tc>
                <a:extLst>
                  <a:ext uri="{0D108BD9-81ED-4DB2-BD59-A6C34878D82A}">
                    <a16:rowId xmlns:a16="http://schemas.microsoft.com/office/drawing/2014/main" val="10002"/>
                  </a:ext>
                </a:extLst>
              </a:tr>
              <a:tr h="370840">
                <a:tc>
                  <a:txBody>
                    <a:bodyPr/>
                    <a:lstStyle/>
                    <a:p>
                      <a:r>
                        <a:rPr lang="hu-HU" dirty="0" smtClean="0"/>
                        <a:t>… objektumhalmaz</a:t>
                      </a:r>
                      <a:endParaRPr lang="hu-HU" dirty="0"/>
                    </a:p>
                  </a:txBody>
                  <a:tcPr/>
                </a:tc>
                <a:tc>
                  <a:txBody>
                    <a:bodyPr/>
                    <a:lstStyle/>
                    <a:p>
                      <a:r>
                        <a:rPr lang="hu-HU" dirty="0" smtClean="0"/>
                        <a:t>Az öröklődés</a:t>
                      </a:r>
                      <a:r>
                        <a:rPr lang="hu-HU" baseline="0" dirty="0" smtClean="0"/>
                        <a:t> részhalmaz kapcsolat, illetve alcsoportokba sorolás.</a:t>
                      </a:r>
                      <a:endParaRPr lang="hu-HU" dirty="0"/>
                    </a:p>
                  </a:txBody>
                  <a:tcPr/>
                </a:tc>
                <a:extLst>
                  <a:ext uri="{0D108BD9-81ED-4DB2-BD59-A6C34878D82A}">
                    <a16:rowId xmlns:a16="http://schemas.microsoft.com/office/drawing/2014/main" val="10003"/>
                  </a:ext>
                </a:extLst>
              </a:tr>
              <a:tr h="370840">
                <a:tc>
                  <a:txBody>
                    <a:bodyPr/>
                    <a:lstStyle/>
                    <a:p>
                      <a:r>
                        <a:rPr lang="hu-HU" dirty="0" smtClean="0"/>
                        <a:t>… implementáció</a:t>
                      </a:r>
                      <a:endParaRPr lang="hu-HU" dirty="0"/>
                    </a:p>
                  </a:txBody>
                  <a:tcPr/>
                </a:tc>
                <a:tc>
                  <a:txBody>
                    <a:bodyPr/>
                    <a:lstStyle/>
                    <a:p>
                      <a:r>
                        <a:rPr lang="hu-HU" dirty="0" smtClean="0"/>
                        <a:t>Kódrészletek</a:t>
                      </a:r>
                      <a:r>
                        <a:rPr lang="hu-HU" baseline="0" dirty="0" smtClean="0"/>
                        <a:t> felhasználása</a:t>
                      </a:r>
                      <a:endParaRPr lang="hu-HU"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28665923"/>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Öröklődés</a:t>
            </a:r>
            <a:endParaRPr lang="hu-HU" dirty="0"/>
          </a:p>
        </p:txBody>
      </p:sp>
      <p:sp>
        <p:nvSpPr>
          <p:cNvPr id="3" name="Tartalom helye 2"/>
          <p:cNvSpPr>
            <a:spLocks noGrp="1"/>
          </p:cNvSpPr>
          <p:nvPr>
            <p:ph idx="1"/>
          </p:nvPr>
        </p:nvSpPr>
        <p:spPr/>
        <p:txBody>
          <a:bodyPr/>
          <a:lstStyle/>
          <a:p>
            <a:r>
              <a:rPr lang="hu-HU" dirty="0" smtClean="0"/>
              <a:t>Dőlt betűs osztályok: absztrakt</a:t>
            </a:r>
          </a:p>
          <a:p>
            <a:r>
              <a:rPr lang="hu-HU" dirty="0" smtClean="0"/>
              <a:t>Közös nyíl: azonos általánosítás</a:t>
            </a:r>
          </a:p>
          <a:p>
            <a:pPr lvl="1"/>
            <a:r>
              <a:rPr lang="hu-HU" dirty="0" smtClean="0"/>
              <a:t>Szaggatott vonal</a:t>
            </a:r>
          </a:p>
          <a:p>
            <a:pPr lvl="1"/>
            <a:endParaRPr lang="hu-HU" dirty="0"/>
          </a:p>
        </p:txBody>
      </p:sp>
      <p:graphicFrame>
        <p:nvGraphicFramePr>
          <p:cNvPr id="4" name="Tartalom helye 3"/>
          <p:cNvGraphicFramePr>
            <a:graphicFrameLocks/>
          </p:cNvGraphicFramePr>
          <p:nvPr>
            <p:extLst/>
          </p:nvPr>
        </p:nvGraphicFramePr>
        <p:xfrm>
          <a:off x="1991544" y="3356992"/>
          <a:ext cx="7931224" cy="2667000"/>
        </p:xfrm>
        <a:graphic>
          <a:graphicData uri="http://schemas.openxmlformats.org/drawingml/2006/table">
            <a:tbl>
              <a:tblPr firstRow="1" bandRow="1">
                <a:tableStyleId>{5C22544A-7EE6-4342-B048-85BDC9FD1C3A}</a:tableStyleId>
              </a:tblPr>
              <a:tblGrid>
                <a:gridCol w="1522512">
                  <a:extLst>
                    <a:ext uri="{9D8B030D-6E8A-4147-A177-3AD203B41FA5}">
                      <a16:colId xmlns:a16="http://schemas.microsoft.com/office/drawing/2014/main" val="20000"/>
                    </a:ext>
                  </a:extLst>
                </a:gridCol>
                <a:gridCol w="6408712">
                  <a:extLst>
                    <a:ext uri="{9D8B030D-6E8A-4147-A177-3AD203B41FA5}">
                      <a16:colId xmlns:a16="http://schemas.microsoft.com/office/drawing/2014/main" val="20001"/>
                    </a:ext>
                  </a:extLst>
                </a:gridCol>
              </a:tblGrid>
              <a:tr h="370840">
                <a:tc>
                  <a:txBody>
                    <a:bodyPr/>
                    <a:lstStyle/>
                    <a:p>
                      <a:endParaRPr lang="hu-HU" dirty="0"/>
                    </a:p>
                  </a:txBody>
                  <a:tcPr/>
                </a:tc>
                <a:tc>
                  <a:txBody>
                    <a:bodyPr/>
                    <a:lstStyle/>
                    <a:p>
                      <a:endParaRPr lang="hu-HU" dirty="0"/>
                    </a:p>
                  </a:txBody>
                  <a:tcPr/>
                </a:tc>
                <a:extLst>
                  <a:ext uri="{0D108BD9-81ED-4DB2-BD59-A6C34878D82A}">
                    <a16:rowId xmlns:a16="http://schemas.microsoft.com/office/drawing/2014/main" val="10000"/>
                  </a:ext>
                </a:extLst>
              </a:tr>
              <a:tr h="370840">
                <a:tc>
                  <a:txBody>
                    <a:bodyPr/>
                    <a:lstStyle/>
                    <a:p>
                      <a:r>
                        <a:rPr lang="hu-HU" dirty="0" err="1" smtClean="0"/>
                        <a:t>Disjoint</a:t>
                      </a:r>
                      <a:endParaRPr lang="hu-HU" dirty="0"/>
                    </a:p>
                  </a:txBody>
                  <a:tcPr/>
                </a:tc>
                <a:tc>
                  <a:txBody>
                    <a:bodyPr/>
                    <a:lstStyle/>
                    <a:p>
                      <a:r>
                        <a:rPr lang="hu-HU" dirty="0" smtClean="0"/>
                        <a:t>Alapértelmezés. Általánosításhalmazon</a:t>
                      </a:r>
                      <a:r>
                        <a:rPr lang="hu-HU" baseline="0" dirty="0" smtClean="0"/>
                        <a:t> belül </a:t>
                      </a:r>
                      <a:r>
                        <a:rPr lang="hu-HU" baseline="0" dirty="0" err="1" smtClean="0"/>
                        <a:t>diszjunkt</a:t>
                      </a:r>
                      <a:r>
                        <a:rPr lang="hu-HU" baseline="0" dirty="0" smtClean="0"/>
                        <a:t> általánosítások. </a:t>
                      </a:r>
                      <a:endParaRPr lang="hu-HU" dirty="0"/>
                    </a:p>
                  </a:txBody>
                  <a:tcPr/>
                </a:tc>
                <a:extLst>
                  <a:ext uri="{0D108BD9-81ED-4DB2-BD59-A6C34878D82A}">
                    <a16:rowId xmlns:a16="http://schemas.microsoft.com/office/drawing/2014/main" val="10001"/>
                  </a:ext>
                </a:extLst>
              </a:tr>
              <a:tr h="370840">
                <a:tc>
                  <a:txBody>
                    <a:bodyPr/>
                    <a:lstStyle/>
                    <a:p>
                      <a:r>
                        <a:rPr lang="hu-HU" dirty="0" err="1" smtClean="0"/>
                        <a:t>Overlapping</a:t>
                      </a:r>
                      <a:endParaRPr lang="hu-HU" dirty="0"/>
                    </a:p>
                  </a:txBody>
                  <a:tcPr/>
                </a:tc>
                <a:tc>
                  <a:txBody>
                    <a:bodyPr/>
                    <a:lstStyle/>
                    <a:p>
                      <a:r>
                        <a:rPr lang="hu-HU" dirty="0" smtClean="0"/>
                        <a:t>(ellentéte)</a:t>
                      </a:r>
                      <a:endParaRPr lang="hu-HU" dirty="0"/>
                    </a:p>
                  </a:txBody>
                  <a:tcPr/>
                </a:tc>
                <a:extLst>
                  <a:ext uri="{0D108BD9-81ED-4DB2-BD59-A6C34878D82A}">
                    <a16:rowId xmlns:a16="http://schemas.microsoft.com/office/drawing/2014/main" val="10002"/>
                  </a:ext>
                </a:extLst>
              </a:tr>
              <a:tr h="370840">
                <a:tc>
                  <a:txBody>
                    <a:bodyPr/>
                    <a:lstStyle/>
                    <a:p>
                      <a:r>
                        <a:rPr lang="hu-HU" dirty="0" err="1" smtClean="0"/>
                        <a:t>Complete</a:t>
                      </a:r>
                      <a:endParaRPr lang="hu-HU" dirty="0"/>
                    </a:p>
                  </a:txBody>
                  <a:tcPr/>
                </a:tc>
                <a:tc>
                  <a:txBody>
                    <a:bodyPr/>
                    <a:lstStyle/>
                    <a:p>
                      <a:r>
                        <a:rPr lang="hu-HU" dirty="0" smtClean="0"/>
                        <a:t>Nincsenek további általánosítások,</a:t>
                      </a:r>
                      <a:r>
                        <a:rPr lang="hu-HU" baseline="0" dirty="0" smtClean="0"/>
                        <a:t> az ősosztály minden példánya a megadott alosztály egyik példánya. Ősosztály absztrakt kell legyen.</a:t>
                      </a:r>
                      <a:endParaRPr lang="hu-HU" dirty="0"/>
                    </a:p>
                  </a:txBody>
                  <a:tcPr/>
                </a:tc>
                <a:extLst>
                  <a:ext uri="{0D108BD9-81ED-4DB2-BD59-A6C34878D82A}">
                    <a16:rowId xmlns:a16="http://schemas.microsoft.com/office/drawing/2014/main" val="10003"/>
                  </a:ext>
                </a:extLst>
              </a:tr>
              <a:tr h="370840">
                <a:tc>
                  <a:txBody>
                    <a:bodyPr/>
                    <a:lstStyle/>
                    <a:p>
                      <a:r>
                        <a:rPr lang="hu-HU" dirty="0" err="1" smtClean="0"/>
                        <a:t>Incomplete</a:t>
                      </a:r>
                      <a:endParaRPr lang="hu-HU" dirty="0"/>
                    </a:p>
                  </a:txBody>
                  <a:tcPr/>
                </a:tc>
                <a:tc>
                  <a:txBody>
                    <a:bodyPr/>
                    <a:lstStyle/>
                    <a:p>
                      <a:r>
                        <a:rPr lang="hu-HU" dirty="0" smtClean="0"/>
                        <a:t>(ellentéte)</a:t>
                      </a:r>
                      <a:endParaRPr lang="hu-HU"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24247870"/>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03512" y="764704"/>
            <a:ext cx="8928554" cy="5544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64572536"/>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endParaRPr lang="hu-HU"/>
          </a:p>
        </p:txBody>
      </p:sp>
      <p:sp>
        <p:nvSpPr>
          <p:cNvPr id="3" name="Tartalom helye 2"/>
          <p:cNvSpPr>
            <a:spLocks noGrp="1"/>
          </p:cNvSpPr>
          <p:nvPr>
            <p:ph idx="1"/>
          </p:nvPr>
        </p:nvSpPr>
        <p:spPr/>
        <p:txBody>
          <a:bodyPr/>
          <a:lstStyle/>
          <a:p>
            <a:r>
              <a:rPr lang="hu-HU" dirty="0" smtClean="0"/>
              <a:t>OR megszorítás:</a:t>
            </a:r>
          </a:p>
          <a:p>
            <a:endParaRPr lang="hu-HU" dirty="0"/>
          </a:p>
          <a:p>
            <a:endParaRPr lang="hu-HU" dirty="0" smtClean="0"/>
          </a:p>
          <a:p>
            <a:endParaRPr lang="hu-HU" dirty="0"/>
          </a:p>
          <a:p>
            <a:endParaRPr lang="hu-HU" dirty="0" smtClean="0"/>
          </a:p>
          <a:p>
            <a:r>
              <a:rPr lang="hu-HU" dirty="0" smtClean="0"/>
              <a:t>XOR megszorítás:</a:t>
            </a:r>
          </a:p>
          <a:p>
            <a:endParaRPr lang="hu-HU" dirty="0"/>
          </a:p>
        </p:txBody>
      </p:sp>
      <p:pic>
        <p:nvPicPr>
          <p:cNvPr id="112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9616" y="2060848"/>
            <a:ext cx="6048672" cy="1838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1505" y="4509120"/>
            <a:ext cx="8812521"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18799004"/>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ím 3"/>
          <p:cNvSpPr>
            <a:spLocks noGrp="1"/>
          </p:cNvSpPr>
          <p:nvPr>
            <p:ph type="title"/>
          </p:nvPr>
        </p:nvSpPr>
        <p:spPr/>
        <p:txBody>
          <a:bodyPr/>
          <a:lstStyle/>
          <a:p>
            <a:r>
              <a:rPr lang="hu-HU" dirty="0" smtClean="0"/>
              <a:t>Tervezési osztálydiagram</a:t>
            </a:r>
            <a:endParaRPr lang="hu-HU" dirty="0"/>
          </a:p>
        </p:txBody>
      </p:sp>
      <p:sp>
        <p:nvSpPr>
          <p:cNvPr id="5" name="Szöveg helye 4"/>
          <p:cNvSpPr>
            <a:spLocks noGrp="1"/>
          </p:cNvSpPr>
          <p:nvPr>
            <p:ph type="body" idx="1"/>
          </p:nvPr>
        </p:nvSpPr>
        <p:spPr/>
        <p:txBody>
          <a:bodyPr/>
          <a:lstStyle/>
          <a:p>
            <a:r>
              <a:rPr lang="hu-HU" dirty="0" smtClean="0"/>
              <a:t>UML2</a:t>
            </a:r>
            <a:endParaRPr lang="hu-HU" dirty="0"/>
          </a:p>
        </p:txBody>
      </p:sp>
    </p:spTree>
    <p:extLst>
      <p:ext uri="{BB962C8B-B14F-4D97-AF65-F5344CB8AC3E}">
        <p14:creationId xmlns:p14="http://schemas.microsoft.com/office/powerpoint/2010/main" val="3469715492"/>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endParaRPr lang="hu-HU"/>
          </a:p>
        </p:txBody>
      </p:sp>
      <p:sp>
        <p:nvSpPr>
          <p:cNvPr id="3" name="Tartalom helye 2"/>
          <p:cNvSpPr>
            <a:spLocks noGrp="1"/>
          </p:cNvSpPr>
          <p:nvPr>
            <p:ph idx="1"/>
          </p:nvPr>
        </p:nvSpPr>
        <p:spPr/>
        <p:txBody>
          <a:bodyPr/>
          <a:lstStyle/>
          <a:p>
            <a:r>
              <a:rPr lang="hu-HU" dirty="0" smtClean="0"/>
              <a:t>Elemzési fázis: mit?</a:t>
            </a:r>
          </a:p>
          <a:p>
            <a:pPr lvl="1"/>
            <a:r>
              <a:rPr lang="hu-HU" dirty="0" smtClean="0"/>
              <a:t>problémák</a:t>
            </a:r>
          </a:p>
          <a:p>
            <a:r>
              <a:rPr lang="hu-HU" dirty="0" smtClean="0"/>
              <a:t>Tervezési fázis: hogyan?</a:t>
            </a:r>
          </a:p>
          <a:p>
            <a:pPr lvl="1"/>
            <a:r>
              <a:rPr lang="hu-HU" dirty="0" smtClean="0"/>
              <a:t>Megoldások</a:t>
            </a:r>
          </a:p>
          <a:p>
            <a:endParaRPr lang="hu-HU" dirty="0"/>
          </a:p>
          <a:p>
            <a:r>
              <a:rPr lang="hu-HU" dirty="0" smtClean="0"/>
              <a:t>Tervezési minták</a:t>
            </a:r>
          </a:p>
          <a:p>
            <a:endParaRPr lang="hu-HU" dirty="0"/>
          </a:p>
        </p:txBody>
      </p:sp>
    </p:spTree>
    <p:extLst>
      <p:ext uri="{BB962C8B-B14F-4D97-AF65-F5344CB8AC3E}">
        <p14:creationId xmlns:p14="http://schemas.microsoft.com/office/powerpoint/2010/main" val="1585825818"/>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1981200" y="44624"/>
            <a:ext cx="7467600" cy="720080"/>
          </a:xfrm>
        </p:spPr>
        <p:txBody>
          <a:bodyPr>
            <a:normAutofit/>
          </a:bodyPr>
          <a:lstStyle/>
          <a:p>
            <a:r>
              <a:rPr lang="hu-HU" dirty="0" smtClean="0"/>
              <a:t>Tervezési osztálydiagram</a:t>
            </a:r>
            <a:endParaRPr lang="hu-HU" dirty="0"/>
          </a:p>
        </p:txBody>
      </p:sp>
      <p:pic>
        <p:nvPicPr>
          <p:cNvPr id="1229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87488" y="764704"/>
            <a:ext cx="9168972" cy="5214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5291305"/>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1847528" y="-387424"/>
            <a:ext cx="7467600" cy="1143000"/>
          </a:xfrm>
        </p:spPr>
        <p:txBody>
          <a:bodyPr/>
          <a:lstStyle/>
          <a:p>
            <a:r>
              <a:rPr lang="hu-HU" dirty="0" smtClean="0"/>
              <a:t>Attribútumok</a:t>
            </a:r>
            <a:endParaRPr lang="hu-HU" dirty="0"/>
          </a:p>
        </p:txBody>
      </p:sp>
      <p:sp>
        <p:nvSpPr>
          <p:cNvPr id="3" name="Tartalom helye 2"/>
          <p:cNvSpPr>
            <a:spLocks noGrp="1"/>
          </p:cNvSpPr>
          <p:nvPr>
            <p:ph idx="1"/>
          </p:nvPr>
        </p:nvSpPr>
        <p:spPr>
          <a:xfrm>
            <a:off x="1981200" y="3573016"/>
            <a:ext cx="7467600" cy="2900936"/>
          </a:xfrm>
        </p:spPr>
        <p:txBody>
          <a:bodyPr/>
          <a:lstStyle/>
          <a:p>
            <a:r>
              <a:rPr lang="hu-HU" dirty="0" smtClean="0"/>
              <a:t>Származtatott attribútum: / (</a:t>
            </a:r>
            <a:r>
              <a:rPr lang="hu-HU" dirty="0" err="1" smtClean="0"/>
              <a:t>derived</a:t>
            </a:r>
            <a:r>
              <a:rPr lang="hu-HU" dirty="0" smtClean="0"/>
              <a:t>)</a:t>
            </a:r>
          </a:p>
          <a:p>
            <a:pPr lvl="1"/>
            <a:r>
              <a:rPr lang="hu-HU" dirty="0" smtClean="0"/>
              <a:t>Ilyenek az öröklöttek vagy származtatottak (számítás eredménye)</a:t>
            </a:r>
          </a:p>
          <a:p>
            <a:r>
              <a:rPr lang="hu-HU" dirty="0" err="1" smtClean="0"/>
              <a:t>Osztályattribútumok</a:t>
            </a:r>
            <a:r>
              <a:rPr lang="hu-HU" dirty="0" smtClean="0"/>
              <a:t>: melyek nem példányokhoz, hanem osztályhoz tartoznak. Aláhúzottak. (</a:t>
            </a:r>
            <a:r>
              <a:rPr lang="hu-HU" dirty="0" err="1" smtClean="0"/>
              <a:t>static</a:t>
            </a:r>
            <a:r>
              <a:rPr lang="hu-HU" dirty="0" smtClean="0"/>
              <a:t>)</a:t>
            </a:r>
          </a:p>
        </p:txBody>
      </p:sp>
      <p:graphicFrame>
        <p:nvGraphicFramePr>
          <p:cNvPr id="4" name="Tartalom helye 3"/>
          <p:cNvGraphicFramePr>
            <a:graphicFrameLocks/>
          </p:cNvGraphicFramePr>
          <p:nvPr>
            <p:extLst/>
          </p:nvPr>
        </p:nvGraphicFramePr>
        <p:xfrm>
          <a:off x="2063552" y="836712"/>
          <a:ext cx="7467600" cy="2661920"/>
        </p:xfrm>
        <a:graphic>
          <a:graphicData uri="http://schemas.openxmlformats.org/drawingml/2006/table">
            <a:tbl>
              <a:tblPr firstRow="1" bandRow="1">
                <a:tableStyleId>{5C22544A-7EE6-4342-B048-85BDC9FD1C3A}</a:tableStyleId>
              </a:tblPr>
              <a:tblGrid>
                <a:gridCol w="1666528">
                  <a:extLst>
                    <a:ext uri="{9D8B030D-6E8A-4147-A177-3AD203B41FA5}">
                      <a16:colId xmlns:a16="http://schemas.microsoft.com/office/drawing/2014/main" val="20000"/>
                    </a:ext>
                  </a:extLst>
                </a:gridCol>
                <a:gridCol w="5801072">
                  <a:extLst>
                    <a:ext uri="{9D8B030D-6E8A-4147-A177-3AD203B41FA5}">
                      <a16:colId xmlns:a16="http://schemas.microsoft.com/office/drawing/2014/main" val="20001"/>
                    </a:ext>
                  </a:extLst>
                </a:gridCol>
              </a:tblGrid>
              <a:tr h="370840">
                <a:tc>
                  <a:txBody>
                    <a:bodyPr/>
                    <a:lstStyle/>
                    <a:p>
                      <a:r>
                        <a:rPr lang="hu-HU" dirty="0" smtClean="0"/>
                        <a:t>Láthatóság</a:t>
                      </a:r>
                      <a:endParaRPr lang="hu-HU" dirty="0"/>
                    </a:p>
                  </a:txBody>
                  <a:tcPr/>
                </a:tc>
                <a:tc>
                  <a:txBody>
                    <a:bodyPr/>
                    <a:lstStyle/>
                    <a:p>
                      <a:endParaRPr lang="hu-HU" dirty="0"/>
                    </a:p>
                  </a:txBody>
                  <a:tcPr/>
                </a:tc>
                <a:extLst>
                  <a:ext uri="{0D108BD9-81ED-4DB2-BD59-A6C34878D82A}">
                    <a16:rowId xmlns:a16="http://schemas.microsoft.com/office/drawing/2014/main" val="10000"/>
                  </a:ext>
                </a:extLst>
              </a:tr>
              <a:tr h="370840">
                <a:tc>
                  <a:txBody>
                    <a:bodyPr/>
                    <a:lstStyle/>
                    <a:p>
                      <a:r>
                        <a:rPr lang="hu-HU" dirty="0" smtClean="0"/>
                        <a:t>+ (</a:t>
                      </a:r>
                      <a:r>
                        <a:rPr lang="hu-HU" dirty="0" err="1" smtClean="0"/>
                        <a:t>public</a:t>
                      </a:r>
                      <a:r>
                        <a:rPr lang="hu-HU" dirty="0" smtClean="0"/>
                        <a:t>)</a:t>
                      </a:r>
                      <a:endParaRPr lang="hu-HU" dirty="0"/>
                    </a:p>
                  </a:txBody>
                  <a:tcPr/>
                </a:tc>
                <a:tc>
                  <a:txBody>
                    <a:bodyPr/>
                    <a:lstStyle/>
                    <a:p>
                      <a:r>
                        <a:rPr lang="hu-HU" dirty="0" smtClean="0"/>
                        <a:t>Az attribútum az egész névtérben látható.</a:t>
                      </a:r>
                      <a:endParaRPr lang="hu-HU" dirty="0"/>
                    </a:p>
                  </a:txBody>
                  <a:tcPr/>
                </a:tc>
                <a:extLst>
                  <a:ext uri="{0D108BD9-81ED-4DB2-BD59-A6C34878D82A}">
                    <a16:rowId xmlns:a16="http://schemas.microsoft.com/office/drawing/2014/main" val="10001"/>
                  </a:ext>
                </a:extLst>
              </a:tr>
              <a:tr h="370840">
                <a:tc>
                  <a:txBody>
                    <a:bodyPr/>
                    <a:lstStyle/>
                    <a:p>
                      <a:r>
                        <a:rPr lang="hu-HU" dirty="0" smtClean="0"/>
                        <a:t># (</a:t>
                      </a:r>
                      <a:r>
                        <a:rPr lang="hu-HU" dirty="0" err="1" smtClean="0"/>
                        <a:t>protected</a:t>
                      </a:r>
                      <a:r>
                        <a:rPr lang="hu-HU" dirty="0" smtClean="0"/>
                        <a:t>)</a:t>
                      </a:r>
                      <a:endParaRPr lang="hu-HU" dirty="0"/>
                    </a:p>
                  </a:txBody>
                  <a:tcPr/>
                </a:tc>
                <a:tc>
                  <a:txBody>
                    <a:bodyPr/>
                    <a:lstStyle/>
                    <a:p>
                      <a:r>
                        <a:rPr lang="hu-HU" dirty="0" smtClean="0"/>
                        <a:t>Az attribútum minden olyan elemből látszik,</a:t>
                      </a:r>
                      <a:r>
                        <a:rPr lang="hu-HU" baseline="0" dirty="0" smtClean="0"/>
                        <a:t> amely általánosítási kapcsolatban van a tartalmazóval.</a:t>
                      </a:r>
                      <a:endParaRPr lang="hu-HU" dirty="0"/>
                    </a:p>
                  </a:txBody>
                  <a:tcPr/>
                </a:tc>
                <a:extLst>
                  <a:ext uri="{0D108BD9-81ED-4DB2-BD59-A6C34878D82A}">
                    <a16:rowId xmlns:a16="http://schemas.microsoft.com/office/drawing/2014/main" val="10002"/>
                  </a:ext>
                </a:extLst>
              </a:tr>
              <a:tr h="370840">
                <a:tc>
                  <a:txBody>
                    <a:bodyPr/>
                    <a:lstStyle/>
                    <a:p>
                      <a:r>
                        <a:rPr lang="hu-HU" dirty="0" smtClean="0"/>
                        <a:t>~</a:t>
                      </a:r>
                      <a:r>
                        <a:rPr lang="hu-HU" smtClean="0"/>
                        <a:t> </a:t>
                      </a:r>
                      <a:r>
                        <a:rPr lang="hu-HU" dirty="0" smtClean="0"/>
                        <a:t>(</a:t>
                      </a:r>
                      <a:r>
                        <a:rPr lang="hu-HU" dirty="0" err="1" smtClean="0"/>
                        <a:t>package</a:t>
                      </a:r>
                      <a:r>
                        <a:rPr lang="hu-HU" dirty="0" smtClean="0"/>
                        <a:t>)</a:t>
                      </a:r>
                      <a:endParaRPr lang="hu-HU" dirty="0"/>
                    </a:p>
                  </a:txBody>
                  <a:tcPr/>
                </a:tc>
                <a:tc>
                  <a:txBody>
                    <a:bodyPr/>
                    <a:lstStyle/>
                    <a:p>
                      <a:r>
                        <a:rPr lang="hu-HU" dirty="0" smtClean="0"/>
                        <a:t>Az attribútum ugyanazon csomag minden eleméből</a:t>
                      </a:r>
                      <a:r>
                        <a:rPr lang="hu-HU" baseline="0" dirty="0" smtClean="0"/>
                        <a:t> látható</a:t>
                      </a:r>
                      <a:endParaRPr lang="hu-HU" dirty="0"/>
                    </a:p>
                  </a:txBody>
                  <a:tcPr/>
                </a:tc>
                <a:extLst>
                  <a:ext uri="{0D108BD9-81ED-4DB2-BD59-A6C34878D82A}">
                    <a16:rowId xmlns:a16="http://schemas.microsoft.com/office/drawing/2014/main" val="10003"/>
                  </a:ext>
                </a:extLst>
              </a:tr>
              <a:tr h="370840">
                <a:tc>
                  <a:txBody>
                    <a:bodyPr/>
                    <a:lstStyle/>
                    <a:p>
                      <a:r>
                        <a:rPr lang="hu-HU" dirty="0" smtClean="0"/>
                        <a:t>- (</a:t>
                      </a:r>
                      <a:r>
                        <a:rPr lang="hu-HU" dirty="0" err="1" smtClean="0"/>
                        <a:t>private</a:t>
                      </a:r>
                      <a:r>
                        <a:rPr lang="hu-HU" dirty="0" smtClean="0"/>
                        <a:t>)</a:t>
                      </a:r>
                      <a:endParaRPr lang="hu-HU" dirty="0"/>
                    </a:p>
                  </a:txBody>
                  <a:tcPr/>
                </a:tc>
                <a:tc>
                  <a:txBody>
                    <a:bodyPr/>
                    <a:lstStyle/>
                    <a:p>
                      <a:r>
                        <a:rPr lang="hu-HU" dirty="0" smtClean="0"/>
                        <a:t>Az attribútum csak</a:t>
                      </a:r>
                      <a:r>
                        <a:rPr lang="hu-HU" baseline="0" dirty="0" smtClean="0"/>
                        <a:t> a tartalmazó névtérben látható (tartalmazó osztály)</a:t>
                      </a:r>
                      <a:endParaRPr lang="hu-HU"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73839657"/>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1703512" y="0"/>
            <a:ext cx="7467600" cy="562074"/>
          </a:xfrm>
        </p:spPr>
        <p:txBody>
          <a:bodyPr>
            <a:normAutofit fontScale="90000"/>
          </a:bodyPr>
          <a:lstStyle/>
          <a:p>
            <a:r>
              <a:rPr lang="hu-HU" dirty="0" smtClean="0"/>
              <a:t>Attribútumok</a:t>
            </a:r>
            <a:endParaRPr lang="hu-HU" dirty="0"/>
          </a:p>
        </p:txBody>
      </p:sp>
      <p:sp>
        <p:nvSpPr>
          <p:cNvPr id="3" name="Tartalom helye 2"/>
          <p:cNvSpPr>
            <a:spLocks noGrp="1"/>
          </p:cNvSpPr>
          <p:nvPr>
            <p:ph idx="1"/>
          </p:nvPr>
        </p:nvSpPr>
        <p:spPr/>
        <p:txBody>
          <a:bodyPr/>
          <a:lstStyle/>
          <a:p>
            <a:endParaRPr lang="hu-HU"/>
          </a:p>
        </p:txBody>
      </p:sp>
      <p:graphicFrame>
        <p:nvGraphicFramePr>
          <p:cNvPr id="4" name="Tartalom helye 3"/>
          <p:cNvGraphicFramePr>
            <a:graphicFrameLocks/>
          </p:cNvGraphicFramePr>
          <p:nvPr>
            <p:extLst/>
          </p:nvPr>
        </p:nvGraphicFramePr>
        <p:xfrm>
          <a:off x="2279576" y="620688"/>
          <a:ext cx="7467600" cy="5872480"/>
        </p:xfrm>
        <a:graphic>
          <a:graphicData uri="http://schemas.openxmlformats.org/drawingml/2006/table">
            <a:tbl>
              <a:tblPr firstRow="1" bandRow="1">
                <a:tableStyleId>{5C22544A-7EE6-4342-B048-85BDC9FD1C3A}</a:tableStyleId>
              </a:tblPr>
              <a:tblGrid>
                <a:gridCol w="1666528">
                  <a:extLst>
                    <a:ext uri="{9D8B030D-6E8A-4147-A177-3AD203B41FA5}">
                      <a16:colId xmlns:a16="http://schemas.microsoft.com/office/drawing/2014/main" val="20000"/>
                    </a:ext>
                  </a:extLst>
                </a:gridCol>
                <a:gridCol w="5801072">
                  <a:extLst>
                    <a:ext uri="{9D8B030D-6E8A-4147-A177-3AD203B41FA5}">
                      <a16:colId xmlns:a16="http://schemas.microsoft.com/office/drawing/2014/main" val="20001"/>
                    </a:ext>
                  </a:extLst>
                </a:gridCol>
              </a:tblGrid>
              <a:tr h="365760">
                <a:tc>
                  <a:txBody>
                    <a:bodyPr/>
                    <a:lstStyle/>
                    <a:p>
                      <a:endParaRPr lang="hu-HU" dirty="0"/>
                    </a:p>
                  </a:txBody>
                  <a:tcPr/>
                </a:tc>
                <a:tc>
                  <a:txBody>
                    <a:bodyPr/>
                    <a:lstStyle/>
                    <a:p>
                      <a:r>
                        <a:rPr lang="hu-HU" dirty="0" smtClean="0"/>
                        <a:t>jelentés</a:t>
                      </a:r>
                      <a:endParaRPr lang="hu-HU" dirty="0"/>
                    </a:p>
                  </a:txBody>
                  <a:tcPr/>
                </a:tc>
                <a:extLst>
                  <a:ext uri="{0D108BD9-81ED-4DB2-BD59-A6C34878D82A}">
                    <a16:rowId xmlns:a16="http://schemas.microsoft.com/office/drawing/2014/main" val="10000"/>
                  </a:ext>
                </a:extLst>
              </a:tr>
              <a:tr h="370840">
                <a:tc>
                  <a:txBody>
                    <a:bodyPr/>
                    <a:lstStyle/>
                    <a:p>
                      <a:r>
                        <a:rPr lang="hu-HU" dirty="0" err="1" smtClean="0"/>
                        <a:t>Readonly</a:t>
                      </a:r>
                      <a:endParaRPr lang="hu-HU" dirty="0"/>
                    </a:p>
                  </a:txBody>
                  <a:tcPr/>
                </a:tc>
                <a:tc>
                  <a:txBody>
                    <a:bodyPr/>
                    <a:lstStyle/>
                    <a:p>
                      <a:r>
                        <a:rPr lang="hu-HU" dirty="0" smtClean="0"/>
                        <a:t>Kezdő értékadás</a:t>
                      </a:r>
                      <a:r>
                        <a:rPr lang="hu-HU" baseline="0" dirty="0" smtClean="0"/>
                        <a:t> után nem módosítható. Ellentéte az </a:t>
                      </a:r>
                      <a:r>
                        <a:rPr lang="hu-HU" baseline="0" dirty="0" err="1" smtClean="0"/>
                        <a:t>unrestricted</a:t>
                      </a:r>
                      <a:r>
                        <a:rPr lang="hu-HU" baseline="0" dirty="0" smtClean="0"/>
                        <a:t>.</a:t>
                      </a:r>
                      <a:endParaRPr lang="hu-HU" dirty="0"/>
                    </a:p>
                  </a:txBody>
                  <a:tcPr/>
                </a:tc>
                <a:extLst>
                  <a:ext uri="{0D108BD9-81ED-4DB2-BD59-A6C34878D82A}">
                    <a16:rowId xmlns:a16="http://schemas.microsoft.com/office/drawing/2014/main" val="10001"/>
                  </a:ext>
                </a:extLst>
              </a:tr>
              <a:tr h="370840">
                <a:tc>
                  <a:txBody>
                    <a:bodyPr/>
                    <a:lstStyle/>
                    <a:p>
                      <a:r>
                        <a:rPr lang="hu-HU" dirty="0" err="1" smtClean="0"/>
                        <a:t>Composite</a:t>
                      </a:r>
                      <a:endParaRPr lang="hu-HU" dirty="0" smtClean="0"/>
                    </a:p>
                  </a:txBody>
                  <a:tcPr/>
                </a:tc>
                <a:tc>
                  <a:txBody>
                    <a:bodyPr/>
                    <a:lstStyle/>
                    <a:p>
                      <a:r>
                        <a:rPr lang="hu-HU" dirty="0" smtClean="0"/>
                        <a:t>Az </a:t>
                      </a:r>
                      <a:r>
                        <a:rPr lang="hu-HU" dirty="0" err="1" smtClean="0"/>
                        <a:t>aggregáció</a:t>
                      </a:r>
                      <a:r>
                        <a:rPr lang="hu-HU" dirty="0" smtClean="0"/>
                        <a:t> típusát rögzíti</a:t>
                      </a:r>
                      <a:endParaRPr lang="hu-HU" dirty="0"/>
                    </a:p>
                  </a:txBody>
                  <a:tcPr/>
                </a:tc>
                <a:extLst>
                  <a:ext uri="{0D108BD9-81ED-4DB2-BD59-A6C34878D82A}">
                    <a16:rowId xmlns:a16="http://schemas.microsoft.com/office/drawing/2014/main" val="10002"/>
                  </a:ext>
                </a:extLst>
              </a:tr>
              <a:tr h="370840">
                <a:tc>
                  <a:txBody>
                    <a:bodyPr/>
                    <a:lstStyle/>
                    <a:p>
                      <a:r>
                        <a:rPr lang="hu-HU" dirty="0" err="1" smtClean="0"/>
                        <a:t>Redefines</a:t>
                      </a:r>
                      <a:r>
                        <a:rPr lang="hu-HU" dirty="0" smtClean="0"/>
                        <a:t> </a:t>
                      </a:r>
                      <a:r>
                        <a:rPr lang="hu-HU" dirty="0" err="1" smtClean="0"/>
                        <a:t>Attr</a:t>
                      </a:r>
                      <a:endParaRPr lang="hu-HU" dirty="0"/>
                    </a:p>
                  </a:txBody>
                  <a:tcPr/>
                </a:tc>
                <a:tc>
                  <a:txBody>
                    <a:bodyPr/>
                    <a:lstStyle/>
                    <a:p>
                      <a:r>
                        <a:rPr lang="hu-HU" dirty="0" smtClean="0"/>
                        <a:t>Az ősosztály</a:t>
                      </a:r>
                      <a:r>
                        <a:rPr lang="hu-HU" baseline="0" dirty="0" smtClean="0"/>
                        <a:t> </a:t>
                      </a:r>
                      <a:r>
                        <a:rPr lang="hu-HU" baseline="0" dirty="0" err="1" smtClean="0"/>
                        <a:t>Attr</a:t>
                      </a:r>
                      <a:r>
                        <a:rPr lang="hu-HU" baseline="0" dirty="0" smtClean="0"/>
                        <a:t> </a:t>
                      </a:r>
                      <a:r>
                        <a:rPr lang="hu-HU" baseline="0" dirty="0" err="1" smtClean="0"/>
                        <a:t>attriútuma</a:t>
                      </a:r>
                      <a:r>
                        <a:rPr lang="hu-HU" baseline="0" dirty="0" smtClean="0"/>
                        <a:t> felül lesz definiálva. </a:t>
                      </a:r>
                      <a:endParaRPr lang="hu-HU" dirty="0"/>
                    </a:p>
                  </a:txBody>
                  <a:tcPr/>
                </a:tc>
                <a:extLst>
                  <a:ext uri="{0D108BD9-81ED-4DB2-BD59-A6C34878D82A}">
                    <a16:rowId xmlns:a16="http://schemas.microsoft.com/office/drawing/2014/main" val="10003"/>
                  </a:ext>
                </a:extLst>
              </a:tr>
              <a:tr h="370840">
                <a:tc>
                  <a:txBody>
                    <a:bodyPr/>
                    <a:lstStyle/>
                    <a:p>
                      <a:r>
                        <a:rPr lang="hu-HU" dirty="0" err="1" smtClean="0"/>
                        <a:t>Subsets</a:t>
                      </a:r>
                      <a:r>
                        <a:rPr lang="hu-HU" dirty="0" smtClean="0"/>
                        <a:t> </a:t>
                      </a:r>
                      <a:r>
                        <a:rPr lang="hu-HU" dirty="0" err="1" smtClean="0"/>
                        <a:t>Attr</a:t>
                      </a:r>
                      <a:endParaRPr lang="hu-HU" dirty="0"/>
                    </a:p>
                  </a:txBody>
                  <a:tcPr/>
                </a:tc>
                <a:tc>
                  <a:txBody>
                    <a:bodyPr/>
                    <a:lstStyle/>
                    <a:p>
                      <a:r>
                        <a:rPr lang="hu-HU" dirty="0" smtClean="0"/>
                        <a:t>Halmazból valóságra</a:t>
                      </a:r>
                      <a:r>
                        <a:rPr lang="hu-HU" baseline="0" dirty="0" smtClean="0"/>
                        <a:t> utal.</a:t>
                      </a:r>
                      <a:endParaRPr lang="hu-HU" dirty="0"/>
                    </a:p>
                  </a:txBody>
                  <a:tcPr/>
                </a:tc>
                <a:extLst>
                  <a:ext uri="{0D108BD9-81ED-4DB2-BD59-A6C34878D82A}">
                    <a16:rowId xmlns:a16="http://schemas.microsoft.com/office/drawing/2014/main" val="10004"/>
                  </a:ext>
                </a:extLst>
              </a:tr>
              <a:tr h="370840">
                <a:tc>
                  <a:txBody>
                    <a:bodyPr/>
                    <a:lstStyle/>
                    <a:p>
                      <a:r>
                        <a:rPr lang="hu-HU" dirty="0" smtClean="0"/>
                        <a:t>Union</a:t>
                      </a:r>
                      <a:endParaRPr lang="hu-HU" dirty="0"/>
                    </a:p>
                  </a:txBody>
                  <a:tcPr/>
                </a:tc>
                <a:tc>
                  <a:txBody>
                    <a:bodyPr/>
                    <a:lstStyle/>
                    <a:p>
                      <a:r>
                        <a:rPr lang="hu-HU" dirty="0" err="1" smtClean="0"/>
                        <a:t>Subsets</a:t>
                      </a:r>
                      <a:r>
                        <a:rPr lang="hu-HU" dirty="0" smtClean="0"/>
                        <a:t> esetén </a:t>
                      </a:r>
                      <a:r>
                        <a:rPr lang="hu-HU" dirty="0" err="1" smtClean="0"/>
                        <a:t>unionnal</a:t>
                      </a:r>
                      <a:r>
                        <a:rPr lang="hu-HU" dirty="0" smtClean="0"/>
                        <a:t> deklarálható,</a:t>
                      </a:r>
                      <a:r>
                        <a:rPr lang="hu-HU" baseline="0" dirty="0" smtClean="0"/>
                        <a:t> halmazunió.</a:t>
                      </a:r>
                      <a:endParaRPr lang="hu-HU" dirty="0"/>
                    </a:p>
                  </a:txBody>
                  <a:tcPr/>
                </a:tc>
                <a:extLst>
                  <a:ext uri="{0D108BD9-81ED-4DB2-BD59-A6C34878D82A}">
                    <a16:rowId xmlns:a16="http://schemas.microsoft.com/office/drawing/2014/main" val="10005"/>
                  </a:ext>
                </a:extLst>
              </a:tr>
              <a:tr h="370840">
                <a:tc>
                  <a:txBody>
                    <a:bodyPr/>
                    <a:lstStyle/>
                    <a:p>
                      <a:r>
                        <a:rPr lang="hu-HU" dirty="0" err="1" smtClean="0"/>
                        <a:t>Unique</a:t>
                      </a:r>
                      <a:endParaRPr lang="hu-H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hu-HU" dirty="0" smtClean="0"/>
                        <a:t>Az érték csak egyszer fordul elő. </a:t>
                      </a:r>
                    </a:p>
                    <a:p>
                      <a:r>
                        <a:rPr lang="hu-HU" dirty="0" err="1" smtClean="0"/>
                        <a:t>Nonuique</a:t>
                      </a:r>
                      <a:r>
                        <a:rPr lang="hu-HU" dirty="0" smtClean="0"/>
                        <a:t> az ellentéte.</a:t>
                      </a:r>
                      <a:endParaRPr lang="hu-HU" dirty="0"/>
                    </a:p>
                  </a:txBody>
                  <a:tcPr/>
                </a:tc>
                <a:extLst>
                  <a:ext uri="{0D108BD9-81ED-4DB2-BD59-A6C34878D82A}">
                    <a16:rowId xmlns:a16="http://schemas.microsoft.com/office/drawing/2014/main" val="10006"/>
                  </a:ext>
                </a:extLst>
              </a:tr>
              <a:tr h="370840">
                <a:tc>
                  <a:txBody>
                    <a:bodyPr/>
                    <a:lstStyle/>
                    <a:p>
                      <a:r>
                        <a:rPr lang="hu-HU" dirty="0" err="1" smtClean="0"/>
                        <a:t>Ordered</a:t>
                      </a:r>
                      <a:endParaRPr lang="hu-HU" dirty="0" smtClean="0"/>
                    </a:p>
                  </a:txBody>
                  <a:tcPr/>
                </a:tc>
                <a:tc>
                  <a:txBody>
                    <a:bodyPr/>
                    <a:lstStyle/>
                    <a:p>
                      <a:r>
                        <a:rPr lang="hu-HU" dirty="0" smtClean="0"/>
                        <a:t>Csak</a:t>
                      </a:r>
                      <a:r>
                        <a:rPr lang="hu-HU" baseline="0" dirty="0" smtClean="0"/>
                        <a:t> egynél nagyobb számosság esetén van értelme. Rendezettségre utal. </a:t>
                      </a:r>
                      <a:r>
                        <a:rPr lang="hu-HU" baseline="0" dirty="0" err="1" smtClean="0"/>
                        <a:t>Nonordered</a:t>
                      </a:r>
                      <a:r>
                        <a:rPr lang="hu-HU" baseline="0" dirty="0" smtClean="0"/>
                        <a:t> az ellentéte.</a:t>
                      </a:r>
                      <a:endParaRPr lang="hu-HU" dirty="0"/>
                    </a:p>
                  </a:txBody>
                  <a:tcPr/>
                </a:tc>
                <a:extLst>
                  <a:ext uri="{0D108BD9-81ED-4DB2-BD59-A6C34878D82A}">
                    <a16:rowId xmlns:a16="http://schemas.microsoft.com/office/drawing/2014/main" val="10007"/>
                  </a:ext>
                </a:extLst>
              </a:tr>
              <a:tr h="370840">
                <a:tc>
                  <a:txBody>
                    <a:bodyPr/>
                    <a:lstStyle/>
                    <a:p>
                      <a:r>
                        <a:rPr lang="hu-HU" dirty="0" err="1" smtClean="0"/>
                        <a:t>Sequence</a:t>
                      </a:r>
                      <a:endParaRPr lang="hu-HU" dirty="0"/>
                    </a:p>
                  </a:txBody>
                  <a:tcPr/>
                </a:tc>
                <a:tc>
                  <a:txBody>
                    <a:bodyPr/>
                    <a:lstStyle/>
                    <a:p>
                      <a:r>
                        <a:rPr lang="hu-HU" dirty="0" smtClean="0"/>
                        <a:t>Csak</a:t>
                      </a:r>
                      <a:r>
                        <a:rPr lang="hu-HU" baseline="0" dirty="0" smtClean="0"/>
                        <a:t> egynél nagyobb számosság esetén van értelme. Elemei listában vannak tárolva. Ha </a:t>
                      </a:r>
                      <a:r>
                        <a:rPr lang="hu-HU" baseline="0" dirty="0" err="1" smtClean="0"/>
                        <a:t>ordered</a:t>
                      </a:r>
                      <a:r>
                        <a:rPr lang="hu-HU" baseline="0" dirty="0" smtClean="0"/>
                        <a:t>, </a:t>
                      </a:r>
                      <a:r>
                        <a:rPr lang="hu-HU" baseline="0" dirty="0" err="1" smtClean="0"/>
                        <a:t>nonunique</a:t>
                      </a:r>
                      <a:r>
                        <a:rPr lang="hu-HU" baseline="0" dirty="0" smtClean="0"/>
                        <a:t>, akkor </a:t>
                      </a:r>
                      <a:r>
                        <a:rPr lang="hu-HU" baseline="0" dirty="0" err="1" smtClean="0"/>
                        <a:t>seq</a:t>
                      </a:r>
                      <a:r>
                        <a:rPr lang="hu-HU" baseline="0" dirty="0" smtClean="0"/>
                        <a:t>.</a:t>
                      </a:r>
                      <a:endParaRPr lang="hu-HU" dirty="0"/>
                    </a:p>
                  </a:txBody>
                  <a:tcPr/>
                </a:tc>
                <a:extLst>
                  <a:ext uri="{0D108BD9-81ED-4DB2-BD59-A6C34878D82A}">
                    <a16:rowId xmlns:a16="http://schemas.microsoft.com/office/drawing/2014/main" val="10008"/>
                  </a:ext>
                </a:extLst>
              </a:tr>
              <a:tr h="370840">
                <a:tc>
                  <a:txBody>
                    <a:bodyPr/>
                    <a:lstStyle/>
                    <a:p>
                      <a:r>
                        <a:rPr lang="hu-HU" dirty="0" smtClean="0"/>
                        <a:t>Bag</a:t>
                      </a:r>
                      <a:endParaRPr lang="hu-H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hu-HU" dirty="0" smtClean="0"/>
                        <a:t>Csak</a:t>
                      </a:r>
                      <a:r>
                        <a:rPr lang="hu-HU" baseline="0" dirty="0" smtClean="0"/>
                        <a:t> egynél nagyobb számosság esetén van értelme. </a:t>
                      </a:r>
                      <a:endParaRPr lang="hu-HU" dirty="0" smtClean="0"/>
                    </a:p>
                    <a:p>
                      <a:r>
                        <a:rPr lang="hu-HU" dirty="0" smtClean="0"/>
                        <a:t>Az attribútum</a:t>
                      </a:r>
                      <a:r>
                        <a:rPr lang="hu-HU" baseline="0" dirty="0" smtClean="0"/>
                        <a:t> elemei </a:t>
                      </a:r>
                      <a:r>
                        <a:rPr lang="hu-HU" baseline="0" dirty="0" err="1" smtClean="0"/>
                        <a:t>multihalmazként</a:t>
                      </a:r>
                      <a:r>
                        <a:rPr lang="hu-HU" baseline="0" dirty="0" smtClean="0"/>
                        <a:t> vannak-e tárolva. Ha </a:t>
                      </a:r>
                      <a:r>
                        <a:rPr lang="hu-HU" baseline="0" dirty="0" err="1" smtClean="0"/>
                        <a:t>ordered</a:t>
                      </a:r>
                      <a:r>
                        <a:rPr lang="hu-HU" baseline="0" dirty="0" smtClean="0"/>
                        <a:t>=</a:t>
                      </a:r>
                      <a:r>
                        <a:rPr lang="hu-HU" baseline="0" dirty="0" err="1" smtClean="0"/>
                        <a:t>false</a:t>
                      </a:r>
                      <a:r>
                        <a:rPr lang="hu-HU" baseline="0" dirty="0" smtClean="0"/>
                        <a:t> és </a:t>
                      </a:r>
                      <a:r>
                        <a:rPr lang="hu-HU" baseline="0" dirty="0" err="1" smtClean="0"/>
                        <a:t>unique</a:t>
                      </a:r>
                      <a:r>
                        <a:rPr lang="hu-HU" baseline="0" dirty="0" smtClean="0"/>
                        <a:t>=</a:t>
                      </a:r>
                      <a:r>
                        <a:rPr lang="hu-HU" baseline="0" dirty="0" err="1" smtClean="0"/>
                        <a:t>false</a:t>
                      </a:r>
                      <a:r>
                        <a:rPr lang="hu-HU" baseline="0" dirty="0" smtClean="0"/>
                        <a:t> akkor </a:t>
                      </a:r>
                      <a:r>
                        <a:rPr lang="hu-HU" baseline="0" smtClean="0"/>
                        <a:t>bag=</a:t>
                      </a:r>
                      <a:r>
                        <a:rPr lang="hu-HU" baseline="0" dirty="0" err="1" smtClean="0"/>
                        <a:t>true</a:t>
                      </a:r>
                      <a:r>
                        <a:rPr lang="hu-HU" baseline="0" dirty="0" smtClean="0"/>
                        <a:t>.</a:t>
                      </a:r>
                      <a:endParaRPr lang="hu-HU" dirty="0"/>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195672103"/>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p:cNvSpPr>
            <a:spLocks noGrp="1"/>
          </p:cNvSpPr>
          <p:nvPr>
            <p:ph idx="1"/>
          </p:nvPr>
        </p:nvSpPr>
        <p:spPr>
          <a:xfrm>
            <a:off x="1991544" y="836712"/>
            <a:ext cx="7467600" cy="3816424"/>
          </a:xfrm>
        </p:spPr>
        <p:txBody>
          <a:bodyPr/>
          <a:lstStyle/>
          <a:p>
            <a:r>
              <a:rPr lang="hu-HU" dirty="0" smtClean="0"/>
              <a:t>Tulajdonságérték kiírása opcionális</a:t>
            </a:r>
          </a:p>
          <a:p>
            <a:r>
              <a:rPr lang="hu-HU" dirty="0" smtClean="0"/>
              <a:t>Attribútum::=[Láthatóság][/]Név[Típus][Érték]</a:t>
            </a:r>
          </a:p>
          <a:p>
            <a:r>
              <a:rPr lang="hu-HU" dirty="0" smtClean="0"/>
              <a:t>Láthatóság::= + | # | ~| -</a:t>
            </a:r>
          </a:p>
          <a:p>
            <a:r>
              <a:rPr lang="hu-HU" dirty="0" smtClean="0"/>
              <a:t>Érték::=[[Számosság][=Érték][{Tulajdonságok}]]</a:t>
            </a:r>
          </a:p>
          <a:p>
            <a:r>
              <a:rPr lang="hu-HU" dirty="0" smtClean="0"/>
              <a:t>Számosság::=Korlát […</a:t>
            </a:r>
            <a:r>
              <a:rPr lang="hu-HU" dirty="0" err="1" smtClean="0"/>
              <a:t>Korlát</a:t>
            </a:r>
            <a:r>
              <a:rPr lang="hu-HU" dirty="0" smtClean="0"/>
              <a:t>|*]</a:t>
            </a:r>
          </a:p>
          <a:p>
            <a:r>
              <a:rPr lang="hu-HU" dirty="0" smtClean="0"/>
              <a:t>Korlát::=0|1|…</a:t>
            </a:r>
          </a:p>
          <a:p>
            <a:r>
              <a:rPr lang="hu-HU" dirty="0" smtClean="0"/>
              <a:t>Tulajdonságok:==[</a:t>
            </a:r>
            <a:r>
              <a:rPr lang="hu-HU" dirty="0" err="1" smtClean="0"/>
              <a:t>readonly</a:t>
            </a:r>
            <a:r>
              <a:rPr lang="hu-HU" dirty="0"/>
              <a:t>|</a:t>
            </a:r>
            <a:r>
              <a:rPr lang="hu-HU" dirty="0" err="1" smtClean="0"/>
              <a:t>unrestricted</a:t>
            </a:r>
            <a:r>
              <a:rPr lang="hu-HU" dirty="0" smtClean="0"/>
              <a:t>]…..</a:t>
            </a:r>
          </a:p>
          <a:p>
            <a:endParaRPr lang="hu-HU" dirty="0"/>
          </a:p>
        </p:txBody>
      </p:sp>
      <p:pic>
        <p:nvPicPr>
          <p:cNvPr id="133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1504" y="5157192"/>
            <a:ext cx="8899341" cy="1584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5316498"/>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Kapcsolatok</a:t>
            </a:r>
            <a:endParaRPr lang="hu-HU" dirty="0"/>
          </a:p>
        </p:txBody>
      </p:sp>
      <p:sp>
        <p:nvSpPr>
          <p:cNvPr id="3" name="Tartalom helye 2"/>
          <p:cNvSpPr>
            <a:spLocks noGrp="1"/>
          </p:cNvSpPr>
          <p:nvPr>
            <p:ph idx="1"/>
          </p:nvPr>
        </p:nvSpPr>
        <p:spPr/>
        <p:txBody>
          <a:bodyPr/>
          <a:lstStyle/>
          <a:p>
            <a:r>
              <a:rPr lang="hu-HU" dirty="0" smtClean="0"/>
              <a:t>Irányítatlan asszociáció</a:t>
            </a:r>
          </a:p>
          <a:p>
            <a:r>
              <a:rPr lang="hu-HU" dirty="0" smtClean="0"/>
              <a:t>Irányított kapcsolat</a:t>
            </a:r>
          </a:p>
          <a:p>
            <a:endParaRPr lang="hu-HU" dirty="0"/>
          </a:p>
          <a:p>
            <a:endParaRPr lang="hu-HU" dirty="0" smtClean="0"/>
          </a:p>
          <a:p>
            <a:r>
              <a:rPr lang="hu-HU" dirty="0" smtClean="0"/>
              <a:t>Asszociációvég::=</a:t>
            </a:r>
            <a:r>
              <a:rPr lang="hu-HU" dirty="0" err="1" smtClean="0"/>
              <a:t>EgyikOldal</a:t>
            </a:r>
            <a:r>
              <a:rPr lang="hu-HU" dirty="0" smtClean="0"/>
              <a:t> </a:t>
            </a:r>
            <a:r>
              <a:rPr lang="hu-HU" dirty="0" err="1" smtClean="0"/>
              <a:t>MásikOldal</a:t>
            </a:r>
            <a:endParaRPr lang="hu-HU" dirty="0" smtClean="0"/>
          </a:p>
          <a:p>
            <a:r>
              <a:rPr lang="hu-HU" dirty="0" err="1" smtClean="0"/>
              <a:t>EgyikOldal</a:t>
            </a:r>
            <a:r>
              <a:rPr lang="hu-HU" dirty="0" smtClean="0"/>
              <a:t>::=[Láthatóság][/]Név</a:t>
            </a:r>
          </a:p>
          <a:p>
            <a:r>
              <a:rPr lang="hu-HU" dirty="0" smtClean="0"/>
              <a:t>Másikoldal::=[[Számosság]][{Tulajdonságok}]</a:t>
            </a:r>
          </a:p>
          <a:p>
            <a:r>
              <a:rPr lang="hu-HU" dirty="0" smtClean="0"/>
              <a:t>Asszociáció::=[Név][{</a:t>
            </a:r>
            <a:r>
              <a:rPr lang="hu-HU" dirty="0" err="1" smtClean="0"/>
              <a:t>tualjdonságok</a:t>
            </a:r>
            <a:r>
              <a:rPr lang="hu-HU" dirty="0" smtClean="0"/>
              <a:t>}]</a:t>
            </a:r>
            <a:endParaRPr lang="hu-HU"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6500" y="5445224"/>
            <a:ext cx="91612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2515576"/>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Műveletek</a:t>
            </a:r>
            <a:endParaRPr lang="hu-HU" dirty="0"/>
          </a:p>
        </p:txBody>
      </p:sp>
      <p:sp>
        <p:nvSpPr>
          <p:cNvPr id="3" name="Tartalom helye 2"/>
          <p:cNvSpPr>
            <a:spLocks noGrp="1"/>
          </p:cNvSpPr>
          <p:nvPr>
            <p:ph idx="1"/>
          </p:nvPr>
        </p:nvSpPr>
        <p:spPr>
          <a:xfrm>
            <a:off x="1981200" y="1600200"/>
            <a:ext cx="7467600" cy="2404864"/>
          </a:xfrm>
        </p:spPr>
        <p:txBody>
          <a:bodyPr/>
          <a:lstStyle/>
          <a:p>
            <a:r>
              <a:rPr lang="hu-HU" dirty="0" smtClean="0"/>
              <a:t>Művelet::=[Láthatóság]Név([</a:t>
            </a:r>
            <a:r>
              <a:rPr lang="hu-HU" dirty="0" err="1" smtClean="0"/>
              <a:t>ParaméterLista</a:t>
            </a:r>
            <a:r>
              <a:rPr lang="hu-HU" dirty="0" smtClean="0"/>
              <a:t>]) [Típus][{</a:t>
            </a:r>
            <a:r>
              <a:rPr lang="hu-HU" dirty="0" err="1" smtClean="0"/>
              <a:t>Tualjdonságok</a:t>
            </a:r>
            <a:r>
              <a:rPr lang="hu-HU" dirty="0" smtClean="0"/>
              <a:t>}]</a:t>
            </a:r>
          </a:p>
          <a:p>
            <a:r>
              <a:rPr lang="hu-HU" dirty="0" err="1" smtClean="0"/>
              <a:t>ParaméterLista</a:t>
            </a:r>
            <a:r>
              <a:rPr lang="hu-HU" dirty="0" smtClean="0"/>
              <a:t>::=Paraméter (,</a:t>
            </a:r>
            <a:r>
              <a:rPr lang="hu-HU" dirty="0" err="1" smtClean="0"/>
              <a:t>Paraméter</a:t>
            </a:r>
            <a:r>
              <a:rPr lang="hu-HU" dirty="0" smtClean="0"/>
              <a:t>)*</a:t>
            </a:r>
          </a:p>
          <a:p>
            <a:r>
              <a:rPr lang="hu-HU" dirty="0" smtClean="0"/>
              <a:t>Paraméter::=[Irány]Név:Típus Érték</a:t>
            </a:r>
            <a:endParaRPr lang="hu-HU" dirty="0"/>
          </a:p>
          <a:p>
            <a:r>
              <a:rPr lang="hu-HU" dirty="0" smtClean="0"/>
              <a:t>Irány::= </a:t>
            </a:r>
            <a:r>
              <a:rPr lang="hu-HU" dirty="0" err="1" smtClean="0"/>
              <a:t>in</a:t>
            </a:r>
            <a:r>
              <a:rPr lang="hu-HU" dirty="0" smtClean="0"/>
              <a:t>|out|</a:t>
            </a:r>
            <a:r>
              <a:rPr lang="hu-HU" dirty="0" err="1" smtClean="0"/>
              <a:t>inout</a:t>
            </a:r>
            <a:r>
              <a:rPr lang="hu-HU" dirty="0" smtClean="0"/>
              <a:t>|</a:t>
            </a:r>
            <a:r>
              <a:rPr lang="hu-HU" dirty="0" err="1" smtClean="0"/>
              <a:t>return</a:t>
            </a:r>
            <a:endParaRPr lang="hu-HU" dirty="0" smtClean="0"/>
          </a:p>
          <a:p>
            <a:endParaRPr lang="hu-HU" dirty="0"/>
          </a:p>
        </p:txBody>
      </p:sp>
      <p:graphicFrame>
        <p:nvGraphicFramePr>
          <p:cNvPr id="4" name="Tartalom helye 3"/>
          <p:cNvGraphicFramePr>
            <a:graphicFrameLocks/>
          </p:cNvGraphicFramePr>
          <p:nvPr>
            <p:extLst/>
          </p:nvPr>
        </p:nvGraphicFramePr>
        <p:xfrm>
          <a:off x="1991544" y="4077072"/>
          <a:ext cx="7467600" cy="1849120"/>
        </p:xfrm>
        <a:graphic>
          <a:graphicData uri="http://schemas.openxmlformats.org/drawingml/2006/table">
            <a:tbl>
              <a:tblPr firstRow="1" bandRow="1">
                <a:tableStyleId>{5C22544A-7EE6-4342-B048-85BDC9FD1C3A}</a:tableStyleId>
              </a:tblPr>
              <a:tblGrid>
                <a:gridCol w="1378496">
                  <a:extLst>
                    <a:ext uri="{9D8B030D-6E8A-4147-A177-3AD203B41FA5}">
                      <a16:colId xmlns:a16="http://schemas.microsoft.com/office/drawing/2014/main" val="20000"/>
                    </a:ext>
                  </a:extLst>
                </a:gridCol>
                <a:gridCol w="6089104">
                  <a:extLst>
                    <a:ext uri="{9D8B030D-6E8A-4147-A177-3AD203B41FA5}">
                      <a16:colId xmlns:a16="http://schemas.microsoft.com/office/drawing/2014/main" val="20001"/>
                    </a:ext>
                  </a:extLst>
                </a:gridCol>
              </a:tblGrid>
              <a:tr h="342240">
                <a:tc>
                  <a:txBody>
                    <a:bodyPr/>
                    <a:lstStyle/>
                    <a:p>
                      <a:r>
                        <a:rPr lang="hu-HU" dirty="0" smtClean="0"/>
                        <a:t>Típus</a:t>
                      </a:r>
                      <a:endParaRPr lang="hu-HU" dirty="0"/>
                    </a:p>
                  </a:txBody>
                  <a:tcPr/>
                </a:tc>
                <a:tc>
                  <a:txBody>
                    <a:bodyPr/>
                    <a:lstStyle/>
                    <a:p>
                      <a:r>
                        <a:rPr lang="hu-HU" dirty="0" smtClean="0"/>
                        <a:t>Leírás</a:t>
                      </a:r>
                      <a:endParaRPr lang="hu-HU" dirty="0"/>
                    </a:p>
                  </a:txBody>
                  <a:tcPr/>
                </a:tc>
                <a:extLst>
                  <a:ext uri="{0D108BD9-81ED-4DB2-BD59-A6C34878D82A}">
                    <a16:rowId xmlns:a16="http://schemas.microsoft.com/office/drawing/2014/main" val="10000"/>
                  </a:ext>
                </a:extLst>
              </a:tr>
              <a:tr h="370840">
                <a:tc>
                  <a:txBody>
                    <a:bodyPr/>
                    <a:lstStyle/>
                    <a:p>
                      <a:r>
                        <a:rPr lang="hu-HU" dirty="0" err="1" smtClean="0"/>
                        <a:t>In</a:t>
                      </a:r>
                      <a:endParaRPr lang="hu-HU" dirty="0"/>
                    </a:p>
                  </a:txBody>
                  <a:tcPr/>
                </a:tc>
                <a:tc>
                  <a:txBody>
                    <a:bodyPr/>
                    <a:lstStyle/>
                    <a:p>
                      <a:r>
                        <a:rPr lang="hu-HU" dirty="0" smtClean="0"/>
                        <a:t>A paraméter olvasható</a:t>
                      </a:r>
                      <a:endParaRPr lang="hu-HU" dirty="0"/>
                    </a:p>
                  </a:txBody>
                  <a:tcPr/>
                </a:tc>
                <a:extLst>
                  <a:ext uri="{0D108BD9-81ED-4DB2-BD59-A6C34878D82A}">
                    <a16:rowId xmlns:a16="http://schemas.microsoft.com/office/drawing/2014/main" val="10001"/>
                  </a:ext>
                </a:extLst>
              </a:tr>
              <a:tr h="370840">
                <a:tc>
                  <a:txBody>
                    <a:bodyPr/>
                    <a:lstStyle/>
                    <a:p>
                      <a:r>
                        <a:rPr lang="hu-HU" dirty="0" smtClean="0"/>
                        <a:t>Out</a:t>
                      </a:r>
                      <a:endParaRPr lang="hu-HU" dirty="0"/>
                    </a:p>
                  </a:txBody>
                  <a:tcPr/>
                </a:tc>
                <a:tc>
                  <a:txBody>
                    <a:bodyPr/>
                    <a:lstStyle/>
                    <a:p>
                      <a:r>
                        <a:rPr lang="hu-HU" dirty="0" smtClean="0"/>
                        <a:t>A paraméter</a:t>
                      </a:r>
                      <a:r>
                        <a:rPr lang="hu-HU" baseline="0" dirty="0" smtClean="0"/>
                        <a:t> írható</a:t>
                      </a:r>
                      <a:endParaRPr lang="hu-HU" dirty="0"/>
                    </a:p>
                  </a:txBody>
                  <a:tcPr/>
                </a:tc>
                <a:extLst>
                  <a:ext uri="{0D108BD9-81ED-4DB2-BD59-A6C34878D82A}">
                    <a16:rowId xmlns:a16="http://schemas.microsoft.com/office/drawing/2014/main" val="10002"/>
                  </a:ext>
                </a:extLst>
              </a:tr>
              <a:tr h="370840">
                <a:tc>
                  <a:txBody>
                    <a:bodyPr/>
                    <a:lstStyle/>
                    <a:p>
                      <a:r>
                        <a:rPr lang="hu-HU" dirty="0" err="1" smtClean="0"/>
                        <a:t>Inout</a:t>
                      </a:r>
                      <a:endParaRPr lang="hu-HU" dirty="0"/>
                    </a:p>
                  </a:txBody>
                  <a:tcPr/>
                </a:tc>
                <a:tc>
                  <a:txBody>
                    <a:bodyPr/>
                    <a:lstStyle/>
                    <a:p>
                      <a:r>
                        <a:rPr lang="hu-HU" dirty="0" smtClean="0"/>
                        <a:t>Kiolvasható, majd visszaírható</a:t>
                      </a:r>
                      <a:endParaRPr lang="hu-HU" dirty="0"/>
                    </a:p>
                  </a:txBody>
                  <a:tcPr/>
                </a:tc>
                <a:extLst>
                  <a:ext uri="{0D108BD9-81ED-4DB2-BD59-A6C34878D82A}">
                    <a16:rowId xmlns:a16="http://schemas.microsoft.com/office/drawing/2014/main" val="10003"/>
                  </a:ext>
                </a:extLst>
              </a:tr>
              <a:tr h="370840">
                <a:tc>
                  <a:txBody>
                    <a:bodyPr/>
                    <a:lstStyle/>
                    <a:p>
                      <a:r>
                        <a:rPr lang="hu-HU" dirty="0" err="1" smtClean="0"/>
                        <a:t>Return</a:t>
                      </a:r>
                      <a:endParaRPr lang="hu-HU" dirty="0"/>
                    </a:p>
                  </a:txBody>
                  <a:tcPr/>
                </a:tc>
                <a:tc>
                  <a:txBody>
                    <a:bodyPr/>
                    <a:lstStyle/>
                    <a:p>
                      <a:r>
                        <a:rPr lang="hu-HU" dirty="0" smtClean="0"/>
                        <a:t>A paraméter a művelet visszatérési értéke</a:t>
                      </a:r>
                      <a:endParaRPr lang="hu-HU"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96840577"/>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Absztrakt Osztályok</a:t>
            </a:r>
            <a:endParaRPr lang="hu-HU" dirty="0"/>
          </a:p>
        </p:txBody>
      </p:sp>
      <p:sp>
        <p:nvSpPr>
          <p:cNvPr id="3" name="Tartalom helye 2"/>
          <p:cNvSpPr>
            <a:spLocks noGrp="1"/>
          </p:cNvSpPr>
          <p:nvPr>
            <p:ph idx="1"/>
          </p:nvPr>
        </p:nvSpPr>
        <p:spPr/>
        <p:txBody>
          <a:bodyPr/>
          <a:lstStyle/>
          <a:p>
            <a:r>
              <a:rPr lang="hu-HU" dirty="0" smtClean="0"/>
              <a:t>Alosztályok lehetnek, de példányok nem.</a:t>
            </a:r>
          </a:p>
          <a:p>
            <a:endParaRPr lang="hu-HU" dirty="0"/>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1505" y="2276872"/>
            <a:ext cx="9063721" cy="216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9583195"/>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Aktív osztályok</a:t>
            </a:r>
            <a:endParaRPr lang="hu-HU" dirty="0"/>
          </a:p>
        </p:txBody>
      </p:sp>
      <p:sp>
        <p:nvSpPr>
          <p:cNvPr id="3" name="Tartalom helye 2"/>
          <p:cNvSpPr>
            <a:spLocks noGrp="1"/>
          </p:cNvSpPr>
          <p:nvPr>
            <p:ph idx="1"/>
          </p:nvPr>
        </p:nvSpPr>
        <p:spPr/>
        <p:txBody>
          <a:bodyPr/>
          <a:lstStyle/>
          <a:p>
            <a:r>
              <a:rPr lang="hu-HU" dirty="0" smtClean="0"/>
              <a:t>Önmaguktól aktiválódnak, nem kell hozzá külső esemény.</a:t>
            </a:r>
          </a:p>
          <a:p>
            <a:r>
              <a:rPr lang="hu-HU" dirty="0" smtClean="0"/>
              <a:t>OS folyamatok és szálak</a:t>
            </a:r>
          </a:p>
          <a:p>
            <a:r>
              <a:rPr lang="hu-HU" dirty="0" smtClean="0"/>
              <a:t>Főalkalmazás</a:t>
            </a:r>
            <a:endParaRPr lang="hu-HU"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3513" y="3571876"/>
            <a:ext cx="8722405" cy="721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5044126"/>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Interfészek</a:t>
            </a:r>
            <a:endParaRPr lang="hu-HU" dirty="0"/>
          </a:p>
        </p:txBody>
      </p:sp>
      <p:sp>
        <p:nvSpPr>
          <p:cNvPr id="3" name="Tartalom helye 2"/>
          <p:cNvSpPr>
            <a:spLocks noGrp="1"/>
          </p:cNvSpPr>
          <p:nvPr>
            <p:ph idx="1"/>
          </p:nvPr>
        </p:nvSpPr>
        <p:spPr/>
        <p:txBody>
          <a:bodyPr/>
          <a:lstStyle/>
          <a:p>
            <a:r>
              <a:rPr lang="hu-HU" dirty="0" smtClean="0"/>
              <a:t>Absztrakt osztályhoz hasonlítanak, nem tartalmaznak viselkedést, csak műveleteket</a:t>
            </a:r>
          </a:p>
          <a:p>
            <a:r>
              <a:rPr lang="hu-HU" dirty="0" smtClean="0"/>
              <a:t>Csak specifikáció, nem implementáció</a:t>
            </a:r>
          </a:p>
          <a:p>
            <a:endParaRPr lang="hu-HU" dirty="0"/>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7888" y="45720"/>
            <a:ext cx="4608512" cy="1823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9576" y="2852936"/>
            <a:ext cx="6912768" cy="3098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0703904"/>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Iterfészek</a:t>
            </a:r>
            <a:endParaRPr lang="hu-HU" dirty="0"/>
          </a:p>
        </p:txBody>
      </p:sp>
      <p:sp>
        <p:nvSpPr>
          <p:cNvPr id="3" name="Tartalom helye 2"/>
          <p:cNvSpPr>
            <a:spLocks noGrp="1"/>
          </p:cNvSpPr>
          <p:nvPr>
            <p:ph idx="1"/>
          </p:nvPr>
        </p:nvSpPr>
        <p:spPr/>
        <p:txBody>
          <a:bodyPr/>
          <a:lstStyle/>
          <a:p>
            <a:r>
              <a:rPr lang="hu-HU" dirty="0" err="1" smtClean="0"/>
              <a:t>Implementation</a:t>
            </a:r>
            <a:r>
              <a:rPr lang="hu-HU" dirty="0" smtClean="0"/>
              <a:t>: megvalósítás speciális esete. </a:t>
            </a:r>
            <a:r>
              <a:rPr lang="hu-HU" dirty="0" err="1" smtClean="0"/>
              <a:t>Classifier</a:t>
            </a:r>
            <a:r>
              <a:rPr lang="hu-HU" dirty="0" smtClean="0"/>
              <a:t> és interfész közt érvényes. </a:t>
            </a:r>
          </a:p>
          <a:p>
            <a:pPr lvl="1"/>
            <a:r>
              <a:rPr lang="hu-HU" dirty="0" smtClean="0"/>
              <a:t>Ha interfész osztályként van ábrázolva, akkor &lt;&lt;</a:t>
            </a:r>
            <a:r>
              <a:rPr lang="hu-HU" dirty="0" err="1" smtClean="0"/>
              <a:t>implements</a:t>
            </a:r>
            <a:r>
              <a:rPr lang="hu-HU" dirty="0" smtClean="0"/>
              <a:t>&gt;&gt; függőség, ha megkövetelt akkor &lt;&lt;</a:t>
            </a:r>
            <a:r>
              <a:rPr lang="hu-HU" dirty="0" err="1" smtClean="0"/>
              <a:t>realize</a:t>
            </a:r>
            <a:r>
              <a:rPr lang="hu-HU" dirty="0" smtClean="0"/>
              <a:t>&gt;&gt;.</a:t>
            </a:r>
          </a:p>
          <a:p>
            <a:pPr lvl="1"/>
            <a:r>
              <a:rPr lang="hu-HU" dirty="0" smtClean="0"/>
              <a:t>Ha gömbcsukló, </a:t>
            </a:r>
            <a:r>
              <a:rPr lang="hu-HU" dirty="0" err="1" smtClean="0"/>
              <a:t>akokr</a:t>
            </a:r>
            <a:r>
              <a:rPr lang="hu-HU" dirty="0" smtClean="0"/>
              <a:t> folyamatos vonal, </a:t>
            </a:r>
          </a:p>
          <a:p>
            <a:endParaRPr lang="hu-HU" dirty="0"/>
          </a:p>
          <a:p>
            <a:r>
              <a:rPr lang="hu-HU" dirty="0" err="1" smtClean="0"/>
              <a:t>Usage</a:t>
            </a:r>
            <a:r>
              <a:rPr lang="hu-HU" dirty="0" smtClean="0"/>
              <a:t>: az implementálás ellentéte. &lt;&lt;</a:t>
            </a:r>
            <a:r>
              <a:rPr lang="hu-HU" dirty="0" err="1" smtClean="0"/>
              <a:t>use</a:t>
            </a:r>
            <a:r>
              <a:rPr lang="hu-HU" dirty="0" smtClean="0"/>
              <a:t>&gt;&gt;</a:t>
            </a:r>
            <a:endParaRPr lang="hu-HU" dirty="0"/>
          </a:p>
        </p:txBody>
      </p:sp>
    </p:spTree>
    <p:extLst>
      <p:ext uri="{BB962C8B-B14F-4D97-AF65-F5344CB8AC3E}">
        <p14:creationId xmlns:p14="http://schemas.microsoft.com/office/powerpoint/2010/main" val="3406349262"/>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ím 3"/>
          <p:cNvSpPr>
            <a:spLocks noGrp="1"/>
          </p:cNvSpPr>
          <p:nvPr>
            <p:ph type="title"/>
          </p:nvPr>
        </p:nvSpPr>
        <p:spPr/>
        <p:txBody>
          <a:bodyPr/>
          <a:lstStyle/>
          <a:p>
            <a:r>
              <a:rPr lang="hu-HU" dirty="0" smtClean="0"/>
              <a:t>taxonómia</a:t>
            </a:r>
            <a:endParaRPr lang="hu-HU" dirty="0"/>
          </a:p>
        </p:txBody>
      </p:sp>
      <p:sp>
        <p:nvSpPr>
          <p:cNvPr id="5" name="Szöveg helye 4"/>
          <p:cNvSpPr>
            <a:spLocks noGrp="1"/>
          </p:cNvSpPr>
          <p:nvPr>
            <p:ph type="body" idx="1"/>
          </p:nvPr>
        </p:nvSpPr>
        <p:spPr/>
        <p:txBody>
          <a:bodyPr/>
          <a:lstStyle/>
          <a:p>
            <a:r>
              <a:rPr lang="hu-HU" dirty="0" smtClean="0"/>
              <a:t>UML2</a:t>
            </a:r>
            <a:endParaRPr lang="hu-HU" dirty="0"/>
          </a:p>
        </p:txBody>
      </p:sp>
    </p:spTree>
    <p:extLst>
      <p:ext uri="{BB962C8B-B14F-4D97-AF65-F5344CB8AC3E}">
        <p14:creationId xmlns:p14="http://schemas.microsoft.com/office/powerpoint/2010/main" val="4004848057"/>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endParaRPr lang="hu-HU"/>
          </a:p>
        </p:txBody>
      </p:sp>
      <p:sp>
        <p:nvSpPr>
          <p:cNvPr id="3" name="Tartalom helye 2"/>
          <p:cNvSpPr>
            <a:spLocks noGrp="1"/>
          </p:cNvSpPr>
          <p:nvPr>
            <p:ph idx="1"/>
          </p:nvPr>
        </p:nvSpPr>
        <p:spPr/>
        <p:txBody>
          <a:bodyPr/>
          <a:lstStyle/>
          <a:p>
            <a:r>
              <a:rPr lang="hu-HU" dirty="0" smtClean="0"/>
              <a:t>Osztálydiagram speciális esete</a:t>
            </a:r>
          </a:p>
          <a:p>
            <a:r>
              <a:rPr lang="hu-HU" dirty="0" smtClean="0"/>
              <a:t>Öröklődési hierarchia</a:t>
            </a:r>
          </a:p>
          <a:p>
            <a:r>
              <a:rPr lang="hu-HU" dirty="0" smtClean="0"/>
              <a:t>No asszociáció, no attribútumok</a:t>
            </a:r>
          </a:p>
          <a:p>
            <a:r>
              <a:rPr lang="hu-HU" dirty="0" smtClean="0"/>
              <a:t>Csak hierarchia</a:t>
            </a:r>
          </a:p>
          <a:p>
            <a:endParaRPr lang="hu-HU" dirty="0"/>
          </a:p>
          <a:p>
            <a:r>
              <a:rPr lang="hu-HU" dirty="0" err="1" smtClean="0"/>
              <a:t>Powertype</a:t>
            </a:r>
            <a:r>
              <a:rPr lang="hu-HU" dirty="0" smtClean="0"/>
              <a:t>: olyan osztályok, melyek példányai egyszerre alosztályok is</a:t>
            </a:r>
            <a:endParaRPr lang="hu-HU" dirty="0"/>
          </a:p>
        </p:txBody>
      </p:sp>
    </p:spTree>
    <p:extLst>
      <p:ext uri="{BB962C8B-B14F-4D97-AF65-F5344CB8AC3E}">
        <p14:creationId xmlns:p14="http://schemas.microsoft.com/office/powerpoint/2010/main" val="3191331822"/>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Taxonómia és több fogalmi kategória szerinti bontás</a:t>
            </a:r>
            <a:endParaRPr lang="hu-HU" dirty="0"/>
          </a:p>
        </p:txBody>
      </p:sp>
      <p:pic>
        <p:nvPicPr>
          <p:cNvPr id="1843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03512" y="1772816"/>
            <a:ext cx="3526338" cy="3960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256" y="2060848"/>
            <a:ext cx="5682936" cy="2880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80269880"/>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ím 3"/>
          <p:cNvSpPr>
            <a:spLocks noGrp="1"/>
          </p:cNvSpPr>
          <p:nvPr>
            <p:ph type="title"/>
          </p:nvPr>
        </p:nvSpPr>
        <p:spPr/>
        <p:txBody>
          <a:bodyPr/>
          <a:lstStyle/>
          <a:p>
            <a:r>
              <a:rPr lang="hu-HU" dirty="0" smtClean="0"/>
              <a:t>Kompozíció Hierarchia</a:t>
            </a:r>
            <a:endParaRPr lang="hu-HU" dirty="0"/>
          </a:p>
        </p:txBody>
      </p:sp>
      <p:sp>
        <p:nvSpPr>
          <p:cNvPr id="5" name="Szöveg helye 4"/>
          <p:cNvSpPr>
            <a:spLocks noGrp="1"/>
          </p:cNvSpPr>
          <p:nvPr>
            <p:ph type="body" idx="1"/>
          </p:nvPr>
        </p:nvSpPr>
        <p:spPr/>
        <p:txBody>
          <a:bodyPr/>
          <a:lstStyle/>
          <a:p>
            <a:r>
              <a:rPr lang="hu-HU" dirty="0" smtClean="0"/>
              <a:t>UML2</a:t>
            </a:r>
            <a:endParaRPr lang="hu-HU" dirty="0"/>
          </a:p>
        </p:txBody>
      </p:sp>
    </p:spTree>
    <p:extLst>
      <p:ext uri="{BB962C8B-B14F-4D97-AF65-F5344CB8AC3E}">
        <p14:creationId xmlns:p14="http://schemas.microsoft.com/office/powerpoint/2010/main" val="3247307893"/>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Kompozícióhierarchia</a:t>
            </a:r>
            <a:endParaRPr lang="hu-HU" dirty="0"/>
          </a:p>
        </p:txBody>
      </p:sp>
      <p:sp>
        <p:nvSpPr>
          <p:cNvPr id="3" name="Tartalom helye 2"/>
          <p:cNvSpPr>
            <a:spLocks noGrp="1"/>
          </p:cNvSpPr>
          <p:nvPr>
            <p:ph idx="1"/>
          </p:nvPr>
        </p:nvSpPr>
        <p:spPr/>
        <p:txBody>
          <a:bodyPr/>
          <a:lstStyle/>
          <a:p>
            <a:r>
              <a:rPr lang="hu-HU" dirty="0" smtClean="0"/>
              <a:t>Osztálydiagramok speciális esete</a:t>
            </a:r>
          </a:p>
          <a:p>
            <a:r>
              <a:rPr lang="hu-HU" dirty="0" smtClean="0"/>
              <a:t>Csak osztályok és kapcsolatfajta</a:t>
            </a:r>
          </a:p>
          <a:p>
            <a:endParaRPr lang="hu-HU" dirty="0"/>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1584" y="2636912"/>
            <a:ext cx="6624736" cy="3790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8468449"/>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endParaRPr lang="hu-HU"/>
          </a:p>
        </p:txBody>
      </p:sp>
      <p:pic>
        <p:nvPicPr>
          <p:cNvPr id="2048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03512" y="1916832"/>
            <a:ext cx="8698620" cy="2880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04391226"/>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endParaRPr lang="hu-HU"/>
          </a:p>
        </p:txBody>
      </p:sp>
      <p:pic>
        <p:nvPicPr>
          <p:cNvPr id="2150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75521" y="188640"/>
            <a:ext cx="8375595" cy="3744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0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7568" y="4509120"/>
            <a:ext cx="6489714" cy="17469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1210082"/>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endParaRPr lang="hu-HU"/>
          </a:p>
        </p:txBody>
      </p:sp>
      <p:pic>
        <p:nvPicPr>
          <p:cNvPr id="2253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11625" y="260648"/>
            <a:ext cx="6223063" cy="5904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5066912"/>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ím 3"/>
          <p:cNvSpPr>
            <a:spLocks noGrp="1"/>
          </p:cNvSpPr>
          <p:nvPr>
            <p:ph type="title"/>
          </p:nvPr>
        </p:nvSpPr>
        <p:spPr/>
        <p:txBody>
          <a:bodyPr/>
          <a:lstStyle/>
          <a:p>
            <a:r>
              <a:rPr lang="hu-HU" dirty="0" smtClean="0"/>
              <a:t>Objektumdiagram</a:t>
            </a:r>
            <a:endParaRPr lang="hu-HU" dirty="0"/>
          </a:p>
        </p:txBody>
      </p:sp>
      <p:sp>
        <p:nvSpPr>
          <p:cNvPr id="5" name="Szöveg helye 4"/>
          <p:cNvSpPr>
            <a:spLocks noGrp="1"/>
          </p:cNvSpPr>
          <p:nvPr>
            <p:ph type="body" idx="1"/>
          </p:nvPr>
        </p:nvSpPr>
        <p:spPr/>
        <p:txBody>
          <a:bodyPr/>
          <a:lstStyle/>
          <a:p>
            <a:r>
              <a:rPr lang="hu-HU" dirty="0" smtClean="0"/>
              <a:t>UML2</a:t>
            </a:r>
            <a:endParaRPr lang="hu-HU" dirty="0"/>
          </a:p>
        </p:txBody>
      </p:sp>
    </p:spTree>
    <p:extLst>
      <p:ext uri="{BB962C8B-B14F-4D97-AF65-F5344CB8AC3E}">
        <p14:creationId xmlns:p14="http://schemas.microsoft.com/office/powerpoint/2010/main" val="116590919"/>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ím 1"/>
          <p:cNvSpPr>
            <a:spLocks noGrp="1"/>
          </p:cNvSpPr>
          <p:nvPr>
            <p:ph type="title"/>
          </p:nvPr>
        </p:nvSpPr>
        <p:spPr>
          <a:xfrm>
            <a:off x="1981200" y="274638"/>
            <a:ext cx="7467600" cy="1143000"/>
          </a:xfrm>
        </p:spPr>
        <p:txBody>
          <a:bodyPr/>
          <a:lstStyle/>
          <a:p>
            <a:r>
              <a:rPr lang="hu-HU" dirty="0" smtClean="0"/>
              <a:t>Osztály és objektuma</a:t>
            </a:r>
            <a:endParaRPr lang="hu-HU" dirty="0"/>
          </a:p>
        </p:txBody>
      </p:sp>
      <p:pic>
        <p:nvPicPr>
          <p:cNvPr id="2355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47529" y="1844824"/>
            <a:ext cx="7762829"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98870475"/>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endParaRPr lang="hu-HU"/>
          </a:p>
        </p:txBody>
      </p:sp>
      <p:pic>
        <p:nvPicPr>
          <p:cNvPr id="2457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03512" y="764704"/>
            <a:ext cx="8877262"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8961260"/>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Példánya kapcsolat</a:t>
            </a:r>
            <a:endParaRPr lang="hu-HU" dirty="0"/>
          </a:p>
        </p:txBody>
      </p:sp>
      <p:sp>
        <p:nvSpPr>
          <p:cNvPr id="3" name="Tartalom helye 2"/>
          <p:cNvSpPr>
            <a:spLocks noGrp="1"/>
          </p:cNvSpPr>
          <p:nvPr>
            <p:ph idx="1"/>
          </p:nvPr>
        </p:nvSpPr>
        <p:spPr/>
        <p:txBody>
          <a:bodyPr/>
          <a:lstStyle/>
          <a:p>
            <a:r>
              <a:rPr lang="hu-HU" dirty="0" smtClean="0"/>
              <a:t>Két fogalmi szint:</a:t>
            </a:r>
          </a:p>
          <a:p>
            <a:pPr lvl="1"/>
            <a:r>
              <a:rPr lang="hu-HU" dirty="0" smtClean="0"/>
              <a:t>UML </a:t>
            </a:r>
            <a:r>
              <a:rPr lang="hu-HU" dirty="0" err="1" smtClean="0"/>
              <a:t>metamodell</a:t>
            </a:r>
            <a:r>
              <a:rPr lang="hu-HU" dirty="0" smtClean="0"/>
              <a:t> osztályai</a:t>
            </a:r>
          </a:p>
          <a:p>
            <a:pPr lvl="1"/>
            <a:r>
              <a:rPr lang="hu-HU" dirty="0" smtClean="0"/>
              <a:t>A modellbeli osztályok </a:t>
            </a:r>
          </a:p>
          <a:p>
            <a:r>
              <a:rPr lang="hu-HU" dirty="0" smtClean="0"/>
              <a:t>UML2:</a:t>
            </a:r>
          </a:p>
          <a:p>
            <a:pPr lvl="1"/>
            <a:r>
              <a:rPr lang="hu-HU" dirty="0" smtClean="0"/>
              <a:t>„Objektum” </a:t>
            </a:r>
            <a:r>
              <a:rPr lang="hu-HU" dirty="0" smtClean="0">
                <a:sym typeface="Wingdings" pitchFamily="2" charset="2"/>
              </a:rPr>
              <a:t> „</a:t>
            </a:r>
            <a:r>
              <a:rPr lang="hu-HU" dirty="0" err="1" smtClean="0">
                <a:sym typeface="Wingdings" pitchFamily="2" charset="2"/>
              </a:rPr>
              <a:t>intance</a:t>
            </a:r>
            <a:r>
              <a:rPr lang="hu-HU" dirty="0" smtClean="0">
                <a:sym typeface="Wingdings" pitchFamily="2" charset="2"/>
              </a:rPr>
              <a:t>”</a:t>
            </a:r>
          </a:p>
          <a:p>
            <a:pPr lvl="1"/>
            <a:endParaRPr lang="hu-HU" dirty="0">
              <a:sym typeface="Wingdings" pitchFamily="2" charset="2"/>
            </a:endParaRPr>
          </a:p>
          <a:p>
            <a:r>
              <a:rPr lang="hu-HU" dirty="0" smtClean="0">
                <a:sym typeface="Wingdings" pitchFamily="2" charset="2"/>
              </a:rPr>
              <a:t>&lt;&lt;</a:t>
            </a:r>
            <a:r>
              <a:rPr lang="hu-HU" dirty="0" err="1" smtClean="0">
                <a:sym typeface="Wingdings" pitchFamily="2" charset="2"/>
              </a:rPr>
              <a:t>instanceOf</a:t>
            </a:r>
            <a:r>
              <a:rPr lang="hu-HU" dirty="0" smtClean="0">
                <a:sym typeface="Wingdings" pitchFamily="2" charset="2"/>
              </a:rPr>
              <a:t>&gt;&gt;: példánya</a:t>
            </a:r>
          </a:p>
          <a:p>
            <a:r>
              <a:rPr lang="hu-HU" dirty="0" smtClean="0">
                <a:sym typeface="Wingdings" pitchFamily="2" charset="2"/>
              </a:rPr>
              <a:t>&lt;&lt;</a:t>
            </a:r>
            <a:r>
              <a:rPr lang="hu-HU" dirty="0" err="1" smtClean="0">
                <a:sym typeface="Wingdings" pitchFamily="2" charset="2"/>
              </a:rPr>
              <a:t>snapshot</a:t>
            </a:r>
            <a:r>
              <a:rPr lang="hu-HU" dirty="0" smtClean="0">
                <a:sym typeface="Wingdings" pitchFamily="2" charset="2"/>
              </a:rPr>
              <a:t>&gt;&gt;: pillanatképe kapcsolat</a:t>
            </a:r>
            <a:endParaRPr lang="hu-HU" dirty="0"/>
          </a:p>
        </p:txBody>
      </p:sp>
    </p:spTree>
    <p:extLst>
      <p:ext uri="{BB962C8B-B14F-4D97-AF65-F5344CB8AC3E}">
        <p14:creationId xmlns:p14="http://schemas.microsoft.com/office/powerpoint/2010/main" val="955064902"/>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47528" y="260648"/>
            <a:ext cx="7870468" cy="619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53035055"/>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ím 3"/>
          <p:cNvSpPr>
            <a:spLocks noGrp="1"/>
          </p:cNvSpPr>
          <p:nvPr>
            <p:ph type="title"/>
          </p:nvPr>
        </p:nvSpPr>
        <p:spPr/>
        <p:txBody>
          <a:bodyPr/>
          <a:lstStyle/>
          <a:p>
            <a:r>
              <a:rPr lang="hu-HU" dirty="0" smtClean="0"/>
              <a:t>Szerepkörök modellezése</a:t>
            </a:r>
            <a:endParaRPr lang="hu-HU" dirty="0"/>
          </a:p>
        </p:txBody>
      </p:sp>
      <p:sp>
        <p:nvSpPr>
          <p:cNvPr id="5" name="Szöveg helye 4"/>
          <p:cNvSpPr>
            <a:spLocks noGrp="1"/>
          </p:cNvSpPr>
          <p:nvPr>
            <p:ph type="body" idx="1"/>
          </p:nvPr>
        </p:nvSpPr>
        <p:spPr/>
        <p:txBody>
          <a:bodyPr/>
          <a:lstStyle/>
          <a:p>
            <a:r>
              <a:rPr lang="hu-HU" dirty="0" smtClean="0"/>
              <a:t>UML2</a:t>
            </a:r>
            <a:endParaRPr lang="hu-HU" dirty="0"/>
          </a:p>
        </p:txBody>
      </p:sp>
    </p:spTree>
    <p:extLst>
      <p:ext uri="{BB962C8B-B14F-4D97-AF65-F5344CB8AC3E}">
        <p14:creationId xmlns:p14="http://schemas.microsoft.com/office/powerpoint/2010/main" val="1921054977"/>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ím 3"/>
          <p:cNvSpPr>
            <a:spLocks noGrp="1"/>
          </p:cNvSpPr>
          <p:nvPr>
            <p:ph type="title"/>
          </p:nvPr>
        </p:nvSpPr>
        <p:spPr/>
        <p:txBody>
          <a:bodyPr/>
          <a:lstStyle/>
          <a:p>
            <a:endParaRPr lang="hu-HU"/>
          </a:p>
        </p:txBody>
      </p:sp>
      <p:sp>
        <p:nvSpPr>
          <p:cNvPr id="5" name="Tartalom helye 4"/>
          <p:cNvSpPr>
            <a:spLocks noGrp="1"/>
          </p:cNvSpPr>
          <p:nvPr>
            <p:ph idx="1"/>
          </p:nvPr>
        </p:nvSpPr>
        <p:spPr>
          <a:xfrm>
            <a:off x="1981200" y="1600200"/>
            <a:ext cx="8075240" cy="4873752"/>
          </a:xfrm>
        </p:spPr>
        <p:txBody>
          <a:bodyPr/>
          <a:lstStyle/>
          <a:p>
            <a:r>
              <a:rPr lang="hu-HU" dirty="0" smtClean="0"/>
              <a:t>Rendszerállapot: Egy adott időpontban létező objektumoknak és az akkor aktuális kapcsolódásaiknak halmaza az adott időpontbéli rendszerállapot.</a:t>
            </a:r>
          </a:p>
          <a:p>
            <a:r>
              <a:rPr lang="hu-HU" dirty="0" smtClean="0"/>
              <a:t>Egy objektum egyszerre vagy egymás után több más objektummal együttműködhet.</a:t>
            </a:r>
          </a:p>
          <a:p>
            <a:pPr lvl="1"/>
            <a:r>
              <a:rPr lang="hu-HU" dirty="0" smtClean="0"/>
              <a:t>Szerepkör: nem osztály, nem objektum, hanem elszigetelt aspektus az együttműködésen belül. Korlátozott nézet, azon jellemzők összesítése, melyek adott szempontból fontosak.</a:t>
            </a:r>
          </a:p>
          <a:p>
            <a:pPr lvl="1"/>
            <a:r>
              <a:rPr lang="hu-HU" dirty="0" smtClean="0"/>
              <a:t>Interfészeknek nincs attribútuma, </a:t>
            </a:r>
            <a:r>
              <a:rPr lang="hu-HU" u="sng" dirty="0" smtClean="0"/>
              <a:t>szerepkörnek lehet</a:t>
            </a:r>
            <a:endParaRPr lang="hu-HU" u="sng" dirty="0"/>
          </a:p>
        </p:txBody>
      </p:sp>
    </p:spTree>
    <p:extLst>
      <p:ext uri="{BB962C8B-B14F-4D97-AF65-F5344CB8AC3E}">
        <p14:creationId xmlns:p14="http://schemas.microsoft.com/office/powerpoint/2010/main" val="553319750"/>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Szerepkörök</a:t>
            </a:r>
            <a:endParaRPr lang="hu-HU" dirty="0"/>
          </a:p>
        </p:txBody>
      </p:sp>
      <p:sp>
        <p:nvSpPr>
          <p:cNvPr id="3" name="Tartalom helye 2"/>
          <p:cNvSpPr>
            <a:spLocks noGrp="1"/>
          </p:cNvSpPr>
          <p:nvPr>
            <p:ph idx="1"/>
          </p:nvPr>
        </p:nvSpPr>
        <p:spPr/>
        <p:txBody>
          <a:bodyPr/>
          <a:lstStyle/>
          <a:p>
            <a:r>
              <a:rPr lang="hu-HU" dirty="0" smtClean="0"/>
              <a:t>Együttműködés-minták ábrázolására alkalmasak</a:t>
            </a:r>
          </a:p>
          <a:p>
            <a:pPr lvl="1"/>
            <a:r>
              <a:rPr lang="hu-HU" dirty="0" smtClean="0"/>
              <a:t>Osztálymodell erre nem jó, mert: szemlélteti ugyan az osztályok együttműködését, de nem képes az osztály objektumainak különböző egyidejű / egymást követő szerepköreinek elkülönítésére</a:t>
            </a:r>
          </a:p>
          <a:p>
            <a:pPr lvl="1"/>
            <a:r>
              <a:rPr lang="hu-HU" dirty="0" smtClean="0"/>
              <a:t>Objektummodell erre nem jó, mert: csak konkrét, meghatározott identitással rendelkező objektumok közti együttműködést szemléltet</a:t>
            </a:r>
          </a:p>
          <a:p>
            <a:r>
              <a:rPr lang="hu-HU" dirty="0" smtClean="0"/>
              <a:t>Jelölése téglalap, név aláhúzva</a:t>
            </a:r>
          </a:p>
          <a:p>
            <a:r>
              <a:rPr lang="hu-HU" dirty="0" smtClean="0"/>
              <a:t>Szerepkörnév::=([név[/szerepkör]]|/</a:t>
            </a:r>
            <a:r>
              <a:rPr lang="hu-HU" dirty="0" err="1" smtClean="0"/>
              <a:t>szerepkör</a:t>
            </a:r>
            <a:r>
              <a:rPr lang="hu-HU" dirty="0" smtClean="0"/>
              <a:t>) [:típus (,</a:t>
            </a:r>
            <a:r>
              <a:rPr lang="hu-HU" dirty="0" err="1" smtClean="0"/>
              <a:t>típus</a:t>
            </a:r>
            <a:r>
              <a:rPr lang="hu-HU" dirty="0" smtClean="0"/>
              <a:t>)*]</a:t>
            </a:r>
          </a:p>
          <a:p>
            <a:endParaRPr lang="hu-HU" dirty="0" smtClean="0"/>
          </a:p>
          <a:p>
            <a:endParaRPr lang="hu-HU" dirty="0"/>
          </a:p>
        </p:txBody>
      </p:sp>
    </p:spTree>
    <p:extLst>
      <p:ext uri="{BB962C8B-B14F-4D97-AF65-F5344CB8AC3E}">
        <p14:creationId xmlns:p14="http://schemas.microsoft.com/office/powerpoint/2010/main" val="418575717"/>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47529" y="1988840"/>
            <a:ext cx="8341953" cy="1368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8613686"/>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Terv</a:t>
            </a:r>
            <a:endParaRPr lang="hu-HU" dirty="0"/>
          </a:p>
        </p:txBody>
      </p:sp>
      <p:sp>
        <p:nvSpPr>
          <p:cNvPr id="3" name="Tartalom helye 2"/>
          <p:cNvSpPr>
            <a:spLocks noGrp="1"/>
          </p:cNvSpPr>
          <p:nvPr>
            <p:ph idx="1"/>
          </p:nvPr>
        </p:nvSpPr>
        <p:spPr/>
        <p:txBody>
          <a:bodyPr/>
          <a:lstStyle/>
          <a:p>
            <a:r>
              <a:rPr lang="hu-HU" dirty="0" smtClean="0"/>
              <a:t>1-inicializálás: </a:t>
            </a:r>
            <a:r>
              <a:rPr lang="hu-HU" dirty="0" err="1" smtClean="0"/>
              <a:t>utaslista</a:t>
            </a:r>
            <a:r>
              <a:rPr lang="hu-HU" dirty="0" smtClean="0"/>
              <a:t> betöltése, forgókapu és kártyaolvasó ellenőrzése. Ekkor automata kész.</a:t>
            </a:r>
          </a:p>
          <a:p>
            <a:r>
              <a:rPr lang="hu-HU" dirty="0" smtClean="0"/>
              <a:t>2-Kártya behelyezése, információk leolvasása</a:t>
            </a:r>
          </a:p>
          <a:p>
            <a:r>
              <a:rPr lang="hu-HU" dirty="0" smtClean="0"/>
              <a:t>3-a vezérlő összeveti a listával az utas adatait. Ha a foglalás az aktuális járatra szól, jegy kettészedése, és a kisebbik darab utasnak adása</a:t>
            </a:r>
          </a:p>
          <a:p>
            <a:r>
              <a:rPr lang="hu-HU" dirty="0" smtClean="0"/>
              <a:t>4-forgókapu működik, majd lezár</a:t>
            </a:r>
          </a:p>
          <a:p>
            <a:r>
              <a:rPr lang="hu-HU" dirty="0" smtClean="0"/>
              <a:t>5-ha az összevetés sikertelen(3), akkor először lista frissítése, majd </a:t>
            </a:r>
            <a:endParaRPr lang="hu-HU" dirty="0"/>
          </a:p>
        </p:txBody>
      </p:sp>
    </p:spTree>
    <p:extLst>
      <p:ext uri="{BB962C8B-B14F-4D97-AF65-F5344CB8AC3E}">
        <p14:creationId xmlns:p14="http://schemas.microsoft.com/office/powerpoint/2010/main" val="955277391"/>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endParaRPr lang="hu-HU"/>
          </a:p>
        </p:txBody>
      </p:sp>
      <p:graphicFrame>
        <p:nvGraphicFramePr>
          <p:cNvPr id="4" name="Tartalom helye 3"/>
          <p:cNvGraphicFramePr>
            <a:graphicFrameLocks noGrp="1"/>
          </p:cNvGraphicFramePr>
          <p:nvPr>
            <p:ph idx="1"/>
            <p:extLst/>
          </p:nvPr>
        </p:nvGraphicFramePr>
        <p:xfrm>
          <a:off x="1981200" y="1600200"/>
          <a:ext cx="7467600" cy="3937000"/>
        </p:xfrm>
        <a:graphic>
          <a:graphicData uri="http://schemas.openxmlformats.org/drawingml/2006/table">
            <a:tbl>
              <a:tblPr firstRow="1" bandRow="1">
                <a:tableStyleId>{5C22544A-7EE6-4342-B048-85BDC9FD1C3A}</a:tableStyleId>
              </a:tblPr>
              <a:tblGrid>
                <a:gridCol w="3733800">
                  <a:extLst>
                    <a:ext uri="{9D8B030D-6E8A-4147-A177-3AD203B41FA5}">
                      <a16:colId xmlns:a16="http://schemas.microsoft.com/office/drawing/2014/main" val="20000"/>
                    </a:ext>
                  </a:extLst>
                </a:gridCol>
                <a:gridCol w="3733800">
                  <a:extLst>
                    <a:ext uri="{9D8B030D-6E8A-4147-A177-3AD203B41FA5}">
                      <a16:colId xmlns:a16="http://schemas.microsoft.com/office/drawing/2014/main" val="20001"/>
                    </a:ext>
                  </a:extLst>
                </a:gridCol>
              </a:tblGrid>
              <a:tr h="370840">
                <a:tc>
                  <a:txBody>
                    <a:bodyPr/>
                    <a:lstStyle/>
                    <a:p>
                      <a:r>
                        <a:rPr lang="hu-HU" dirty="0" smtClean="0"/>
                        <a:t>Kapcsolat neve</a:t>
                      </a:r>
                      <a:endParaRPr lang="hu-HU" dirty="0"/>
                    </a:p>
                  </a:txBody>
                  <a:tcPr/>
                </a:tc>
                <a:tc>
                  <a:txBody>
                    <a:bodyPr/>
                    <a:lstStyle/>
                    <a:p>
                      <a:r>
                        <a:rPr lang="hu-HU" dirty="0" smtClean="0"/>
                        <a:t>jelentése</a:t>
                      </a:r>
                      <a:endParaRPr lang="hu-HU" dirty="0"/>
                    </a:p>
                  </a:txBody>
                  <a:tcPr/>
                </a:tc>
                <a:extLst>
                  <a:ext uri="{0D108BD9-81ED-4DB2-BD59-A6C34878D82A}">
                    <a16:rowId xmlns:a16="http://schemas.microsoft.com/office/drawing/2014/main" val="10000"/>
                  </a:ext>
                </a:extLst>
              </a:tr>
              <a:tr h="370840">
                <a:tc>
                  <a:txBody>
                    <a:bodyPr/>
                    <a:lstStyle/>
                    <a:p>
                      <a:r>
                        <a:rPr lang="hu-HU" dirty="0" smtClean="0"/>
                        <a:t>Összevetés</a:t>
                      </a:r>
                      <a:endParaRPr lang="hu-HU" dirty="0"/>
                    </a:p>
                  </a:txBody>
                  <a:tcPr/>
                </a:tc>
                <a:tc>
                  <a:txBody>
                    <a:bodyPr/>
                    <a:lstStyle/>
                    <a:p>
                      <a:r>
                        <a:rPr lang="hu-HU" dirty="0" smtClean="0"/>
                        <a:t>2.lépés, a kártyaolvasó a beszállókártya adatainak</a:t>
                      </a:r>
                      <a:r>
                        <a:rPr lang="hu-HU" baseline="0" dirty="0" smtClean="0"/>
                        <a:t> összevetése szolgáltatást kéri a vezérlőtől.</a:t>
                      </a:r>
                      <a:endParaRPr lang="hu-HU" dirty="0"/>
                    </a:p>
                  </a:txBody>
                  <a:tcPr/>
                </a:tc>
                <a:extLst>
                  <a:ext uri="{0D108BD9-81ED-4DB2-BD59-A6C34878D82A}">
                    <a16:rowId xmlns:a16="http://schemas.microsoft.com/office/drawing/2014/main" val="10001"/>
                  </a:ext>
                </a:extLst>
              </a:tr>
              <a:tr h="370840">
                <a:tc>
                  <a:txBody>
                    <a:bodyPr/>
                    <a:lstStyle/>
                    <a:p>
                      <a:r>
                        <a:rPr lang="hu-HU" dirty="0" smtClean="0"/>
                        <a:t>Kiadás</a:t>
                      </a:r>
                      <a:endParaRPr lang="hu-HU" dirty="0"/>
                    </a:p>
                  </a:txBody>
                  <a:tcPr/>
                </a:tc>
                <a:tc>
                  <a:txBody>
                    <a:bodyPr/>
                    <a:lstStyle/>
                    <a:p>
                      <a:r>
                        <a:rPr lang="hu-HU" dirty="0" smtClean="0"/>
                        <a:t>5.lépés,</a:t>
                      </a:r>
                      <a:r>
                        <a:rPr lang="hu-HU" baseline="0" dirty="0" smtClean="0"/>
                        <a:t> a vezérlő a kártya kiadása szolgáltatást kéri a kártyaolvasótól</a:t>
                      </a:r>
                      <a:endParaRPr lang="hu-HU" dirty="0"/>
                    </a:p>
                  </a:txBody>
                  <a:tcPr/>
                </a:tc>
                <a:extLst>
                  <a:ext uri="{0D108BD9-81ED-4DB2-BD59-A6C34878D82A}">
                    <a16:rowId xmlns:a16="http://schemas.microsoft.com/office/drawing/2014/main" val="10002"/>
                  </a:ext>
                </a:extLst>
              </a:tr>
              <a:tr h="370840">
                <a:tc>
                  <a:txBody>
                    <a:bodyPr/>
                    <a:lstStyle/>
                    <a:p>
                      <a:r>
                        <a:rPr lang="hu-HU" dirty="0" smtClean="0"/>
                        <a:t>Szabadra állítás</a:t>
                      </a:r>
                      <a:endParaRPr lang="hu-HU" dirty="0"/>
                    </a:p>
                  </a:txBody>
                  <a:tcPr/>
                </a:tc>
                <a:tc>
                  <a:txBody>
                    <a:bodyPr/>
                    <a:lstStyle/>
                    <a:p>
                      <a:r>
                        <a:rPr lang="hu-HU" dirty="0" smtClean="0"/>
                        <a:t>3.lépés, a vezérlő</a:t>
                      </a:r>
                      <a:r>
                        <a:rPr lang="hu-HU" baseline="0" dirty="0" smtClean="0"/>
                        <a:t> a forgókaputól a szabadra állítás szolgáltatást kéri, a visszajelzés a végrehajtás jelzése, melynek határideje van, vezérlő figyeli</a:t>
                      </a:r>
                      <a:endParaRPr lang="hu-HU"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6960103"/>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p:cNvSpPr>
            <a:spLocks noGrp="1"/>
          </p:cNvSpPr>
          <p:nvPr>
            <p:ph idx="1"/>
          </p:nvPr>
        </p:nvSpPr>
        <p:spPr>
          <a:xfrm>
            <a:off x="1991544" y="188640"/>
            <a:ext cx="7467600" cy="4873752"/>
          </a:xfrm>
        </p:spPr>
        <p:txBody>
          <a:bodyPr/>
          <a:lstStyle/>
          <a:p>
            <a:r>
              <a:rPr lang="hu-HU" dirty="0" smtClean="0"/>
              <a:t>Szerepkörök kiosztása</a:t>
            </a:r>
          </a:p>
          <a:p>
            <a:pPr lvl="1"/>
            <a:r>
              <a:rPr lang="hu-HU" dirty="0" smtClean="0"/>
              <a:t>Innen továbblépés: </a:t>
            </a:r>
            <a:r>
              <a:rPr lang="hu-HU" dirty="0" err="1" smtClean="0"/>
              <a:t>állapotautomaták</a:t>
            </a:r>
            <a:r>
              <a:rPr lang="hu-HU" dirty="0" smtClean="0"/>
              <a:t> kialakítása</a:t>
            </a:r>
          </a:p>
          <a:p>
            <a:pPr lvl="2"/>
            <a:r>
              <a:rPr lang="hu-HU" dirty="0" smtClean="0"/>
              <a:t>Plusz információk szükségesek.</a:t>
            </a:r>
            <a:endParaRPr lang="hu-HU"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3513" y="1772816"/>
            <a:ext cx="8466031"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28161"/>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ím 3"/>
          <p:cNvSpPr>
            <a:spLocks noGrp="1"/>
          </p:cNvSpPr>
          <p:nvPr>
            <p:ph type="title"/>
          </p:nvPr>
        </p:nvSpPr>
        <p:spPr/>
        <p:txBody>
          <a:bodyPr/>
          <a:lstStyle/>
          <a:p>
            <a:r>
              <a:rPr lang="hu-HU" dirty="0" smtClean="0"/>
              <a:t>Osztályleltár</a:t>
            </a:r>
            <a:endParaRPr lang="hu-HU" dirty="0"/>
          </a:p>
        </p:txBody>
      </p:sp>
      <p:sp>
        <p:nvSpPr>
          <p:cNvPr id="5" name="Szöveg helye 4"/>
          <p:cNvSpPr>
            <a:spLocks noGrp="1"/>
          </p:cNvSpPr>
          <p:nvPr>
            <p:ph type="body" idx="1"/>
          </p:nvPr>
        </p:nvSpPr>
        <p:spPr/>
        <p:txBody>
          <a:bodyPr/>
          <a:lstStyle/>
          <a:p>
            <a:r>
              <a:rPr lang="hu-HU" dirty="0" smtClean="0"/>
              <a:t>UML2</a:t>
            </a:r>
            <a:endParaRPr lang="hu-HU" dirty="0"/>
          </a:p>
        </p:txBody>
      </p:sp>
    </p:spTree>
    <p:extLst>
      <p:ext uri="{BB962C8B-B14F-4D97-AF65-F5344CB8AC3E}">
        <p14:creationId xmlns:p14="http://schemas.microsoft.com/office/powerpoint/2010/main" val="2888254384"/>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p:cNvSpPr>
            <a:spLocks noGrp="1"/>
          </p:cNvSpPr>
          <p:nvPr>
            <p:ph idx="1"/>
          </p:nvPr>
        </p:nvSpPr>
        <p:spPr>
          <a:xfrm>
            <a:off x="1981200" y="332656"/>
            <a:ext cx="7467600" cy="6141296"/>
          </a:xfrm>
        </p:spPr>
        <p:txBody>
          <a:bodyPr/>
          <a:lstStyle/>
          <a:p>
            <a:r>
              <a:rPr lang="hu-HU" dirty="0" smtClean="0"/>
              <a:t>Osztály leltár / Data </a:t>
            </a:r>
            <a:r>
              <a:rPr lang="hu-HU" dirty="0" err="1" smtClean="0"/>
              <a:t>dictionary</a:t>
            </a:r>
            <a:endParaRPr lang="hu-HU" dirty="0" smtClean="0"/>
          </a:p>
          <a:p>
            <a:r>
              <a:rPr lang="hu-HU" dirty="0" smtClean="0"/>
              <a:t>A modell összes osztályának összes jellemzőjét tartalmazza.</a:t>
            </a:r>
          </a:p>
          <a:p>
            <a:r>
              <a:rPr lang="hu-HU" dirty="0" smtClean="0"/>
              <a:t>Szakmai fogalmak dokumentációjához jó</a:t>
            </a:r>
          </a:p>
          <a:p>
            <a:r>
              <a:rPr lang="hu-HU" dirty="0" smtClean="0"/>
              <a:t>Interfészek meghatározásához is jó</a:t>
            </a:r>
          </a:p>
          <a:p>
            <a:r>
              <a:rPr lang="hu-HU" dirty="0" smtClean="0"/>
              <a:t>Két forma: táblázat vagy teljesen részletezett osztály</a:t>
            </a:r>
          </a:p>
          <a:p>
            <a:endParaRPr lang="hu-HU" dirty="0"/>
          </a:p>
        </p:txBody>
      </p:sp>
    </p:spTree>
    <p:extLst>
      <p:ext uri="{BB962C8B-B14F-4D97-AF65-F5344CB8AC3E}">
        <p14:creationId xmlns:p14="http://schemas.microsoft.com/office/powerpoint/2010/main" val="2836791916"/>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1981200" y="116632"/>
            <a:ext cx="7467600" cy="432048"/>
          </a:xfrm>
        </p:spPr>
        <p:txBody>
          <a:bodyPr>
            <a:normAutofit fontScale="90000"/>
          </a:bodyPr>
          <a:lstStyle/>
          <a:p>
            <a:r>
              <a:rPr lang="hu-HU" dirty="0" smtClean="0"/>
              <a:t>Táblázat</a:t>
            </a:r>
            <a:endParaRPr lang="hu-HU" dirty="0"/>
          </a:p>
        </p:txBody>
      </p:sp>
      <p:graphicFrame>
        <p:nvGraphicFramePr>
          <p:cNvPr id="4" name="Tartalom helye 3"/>
          <p:cNvGraphicFramePr>
            <a:graphicFrameLocks noGrp="1"/>
          </p:cNvGraphicFramePr>
          <p:nvPr>
            <p:ph idx="1"/>
            <p:extLst/>
          </p:nvPr>
        </p:nvGraphicFramePr>
        <p:xfrm>
          <a:off x="2063552" y="764704"/>
          <a:ext cx="7745288" cy="5050563"/>
        </p:xfrm>
        <a:graphic>
          <a:graphicData uri="http://schemas.openxmlformats.org/drawingml/2006/table">
            <a:tbl>
              <a:tblPr firstRow="1" bandRow="1">
                <a:tableStyleId>{5C22544A-7EE6-4342-B048-85BDC9FD1C3A}</a:tableStyleId>
              </a:tblPr>
              <a:tblGrid>
                <a:gridCol w="1936322">
                  <a:extLst>
                    <a:ext uri="{9D8B030D-6E8A-4147-A177-3AD203B41FA5}">
                      <a16:colId xmlns:a16="http://schemas.microsoft.com/office/drawing/2014/main" val="20000"/>
                    </a:ext>
                  </a:extLst>
                </a:gridCol>
                <a:gridCol w="943998">
                  <a:extLst>
                    <a:ext uri="{9D8B030D-6E8A-4147-A177-3AD203B41FA5}">
                      <a16:colId xmlns:a16="http://schemas.microsoft.com/office/drawing/2014/main" val="20001"/>
                    </a:ext>
                  </a:extLst>
                </a:gridCol>
                <a:gridCol w="2736304">
                  <a:extLst>
                    <a:ext uri="{9D8B030D-6E8A-4147-A177-3AD203B41FA5}">
                      <a16:colId xmlns:a16="http://schemas.microsoft.com/office/drawing/2014/main" val="20002"/>
                    </a:ext>
                  </a:extLst>
                </a:gridCol>
                <a:gridCol w="2128664">
                  <a:extLst>
                    <a:ext uri="{9D8B030D-6E8A-4147-A177-3AD203B41FA5}">
                      <a16:colId xmlns:a16="http://schemas.microsoft.com/office/drawing/2014/main" val="20003"/>
                    </a:ext>
                  </a:extLst>
                </a:gridCol>
              </a:tblGrid>
              <a:tr h="447189">
                <a:tc gridSpan="4">
                  <a:txBody>
                    <a:bodyPr/>
                    <a:lstStyle/>
                    <a:p>
                      <a:r>
                        <a:rPr lang="hu-HU" dirty="0" smtClean="0"/>
                        <a:t>Kilométerszámla</a:t>
                      </a:r>
                      <a:endParaRPr lang="hu-HU" dirty="0"/>
                    </a:p>
                  </a:txBody>
                  <a:tcPr/>
                </a:tc>
                <a:tc hMerge="1">
                  <a:txBody>
                    <a:bodyPr/>
                    <a:lstStyle/>
                    <a:p>
                      <a:endParaRPr lang="hu-HU" dirty="0"/>
                    </a:p>
                  </a:txBody>
                  <a:tcPr/>
                </a:tc>
                <a:tc hMerge="1">
                  <a:txBody>
                    <a:bodyPr/>
                    <a:lstStyle/>
                    <a:p>
                      <a:endParaRPr lang="hu-HU" dirty="0"/>
                    </a:p>
                  </a:txBody>
                  <a:tcPr/>
                </a:tc>
                <a:tc hMerge="1">
                  <a:txBody>
                    <a:bodyPr/>
                    <a:lstStyle/>
                    <a:p>
                      <a:endParaRPr lang="hu-HU" dirty="0"/>
                    </a:p>
                  </a:txBody>
                  <a:tcPr/>
                </a:tc>
                <a:extLst>
                  <a:ext uri="{0D108BD9-81ED-4DB2-BD59-A6C34878D82A}">
                    <a16:rowId xmlns:a16="http://schemas.microsoft.com/office/drawing/2014/main" val="10000"/>
                  </a:ext>
                </a:extLst>
              </a:tr>
              <a:tr h="447189">
                <a:tc>
                  <a:txBody>
                    <a:bodyPr/>
                    <a:lstStyle/>
                    <a:p>
                      <a:r>
                        <a:rPr lang="hu-HU" dirty="0" smtClean="0"/>
                        <a:t>Attribútum</a:t>
                      </a:r>
                      <a:endParaRPr lang="hu-HU" dirty="0"/>
                    </a:p>
                  </a:txBody>
                  <a:tcPr/>
                </a:tc>
                <a:tc>
                  <a:txBody>
                    <a:bodyPr/>
                    <a:lstStyle/>
                    <a:p>
                      <a:r>
                        <a:rPr lang="hu-HU" dirty="0" smtClean="0"/>
                        <a:t>Típus</a:t>
                      </a:r>
                      <a:endParaRPr lang="hu-HU" dirty="0"/>
                    </a:p>
                  </a:txBody>
                  <a:tcPr/>
                </a:tc>
                <a:tc>
                  <a:txBody>
                    <a:bodyPr/>
                    <a:lstStyle/>
                    <a:p>
                      <a:r>
                        <a:rPr lang="hu-HU" dirty="0" smtClean="0"/>
                        <a:t>Kezdőérték</a:t>
                      </a:r>
                      <a:endParaRPr lang="hu-HU" dirty="0"/>
                    </a:p>
                  </a:txBody>
                  <a:tcPr/>
                </a:tc>
                <a:tc>
                  <a:txBody>
                    <a:bodyPr/>
                    <a:lstStyle/>
                    <a:p>
                      <a:r>
                        <a:rPr lang="hu-HU" dirty="0" smtClean="0"/>
                        <a:t>Magyarázat</a:t>
                      </a:r>
                      <a:endParaRPr lang="hu-HU" dirty="0"/>
                    </a:p>
                  </a:txBody>
                  <a:tcPr/>
                </a:tc>
                <a:extLst>
                  <a:ext uri="{0D108BD9-81ED-4DB2-BD59-A6C34878D82A}">
                    <a16:rowId xmlns:a16="http://schemas.microsoft.com/office/drawing/2014/main" val="10001"/>
                  </a:ext>
                </a:extLst>
              </a:tr>
              <a:tr h="447189">
                <a:tc>
                  <a:txBody>
                    <a:bodyPr/>
                    <a:lstStyle/>
                    <a:p>
                      <a:r>
                        <a:rPr lang="hu-HU" dirty="0" smtClean="0"/>
                        <a:t>Szám</a:t>
                      </a:r>
                      <a:endParaRPr lang="hu-HU" dirty="0"/>
                    </a:p>
                  </a:txBody>
                  <a:tcPr/>
                </a:tc>
                <a:tc>
                  <a:txBody>
                    <a:bodyPr/>
                    <a:lstStyle/>
                    <a:p>
                      <a:r>
                        <a:rPr lang="hu-HU" dirty="0" smtClean="0"/>
                        <a:t>Int</a:t>
                      </a:r>
                      <a:endParaRPr lang="hu-HU" dirty="0"/>
                    </a:p>
                  </a:txBody>
                  <a:tcPr/>
                </a:tc>
                <a:tc>
                  <a:txBody>
                    <a:bodyPr/>
                    <a:lstStyle/>
                    <a:p>
                      <a:r>
                        <a:rPr lang="hu-HU" dirty="0" smtClean="0"/>
                        <a:t>Automatikus</a:t>
                      </a:r>
                      <a:endParaRPr lang="hu-HU" dirty="0"/>
                    </a:p>
                  </a:txBody>
                  <a:tcPr/>
                </a:tc>
                <a:tc>
                  <a:txBody>
                    <a:bodyPr/>
                    <a:lstStyle/>
                    <a:p>
                      <a:r>
                        <a:rPr lang="hu-HU" dirty="0" smtClean="0"/>
                        <a:t>Kezdőérték generálódik</a:t>
                      </a:r>
                      <a:endParaRPr lang="hu-HU" dirty="0"/>
                    </a:p>
                  </a:txBody>
                  <a:tcPr/>
                </a:tc>
                <a:extLst>
                  <a:ext uri="{0D108BD9-81ED-4DB2-BD59-A6C34878D82A}">
                    <a16:rowId xmlns:a16="http://schemas.microsoft.com/office/drawing/2014/main" val="10002"/>
                  </a:ext>
                </a:extLst>
              </a:tr>
              <a:tr h="447189">
                <a:tc>
                  <a:txBody>
                    <a:bodyPr/>
                    <a:lstStyle/>
                    <a:p>
                      <a:r>
                        <a:rPr lang="hu-HU" dirty="0" smtClean="0"/>
                        <a:t>Repült km</a:t>
                      </a:r>
                      <a:endParaRPr lang="hu-HU" dirty="0"/>
                    </a:p>
                  </a:txBody>
                  <a:tcPr/>
                </a:tc>
                <a:tc>
                  <a:txBody>
                    <a:bodyPr/>
                    <a:lstStyle/>
                    <a:p>
                      <a:r>
                        <a:rPr lang="hu-HU" dirty="0" smtClean="0"/>
                        <a:t>Int</a:t>
                      </a:r>
                      <a:endParaRPr lang="hu-HU" dirty="0"/>
                    </a:p>
                  </a:txBody>
                  <a:tcPr/>
                </a:tc>
                <a:tc>
                  <a:txBody>
                    <a:bodyPr/>
                    <a:lstStyle/>
                    <a:p>
                      <a:r>
                        <a:rPr lang="hu-HU" dirty="0" smtClean="0"/>
                        <a:t>0</a:t>
                      </a:r>
                      <a:endParaRPr lang="hu-HU" dirty="0"/>
                    </a:p>
                  </a:txBody>
                  <a:tcPr/>
                </a:tc>
                <a:tc>
                  <a:txBody>
                    <a:bodyPr/>
                    <a:lstStyle/>
                    <a:p>
                      <a:r>
                        <a:rPr lang="hu-HU" dirty="0" smtClean="0"/>
                        <a:t>Lejárati</a:t>
                      </a:r>
                      <a:r>
                        <a:rPr lang="hu-HU" baseline="0" dirty="0" smtClean="0"/>
                        <a:t> dátummal</a:t>
                      </a:r>
                      <a:endParaRPr lang="hu-HU" dirty="0"/>
                    </a:p>
                  </a:txBody>
                  <a:tcPr/>
                </a:tc>
                <a:extLst>
                  <a:ext uri="{0D108BD9-81ED-4DB2-BD59-A6C34878D82A}">
                    <a16:rowId xmlns:a16="http://schemas.microsoft.com/office/drawing/2014/main" val="10003"/>
                  </a:ext>
                </a:extLst>
              </a:tr>
              <a:tr h="447189">
                <a:tc>
                  <a:txBody>
                    <a:bodyPr/>
                    <a:lstStyle/>
                    <a:p>
                      <a:r>
                        <a:rPr lang="hu-HU" dirty="0" smtClean="0"/>
                        <a:t>Státusz</a:t>
                      </a:r>
                      <a:r>
                        <a:rPr lang="hu-HU" baseline="0" dirty="0" smtClean="0"/>
                        <a:t> km</a:t>
                      </a:r>
                      <a:endParaRPr lang="hu-HU" dirty="0"/>
                    </a:p>
                  </a:txBody>
                  <a:tcPr/>
                </a:tc>
                <a:tc>
                  <a:txBody>
                    <a:bodyPr/>
                    <a:lstStyle/>
                    <a:p>
                      <a:r>
                        <a:rPr lang="hu-HU" dirty="0" smtClean="0"/>
                        <a:t>Int</a:t>
                      </a:r>
                      <a:endParaRPr lang="hu-HU" dirty="0"/>
                    </a:p>
                  </a:txBody>
                  <a:tcPr/>
                </a:tc>
                <a:tc>
                  <a:txBody>
                    <a:bodyPr/>
                    <a:lstStyle/>
                    <a:p>
                      <a:r>
                        <a:rPr lang="hu-HU" dirty="0" smtClean="0"/>
                        <a:t>0</a:t>
                      </a:r>
                      <a:endParaRPr lang="hu-H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hu-HU" dirty="0" smtClean="0"/>
                        <a:t>Lejárati</a:t>
                      </a:r>
                      <a:r>
                        <a:rPr lang="hu-HU" baseline="0" dirty="0" smtClean="0"/>
                        <a:t> dátummal</a:t>
                      </a:r>
                      <a:endParaRPr lang="hu-HU" dirty="0" smtClean="0"/>
                    </a:p>
                  </a:txBody>
                  <a:tcPr/>
                </a:tc>
                <a:extLst>
                  <a:ext uri="{0D108BD9-81ED-4DB2-BD59-A6C34878D82A}">
                    <a16:rowId xmlns:a16="http://schemas.microsoft.com/office/drawing/2014/main" val="10004"/>
                  </a:ext>
                </a:extLst>
              </a:tr>
              <a:tr h="447189">
                <a:tc>
                  <a:txBody>
                    <a:bodyPr/>
                    <a:lstStyle/>
                    <a:p>
                      <a:r>
                        <a:rPr lang="hu-HU" dirty="0" smtClean="0"/>
                        <a:t>Státusz</a:t>
                      </a:r>
                      <a:endParaRPr lang="hu-HU" dirty="0"/>
                    </a:p>
                  </a:txBody>
                  <a:tcPr/>
                </a:tc>
                <a:tc>
                  <a:txBody>
                    <a:bodyPr/>
                    <a:lstStyle/>
                    <a:p>
                      <a:r>
                        <a:rPr lang="hu-HU" dirty="0" err="1" smtClean="0"/>
                        <a:t>String</a:t>
                      </a:r>
                      <a:endParaRPr lang="hu-HU" dirty="0"/>
                    </a:p>
                  </a:txBody>
                  <a:tcPr/>
                </a:tc>
                <a:tc>
                  <a:txBody>
                    <a:bodyPr/>
                    <a:lstStyle/>
                    <a:p>
                      <a:r>
                        <a:rPr lang="hu-HU" dirty="0" smtClean="0"/>
                        <a:t>Fecske</a:t>
                      </a:r>
                      <a:endParaRPr lang="hu-HU" dirty="0"/>
                    </a:p>
                  </a:txBody>
                  <a:tcPr/>
                </a:tc>
                <a:tc>
                  <a:txBody>
                    <a:bodyPr/>
                    <a:lstStyle/>
                    <a:p>
                      <a:r>
                        <a:rPr lang="hu-HU" dirty="0" smtClean="0"/>
                        <a:t>{fecske, sas</a:t>
                      </a:r>
                      <a:r>
                        <a:rPr lang="hu-HU" baseline="0" dirty="0" smtClean="0"/>
                        <a:t>, albatrosz</a:t>
                      </a:r>
                      <a:r>
                        <a:rPr lang="hu-HU" dirty="0" smtClean="0"/>
                        <a:t>}</a:t>
                      </a:r>
                      <a:endParaRPr lang="hu-HU" dirty="0"/>
                    </a:p>
                  </a:txBody>
                  <a:tcPr/>
                </a:tc>
                <a:extLst>
                  <a:ext uri="{0D108BD9-81ED-4DB2-BD59-A6C34878D82A}">
                    <a16:rowId xmlns:a16="http://schemas.microsoft.com/office/drawing/2014/main" val="10005"/>
                  </a:ext>
                </a:extLst>
              </a:tr>
              <a:tr h="447189">
                <a:tc>
                  <a:txBody>
                    <a:bodyPr/>
                    <a:lstStyle/>
                    <a:p>
                      <a:r>
                        <a:rPr lang="hu-HU" dirty="0" smtClean="0"/>
                        <a:t>Metódus</a:t>
                      </a:r>
                      <a:endParaRPr lang="hu-HU" dirty="0"/>
                    </a:p>
                  </a:txBody>
                  <a:tcPr>
                    <a:solidFill>
                      <a:schemeClr val="accent1"/>
                    </a:solidFill>
                  </a:tcPr>
                </a:tc>
                <a:tc>
                  <a:txBody>
                    <a:bodyPr/>
                    <a:lstStyle/>
                    <a:p>
                      <a:r>
                        <a:rPr lang="hu-HU" dirty="0" smtClean="0"/>
                        <a:t>Típus</a:t>
                      </a:r>
                      <a:endParaRPr lang="hu-HU" dirty="0"/>
                    </a:p>
                  </a:txBody>
                  <a:tcPr>
                    <a:solidFill>
                      <a:schemeClr val="accent1"/>
                    </a:solidFill>
                  </a:tcPr>
                </a:tc>
                <a:tc>
                  <a:txBody>
                    <a:bodyPr/>
                    <a:lstStyle/>
                    <a:p>
                      <a:r>
                        <a:rPr lang="hu-HU" dirty="0" smtClean="0"/>
                        <a:t>Paraméter</a:t>
                      </a:r>
                      <a:endParaRPr lang="hu-HU" dirty="0"/>
                    </a:p>
                  </a:txBody>
                  <a:tcPr>
                    <a:solidFill>
                      <a:schemeClr val="accent1"/>
                    </a:solidFill>
                  </a:tcPr>
                </a:tc>
                <a:tc>
                  <a:txBody>
                    <a:bodyPr/>
                    <a:lstStyle/>
                    <a:p>
                      <a:r>
                        <a:rPr lang="hu-HU" dirty="0" smtClean="0"/>
                        <a:t>Magyarázat</a:t>
                      </a:r>
                      <a:endParaRPr lang="hu-HU" dirty="0"/>
                    </a:p>
                  </a:txBody>
                  <a:tcPr>
                    <a:solidFill>
                      <a:schemeClr val="accent1"/>
                    </a:solidFill>
                  </a:tcPr>
                </a:tc>
                <a:extLst>
                  <a:ext uri="{0D108BD9-81ED-4DB2-BD59-A6C34878D82A}">
                    <a16:rowId xmlns:a16="http://schemas.microsoft.com/office/drawing/2014/main" val="10006"/>
                  </a:ext>
                </a:extLst>
              </a:tr>
              <a:tr h="447189">
                <a:tc>
                  <a:txBody>
                    <a:bodyPr/>
                    <a:lstStyle/>
                    <a:p>
                      <a:r>
                        <a:rPr lang="hu-HU" dirty="0" smtClean="0"/>
                        <a:t>Státusz</a:t>
                      </a:r>
                      <a:r>
                        <a:rPr lang="hu-HU" baseline="0" dirty="0" smtClean="0"/>
                        <a:t> beállítása</a:t>
                      </a:r>
                      <a:endParaRPr lang="hu-HU" dirty="0"/>
                    </a:p>
                  </a:txBody>
                  <a:tcPr/>
                </a:tc>
                <a:tc>
                  <a:txBody>
                    <a:bodyPr/>
                    <a:lstStyle/>
                    <a:p>
                      <a:r>
                        <a:rPr lang="hu-HU" dirty="0" err="1" smtClean="0"/>
                        <a:t>void</a:t>
                      </a:r>
                      <a:endParaRPr lang="hu-HU" dirty="0"/>
                    </a:p>
                  </a:txBody>
                  <a:tcPr/>
                </a:tc>
                <a:tc>
                  <a:txBody>
                    <a:bodyPr/>
                    <a:lstStyle/>
                    <a:p>
                      <a:r>
                        <a:rPr lang="hu-HU" dirty="0" err="1" smtClean="0"/>
                        <a:t>újStátusz</a:t>
                      </a:r>
                      <a:r>
                        <a:rPr lang="hu-HU" dirty="0" smtClean="0"/>
                        <a:t>:</a:t>
                      </a:r>
                      <a:r>
                        <a:rPr lang="hu-HU" dirty="0" err="1" smtClean="0"/>
                        <a:t>string</a:t>
                      </a:r>
                      <a:endParaRPr lang="hu-HU" dirty="0"/>
                    </a:p>
                  </a:txBody>
                  <a:tcPr/>
                </a:tc>
                <a:tc>
                  <a:txBody>
                    <a:bodyPr/>
                    <a:lstStyle/>
                    <a:p>
                      <a:endParaRPr lang="hu-HU"/>
                    </a:p>
                  </a:txBody>
                  <a:tcPr/>
                </a:tc>
                <a:extLst>
                  <a:ext uri="{0D108BD9-81ED-4DB2-BD59-A6C34878D82A}">
                    <a16:rowId xmlns:a16="http://schemas.microsoft.com/office/drawing/2014/main" val="10007"/>
                  </a:ext>
                </a:extLst>
              </a:tr>
              <a:tr h="447189">
                <a:tc>
                  <a:txBody>
                    <a:bodyPr/>
                    <a:lstStyle/>
                    <a:p>
                      <a:r>
                        <a:rPr lang="hu-HU" dirty="0" smtClean="0"/>
                        <a:t>Km jóváírás</a:t>
                      </a:r>
                      <a:endParaRPr lang="hu-HU" dirty="0"/>
                    </a:p>
                  </a:txBody>
                  <a:tcPr/>
                </a:tc>
                <a:tc>
                  <a:txBody>
                    <a:bodyPr/>
                    <a:lstStyle/>
                    <a:p>
                      <a:r>
                        <a:rPr lang="hu-HU" dirty="0" err="1" smtClean="0"/>
                        <a:t>Void</a:t>
                      </a:r>
                      <a:endParaRPr lang="hu-HU" dirty="0"/>
                    </a:p>
                  </a:txBody>
                  <a:tcPr/>
                </a:tc>
                <a:tc>
                  <a:txBody>
                    <a:bodyPr/>
                    <a:lstStyle/>
                    <a:p>
                      <a:r>
                        <a:rPr lang="hu-HU" dirty="0" smtClean="0"/>
                        <a:t>Km:int, Fajta:osztály</a:t>
                      </a:r>
                      <a:endParaRPr lang="hu-HU" dirty="0"/>
                    </a:p>
                  </a:txBody>
                  <a:tcPr/>
                </a:tc>
                <a:tc>
                  <a:txBody>
                    <a:bodyPr/>
                    <a:lstStyle/>
                    <a:p>
                      <a:endParaRPr lang="hu-HU" dirty="0"/>
                    </a:p>
                  </a:txBody>
                  <a:tcPr/>
                </a:tc>
                <a:extLst>
                  <a:ext uri="{0D108BD9-81ED-4DB2-BD59-A6C34878D82A}">
                    <a16:rowId xmlns:a16="http://schemas.microsoft.com/office/drawing/2014/main" val="10008"/>
                  </a:ext>
                </a:extLst>
              </a:tr>
              <a:tr h="447189">
                <a:tc>
                  <a:txBody>
                    <a:bodyPr/>
                    <a:lstStyle/>
                    <a:p>
                      <a:r>
                        <a:rPr lang="hu-HU" dirty="0" smtClean="0"/>
                        <a:t>Km felhasználás</a:t>
                      </a:r>
                      <a:endParaRPr lang="hu-HU" dirty="0"/>
                    </a:p>
                  </a:txBody>
                  <a:tcPr/>
                </a:tc>
                <a:tc>
                  <a:txBody>
                    <a:bodyPr/>
                    <a:lstStyle/>
                    <a:p>
                      <a:r>
                        <a:rPr lang="hu-HU" dirty="0" err="1" smtClean="0"/>
                        <a:t>void</a:t>
                      </a:r>
                      <a:endParaRPr lang="hu-HU" dirty="0"/>
                    </a:p>
                  </a:txBody>
                  <a:tcPr/>
                </a:tc>
                <a:tc>
                  <a:txBody>
                    <a:bodyPr/>
                    <a:lstStyle/>
                    <a:p>
                      <a:r>
                        <a:rPr lang="hu-HU" dirty="0" smtClean="0"/>
                        <a:t>Km:int, </a:t>
                      </a:r>
                      <a:r>
                        <a:rPr lang="hu-HU" dirty="0" err="1" smtClean="0"/>
                        <a:t>kmtípus</a:t>
                      </a:r>
                      <a:r>
                        <a:rPr lang="hu-HU" dirty="0" smtClean="0"/>
                        <a:t>:</a:t>
                      </a:r>
                      <a:r>
                        <a:rPr lang="hu-HU" dirty="0" err="1" smtClean="0"/>
                        <a:t>char</a:t>
                      </a:r>
                      <a:endParaRPr lang="hu-HU" dirty="0"/>
                    </a:p>
                  </a:txBody>
                  <a:tcPr/>
                </a:tc>
                <a:tc>
                  <a:txBody>
                    <a:bodyPr/>
                    <a:lstStyle/>
                    <a:p>
                      <a:r>
                        <a:rPr lang="hu-HU" dirty="0" err="1" smtClean="0"/>
                        <a:t>Kmtípus</a:t>
                      </a:r>
                      <a:r>
                        <a:rPr lang="hu-HU" dirty="0" smtClean="0"/>
                        <a:t> s vagy r</a:t>
                      </a:r>
                      <a:endParaRPr lang="hu-HU" dirty="0"/>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051277310"/>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endParaRPr lang="hu-HU"/>
          </a:p>
        </p:txBody>
      </p:sp>
      <p:pic>
        <p:nvPicPr>
          <p:cNvPr id="27651"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47528" y="116632"/>
            <a:ext cx="7632848" cy="6606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9748531"/>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ím 3"/>
          <p:cNvSpPr>
            <a:spLocks noGrp="1"/>
          </p:cNvSpPr>
          <p:nvPr>
            <p:ph type="title"/>
          </p:nvPr>
        </p:nvSpPr>
        <p:spPr/>
        <p:txBody>
          <a:bodyPr/>
          <a:lstStyle/>
          <a:p>
            <a:r>
              <a:rPr lang="hu-HU" dirty="0" smtClean="0"/>
              <a:t>Megvalósítási Osztálydiagram</a:t>
            </a:r>
            <a:endParaRPr lang="hu-HU" dirty="0"/>
          </a:p>
        </p:txBody>
      </p:sp>
      <p:sp>
        <p:nvSpPr>
          <p:cNvPr id="5" name="Szöveg helye 4"/>
          <p:cNvSpPr>
            <a:spLocks noGrp="1"/>
          </p:cNvSpPr>
          <p:nvPr>
            <p:ph type="body" idx="1"/>
          </p:nvPr>
        </p:nvSpPr>
        <p:spPr/>
        <p:txBody>
          <a:bodyPr/>
          <a:lstStyle/>
          <a:p>
            <a:r>
              <a:rPr lang="hu-HU" dirty="0" smtClean="0"/>
              <a:t>UML2</a:t>
            </a:r>
            <a:endParaRPr lang="hu-HU" dirty="0"/>
          </a:p>
        </p:txBody>
      </p:sp>
    </p:spTree>
    <p:extLst>
      <p:ext uri="{BB962C8B-B14F-4D97-AF65-F5344CB8AC3E}">
        <p14:creationId xmlns:p14="http://schemas.microsoft.com/office/powerpoint/2010/main" val="3433095259"/>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Data </a:t>
            </a:r>
            <a:r>
              <a:rPr lang="hu-HU" dirty="0" err="1" smtClean="0"/>
              <a:t>Types</a:t>
            </a:r>
            <a:endParaRPr lang="hu-HU" dirty="0"/>
          </a:p>
        </p:txBody>
      </p:sp>
      <p:graphicFrame>
        <p:nvGraphicFramePr>
          <p:cNvPr id="4" name="Tartalom helye 3"/>
          <p:cNvGraphicFramePr>
            <a:graphicFrameLocks noGrp="1"/>
          </p:cNvGraphicFramePr>
          <p:nvPr>
            <p:ph idx="1"/>
            <p:extLst/>
          </p:nvPr>
        </p:nvGraphicFramePr>
        <p:xfrm>
          <a:off x="1981200" y="1600200"/>
          <a:ext cx="7467600" cy="3022600"/>
        </p:xfrm>
        <a:graphic>
          <a:graphicData uri="http://schemas.openxmlformats.org/drawingml/2006/table">
            <a:tbl>
              <a:tblPr firstRow="1" bandRow="1">
                <a:tableStyleId>{5C22544A-7EE6-4342-B048-85BDC9FD1C3A}</a:tableStyleId>
              </a:tblPr>
              <a:tblGrid>
                <a:gridCol w="1522512">
                  <a:extLst>
                    <a:ext uri="{9D8B030D-6E8A-4147-A177-3AD203B41FA5}">
                      <a16:colId xmlns:a16="http://schemas.microsoft.com/office/drawing/2014/main" val="20000"/>
                    </a:ext>
                  </a:extLst>
                </a:gridCol>
                <a:gridCol w="5945088">
                  <a:extLst>
                    <a:ext uri="{9D8B030D-6E8A-4147-A177-3AD203B41FA5}">
                      <a16:colId xmlns:a16="http://schemas.microsoft.com/office/drawing/2014/main" val="20001"/>
                    </a:ext>
                  </a:extLst>
                </a:gridCol>
              </a:tblGrid>
              <a:tr h="370840">
                <a:tc>
                  <a:txBody>
                    <a:bodyPr/>
                    <a:lstStyle/>
                    <a:p>
                      <a:r>
                        <a:rPr lang="hu-HU" dirty="0" smtClean="0"/>
                        <a:t>Név</a:t>
                      </a:r>
                      <a:endParaRPr lang="hu-HU" dirty="0"/>
                    </a:p>
                  </a:txBody>
                  <a:tcPr/>
                </a:tc>
                <a:tc>
                  <a:txBody>
                    <a:bodyPr/>
                    <a:lstStyle/>
                    <a:p>
                      <a:r>
                        <a:rPr lang="hu-HU" dirty="0" smtClean="0"/>
                        <a:t>Leírás</a:t>
                      </a:r>
                      <a:endParaRPr lang="hu-HU" dirty="0"/>
                    </a:p>
                  </a:txBody>
                  <a:tcPr/>
                </a:tc>
                <a:extLst>
                  <a:ext uri="{0D108BD9-81ED-4DB2-BD59-A6C34878D82A}">
                    <a16:rowId xmlns:a16="http://schemas.microsoft.com/office/drawing/2014/main" val="10000"/>
                  </a:ext>
                </a:extLst>
              </a:tr>
              <a:tr h="370840">
                <a:tc>
                  <a:txBody>
                    <a:bodyPr/>
                    <a:lstStyle/>
                    <a:p>
                      <a:r>
                        <a:rPr lang="hu-HU" dirty="0" smtClean="0"/>
                        <a:t>Alaptípusok</a:t>
                      </a:r>
                      <a:endParaRPr lang="hu-HU" dirty="0"/>
                    </a:p>
                  </a:txBody>
                  <a:tcPr/>
                </a:tc>
                <a:tc>
                  <a:txBody>
                    <a:bodyPr/>
                    <a:lstStyle/>
                    <a:p>
                      <a:r>
                        <a:rPr lang="hu-HU" dirty="0" smtClean="0"/>
                        <a:t>Strukturálatlan</a:t>
                      </a:r>
                      <a:r>
                        <a:rPr lang="hu-HU" baseline="0" dirty="0" smtClean="0"/>
                        <a:t> </a:t>
                      </a:r>
                      <a:r>
                        <a:rPr lang="hu-HU" baseline="0" dirty="0" err="1" smtClean="0"/>
                        <a:t>adattpípus</a:t>
                      </a:r>
                      <a:r>
                        <a:rPr lang="hu-HU" baseline="0" dirty="0" smtClean="0"/>
                        <a:t>, </a:t>
                      </a:r>
                      <a:r>
                        <a:rPr lang="hu-HU" dirty="0" smtClean="0"/>
                        <a:t>Külsőleg definiált értékkel, műveletekkel.</a:t>
                      </a:r>
                      <a:r>
                        <a:rPr lang="hu-HU" baseline="0" dirty="0" smtClean="0"/>
                        <a:t> BOOLEAN, INTEGER, UNLIMITEDNATURAL, STRING. Ezek csak elemzés/tervezés. Megvalósítás során a célnyelv specifikus alaptípusok kellenek.</a:t>
                      </a:r>
                      <a:endParaRPr lang="hu-HU" dirty="0"/>
                    </a:p>
                  </a:txBody>
                  <a:tcPr/>
                </a:tc>
                <a:extLst>
                  <a:ext uri="{0D108BD9-81ED-4DB2-BD59-A6C34878D82A}">
                    <a16:rowId xmlns:a16="http://schemas.microsoft.com/office/drawing/2014/main" val="10001"/>
                  </a:ext>
                </a:extLst>
              </a:tr>
              <a:tr h="370840">
                <a:tc>
                  <a:txBody>
                    <a:bodyPr/>
                    <a:lstStyle/>
                    <a:p>
                      <a:r>
                        <a:rPr lang="hu-HU" dirty="0" smtClean="0"/>
                        <a:t>Felsorolásos típusok</a:t>
                      </a:r>
                      <a:endParaRPr lang="hu-HU" dirty="0"/>
                    </a:p>
                  </a:txBody>
                  <a:tcPr/>
                </a:tc>
                <a:tc>
                  <a:txBody>
                    <a:bodyPr/>
                    <a:lstStyle/>
                    <a:p>
                      <a:r>
                        <a:rPr lang="hu-HU" dirty="0" err="1" smtClean="0"/>
                        <a:t>Felhaszn</a:t>
                      </a:r>
                      <a:r>
                        <a:rPr lang="hu-HU" dirty="0" smtClean="0"/>
                        <a:t> által definiált típus, értékek véges, megadott halmazával.</a:t>
                      </a:r>
                    </a:p>
                    <a:p>
                      <a:r>
                        <a:rPr lang="hu-HU" dirty="0" smtClean="0"/>
                        <a:t>Az értékek egy példányspecifikációban vannak explicit módon, felsorolásként megadva.</a:t>
                      </a:r>
                      <a:endParaRPr lang="hu-HU"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562251740"/>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ím 3"/>
          <p:cNvSpPr>
            <a:spLocks noGrp="1"/>
          </p:cNvSpPr>
          <p:nvPr>
            <p:ph type="title"/>
          </p:nvPr>
        </p:nvSpPr>
        <p:spPr/>
        <p:txBody>
          <a:bodyPr/>
          <a:lstStyle/>
          <a:p>
            <a:r>
              <a:rPr lang="hu-HU" dirty="0" smtClean="0"/>
              <a:t>Adattípusok</a:t>
            </a:r>
            <a:endParaRPr lang="hu-HU"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31504" y="2132856"/>
            <a:ext cx="8868150" cy="2304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797518"/>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Sablonosztályok / Osztálysablonok</a:t>
            </a:r>
            <a:endParaRPr lang="hu-HU" dirty="0"/>
          </a:p>
        </p:txBody>
      </p:sp>
      <p:sp>
        <p:nvSpPr>
          <p:cNvPr id="3" name="Tartalom helye 2"/>
          <p:cNvSpPr>
            <a:spLocks noGrp="1"/>
          </p:cNvSpPr>
          <p:nvPr>
            <p:ph idx="1"/>
          </p:nvPr>
        </p:nvSpPr>
        <p:spPr/>
        <p:txBody>
          <a:bodyPr>
            <a:normAutofit fontScale="92500" lnSpcReduction="10000"/>
          </a:bodyPr>
          <a:lstStyle/>
          <a:p>
            <a:r>
              <a:rPr lang="hu-HU" dirty="0" smtClean="0"/>
              <a:t>Altípus polimorfizmus (</a:t>
            </a:r>
            <a:r>
              <a:rPr lang="hu-HU" dirty="0" err="1" smtClean="0"/>
              <a:t>örökl</a:t>
            </a:r>
            <a:r>
              <a:rPr lang="hu-HU" dirty="0" smtClean="0"/>
              <a:t>)</a:t>
            </a:r>
          </a:p>
          <a:p>
            <a:r>
              <a:rPr lang="hu-HU" dirty="0" smtClean="0"/>
              <a:t>parametrikus polimorfizmus</a:t>
            </a:r>
          </a:p>
          <a:p>
            <a:r>
              <a:rPr lang="hu-HU" dirty="0" smtClean="0"/>
              <a:t>Paraméter:szaggatott</a:t>
            </a:r>
          </a:p>
          <a:p>
            <a:r>
              <a:rPr lang="hu-HU" dirty="0" smtClean="0"/>
              <a:t>Sablon nem </a:t>
            </a:r>
            <a:r>
              <a:rPr lang="hu-HU" dirty="0" err="1" smtClean="0"/>
              <a:t>példányosítható</a:t>
            </a:r>
            <a:endParaRPr lang="hu-HU" dirty="0" smtClean="0"/>
          </a:p>
          <a:p>
            <a:endParaRPr lang="hu-HU" dirty="0" smtClean="0"/>
          </a:p>
          <a:p>
            <a:endParaRPr lang="hu-HU" dirty="0"/>
          </a:p>
          <a:p>
            <a:endParaRPr lang="hu-HU" dirty="0" smtClean="0"/>
          </a:p>
          <a:p>
            <a:endParaRPr lang="hu-HU" dirty="0"/>
          </a:p>
          <a:p>
            <a:r>
              <a:rPr lang="hu-HU" dirty="0" smtClean="0"/>
              <a:t>Itt: Sablon nyitva hagyott eleme a típusparaméter, Lista nem hozható létre, de </a:t>
            </a:r>
            <a:r>
              <a:rPr lang="hu-HU" dirty="0" err="1" smtClean="0"/>
              <a:t>utaslista</a:t>
            </a:r>
            <a:r>
              <a:rPr lang="hu-HU" dirty="0" smtClean="0"/>
              <a:t> vagy járatlista igen.</a:t>
            </a:r>
          </a:p>
          <a:p>
            <a:r>
              <a:rPr lang="hu-HU" dirty="0" smtClean="0"/>
              <a:t>Normál paraméterek is megadhatóak.</a:t>
            </a:r>
          </a:p>
          <a:p>
            <a:endParaRPr lang="hu-HU"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7888" y="2204864"/>
            <a:ext cx="5222636" cy="2410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8579494"/>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552" y="1628801"/>
            <a:ext cx="4752528" cy="1732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artalom helye 2"/>
          <p:cNvSpPr>
            <a:spLocks noGrp="1"/>
          </p:cNvSpPr>
          <p:nvPr>
            <p:ph idx="1"/>
          </p:nvPr>
        </p:nvSpPr>
        <p:spPr>
          <a:xfrm>
            <a:off x="1775520" y="122250"/>
            <a:ext cx="7467600" cy="6478487"/>
          </a:xfrm>
        </p:spPr>
        <p:txBody>
          <a:bodyPr>
            <a:normAutofit/>
          </a:bodyPr>
          <a:lstStyle/>
          <a:p>
            <a:r>
              <a:rPr lang="hu-HU" dirty="0" smtClean="0"/>
              <a:t>Altípus polimorfizmus esetén: új úthoz mindig új eszközt kell származtatni</a:t>
            </a:r>
          </a:p>
          <a:p>
            <a:pPr lvl="1"/>
            <a:r>
              <a:rPr lang="hu-HU" dirty="0" smtClean="0"/>
              <a:t>Mivel osztálydefiníciót követel, hiba lehetőség.</a:t>
            </a:r>
            <a:endParaRPr lang="hu-HU" dirty="0"/>
          </a:p>
          <a:p>
            <a:pPr lvl="1"/>
            <a:endParaRPr lang="hu-HU" dirty="0" smtClean="0"/>
          </a:p>
          <a:p>
            <a:pPr lvl="1"/>
            <a:endParaRPr lang="hu-HU" dirty="0"/>
          </a:p>
          <a:p>
            <a:pPr lvl="1"/>
            <a:endParaRPr lang="hu-HU" dirty="0" smtClean="0"/>
          </a:p>
          <a:p>
            <a:pPr lvl="1"/>
            <a:endParaRPr lang="hu-HU" dirty="0" smtClean="0"/>
          </a:p>
          <a:p>
            <a:pPr lvl="1"/>
            <a:endParaRPr lang="hu-HU" dirty="0"/>
          </a:p>
          <a:p>
            <a:pPr lvl="1"/>
            <a:endParaRPr lang="hu-HU" dirty="0" smtClean="0"/>
          </a:p>
          <a:p>
            <a:r>
              <a:rPr lang="hu-HU" dirty="0" smtClean="0"/>
              <a:t>Parametrikusnál csak eszközt kell származtatni, az út típus a paraméter segítségével áll elő.</a:t>
            </a:r>
          </a:p>
          <a:p>
            <a:pPr lvl="1"/>
            <a:r>
              <a:rPr lang="hu-HU" dirty="0" smtClean="0"/>
              <a:t>Kevesebb hibalehetőség</a:t>
            </a:r>
            <a:endParaRPr lang="hu-HU"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0216" y="4030484"/>
            <a:ext cx="2520280" cy="2818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2573771"/>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aggregáció</a:t>
            </a:r>
            <a:endParaRPr lang="hu-HU" dirty="0"/>
          </a:p>
        </p:txBody>
      </p:sp>
      <p:sp>
        <p:nvSpPr>
          <p:cNvPr id="3" name="Tartalom helye 2"/>
          <p:cNvSpPr>
            <a:spLocks noGrp="1"/>
          </p:cNvSpPr>
          <p:nvPr>
            <p:ph idx="1"/>
          </p:nvPr>
        </p:nvSpPr>
        <p:spPr/>
        <p:txBody>
          <a:bodyPr/>
          <a:lstStyle/>
          <a:p>
            <a:r>
              <a:rPr lang="hu-HU" dirty="0" smtClean="0"/>
              <a:t>Nem használt a gyakorlatban</a:t>
            </a:r>
          </a:p>
          <a:p>
            <a:r>
              <a:rPr lang="hu-HU" dirty="0" smtClean="0"/>
              <a:t>Szemantikai megkötés sincs, szabadon használható</a:t>
            </a:r>
          </a:p>
          <a:p>
            <a:r>
              <a:rPr lang="hu-HU" dirty="0" smtClean="0"/>
              <a:t>Üres rombuszvégű vonal</a:t>
            </a:r>
          </a:p>
          <a:p>
            <a:r>
              <a:rPr lang="hu-HU" dirty="0" smtClean="0"/>
              <a:t>Egyetlen jelentése: kapcsolat, de az asszociáció és a kompozíció is ennek specializált esetei.</a:t>
            </a:r>
            <a:endParaRPr lang="hu-HU"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3241" y="0"/>
            <a:ext cx="3055143" cy="2254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4245730"/>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Megvalósítási osztálydiagram</a:t>
            </a:r>
            <a:endParaRPr lang="hu-HU" dirty="0"/>
          </a:p>
        </p:txBody>
      </p:sp>
      <p:sp>
        <p:nvSpPr>
          <p:cNvPr id="3" name="Tartalom helye 2"/>
          <p:cNvSpPr>
            <a:spLocks noGrp="1"/>
          </p:cNvSpPr>
          <p:nvPr>
            <p:ph idx="1"/>
          </p:nvPr>
        </p:nvSpPr>
        <p:spPr/>
        <p:txBody>
          <a:bodyPr/>
          <a:lstStyle/>
          <a:p>
            <a:r>
              <a:rPr lang="hu-HU" dirty="0" smtClean="0"/>
              <a:t>Profilok használata</a:t>
            </a:r>
          </a:p>
          <a:p>
            <a:r>
              <a:rPr lang="hu-HU" dirty="0" smtClean="0"/>
              <a:t>Profil: kiegészítő kifejezőeszközök, korlátozások is meg vannak határozva.</a:t>
            </a:r>
          </a:p>
          <a:p>
            <a:r>
              <a:rPr lang="hu-HU" dirty="0" smtClean="0"/>
              <a:t>Ha a modell megfelel és profilnak, átvihető az implementációs nyelvre és vissza</a:t>
            </a:r>
          </a:p>
          <a:p>
            <a:r>
              <a:rPr lang="hu-HU" dirty="0" smtClean="0"/>
              <a:t>Profilok </a:t>
            </a:r>
            <a:r>
              <a:rPr lang="hu-HU" dirty="0" err="1" smtClean="0"/>
              <a:t>OMG-től</a:t>
            </a:r>
            <a:r>
              <a:rPr lang="hu-HU" dirty="0" smtClean="0"/>
              <a:t>, változtathatóak</a:t>
            </a:r>
            <a:endParaRPr lang="hu-HU" dirty="0"/>
          </a:p>
        </p:txBody>
      </p:sp>
    </p:spTree>
    <p:extLst>
      <p:ext uri="{BB962C8B-B14F-4D97-AF65-F5344CB8AC3E}">
        <p14:creationId xmlns:p14="http://schemas.microsoft.com/office/powerpoint/2010/main" val="1167572742"/>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1631504" y="-387424"/>
            <a:ext cx="7467600" cy="1143000"/>
          </a:xfrm>
        </p:spPr>
        <p:txBody>
          <a:bodyPr/>
          <a:lstStyle/>
          <a:p>
            <a:r>
              <a:rPr lang="hu-HU" dirty="0" smtClean="0"/>
              <a:t>Java profil konvenciók </a:t>
            </a:r>
            <a:r>
              <a:rPr lang="hu-HU" dirty="0" err="1" smtClean="0"/>
              <a:t>pl</a:t>
            </a:r>
            <a:endParaRPr lang="hu-HU" dirty="0"/>
          </a:p>
        </p:txBody>
      </p:sp>
      <p:graphicFrame>
        <p:nvGraphicFramePr>
          <p:cNvPr id="4" name="Tartalom helye 3"/>
          <p:cNvGraphicFramePr>
            <a:graphicFrameLocks noGrp="1"/>
          </p:cNvGraphicFramePr>
          <p:nvPr>
            <p:ph idx="1"/>
            <p:extLst/>
          </p:nvPr>
        </p:nvGraphicFramePr>
        <p:xfrm>
          <a:off x="1775520" y="836712"/>
          <a:ext cx="8712968" cy="4216400"/>
        </p:xfrm>
        <a:graphic>
          <a:graphicData uri="http://schemas.openxmlformats.org/drawingml/2006/table">
            <a:tbl>
              <a:tblPr firstRow="1" bandRow="1">
                <a:tableStyleId>{5C22544A-7EE6-4342-B048-85BDC9FD1C3A}</a:tableStyleId>
              </a:tblPr>
              <a:tblGrid>
                <a:gridCol w="1512168">
                  <a:extLst>
                    <a:ext uri="{9D8B030D-6E8A-4147-A177-3AD203B41FA5}">
                      <a16:colId xmlns:a16="http://schemas.microsoft.com/office/drawing/2014/main" val="20000"/>
                    </a:ext>
                  </a:extLst>
                </a:gridCol>
                <a:gridCol w="7200800">
                  <a:extLst>
                    <a:ext uri="{9D8B030D-6E8A-4147-A177-3AD203B41FA5}">
                      <a16:colId xmlns:a16="http://schemas.microsoft.com/office/drawing/2014/main" val="20001"/>
                    </a:ext>
                  </a:extLst>
                </a:gridCol>
              </a:tblGrid>
              <a:tr h="370840">
                <a:tc>
                  <a:txBody>
                    <a:bodyPr/>
                    <a:lstStyle/>
                    <a:p>
                      <a:endParaRPr lang="hu-HU" dirty="0"/>
                    </a:p>
                  </a:txBody>
                  <a:tcPr/>
                </a:tc>
                <a:tc>
                  <a:txBody>
                    <a:bodyPr/>
                    <a:lstStyle/>
                    <a:p>
                      <a:endParaRPr lang="hu-HU" dirty="0"/>
                    </a:p>
                  </a:txBody>
                  <a:tcPr/>
                </a:tc>
                <a:extLst>
                  <a:ext uri="{0D108BD9-81ED-4DB2-BD59-A6C34878D82A}">
                    <a16:rowId xmlns:a16="http://schemas.microsoft.com/office/drawing/2014/main" val="10000"/>
                  </a:ext>
                </a:extLst>
              </a:tr>
              <a:tr h="370840">
                <a:tc>
                  <a:txBody>
                    <a:bodyPr/>
                    <a:lstStyle/>
                    <a:p>
                      <a:r>
                        <a:rPr lang="hu-HU" dirty="0" smtClean="0"/>
                        <a:t>Nevek</a:t>
                      </a:r>
                      <a:endParaRPr lang="hu-HU" dirty="0"/>
                    </a:p>
                  </a:txBody>
                  <a:tcPr/>
                </a:tc>
                <a:tc>
                  <a:txBody>
                    <a:bodyPr/>
                    <a:lstStyle/>
                    <a:p>
                      <a:r>
                        <a:rPr lang="hu-HU" dirty="0" smtClean="0"/>
                        <a:t>Nincs: [], központozás,</a:t>
                      </a:r>
                      <a:r>
                        <a:rPr lang="hu-HU" baseline="0" dirty="0" smtClean="0"/>
                        <a:t> szóköz</a:t>
                      </a:r>
                      <a:endParaRPr lang="hu-HU" dirty="0" smtClean="0"/>
                    </a:p>
                    <a:p>
                      <a:r>
                        <a:rPr lang="hu-HU" dirty="0" smtClean="0"/>
                        <a:t>Unicode</a:t>
                      </a:r>
                      <a:r>
                        <a:rPr lang="hu-HU" baseline="0" dirty="0" smtClean="0"/>
                        <a:t> van.</a:t>
                      </a:r>
                    </a:p>
                    <a:p>
                      <a:r>
                        <a:rPr lang="hu-HU" baseline="0" dirty="0" smtClean="0"/>
                        <a:t>Konvenciók használata ajánlott.</a:t>
                      </a:r>
                      <a:endParaRPr lang="hu-HU" dirty="0"/>
                    </a:p>
                  </a:txBody>
                  <a:tcPr/>
                </a:tc>
                <a:extLst>
                  <a:ext uri="{0D108BD9-81ED-4DB2-BD59-A6C34878D82A}">
                    <a16:rowId xmlns:a16="http://schemas.microsoft.com/office/drawing/2014/main" val="10001"/>
                  </a:ext>
                </a:extLst>
              </a:tr>
              <a:tr h="370840">
                <a:tc>
                  <a:txBody>
                    <a:bodyPr/>
                    <a:lstStyle/>
                    <a:p>
                      <a:r>
                        <a:rPr lang="hu-HU" dirty="0" smtClean="0"/>
                        <a:t>Adattípusok</a:t>
                      </a:r>
                      <a:endParaRPr lang="hu-HU" dirty="0"/>
                    </a:p>
                  </a:txBody>
                  <a:tcPr/>
                </a:tc>
                <a:tc>
                  <a:txBody>
                    <a:bodyPr/>
                    <a:lstStyle/>
                    <a:p>
                      <a:r>
                        <a:rPr lang="hu-HU" dirty="0" smtClean="0"/>
                        <a:t>Alaptípusok</a:t>
                      </a:r>
                    </a:p>
                    <a:p>
                      <a:r>
                        <a:rPr lang="hu-HU" dirty="0" smtClean="0"/>
                        <a:t>Felsorolás:</a:t>
                      </a:r>
                      <a:r>
                        <a:rPr lang="hu-HU" baseline="0" dirty="0" smtClean="0"/>
                        <a:t> speciális eset, saját osztályként megvalósítva</a:t>
                      </a:r>
                      <a:endParaRPr lang="hu-HU" dirty="0"/>
                    </a:p>
                  </a:txBody>
                  <a:tcPr/>
                </a:tc>
                <a:extLst>
                  <a:ext uri="{0D108BD9-81ED-4DB2-BD59-A6C34878D82A}">
                    <a16:rowId xmlns:a16="http://schemas.microsoft.com/office/drawing/2014/main" val="10002"/>
                  </a:ext>
                </a:extLst>
              </a:tr>
              <a:tr h="370840">
                <a:tc>
                  <a:txBody>
                    <a:bodyPr/>
                    <a:lstStyle/>
                    <a:p>
                      <a:r>
                        <a:rPr lang="hu-HU" dirty="0" smtClean="0"/>
                        <a:t>Navigáció</a:t>
                      </a:r>
                      <a:endParaRPr lang="hu-HU" dirty="0"/>
                    </a:p>
                  </a:txBody>
                  <a:tcPr/>
                </a:tc>
                <a:tc>
                  <a:txBody>
                    <a:bodyPr/>
                    <a:lstStyle/>
                    <a:p>
                      <a:r>
                        <a:rPr lang="hu-HU" dirty="0" smtClean="0"/>
                        <a:t>Asszociáción egy irányban</a:t>
                      </a:r>
                      <a:r>
                        <a:rPr lang="hu-HU" baseline="0" dirty="0" smtClean="0"/>
                        <a:t> engedélyezett, </a:t>
                      </a:r>
                    </a:p>
                    <a:p>
                      <a:r>
                        <a:rPr lang="hu-HU" baseline="0" dirty="0" smtClean="0"/>
                        <a:t>Kivétel: asszociációs osztály, itt külső kulcs kell.</a:t>
                      </a:r>
                      <a:endParaRPr lang="hu-HU" dirty="0"/>
                    </a:p>
                  </a:txBody>
                  <a:tcPr/>
                </a:tc>
                <a:extLst>
                  <a:ext uri="{0D108BD9-81ED-4DB2-BD59-A6C34878D82A}">
                    <a16:rowId xmlns:a16="http://schemas.microsoft.com/office/drawing/2014/main" val="10003"/>
                  </a:ext>
                </a:extLst>
              </a:tr>
              <a:tr h="370840">
                <a:tc>
                  <a:txBody>
                    <a:bodyPr/>
                    <a:lstStyle/>
                    <a:p>
                      <a:r>
                        <a:rPr lang="hu-HU" dirty="0" smtClean="0"/>
                        <a:t>Asszociációk nevei</a:t>
                      </a:r>
                      <a:endParaRPr lang="hu-HU" dirty="0"/>
                    </a:p>
                  </a:txBody>
                  <a:tcPr/>
                </a:tc>
                <a:tc>
                  <a:txBody>
                    <a:bodyPr/>
                    <a:lstStyle/>
                    <a:p>
                      <a:r>
                        <a:rPr lang="hu-HU" dirty="0" smtClean="0"/>
                        <a:t>Végpontokat el kell látni névvel.</a:t>
                      </a:r>
                      <a:endParaRPr lang="hu-HU" dirty="0"/>
                    </a:p>
                  </a:txBody>
                  <a:tcPr/>
                </a:tc>
                <a:extLst>
                  <a:ext uri="{0D108BD9-81ED-4DB2-BD59-A6C34878D82A}">
                    <a16:rowId xmlns:a16="http://schemas.microsoft.com/office/drawing/2014/main" val="10004"/>
                  </a:ext>
                </a:extLst>
              </a:tr>
              <a:tr h="370840">
                <a:tc>
                  <a:txBody>
                    <a:bodyPr/>
                    <a:lstStyle/>
                    <a:p>
                      <a:r>
                        <a:rPr lang="hu-HU" dirty="0" smtClean="0"/>
                        <a:t>Számosság</a:t>
                      </a:r>
                      <a:endParaRPr lang="hu-HU" dirty="0"/>
                    </a:p>
                  </a:txBody>
                  <a:tcPr/>
                </a:tc>
                <a:tc>
                  <a:txBody>
                    <a:bodyPr/>
                    <a:lstStyle/>
                    <a:p>
                      <a:r>
                        <a:rPr lang="hu-HU" dirty="0" smtClean="0"/>
                        <a:t>Statikus kód alapján: 1, 0..1, 0..*, 1..*</a:t>
                      </a:r>
                    </a:p>
                    <a:p>
                      <a:r>
                        <a:rPr lang="hu-HU" dirty="0" smtClean="0"/>
                        <a:t>Más:</a:t>
                      </a:r>
                      <a:r>
                        <a:rPr lang="hu-HU" baseline="0" dirty="0" smtClean="0"/>
                        <a:t> kódban implementálni kell.</a:t>
                      </a:r>
                      <a:endParaRPr lang="hu-HU" dirty="0"/>
                    </a:p>
                  </a:txBody>
                  <a:tcPr/>
                </a:tc>
                <a:extLst>
                  <a:ext uri="{0D108BD9-81ED-4DB2-BD59-A6C34878D82A}">
                    <a16:rowId xmlns:a16="http://schemas.microsoft.com/office/drawing/2014/main" val="10005"/>
                  </a:ext>
                </a:extLst>
              </a:tr>
              <a:tr h="370840">
                <a:tc>
                  <a:txBody>
                    <a:bodyPr/>
                    <a:lstStyle/>
                    <a:p>
                      <a:r>
                        <a:rPr lang="hu-HU" dirty="0" smtClean="0"/>
                        <a:t>Kompozíció</a:t>
                      </a:r>
                      <a:endParaRPr lang="hu-HU" dirty="0"/>
                    </a:p>
                  </a:txBody>
                  <a:tcPr/>
                </a:tc>
                <a:tc>
                  <a:txBody>
                    <a:bodyPr/>
                    <a:lstStyle/>
                    <a:p>
                      <a:r>
                        <a:rPr lang="hu-HU" dirty="0" smtClean="0"/>
                        <a:t>Nem létezik, tiltott. (C++ érték van </a:t>
                      </a:r>
                      <a:r>
                        <a:rPr lang="hu-HU" dirty="0" err="1" smtClean="0"/>
                        <a:t>mutatószemantika</a:t>
                      </a:r>
                      <a:r>
                        <a:rPr lang="hu-HU" dirty="0" smtClean="0"/>
                        <a:t>)</a:t>
                      </a:r>
                      <a:endParaRPr lang="hu-HU"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873013553"/>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Java profil</a:t>
            </a:r>
            <a:endParaRPr lang="hu-HU" dirty="0"/>
          </a:p>
        </p:txBody>
      </p:sp>
      <p:sp>
        <p:nvSpPr>
          <p:cNvPr id="3" name="Tartalom helye 2"/>
          <p:cNvSpPr>
            <a:spLocks noGrp="1"/>
          </p:cNvSpPr>
          <p:nvPr>
            <p:ph idx="1"/>
          </p:nvPr>
        </p:nvSpPr>
        <p:spPr/>
        <p:txBody>
          <a:bodyPr>
            <a:normAutofit/>
          </a:bodyPr>
          <a:lstStyle/>
          <a:p>
            <a:r>
              <a:rPr lang="hu-HU" dirty="0" smtClean="0"/>
              <a:t>Asszociációk közti öröklés tiltott</a:t>
            </a:r>
          </a:p>
          <a:p>
            <a:r>
              <a:rPr lang="hu-HU" dirty="0" smtClean="0"/>
              <a:t>Asszociációk közti {</a:t>
            </a:r>
            <a:r>
              <a:rPr lang="hu-HU" dirty="0" err="1" smtClean="0"/>
              <a:t>or</a:t>
            </a:r>
            <a:r>
              <a:rPr lang="hu-HU" dirty="0" smtClean="0"/>
              <a:t>}/{</a:t>
            </a:r>
            <a:r>
              <a:rPr lang="hu-HU" dirty="0" err="1" smtClean="0"/>
              <a:t>xor</a:t>
            </a:r>
            <a:r>
              <a:rPr lang="hu-HU" dirty="0" smtClean="0"/>
              <a:t>} kódban kell megvalósuljon</a:t>
            </a:r>
          </a:p>
          <a:p>
            <a:r>
              <a:rPr lang="hu-HU" dirty="0" smtClean="0"/>
              <a:t>További sztereotípiák:</a:t>
            </a:r>
          </a:p>
          <a:p>
            <a:pPr lvl="1"/>
            <a:r>
              <a:rPr lang="hu-HU" dirty="0" smtClean="0"/>
              <a:t>&lt;&lt;</a:t>
            </a:r>
            <a:r>
              <a:rPr lang="hu-HU" dirty="0" err="1" smtClean="0"/>
              <a:t>collection</a:t>
            </a:r>
            <a:r>
              <a:rPr lang="hu-HU" dirty="0" smtClean="0"/>
              <a:t> </a:t>
            </a:r>
            <a:r>
              <a:rPr lang="hu-HU" dirty="0" err="1" smtClean="0"/>
              <a:t>class</a:t>
            </a:r>
            <a:r>
              <a:rPr lang="hu-HU" dirty="0" smtClean="0"/>
              <a:t>&gt;&gt;: sokféle </a:t>
            </a:r>
            <a:r>
              <a:rPr lang="hu-HU" dirty="0" err="1" smtClean="0"/>
              <a:t>halamz</a:t>
            </a:r>
            <a:r>
              <a:rPr lang="hu-HU" dirty="0" smtClean="0"/>
              <a:t> létezik, választani kell, hogy melyik a kellő. </a:t>
            </a:r>
          </a:p>
          <a:p>
            <a:pPr lvl="2"/>
            <a:r>
              <a:rPr lang="hu-HU" dirty="0" smtClean="0"/>
              <a:t>Asszociáció tulajdonságok közül használható az </a:t>
            </a:r>
            <a:r>
              <a:rPr lang="hu-HU" dirty="0" err="1" smtClean="0"/>
              <a:t>ordered</a:t>
            </a:r>
            <a:r>
              <a:rPr lang="hu-HU" dirty="0" smtClean="0"/>
              <a:t> és az </a:t>
            </a:r>
            <a:r>
              <a:rPr lang="hu-HU" dirty="0" err="1" smtClean="0"/>
              <a:t>unique</a:t>
            </a:r>
            <a:endParaRPr lang="hu-HU" dirty="0" smtClean="0"/>
          </a:p>
          <a:p>
            <a:pPr lvl="1"/>
            <a:r>
              <a:rPr lang="hu-HU" dirty="0" smtClean="0"/>
              <a:t>&lt;&lt;</a:t>
            </a:r>
            <a:r>
              <a:rPr lang="hu-HU" dirty="0" err="1" smtClean="0"/>
              <a:t>throws</a:t>
            </a:r>
            <a:r>
              <a:rPr lang="hu-HU" dirty="0" smtClean="0"/>
              <a:t>&gt;&gt;: kiváltott kivételek </a:t>
            </a:r>
            <a:r>
              <a:rPr lang="hu-HU" dirty="0" err="1" smtClean="0"/>
              <a:t>UML-ben</a:t>
            </a:r>
            <a:r>
              <a:rPr lang="hu-HU" dirty="0" smtClean="0"/>
              <a:t> nem specifikálhatóak műveletek típusának részeként.</a:t>
            </a:r>
          </a:p>
          <a:p>
            <a:pPr marL="365760" lvl="1" indent="0">
              <a:buNone/>
            </a:pPr>
            <a:r>
              <a:rPr lang="hu-HU" dirty="0"/>
              <a:t>	</a:t>
            </a:r>
            <a:r>
              <a:rPr lang="hu-HU" dirty="0" smtClean="0"/>
              <a:t>Tulajdonságértekkel érhető el.</a:t>
            </a:r>
          </a:p>
          <a:p>
            <a:pPr lvl="1"/>
            <a:r>
              <a:rPr lang="hu-HU" dirty="0" smtClean="0"/>
              <a:t>&lt;&lt;</a:t>
            </a:r>
            <a:r>
              <a:rPr lang="hu-HU" dirty="0" err="1" smtClean="0"/>
              <a:t>static</a:t>
            </a:r>
            <a:r>
              <a:rPr lang="hu-HU" dirty="0" smtClean="0"/>
              <a:t>&gt;&gt;,&lt;&lt;main&gt;&gt;,&lt;&lt;</a:t>
            </a:r>
            <a:r>
              <a:rPr lang="hu-HU" dirty="0" err="1" smtClean="0"/>
              <a:t>final</a:t>
            </a:r>
            <a:r>
              <a:rPr lang="hu-HU" dirty="0" smtClean="0"/>
              <a:t>&gt;&gt;: </a:t>
            </a:r>
            <a:r>
              <a:rPr lang="hu-HU" dirty="0" err="1" smtClean="0"/>
              <a:t>Javaban</a:t>
            </a:r>
            <a:r>
              <a:rPr lang="hu-HU" dirty="0" smtClean="0"/>
              <a:t> van, be kell vezetni a megfelelést – ha szükséges.</a:t>
            </a:r>
            <a:endParaRPr lang="hu-HU" dirty="0"/>
          </a:p>
        </p:txBody>
      </p:sp>
    </p:spTree>
    <p:extLst>
      <p:ext uri="{BB962C8B-B14F-4D97-AF65-F5344CB8AC3E}">
        <p14:creationId xmlns:p14="http://schemas.microsoft.com/office/powerpoint/2010/main" val="190317313"/>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endParaRPr lang="hu-HU"/>
          </a:p>
        </p:txBody>
      </p:sp>
      <p:sp>
        <p:nvSpPr>
          <p:cNvPr id="3" name="Tartalom helye 2"/>
          <p:cNvSpPr>
            <a:spLocks noGrp="1"/>
          </p:cNvSpPr>
          <p:nvPr>
            <p:ph idx="1"/>
          </p:nvPr>
        </p:nvSpPr>
        <p:spPr/>
        <p:txBody>
          <a:bodyPr>
            <a:normAutofit/>
          </a:bodyPr>
          <a:lstStyle/>
          <a:p>
            <a:r>
              <a:rPr lang="hu-HU" dirty="0" smtClean="0"/>
              <a:t>Osztályok: </a:t>
            </a:r>
            <a:r>
              <a:rPr lang="hu-HU" dirty="0" err="1" smtClean="0"/>
              <a:t>class</a:t>
            </a:r>
            <a:endParaRPr lang="hu-HU" dirty="0" smtClean="0"/>
          </a:p>
          <a:p>
            <a:r>
              <a:rPr lang="hu-HU" dirty="0" smtClean="0"/>
              <a:t>Absztrakt osztályok: </a:t>
            </a:r>
            <a:r>
              <a:rPr lang="hu-HU" dirty="0" err="1" smtClean="0"/>
              <a:t>abstract</a:t>
            </a:r>
            <a:r>
              <a:rPr lang="hu-HU" dirty="0" smtClean="0"/>
              <a:t> </a:t>
            </a:r>
            <a:r>
              <a:rPr lang="hu-HU" dirty="0" err="1" smtClean="0"/>
              <a:t>class</a:t>
            </a:r>
            <a:endParaRPr lang="hu-HU" dirty="0" smtClean="0"/>
          </a:p>
          <a:p>
            <a:r>
              <a:rPr lang="hu-HU" dirty="0" smtClean="0"/>
              <a:t>Csomagok: </a:t>
            </a:r>
            <a:r>
              <a:rPr lang="hu-HU" dirty="0" err="1" smtClean="0"/>
              <a:t>package</a:t>
            </a:r>
            <a:endParaRPr lang="hu-HU" dirty="0" smtClean="0"/>
          </a:p>
          <a:p>
            <a:r>
              <a:rPr lang="hu-HU" dirty="0" smtClean="0"/>
              <a:t>Nem megengedett az asszociációs osztály, a </a:t>
            </a:r>
            <a:r>
              <a:rPr lang="hu-HU" dirty="0" err="1" smtClean="0"/>
              <a:t>n-szereplős</a:t>
            </a:r>
            <a:r>
              <a:rPr lang="hu-HU" dirty="0" smtClean="0"/>
              <a:t> asszociáció, </a:t>
            </a:r>
            <a:r>
              <a:rPr lang="hu-HU" dirty="0" err="1" smtClean="0"/>
              <a:t>aggregáció</a:t>
            </a:r>
            <a:r>
              <a:rPr lang="hu-HU" dirty="0" smtClean="0"/>
              <a:t>, kompozíció</a:t>
            </a:r>
          </a:p>
          <a:p>
            <a:r>
              <a:rPr lang="hu-HU" dirty="0" smtClean="0"/>
              <a:t>Láthatóság, típus </a:t>
            </a:r>
            <a:r>
              <a:rPr lang="hu-HU" dirty="0" err="1" smtClean="0"/>
              <a:t>változalan</a:t>
            </a:r>
            <a:endParaRPr lang="hu-HU" dirty="0" smtClean="0"/>
          </a:p>
          <a:p>
            <a:r>
              <a:rPr lang="hu-HU" dirty="0" smtClean="0"/>
              <a:t>Általánosítás: </a:t>
            </a:r>
            <a:r>
              <a:rPr lang="hu-HU" dirty="0" err="1" smtClean="0"/>
              <a:t>extends</a:t>
            </a:r>
            <a:endParaRPr lang="hu-HU" dirty="0" smtClean="0"/>
          </a:p>
          <a:p>
            <a:r>
              <a:rPr lang="hu-HU" dirty="0" smtClean="0"/>
              <a:t>Interfészek implementálása: </a:t>
            </a:r>
            <a:r>
              <a:rPr lang="hu-HU" dirty="0" err="1" smtClean="0"/>
              <a:t>realize</a:t>
            </a:r>
            <a:endParaRPr lang="hu-HU" dirty="0" smtClean="0"/>
          </a:p>
          <a:p>
            <a:r>
              <a:rPr lang="hu-HU" dirty="0" smtClean="0"/>
              <a:t>Importálás: </a:t>
            </a:r>
            <a:r>
              <a:rPr lang="hu-HU" dirty="0" err="1" smtClean="0"/>
              <a:t>includes</a:t>
            </a:r>
            <a:endParaRPr lang="hu-HU" dirty="0" smtClean="0"/>
          </a:p>
          <a:p>
            <a:endParaRPr lang="hu-HU" dirty="0"/>
          </a:p>
        </p:txBody>
      </p:sp>
    </p:spTree>
    <p:extLst>
      <p:ext uri="{BB962C8B-B14F-4D97-AF65-F5344CB8AC3E}">
        <p14:creationId xmlns:p14="http://schemas.microsoft.com/office/powerpoint/2010/main" val="707609777"/>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endParaRPr lang="hu-HU"/>
          </a:p>
        </p:txBody>
      </p:sp>
      <p:pic>
        <p:nvPicPr>
          <p:cNvPr id="307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35560" y="49200"/>
            <a:ext cx="6696744" cy="680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14770263"/>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endParaRPr lang="hu-HU"/>
          </a:p>
        </p:txBody>
      </p:sp>
      <p:sp>
        <p:nvSpPr>
          <p:cNvPr id="3" name="Tartalom helye 2"/>
          <p:cNvSpPr>
            <a:spLocks noGrp="1"/>
          </p:cNvSpPr>
          <p:nvPr>
            <p:ph idx="1"/>
          </p:nvPr>
        </p:nvSpPr>
        <p:spPr/>
        <p:txBody>
          <a:bodyPr/>
          <a:lstStyle/>
          <a:p>
            <a:r>
              <a:rPr lang="hu-HU" dirty="0" smtClean="0"/>
              <a:t>Számosság értelmezésénél 3 eset:</a:t>
            </a:r>
          </a:p>
          <a:p>
            <a:pPr lvl="1"/>
            <a:r>
              <a:rPr lang="hu-HU" dirty="0" smtClean="0"/>
              <a:t>1 és 0..1:</a:t>
            </a:r>
            <a:r>
              <a:rPr lang="hu-HU" dirty="0" err="1" smtClean="0"/>
              <a:t>egyzserű</a:t>
            </a:r>
            <a:r>
              <a:rPr lang="hu-HU" dirty="0" smtClean="0"/>
              <a:t> példányváltozó lesz bevezetve, nevét az asszociációvég neve adja. Ha nincs megadva akkor a célosztály neve kisbetűsen</a:t>
            </a:r>
          </a:p>
          <a:p>
            <a:pPr lvl="1"/>
            <a:r>
              <a:rPr lang="hu-HU" dirty="0" smtClean="0"/>
              <a:t>n: Java tömb</a:t>
            </a:r>
          </a:p>
          <a:p>
            <a:pPr lvl="1"/>
            <a:r>
              <a:rPr lang="hu-HU" dirty="0" smtClean="0"/>
              <a:t>n..*: programozó határozza meg, melyik a legmegfelelőbb, lehet sztereotípia is belőle: </a:t>
            </a:r>
            <a:r>
              <a:rPr lang="hu-HU" dirty="0" err="1" smtClean="0"/>
              <a:t>pl</a:t>
            </a:r>
            <a:r>
              <a:rPr lang="hu-HU" dirty="0" smtClean="0"/>
              <a:t>: &lt;&lt;</a:t>
            </a:r>
            <a:r>
              <a:rPr lang="hu-HU" dirty="0" err="1" smtClean="0"/>
              <a:t>hashlist</a:t>
            </a:r>
            <a:r>
              <a:rPr lang="hu-HU" dirty="0" smtClean="0"/>
              <a:t>&gt;&gt;, &lt;&lt;</a:t>
            </a:r>
            <a:r>
              <a:rPr lang="hu-HU" dirty="0" err="1" smtClean="0"/>
              <a:t>vector</a:t>
            </a:r>
            <a:r>
              <a:rPr lang="hu-HU" dirty="0" smtClean="0"/>
              <a:t>&gt;&gt;</a:t>
            </a:r>
            <a:endParaRPr lang="hu-HU" dirty="0"/>
          </a:p>
        </p:txBody>
      </p:sp>
    </p:spTree>
    <p:extLst>
      <p:ext uri="{BB962C8B-B14F-4D97-AF65-F5344CB8AC3E}">
        <p14:creationId xmlns:p14="http://schemas.microsoft.com/office/powerpoint/2010/main" val="2129424201"/>
      </p:ext>
    </p:extLst>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Értelmezés adatbázismodellként</a:t>
            </a:r>
            <a:endParaRPr lang="hu-HU" dirty="0"/>
          </a:p>
        </p:txBody>
      </p:sp>
      <p:sp>
        <p:nvSpPr>
          <p:cNvPr id="3" name="Tartalom helye 2"/>
          <p:cNvSpPr>
            <a:spLocks noGrp="1"/>
          </p:cNvSpPr>
          <p:nvPr>
            <p:ph idx="1"/>
          </p:nvPr>
        </p:nvSpPr>
        <p:spPr/>
        <p:txBody>
          <a:bodyPr/>
          <a:lstStyle/>
          <a:p>
            <a:r>
              <a:rPr lang="hu-HU" dirty="0" smtClean="0"/>
              <a:t>Egyed-kapcsolat diagram</a:t>
            </a:r>
          </a:p>
          <a:p>
            <a:r>
              <a:rPr lang="hu-HU" dirty="0" smtClean="0"/>
              <a:t>Elemzési Osztálydiagram </a:t>
            </a:r>
            <a:r>
              <a:rPr lang="hu-HU" dirty="0" smtClean="0">
                <a:sym typeface="Wingdings" pitchFamily="2" charset="2"/>
              </a:rPr>
              <a:t> logikai adatmodell</a:t>
            </a:r>
          </a:p>
          <a:p>
            <a:r>
              <a:rPr lang="hu-HU" dirty="0" smtClean="0">
                <a:sym typeface="Wingdings" pitchFamily="2" charset="2"/>
              </a:rPr>
              <a:t>Láthatóság ebben az esetben </a:t>
            </a:r>
            <a:r>
              <a:rPr lang="hu-HU" dirty="0">
                <a:sym typeface="Wingdings" pitchFamily="2" charset="2"/>
              </a:rPr>
              <a:t>n</a:t>
            </a:r>
            <a:r>
              <a:rPr lang="hu-HU" dirty="0" smtClean="0">
                <a:sym typeface="Wingdings" pitchFamily="2" charset="2"/>
              </a:rPr>
              <a:t>em szükséges</a:t>
            </a:r>
          </a:p>
          <a:p>
            <a:pPr lvl="1"/>
            <a:r>
              <a:rPr lang="hu-HU" dirty="0" smtClean="0"/>
              <a:t>Származtatott jellemzők, műveletek, metódusok, megszorítások, asszociációk tulajdonságai.</a:t>
            </a:r>
            <a:endParaRPr lang="hu-HU" dirty="0"/>
          </a:p>
        </p:txBody>
      </p:sp>
    </p:spTree>
    <p:extLst>
      <p:ext uri="{BB962C8B-B14F-4D97-AF65-F5344CB8AC3E}">
        <p14:creationId xmlns:p14="http://schemas.microsoft.com/office/powerpoint/2010/main" val="3800265701"/>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Adatbázis profil</a:t>
            </a:r>
            <a:endParaRPr lang="hu-HU" dirty="0"/>
          </a:p>
        </p:txBody>
      </p:sp>
      <p:graphicFrame>
        <p:nvGraphicFramePr>
          <p:cNvPr id="4" name="Tartalom helye 3"/>
          <p:cNvGraphicFramePr>
            <a:graphicFrameLocks noGrp="1"/>
          </p:cNvGraphicFramePr>
          <p:nvPr>
            <p:ph idx="1"/>
            <p:extLst/>
          </p:nvPr>
        </p:nvGraphicFramePr>
        <p:xfrm>
          <a:off x="1981200" y="1600200"/>
          <a:ext cx="7467600" cy="3302000"/>
        </p:xfrm>
        <a:graphic>
          <a:graphicData uri="http://schemas.openxmlformats.org/drawingml/2006/table">
            <a:tbl>
              <a:tblPr firstRow="1" bandRow="1">
                <a:tableStyleId>{5C22544A-7EE6-4342-B048-85BDC9FD1C3A}</a:tableStyleId>
              </a:tblPr>
              <a:tblGrid>
                <a:gridCol w="1882552">
                  <a:extLst>
                    <a:ext uri="{9D8B030D-6E8A-4147-A177-3AD203B41FA5}">
                      <a16:colId xmlns:a16="http://schemas.microsoft.com/office/drawing/2014/main" val="20000"/>
                    </a:ext>
                  </a:extLst>
                </a:gridCol>
                <a:gridCol w="5585048">
                  <a:extLst>
                    <a:ext uri="{9D8B030D-6E8A-4147-A177-3AD203B41FA5}">
                      <a16:colId xmlns:a16="http://schemas.microsoft.com/office/drawing/2014/main" val="20001"/>
                    </a:ext>
                  </a:extLst>
                </a:gridCol>
              </a:tblGrid>
              <a:tr h="370840">
                <a:tc>
                  <a:txBody>
                    <a:bodyPr/>
                    <a:lstStyle/>
                    <a:p>
                      <a:endParaRPr lang="hu-HU" dirty="0"/>
                    </a:p>
                  </a:txBody>
                  <a:tcPr/>
                </a:tc>
                <a:tc>
                  <a:txBody>
                    <a:bodyPr/>
                    <a:lstStyle/>
                    <a:p>
                      <a:endParaRPr lang="hu-HU"/>
                    </a:p>
                  </a:txBody>
                  <a:tcPr/>
                </a:tc>
                <a:extLst>
                  <a:ext uri="{0D108BD9-81ED-4DB2-BD59-A6C34878D82A}">
                    <a16:rowId xmlns:a16="http://schemas.microsoft.com/office/drawing/2014/main" val="10000"/>
                  </a:ext>
                </a:extLst>
              </a:tr>
              <a:tr h="370840">
                <a:tc>
                  <a:txBody>
                    <a:bodyPr/>
                    <a:lstStyle/>
                    <a:p>
                      <a:r>
                        <a:rPr lang="hu-HU" dirty="0" smtClean="0"/>
                        <a:t>Nevek</a:t>
                      </a:r>
                    </a:p>
                  </a:txBody>
                  <a:tcPr/>
                </a:tc>
                <a:tc>
                  <a:txBody>
                    <a:bodyPr/>
                    <a:lstStyle/>
                    <a:p>
                      <a:r>
                        <a:rPr lang="hu-HU" dirty="0" smtClean="0"/>
                        <a:t>SQL-dialektus függő</a:t>
                      </a:r>
                    </a:p>
                    <a:p>
                      <a:r>
                        <a:rPr lang="hu-HU" dirty="0" smtClean="0"/>
                        <a:t>Ékezetek és szóközök tilosak</a:t>
                      </a:r>
                      <a:endParaRPr lang="hu-HU" dirty="0"/>
                    </a:p>
                  </a:txBody>
                  <a:tcPr/>
                </a:tc>
                <a:extLst>
                  <a:ext uri="{0D108BD9-81ED-4DB2-BD59-A6C34878D82A}">
                    <a16:rowId xmlns:a16="http://schemas.microsoft.com/office/drawing/2014/main" val="10001"/>
                  </a:ext>
                </a:extLst>
              </a:tr>
              <a:tr h="370840">
                <a:tc>
                  <a:txBody>
                    <a:bodyPr/>
                    <a:lstStyle/>
                    <a:p>
                      <a:r>
                        <a:rPr lang="hu-HU" dirty="0" smtClean="0"/>
                        <a:t>Adattípusok</a:t>
                      </a:r>
                      <a:endParaRPr lang="hu-HU" dirty="0"/>
                    </a:p>
                  </a:txBody>
                  <a:tcPr/>
                </a:tc>
                <a:tc>
                  <a:txBody>
                    <a:bodyPr/>
                    <a:lstStyle/>
                    <a:p>
                      <a:r>
                        <a:rPr lang="hu-HU" dirty="0" smtClean="0"/>
                        <a:t>Csak saját felsorolásos típusok és a használt adatbázistermék adattípusai</a:t>
                      </a:r>
                      <a:endParaRPr lang="hu-HU" dirty="0"/>
                    </a:p>
                  </a:txBody>
                  <a:tcPr/>
                </a:tc>
                <a:extLst>
                  <a:ext uri="{0D108BD9-81ED-4DB2-BD59-A6C34878D82A}">
                    <a16:rowId xmlns:a16="http://schemas.microsoft.com/office/drawing/2014/main" val="10002"/>
                  </a:ext>
                </a:extLst>
              </a:tr>
              <a:tr h="370840">
                <a:tc>
                  <a:txBody>
                    <a:bodyPr/>
                    <a:lstStyle/>
                    <a:p>
                      <a:r>
                        <a:rPr lang="hu-HU" dirty="0" smtClean="0"/>
                        <a:t>Navigáció</a:t>
                      </a:r>
                      <a:endParaRPr lang="hu-HU" dirty="0"/>
                    </a:p>
                  </a:txBody>
                  <a:tcPr/>
                </a:tc>
                <a:tc>
                  <a:txBody>
                    <a:bodyPr/>
                    <a:lstStyle/>
                    <a:p>
                      <a:r>
                        <a:rPr lang="hu-HU" dirty="0" smtClean="0"/>
                        <a:t>Asszociáció pontosan egy irányban navigálható</a:t>
                      </a:r>
                    </a:p>
                    <a:p>
                      <a:r>
                        <a:rPr lang="hu-HU" dirty="0" smtClean="0"/>
                        <a:t>Asszociációs osztály: külső kulcsként</a:t>
                      </a:r>
                      <a:endParaRPr lang="hu-HU" dirty="0"/>
                    </a:p>
                  </a:txBody>
                  <a:tcPr/>
                </a:tc>
                <a:extLst>
                  <a:ext uri="{0D108BD9-81ED-4DB2-BD59-A6C34878D82A}">
                    <a16:rowId xmlns:a16="http://schemas.microsoft.com/office/drawing/2014/main" val="10003"/>
                  </a:ext>
                </a:extLst>
              </a:tr>
              <a:tr h="370840">
                <a:tc>
                  <a:txBody>
                    <a:bodyPr/>
                    <a:lstStyle/>
                    <a:p>
                      <a:r>
                        <a:rPr lang="hu-HU" dirty="0" smtClean="0"/>
                        <a:t>Asszociációk neve</a:t>
                      </a:r>
                      <a:endParaRPr lang="hu-HU" dirty="0"/>
                    </a:p>
                  </a:txBody>
                  <a:tcPr/>
                </a:tc>
                <a:tc>
                  <a:txBody>
                    <a:bodyPr/>
                    <a:lstStyle/>
                    <a:p>
                      <a:r>
                        <a:rPr lang="hu-HU" dirty="0" smtClean="0"/>
                        <a:t>Asszociációk végpontjaira kell a név</a:t>
                      </a:r>
                      <a:endParaRPr lang="hu-HU" dirty="0"/>
                    </a:p>
                  </a:txBody>
                  <a:tcPr/>
                </a:tc>
                <a:extLst>
                  <a:ext uri="{0D108BD9-81ED-4DB2-BD59-A6C34878D82A}">
                    <a16:rowId xmlns:a16="http://schemas.microsoft.com/office/drawing/2014/main" val="10004"/>
                  </a:ext>
                </a:extLst>
              </a:tr>
              <a:tr h="370840">
                <a:tc>
                  <a:txBody>
                    <a:bodyPr/>
                    <a:lstStyle/>
                    <a:p>
                      <a:r>
                        <a:rPr lang="hu-HU" dirty="0" smtClean="0"/>
                        <a:t>Számosságok</a:t>
                      </a:r>
                      <a:endParaRPr lang="hu-HU" dirty="0"/>
                    </a:p>
                  </a:txBody>
                  <a:tcPr/>
                </a:tc>
                <a:tc>
                  <a:txBody>
                    <a:bodyPr/>
                    <a:lstStyle/>
                    <a:p>
                      <a:r>
                        <a:rPr lang="hu-HU" dirty="0" smtClean="0"/>
                        <a:t>Csak</a:t>
                      </a:r>
                      <a:r>
                        <a:rPr lang="hu-HU" baseline="0" dirty="0" smtClean="0"/>
                        <a:t> 1, 0..1, 0..*, 1..* lehet</a:t>
                      </a:r>
                      <a:endParaRPr lang="hu-HU"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672857674"/>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endParaRPr lang="hu-HU"/>
          </a:p>
        </p:txBody>
      </p:sp>
      <p:sp>
        <p:nvSpPr>
          <p:cNvPr id="3" name="Tartalom helye 2"/>
          <p:cNvSpPr>
            <a:spLocks noGrp="1"/>
          </p:cNvSpPr>
          <p:nvPr>
            <p:ph idx="1"/>
          </p:nvPr>
        </p:nvSpPr>
        <p:spPr/>
        <p:txBody>
          <a:bodyPr/>
          <a:lstStyle/>
          <a:p>
            <a:r>
              <a:rPr lang="hu-HU" dirty="0" smtClean="0"/>
              <a:t>Kellő megszorítások:</a:t>
            </a:r>
          </a:p>
          <a:p>
            <a:pPr lvl="1"/>
            <a:r>
              <a:rPr lang="hu-HU" dirty="0" err="1" smtClean="0"/>
              <a:t>Enumeration</a:t>
            </a:r>
            <a:r>
              <a:rPr lang="hu-HU" dirty="0" smtClean="0"/>
              <a:t>: felsorolásos típust </a:t>
            </a:r>
            <a:r>
              <a:rPr lang="hu-HU" dirty="0" err="1" smtClean="0"/>
              <a:t>delkarál</a:t>
            </a:r>
            <a:endParaRPr lang="hu-HU" dirty="0" smtClean="0"/>
          </a:p>
          <a:p>
            <a:pPr lvl="1"/>
            <a:r>
              <a:rPr lang="hu-HU" dirty="0" err="1" smtClean="0"/>
              <a:t>Table</a:t>
            </a:r>
            <a:r>
              <a:rPr lang="hu-HU" dirty="0" smtClean="0"/>
              <a:t>: osztályt adatbázistáblaként deklarál</a:t>
            </a:r>
          </a:p>
          <a:p>
            <a:pPr lvl="1"/>
            <a:r>
              <a:rPr lang="hu-HU" dirty="0" err="1" smtClean="0"/>
              <a:t>Not</a:t>
            </a:r>
            <a:r>
              <a:rPr lang="hu-HU" dirty="0" smtClean="0"/>
              <a:t> null: kötelező</a:t>
            </a:r>
          </a:p>
          <a:p>
            <a:pPr lvl="1"/>
            <a:r>
              <a:rPr lang="hu-HU" dirty="0" err="1" smtClean="0"/>
              <a:t>Primary</a:t>
            </a:r>
            <a:r>
              <a:rPr lang="hu-HU" dirty="0" smtClean="0"/>
              <a:t> </a:t>
            </a:r>
            <a:r>
              <a:rPr lang="hu-HU" dirty="0" err="1" smtClean="0"/>
              <a:t>key</a:t>
            </a:r>
            <a:r>
              <a:rPr lang="hu-HU" dirty="0" smtClean="0"/>
              <a:t>: elsődleges kulcs, egyben </a:t>
            </a:r>
            <a:r>
              <a:rPr lang="hu-HU" dirty="0" err="1" smtClean="0"/>
              <a:t>not</a:t>
            </a:r>
            <a:r>
              <a:rPr lang="hu-HU" dirty="0" smtClean="0"/>
              <a:t> null is</a:t>
            </a:r>
          </a:p>
          <a:p>
            <a:pPr lvl="1"/>
            <a:r>
              <a:rPr lang="hu-HU" dirty="0" err="1" smtClean="0"/>
              <a:t>Cascade</a:t>
            </a:r>
            <a:r>
              <a:rPr lang="hu-HU" dirty="0" smtClean="0"/>
              <a:t> </a:t>
            </a:r>
            <a:r>
              <a:rPr lang="hu-HU" dirty="0" err="1" smtClean="0"/>
              <a:t>delete</a:t>
            </a:r>
            <a:r>
              <a:rPr lang="hu-HU" dirty="0" smtClean="0"/>
              <a:t>: </a:t>
            </a:r>
            <a:r>
              <a:rPr lang="hu-HU" dirty="0" err="1" smtClean="0"/>
              <a:t>kaszkádolt</a:t>
            </a:r>
            <a:r>
              <a:rPr lang="hu-HU" dirty="0" smtClean="0"/>
              <a:t> törlés (kompozíciós </a:t>
            </a:r>
            <a:r>
              <a:rPr lang="hu-HU" dirty="0" err="1" smtClean="0"/>
              <a:t>kapcsolatkonál</a:t>
            </a:r>
            <a:r>
              <a:rPr lang="hu-HU" dirty="0" smtClean="0"/>
              <a:t> kötelező)</a:t>
            </a:r>
          </a:p>
          <a:p>
            <a:pPr lvl="1"/>
            <a:r>
              <a:rPr lang="hu-HU" dirty="0" err="1" smtClean="0"/>
              <a:t>Inline</a:t>
            </a:r>
            <a:r>
              <a:rPr lang="hu-HU" dirty="0" smtClean="0"/>
              <a:t>, </a:t>
            </a:r>
            <a:r>
              <a:rPr lang="hu-HU" dirty="0" err="1" smtClean="0"/>
              <a:t>fk</a:t>
            </a:r>
            <a:r>
              <a:rPr lang="hu-HU" dirty="0" smtClean="0"/>
              <a:t>: az általánosítás alternatív </a:t>
            </a:r>
            <a:r>
              <a:rPr lang="hu-HU" dirty="0" err="1" smtClean="0"/>
              <a:t>értelemzései</a:t>
            </a:r>
            <a:r>
              <a:rPr lang="hu-HU" dirty="0" smtClean="0"/>
              <a:t> közül választáshoz</a:t>
            </a:r>
          </a:p>
          <a:p>
            <a:r>
              <a:rPr lang="hu-HU" dirty="0" smtClean="0"/>
              <a:t>Irányított asszociációk, </a:t>
            </a:r>
            <a:r>
              <a:rPr lang="hu-HU" dirty="0" err="1" smtClean="0"/>
              <a:t>aggregáció</a:t>
            </a:r>
            <a:r>
              <a:rPr lang="hu-HU" dirty="0" smtClean="0"/>
              <a:t>: külső kulcs kapcsolat</a:t>
            </a:r>
          </a:p>
          <a:p>
            <a:r>
              <a:rPr lang="hu-HU" dirty="0" smtClean="0"/>
              <a:t>Általánosítás: ős is külön tábla</a:t>
            </a:r>
          </a:p>
          <a:p>
            <a:endParaRPr lang="hu-HU" dirty="0" smtClean="0"/>
          </a:p>
          <a:p>
            <a:endParaRPr lang="hu-HU" dirty="0"/>
          </a:p>
        </p:txBody>
      </p:sp>
    </p:spTree>
    <p:extLst>
      <p:ext uri="{BB962C8B-B14F-4D97-AF65-F5344CB8AC3E}">
        <p14:creationId xmlns:p14="http://schemas.microsoft.com/office/powerpoint/2010/main" val="1808483838"/>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endParaRPr lang="hu-HU"/>
          </a:p>
        </p:txBody>
      </p:sp>
      <p:pic>
        <p:nvPicPr>
          <p:cNvPr id="317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03513" y="620688"/>
            <a:ext cx="8776263" cy="4752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31933543"/>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p:cNvSpPr>
            <a:spLocks noGrp="1" noChangeArrowheads="1"/>
          </p:cNvSpPr>
          <p:nvPr>
            <p:ph type="title"/>
          </p:nvPr>
        </p:nvSpPr>
        <p:spPr/>
        <p:txBody>
          <a:bodyPr/>
          <a:lstStyle/>
          <a:p>
            <a:r>
              <a:rPr lang="en-US" altLang="hu-HU" smtClean="0"/>
              <a:t>CRC k</a:t>
            </a:r>
            <a:r>
              <a:rPr lang="hu-HU" altLang="hu-HU" smtClean="0"/>
              <a:t>ártya</a:t>
            </a:r>
            <a:endParaRPr lang="en-US" altLang="hu-HU" smtClean="0"/>
          </a:p>
        </p:txBody>
      </p:sp>
      <p:sp>
        <p:nvSpPr>
          <p:cNvPr id="2053" name="Rectangle 3"/>
          <p:cNvSpPr>
            <a:spLocks noGrp="1" noChangeArrowheads="1"/>
          </p:cNvSpPr>
          <p:nvPr>
            <p:ph idx="1"/>
          </p:nvPr>
        </p:nvSpPr>
        <p:spPr/>
        <p:txBody>
          <a:bodyPr/>
          <a:lstStyle/>
          <a:p>
            <a:r>
              <a:rPr lang="hu-HU" altLang="hu-HU" smtClean="0"/>
              <a:t>Class – Responsibility – Collaboration </a:t>
            </a:r>
          </a:p>
          <a:p>
            <a:r>
              <a:rPr lang="hu-HU" altLang="hu-HU" smtClean="0"/>
              <a:t>Osztály – Felelősség – Együttműködés.</a:t>
            </a:r>
          </a:p>
          <a:p>
            <a:r>
              <a:rPr lang="hu-HU" altLang="hu-HU" smtClean="0"/>
              <a:t>CRC kártya használatának elve:</a:t>
            </a:r>
          </a:p>
          <a:p>
            <a:pPr lvl="1"/>
            <a:r>
              <a:rPr lang="hu-HU" altLang="hu-HU" smtClean="0"/>
              <a:t>Ward Cunningham és Kent Beck (USA).</a:t>
            </a:r>
            <a:endParaRPr lang="en-US" altLang="hu-HU" smtClean="0"/>
          </a:p>
        </p:txBody>
      </p:sp>
      <p:sp>
        <p:nvSpPr>
          <p:cNvPr id="5" name="Dátum helye 5"/>
          <p:cNvSpPr>
            <a:spLocks noGrp="1"/>
          </p:cNvSpPr>
          <p:nvPr>
            <p:ph type="dt" sz="half" idx="10"/>
          </p:nvPr>
        </p:nvSpPr>
        <p:spPr>
          <a:xfrm>
            <a:off x="8077200" y="6356351"/>
            <a:ext cx="2133600" cy="365125"/>
          </a:xfrm>
        </p:spPr>
        <p:txBody>
          <a:bodyPr/>
          <a:lstStyle/>
          <a:p>
            <a:pPr algn="r">
              <a:defRPr/>
            </a:pPr>
            <a:fld id="{AC8AC2CF-3682-4071-94D2-594D7F0BCB74}" type="datetime4">
              <a:rPr lang="hu-HU"/>
              <a:pPr algn="r">
                <a:defRPr/>
              </a:pPr>
              <a:t>2024. november 28.</a:t>
            </a:fld>
            <a:endParaRPr lang="hu-HU"/>
          </a:p>
        </p:txBody>
      </p:sp>
      <p:sp>
        <p:nvSpPr>
          <p:cNvPr id="4" name="Dia számának helye 4"/>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3EEC2568-A4B2-4C7D-8902-1E608487EC53}" type="slidenum">
              <a:rPr lang="hu-HU" altLang="hu-HU">
                <a:solidFill>
                  <a:srgbClr val="898989"/>
                </a:solidFill>
              </a:rPr>
              <a:pPr algn="ctr"/>
              <a:t>173</a:t>
            </a:fld>
            <a:endParaRPr lang="hu-HU" altLang="hu-HU">
              <a:solidFill>
                <a:srgbClr val="898989"/>
              </a:solidFill>
            </a:endParaRPr>
          </a:p>
        </p:txBody>
      </p:sp>
    </p:spTree>
    <p:extLst>
      <p:ext uri="{BB962C8B-B14F-4D97-AF65-F5344CB8AC3E}">
        <p14:creationId xmlns:p14="http://schemas.microsoft.com/office/powerpoint/2010/main" val="3406761476"/>
      </p:ext>
    </p:extLst>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p:txBody>
          <a:bodyPr/>
          <a:lstStyle/>
          <a:p>
            <a:r>
              <a:rPr lang="en-US" altLang="hu-HU" smtClean="0"/>
              <a:t>CRC k</a:t>
            </a:r>
            <a:r>
              <a:rPr lang="hu-HU" altLang="hu-HU" smtClean="0"/>
              <a:t>ártya</a:t>
            </a:r>
            <a:endParaRPr lang="en-US" altLang="hu-HU" smtClean="0"/>
          </a:p>
        </p:txBody>
      </p:sp>
      <p:sp>
        <p:nvSpPr>
          <p:cNvPr id="3077" name="Rectangle 3"/>
          <p:cNvSpPr>
            <a:spLocks noGrp="1" noChangeArrowheads="1"/>
          </p:cNvSpPr>
          <p:nvPr>
            <p:ph idx="1"/>
          </p:nvPr>
        </p:nvSpPr>
        <p:spPr/>
        <p:txBody>
          <a:bodyPr/>
          <a:lstStyle/>
          <a:p>
            <a:r>
              <a:rPr lang="hu-HU" altLang="hu-HU" smtClean="0"/>
              <a:t>Osztályok meghatározása nem diagramok alapján, hanem táblázatos lapok segítségével.</a:t>
            </a:r>
          </a:p>
          <a:p>
            <a:r>
              <a:rPr lang="hu-HU" altLang="hu-HU" smtClean="0"/>
              <a:t>A leírásban nem metódusokat és attribútumok, hanem az osztályokhoz rendelhető felelősségek vannak.</a:t>
            </a:r>
            <a:endParaRPr lang="en-US" altLang="hu-HU" smtClean="0"/>
          </a:p>
        </p:txBody>
      </p:sp>
      <p:sp>
        <p:nvSpPr>
          <p:cNvPr id="5" name="Dátum helye 5"/>
          <p:cNvSpPr>
            <a:spLocks noGrp="1"/>
          </p:cNvSpPr>
          <p:nvPr>
            <p:ph type="dt" sz="half" idx="10"/>
          </p:nvPr>
        </p:nvSpPr>
        <p:spPr>
          <a:xfrm>
            <a:off x="8077200" y="6356351"/>
            <a:ext cx="2133600" cy="365125"/>
          </a:xfrm>
        </p:spPr>
        <p:txBody>
          <a:bodyPr/>
          <a:lstStyle/>
          <a:p>
            <a:pPr algn="r">
              <a:defRPr/>
            </a:pPr>
            <a:fld id="{2B718EF4-CCC2-4B81-8C8A-F85A800AA5BF}" type="datetime4">
              <a:rPr lang="hu-HU"/>
              <a:pPr algn="r">
                <a:defRPr/>
              </a:pPr>
              <a:t>2024. november 28.</a:t>
            </a:fld>
            <a:endParaRPr lang="hu-HU"/>
          </a:p>
        </p:txBody>
      </p:sp>
      <p:sp>
        <p:nvSpPr>
          <p:cNvPr id="4" name="Dia számának helye 4"/>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34A662D3-E2DB-4226-BB27-52EF43C94EAB}" type="slidenum">
              <a:rPr lang="hu-HU" altLang="hu-HU">
                <a:solidFill>
                  <a:srgbClr val="898989"/>
                </a:solidFill>
              </a:rPr>
              <a:pPr algn="ctr"/>
              <a:t>174</a:t>
            </a:fld>
            <a:endParaRPr lang="hu-HU" altLang="hu-HU">
              <a:solidFill>
                <a:srgbClr val="898989"/>
              </a:solidFill>
            </a:endParaRPr>
          </a:p>
        </p:txBody>
      </p:sp>
    </p:spTree>
    <p:extLst>
      <p:ext uri="{BB962C8B-B14F-4D97-AF65-F5344CB8AC3E}">
        <p14:creationId xmlns:p14="http://schemas.microsoft.com/office/powerpoint/2010/main" val="2472365247"/>
      </p:ext>
    </p:extLst>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p:txBody>
          <a:bodyPr/>
          <a:lstStyle/>
          <a:p>
            <a:r>
              <a:rPr lang="hu-HU" altLang="hu-HU" smtClean="0"/>
              <a:t>Felelősség</a:t>
            </a:r>
            <a:endParaRPr lang="en-US" altLang="hu-HU" smtClean="0"/>
          </a:p>
        </p:txBody>
      </p:sp>
      <p:sp>
        <p:nvSpPr>
          <p:cNvPr id="4101" name="Rectangle 3"/>
          <p:cNvSpPr>
            <a:spLocks noGrp="1" noChangeArrowheads="1"/>
          </p:cNvSpPr>
          <p:nvPr>
            <p:ph idx="1"/>
          </p:nvPr>
        </p:nvSpPr>
        <p:spPr/>
        <p:txBody>
          <a:bodyPr/>
          <a:lstStyle/>
          <a:p>
            <a:r>
              <a:rPr lang="hu-HU" altLang="hu-HU" smtClean="0"/>
              <a:t>Annak a magas szintű leírása, hogy mi a fő célja az illető osztálynak.</a:t>
            </a:r>
          </a:p>
          <a:p>
            <a:r>
              <a:rPr lang="hu-HU" altLang="hu-HU" smtClean="0"/>
              <a:t>Cél:</a:t>
            </a:r>
          </a:p>
          <a:p>
            <a:pPr lvl="1"/>
            <a:r>
              <a:rPr lang="hu-HU" altLang="hu-HU" smtClean="0"/>
              <a:t>Minél egyértelműbben meghatározni egy osztály működésének a célját, egy rövid, tömör leírás formájában.</a:t>
            </a:r>
            <a:endParaRPr lang="en-US" altLang="hu-HU" smtClean="0"/>
          </a:p>
        </p:txBody>
      </p:sp>
      <p:sp>
        <p:nvSpPr>
          <p:cNvPr id="5" name="Dátum helye 5"/>
          <p:cNvSpPr>
            <a:spLocks noGrp="1"/>
          </p:cNvSpPr>
          <p:nvPr>
            <p:ph type="dt" sz="half" idx="10"/>
          </p:nvPr>
        </p:nvSpPr>
        <p:spPr>
          <a:xfrm>
            <a:off x="8077200" y="6356351"/>
            <a:ext cx="2133600" cy="365125"/>
          </a:xfrm>
        </p:spPr>
        <p:txBody>
          <a:bodyPr/>
          <a:lstStyle/>
          <a:p>
            <a:pPr algn="r">
              <a:defRPr/>
            </a:pPr>
            <a:fld id="{3F5961A4-A742-4BFF-BB56-E51F498B6F9F}" type="datetime4">
              <a:rPr lang="hu-HU"/>
              <a:pPr algn="r">
                <a:defRPr/>
              </a:pPr>
              <a:t>2024. november 28.</a:t>
            </a:fld>
            <a:endParaRPr lang="hu-HU"/>
          </a:p>
        </p:txBody>
      </p:sp>
      <p:sp>
        <p:nvSpPr>
          <p:cNvPr id="4" name="Dia számának helye 4"/>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384A986B-050A-4EEC-9FBA-B6D63196A666}" type="slidenum">
              <a:rPr lang="hu-HU" altLang="hu-HU">
                <a:solidFill>
                  <a:srgbClr val="898989"/>
                </a:solidFill>
              </a:rPr>
              <a:pPr algn="ctr"/>
              <a:t>175</a:t>
            </a:fld>
            <a:endParaRPr lang="hu-HU" altLang="hu-HU">
              <a:solidFill>
                <a:srgbClr val="898989"/>
              </a:solidFill>
            </a:endParaRPr>
          </a:p>
        </p:txBody>
      </p:sp>
    </p:spTree>
    <p:extLst>
      <p:ext uri="{BB962C8B-B14F-4D97-AF65-F5344CB8AC3E}">
        <p14:creationId xmlns:p14="http://schemas.microsoft.com/office/powerpoint/2010/main" val="1254737819"/>
      </p:ext>
    </p:extLst>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noChangeArrowheads="1"/>
          </p:cNvSpPr>
          <p:nvPr>
            <p:ph type="title"/>
          </p:nvPr>
        </p:nvSpPr>
        <p:spPr/>
        <p:txBody>
          <a:bodyPr/>
          <a:lstStyle/>
          <a:p>
            <a:r>
              <a:rPr lang="hu-HU" altLang="hu-HU" smtClean="0"/>
              <a:t>CRC kártya</a:t>
            </a:r>
            <a:endParaRPr lang="en-US" altLang="hu-HU" smtClean="0"/>
          </a:p>
        </p:txBody>
      </p:sp>
      <p:sp>
        <p:nvSpPr>
          <p:cNvPr id="6" name="Dátum helye 5"/>
          <p:cNvSpPr>
            <a:spLocks noGrp="1"/>
          </p:cNvSpPr>
          <p:nvPr>
            <p:ph type="dt" sz="half" idx="10"/>
          </p:nvPr>
        </p:nvSpPr>
        <p:spPr>
          <a:xfrm>
            <a:off x="8077200" y="6356351"/>
            <a:ext cx="2133600" cy="365125"/>
          </a:xfrm>
        </p:spPr>
        <p:txBody>
          <a:bodyPr/>
          <a:lstStyle/>
          <a:p>
            <a:pPr algn="r">
              <a:defRPr/>
            </a:pPr>
            <a:fld id="{3FCF6CD5-9C5E-4FCC-AE66-A53261D5C758}" type="datetime4">
              <a:rPr lang="hu-HU"/>
              <a:pPr algn="r">
                <a:defRPr/>
              </a:pPr>
              <a:t>2024. november 28.</a:t>
            </a:fld>
            <a:endParaRPr lang="hu-HU"/>
          </a:p>
        </p:txBody>
      </p:sp>
      <p:sp>
        <p:nvSpPr>
          <p:cNvPr id="5" name="Dia számának helye 4"/>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C0E0F151-4233-44FA-9AE1-B29033629F86}" type="slidenum">
              <a:rPr lang="hu-HU" altLang="hu-HU">
                <a:solidFill>
                  <a:srgbClr val="898989"/>
                </a:solidFill>
              </a:rPr>
              <a:pPr algn="ctr"/>
              <a:t>176</a:t>
            </a:fld>
            <a:endParaRPr lang="hu-HU" altLang="hu-HU">
              <a:solidFill>
                <a:srgbClr val="898989"/>
              </a:solidFill>
            </a:endParaRPr>
          </a:p>
        </p:txBody>
      </p:sp>
      <p:sp>
        <p:nvSpPr>
          <p:cNvPr id="5125" name="Rectangle 4"/>
          <p:cNvSpPr>
            <a:spLocks noChangeArrowheads="1"/>
          </p:cNvSpPr>
          <p:nvPr/>
        </p:nvSpPr>
        <p:spPr bwMode="auto">
          <a:xfrm>
            <a:off x="1524001" y="170604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hu-HU" altLang="hu-HU"/>
          </a:p>
        </p:txBody>
      </p:sp>
      <p:graphicFrame>
        <p:nvGraphicFramePr>
          <p:cNvPr id="5126" name="Object 5"/>
          <p:cNvGraphicFramePr>
            <a:graphicFrameLocks noChangeAspect="1"/>
          </p:cNvGraphicFramePr>
          <p:nvPr/>
        </p:nvGraphicFramePr>
        <p:xfrm>
          <a:off x="1524000" y="1576389"/>
          <a:ext cx="9391650" cy="4860925"/>
        </p:xfrm>
        <a:graphic>
          <a:graphicData uri="http://schemas.openxmlformats.org/presentationml/2006/ole">
            <mc:AlternateContent xmlns:mc="http://schemas.openxmlformats.org/markup-compatibility/2006">
              <mc:Choice xmlns:v="urn:schemas-microsoft-com:vml" Requires="v">
                <p:oleObj spid="_x0000_s1026" name="ABC FlowCharter" r:id="rId4" imgW="6457950" imgH="3337560" progId="ABCFlow">
                  <p:embed/>
                </p:oleObj>
              </mc:Choice>
              <mc:Fallback>
                <p:oleObj name="ABC FlowCharter" r:id="rId4" imgW="6457950" imgH="3337560" progId="ABCFlow">
                  <p:embed/>
                  <p:pic>
                    <p:nvPicPr>
                      <p:cNvPr id="5126"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1576389"/>
                        <a:ext cx="9391650" cy="486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613208770"/>
      </p:ext>
    </p:extLst>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p:txBody>
          <a:bodyPr/>
          <a:lstStyle/>
          <a:p>
            <a:r>
              <a:rPr lang="hu-HU" altLang="hu-HU" smtClean="0"/>
              <a:t>CRC kártya</a:t>
            </a:r>
            <a:endParaRPr lang="en-US" altLang="hu-HU" smtClean="0"/>
          </a:p>
        </p:txBody>
      </p:sp>
      <p:sp>
        <p:nvSpPr>
          <p:cNvPr id="6149" name="Rectangle 3"/>
          <p:cNvSpPr>
            <a:spLocks noGrp="1" noChangeArrowheads="1"/>
          </p:cNvSpPr>
          <p:nvPr>
            <p:ph idx="1"/>
          </p:nvPr>
        </p:nvSpPr>
        <p:spPr/>
        <p:txBody>
          <a:bodyPr/>
          <a:lstStyle/>
          <a:p>
            <a:r>
              <a:rPr lang="hu-HU" altLang="hu-HU" smtClean="0"/>
              <a:t>Ixtlan Software </a:t>
            </a:r>
            <a:endParaRPr lang="en-US" altLang="hu-HU" smtClean="0"/>
          </a:p>
        </p:txBody>
      </p:sp>
      <p:sp>
        <p:nvSpPr>
          <p:cNvPr id="7" name="Dátum helye 5"/>
          <p:cNvSpPr>
            <a:spLocks noGrp="1"/>
          </p:cNvSpPr>
          <p:nvPr>
            <p:ph type="dt" sz="half" idx="10"/>
          </p:nvPr>
        </p:nvSpPr>
        <p:spPr>
          <a:xfrm>
            <a:off x="8077200" y="6356351"/>
            <a:ext cx="2133600" cy="365125"/>
          </a:xfrm>
        </p:spPr>
        <p:txBody>
          <a:bodyPr/>
          <a:lstStyle/>
          <a:p>
            <a:pPr algn="r">
              <a:defRPr/>
            </a:pPr>
            <a:fld id="{A5708B13-31FB-4DD7-AC63-5FE0F7746D17}" type="datetime4">
              <a:rPr lang="hu-HU"/>
              <a:pPr algn="r">
                <a:defRPr/>
              </a:pPr>
              <a:t>2024. november 28.</a:t>
            </a:fld>
            <a:endParaRPr lang="hu-HU"/>
          </a:p>
        </p:txBody>
      </p:sp>
      <p:sp>
        <p:nvSpPr>
          <p:cNvPr id="6" name="Dia számának helye 4"/>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C256316D-4D77-4346-83E8-7A200C4D7E04}" type="slidenum">
              <a:rPr lang="hu-HU" altLang="hu-HU">
                <a:solidFill>
                  <a:srgbClr val="898989"/>
                </a:solidFill>
              </a:rPr>
              <a:pPr algn="ctr"/>
              <a:t>177</a:t>
            </a:fld>
            <a:endParaRPr lang="hu-HU" altLang="hu-HU">
              <a:solidFill>
                <a:srgbClr val="898989"/>
              </a:solidFill>
            </a:endParaRPr>
          </a:p>
        </p:txBody>
      </p:sp>
      <p:sp>
        <p:nvSpPr>
          <p:cNvPr id="6150" name="Rectangle 4"/>
          <p:cNvSpPr>
            <a:spLocks noChangeArrowheads="1"/>
          </p:cNvSpPr>
          <p:nvPr/>
        </p:nvSpPr>
        <p:spPr bwMode="auto">
          <a:xfrm>
            <a:off x="1524001" y="170604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hu-HU" altLang="hu-HU"/>
          </a:p>
        </p:txBody>
      </p:sp>
      <p:pic>
        <p:nvPicPr>
          <p:cNvPr id="615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9850" y="2422526"/>
            <a:ext cx="7162800" cy="443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39651027"/>
      </p:ext>
    </p:extLst>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normAutofit fontScale="90000"/>
          </a:bodyPr>
          <a:lstStyle/>
          <a:p>
            <a:r>
              <a:rPr lang="nb-NO" altLang="hu-HU" dirty="0" smtClean="0"/>
              <a:t>Az UML nyelv használati eleme: Interakciós</a:t>
            </a:r>
            <a:r>
              <a:rPr lang="hu-HU" altLang="hu-HU" dirty="0" smtClean="0"/>
              <a:t> diagramok: </a:t>
            </a:r>
            <a:r>
              <a:rPr lang="nb-NO" altLang="hu-HU" dirty="0" smtClean="0"/>
              <a:t>szekvencia, együttműködési diagram.</a:t>
            </a:r>
            <a:endParaRPr lang="hu-HU" altLang="hu-HU" dirty="0" smtClean="0"/>
          </a:p>
        </p:txBody>
      </p:sp>
      <p:sp>
        <p:nvSpPr>
          <p:cNvPr id="4099" name="Rectangle 3"/>
          <p:cNvSpPr>
            <a:spLocks noGrp="1" noChangeArrowheads="1"/>
          </p:cNvSpPr>
          <p:nvPr>
            <p:ph type="subTitle" idx="1"/>
          </p:nvPr>
        </p:nvSpPr>
        <p:spPr/>
        <p:txBody>
          <a:bodyPr/>
          <a:lstStyle/>
          <a:p>
            <a:pPr eaLnBrk="1" hangingPunct="1"/>
            <a:endParaRPr lang="hu-HU" altLang="hu-HU" dirty="0" smtClean="0"/>
          </a:p>
        </p:txBody>
      </p:sp>
    </p:spTree>
    <p:extLst>
      <p:ext uri="{BB962C8B-B14F-4D97-AF65-F5344CB8AC3E}">
        <p14:creationId xmlns:p14="http://schemas.microsoft.com/office/powerpoint/2010/main" val="2683057059"/>
      </p:ext>
    </p:extLst>
  </p:cSld>
  <p:clrMapOvr>
    <a:masterClrMapping/>
  </p:clrMapOvr>
  <p:transition/>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2"/>
          <p:cNvSpPr>
            <a:spLocks noGrp="1" noChangeArrowheads="1"/>
          </p:cNvSpPr>
          <p:nvPr>
            <p:ph type="title"/>
          </p:nvPr>
        </p:nvSpPr>
        <p:spPr/>
        <p:txBody>
          <a:bodyPr/>
          <a:lstStyle/>
          <a:p>
            <a:pPr eaLnBrk="1" hangingPunct="1"/>
            <a:r>
              <a:rPr lang="hu-HU" altLang="hu-HU" smtClean="0"/>
              <a:t>Interakciós diagramok</a:t>
            </a:r>
          </a:p>
        </p:txBody>
      </p:sp>
      <p:sp>
        <p:nvSpPr>
          <p:cNvPr id="5126" name="Rectangle 3"/>
          <p:cNvSpPr>
            <a:spLocks noGrp="1" noChangeArrowheads="1"/>
          </p:cNvSpPr>
          <p:nvPr>
            <p:ph idx="1"/>
          </p:nvPr>
        </p:nvSpPr>
        <p:spPr/>
        <p:txBody>
          <a:bodyPr/>
          <a:lstStyle/>
          <a:p>
            <a:pPr eaLnBrk="1" hangingPunct="1"/>
            <a:r>
              <a:rPr lang="hu-HU" altLang="hu-HU" smtClean="0"/>
              <a:t>A use case-ek végrehajtási példáját, végrehajtási forgatókönyvét (szcenárióját) mutatják be.</a:t>
            </a:r>
          </a:p>
          <a:p>
            <a:pPr lvl="1" eaLnBrk="1" hangingPunct="1"/>
            <a:r>
              <a:rPr lang="hu-HU" altLang="hu-HU" smtClean="0"/>
              <a:t>Eseménykövetési diagram vagy szekvencia-diagram</a:t>
            </a:r>
          </a:p>
          <a:p>
            <a:pPr lvl="2" eaLnBrk="1" hangingPunct="1"/>
            <a:r>
              <a:rPr lang="hu-HU" altLang="hu-HU" smtClean="0"/>
              <a:t>Sequence diagram.</a:t>
            </a:r>
          </a:p>
          <a:p>
            <a:pPr lvl="1" eaLnBrk="1" hangingPunct="1"/>
            <a:r>
              <a:rPr lang="hu-HU" altLang="hu-HU" smtClean="0"/>
              <a:t>Együttműködési diagram vagy kollaborációs diagram</a:t>
            </a:r>
          </a:p>
          <a:p>
            <a:pPr lvl="2" eaLnBrk="1" hangingPunct="1"/>
            <a:r>
              <a:rPr lang="hu-HU" altLang="hu-HU" smtClean="0"/>
              <a:t>Collaboration diagram.</a:t>
            </a:r>
          </a:p>
        </p:txBody>
      </p:sp>
      <p:sp>
        <p:nvSpPr>
          <p:cNvPr id="5122" name="Dátum helye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5CBFB0DD-6356-4653-8905-683AAB7EFCC3}" type="datetime1">
              <a:rPr lang="hu-HU" altLang="hu-HU"/>
              <a:pPr eaLnBrk="1" hangingPunct="1"/>
              <a:t>2024. 11. 28.</a:t>
            </a:fld>
            <a:endParaRPr lang="hu-HU" altLang="hu-HU"/>
          </a:p>
        </p:txBody>
      </p:sp>
      <p:sp>
        <p:nvSpPr>
          <p:cNvPr id="5123" name="Élőláb helye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hu-HU" altLang="hu-HU"/>
              <a:t>Szoftvertechnológia II.</a:t>
            </a:r>
          </a:p>
        </p:txBody>
      </p:sp>
      <p:sp>
        <p:nvSpPr>
          <p:cNvPr id="5124" name="Dia számának helye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E8C0BBAF-6BD0-498C-95E6-82C54608CF1F}" type="slidenum">
              <a:rPr lang="hu-HU" altLang="hu-HU"/>
              <a:pPr eaLnBrk="1" hangingPunct="1"/>
              <a:t>179</a:t>
            </a:fld>
            <a:endParaRPr lang="hu-HU" altLang="hu-HU"/>
          </a:p>
        </p:txBody>
      </p:sp>
    </p:spTree>
    <p:extLst>
      <p:ext uri="{BB962C8B-B14F-4D97-AF65-F5344CB8AC3E}">
        <p14:creationId xmlns:p14="http://schemas.microsoft.com/office/powerpoint/2010/main" val="1094423442"/>
      </p:ext>
    </p:extLst>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Rectangle 2"/>
          <p:cNvSpPr>
            <a:spLocks noGrp="1" noChangeArrowheads="1"/>
          </p:cNvSpPr>
          <p:nvPr>
            <p:ph type="title"/>
          </p:nvPr>
        </p:nvSpPr>
        <p:spPr/>
        <p:txBody>
          <a:bodyPr/>
          <a:lstStyle/>
          <a:p>
            <a:pPr eaLnBrk="1" hangingPunct="1"/>
            <a:r>
              <a:rPr lang="hu-HU" altLang="hu-HU" smtClean="0"/>
              <a:t>Interakciós diagramok (folyt.)</a:t>
            </a:r>
          </a:p>
        </p:txBody>
      </p:sp>
      <p:sp>
        <p:nvSpPr>
          <p:cNvPr id="6150" name="Rectangle 3"/>
          <p:cNvSpPr>
            <a:spLocks noGrp="1" noChangeArrowheads="1"/>
          </p:cNvSpPr>
          <p:nvPr>
            <p:ph idx="1"/>
          </p:nvPr>
        </p:nvSpPr>
        <p:spPr/>
        <p:txBody>
          <a:bodyPr/>
          <a:lstStyle/>
          <a:p>
            <a:pPr eaLnBrk="1" hangingPunct="1">
              <a:lnSpc>
                <a:spcPct val="90000"/>
              </a:lnSpc>
            </a:pPr>
            <a:r>
              <a:rPr lang="hu-HU" altLang="hu-HU" sz="2100"/>
              <a:t>A szekvencia-diagramok és az együttműködési diagramok valójában egymással ekvivalens leírást adnak. </a:t>
            </a:r>
          </a:p>
          <a:p>
            <a:pPr eaLnBrk="1" hangingPunct="1">
              <a:lnSpc>
                <a:spcPct val="90000"/>
              </a:lnSpc>
            </a:pPr>
            <a:r>
              <a:rPr lang="hu-HU" altLang="hu-HU" sz="2100"/>
              <a:t>Mindkettő azt mutatja, hogy az objektumok közötti kölcsönhatás miként megy végbe üzenetek váltása révén. </a:t>
            </a:r>
          </a:p>
          <a:p>
            <a:pPr eaLnBrk="1" hangingPunct="1">
              <a:lnSpc>
                <a:spcPct val="90000"/>
              </a:lnSpc>
            </a:pPr>
            <a:r>
              <a:rPr lang="hu-HU" altLang="hu-HU" sz="2100"/>
              <a:t>Egy bizonyos dinamikus nézetet adnak a rendszerről azáltal, hogy grafikusan jelenítik meg az objektumok </a:t>
            </a:r>
            <a:r>
              <a:rPr lang="hu-HU" altLang="hu-HU" sz="2100" b="1"/>
              <a:t>futási időben</a:t>
            </a:r>
            <a:r>
              <a:rPr lang="hu-HU" altLang="hu-HU" sz="2100"/>
              <a:t> (</a:t>
            </a:r>
            <a:r>
              <a:rPr lang="hu-HU" altLang="hu-HU" sz="2100" b="1"/>
              <a:t>at run time</a:t>
            </a:r>
            <a:r>
              <a:rPr lang="hu-HU" altLang="hu-HU" sz="2100"/>
              <a:t>) végbemenő működését. </a:t>
            </a:r>
          </a:p>
          <a:p>
            <a:pPr eaLnBrk="1" hangingPunct="1">
              <a:lnSpc>
                <a:spcPct val="90000"/>
              </a:lnSpc>
            </a:pPr>
            <a:r>
              <a:rPr lang="hu-HU" altLang="hu-HU" sz="2100"/>
              <a:t>A különböző működési folyamatok különböző forgatókönyveket valósítanak meg.</a:t>
            </a:r>
          </a:p>
        </p:txBody>
      </p:sp>
      <p:sp>
        <p:nvSpPr>
          <p:cNvPr id="6146" name="Dátum helye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9C91D72F-8680-441F-BAF2-80AD664E845F}" type="datetime1">
              <a:rPr lang="hu-HU" altLang="hu-HU"/>
              <a:pPr eaLnBrk="1" hangingPunct="1"/>
              <a:t>2024. 11. 28.</a:t>
            </a:fld>
            <a:endParaRPr lang="hu-HU" altLang="hu-HU"/>
          </a:p>
        </p:txBody>
      </p:sp>
      <p:sp>
        <p:nvSpPr>
          <p:cNvPr id="6147" name="Élőláb helye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hu-HU" altLang="hu-HU"/>
              <a:t>Szoftvertechnológia II.</a:t>
            </a:r>
          </a:p>
        </p:txBody>
      </p:sp>
      <p:sp>
        <p:nvSpPr>
          <p:cNvPr id="6148" name="Dia számának helye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D9E830C8-CBB0-4671-95D2-0E54CFC3AC06}" type="slidenum">
              <a:rPr lang="hu-HU" altLang="hu-HU"/>
              <a:pPr eaLnBrk="1" hangingPunct="1"/>
              <a:t>180</a:t>
            </a:fld>
            <a:endParaRPr lang="hu-HU" altLang="hu-HU"/>
          </a:p>
        </p:txBody>
      </p:sp>
    </p:spTree>
    <p:extLst>
      <p:ext uri="{BB962C8B-B14F-4D97-AF65-F5344CB8AC3E}">
        <p14:creationId xmlns:p14="http://schemas.microsoft.com/office/powerpoint/2010/main" val="1783072412"/>
      </p:ext>
    </p:extLst>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2"/>
          <p:cNvSpPr>
            <a:spLocks noGrp="1" noChangeArrowheads="1"/>
          </p:cNvSpPr>
          <p:nvPr>
            <p:ph type="title"/>
          </p:nvPr>
        </p:nvSpPr>
        <p:spPr/>
        <p:txBody>
          <a:bodyPr/>
          <a:lstStyle/>
          <a:p>
            <a:pPr eaLnBrk="1" hangingPunct="1"/>
            <a:r>
              <a:rPr lang="hu-HU" altLang="hu-HU" sz="3400"/>
              <a:t>Az interakciós diagram alkalmazásának tipikus esete</a:t>
            </a:r>
          </a:p>
        </p:txBody>
      </p:sp>
      <p:sp>
        <p:nvSpPr>
          <p:cNvPr id="7174" name="Rectangle 3"/>
          <p:cNvSpPr>
            <a:spLocks noGrp="1" noChangeArrowheads="1"/>
          </p:cNvSpPr>
          <p:nvPr>
            <p:ph idx="1"/>
          </p:nvPr>
        </p:nvSpPr>
        <p:spPr/>
        <p:txBody>
          <a:bodyPr/>
          <a:lstStyle/>
          <a:p>
            <a:pPr eaLnBrk="1" hangingPunct="1"/>
            <a:r>
              <a:rPr lang="hu-HU" altLang="hu-HU" smtClean="0"/>
              <a:t>Egy use case viselkedését, működését írjuk le vele.</a:t>
            </a:r>
          </a:p>
          <a:p>
            <a:pPr eaLnBrk="1" hangingPunct="1"/>
            <a:r>
              <a:rPr lang="hu-HU" altLang="hu-HU" smtClean="0"/>
              <a:t>A diagram ilyenkor a use case-ben megnyilvánuló objektumokat mutatja be, a közöttük folyó vezérlési információcserével, vagyis az elküldött üzenetekkel együtt.</a:t>
            </a:r>
          </a:p>
        </p:txBody>
      </p:sp>
      <p:sp>
        <p:nvSpPr>
          <p:cNvPr id="7170" name="Dátum helye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7DCDEB99-2C07-4F52-80DE-D4BCCC625058}" type="datetime1">
              <a:rPr lang="hu-HU" altLang="hu-HU"/>
              <a:pPr eaLnBrk="1" hangingPunct="1"/>
              <a:t>2024. 11. 28.</a:t>
            </a:fld>
            <a:endParaRPr lang="hu-HU" altLang="hu-HU"/>
          </a:p>
        </p:txBody>
      </p:sp>
      <p:sp>
        <p:nvSpPr>
          <p:cNvPr id="7171" name="Élőláb helye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hu-HU" altLang="hu-HU"/>
              <a:t>Szoftvertechnológia II.</a:t>
            </a:r>
          </a:p>
        </p:txBody>
      </p:sp>
      <p:sp>
        <p:nvSpPr>
          <p:cNvPr id="7172" name="Dia számának helye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32C5F8FC-396A-4DC5-9BEC-2AE5A7525182}" type="slidenum">
              <a:rPr lang="hu-HU" altLang="hu-HU"/>
              <a:pPr eaLnBrk="1" hangingPunct="1"/>
              <a:t>181</a:t>
            </a:fld>
            <a:endParaRPr lang="hu-HU" altLang="hu-HU"/>
          </a:p>
        </p:txBody>
      </p:sp>
    </p:spTree>
    <p:extLst>
      <p:ext uri="{BB962C8B-B14F-4D97-AF65-F5344CB8AC3E}">
        <p14:creationId xmlns:p14="http://schemas.microsoft.com/office/powerpoint/2010/main" val="570370192"/>
      </p:ext>
    </p:extLst>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Rectangle 2"/>
          <p:cNvSpPr>
            <a:spLocks noGrp="1" noChangeArrowheads="1"/>
          </p:cNvSpPr>
          <p:nvPr>
            <p:ph type="title"/>
          </p:nvPr>
        </p:nvSpPr>
        <p:spPr/>
        <p:txBody>
          <a:bodyPr/>
          <a:lstStyle/>
          <a:p>
            <a:pPr eaLnBrk="1" hangingPunct="1"/>
            <a:r>
              <a:rPr lang="hu-HU" altLang="hu-HU" sz="3400"/>
              <a:t>Egy metódus lefuttatása üzenetküldéssel</a:t>
            </a:r>
          </a:p>
        </p:txBody>
      </p:sp>
      <p:graphicFrame>
        <p:nvGraphicFramePr>
          <p:cNvPr id="1026" name="Object 4"/>
          <p:cNvGraphicFramePr>
            <a:graphicFrameLocks noGrp="1" noChangeAspect="1"/>
          </p:cNvGraphicFramePr>
          <p:nvPr>
            <p:ph idx="1"/>
          </p:nvPr>
        </p:nvGraphicFramePr>
        <p:xfrm>
          <a:off x="3762375" y="1752600"/>
          <a:ext cx="4656138" cy="4267200"/>
        </p:xfrm>
        <a:graphic>
          <a:graphicData uri="http://schemas.openxmlformats.org/presentationml/2006/ole">
            <mc:AlternateContent xmlns:mc="http://schemas.openxmlformats.org/markup-compatibility/2006">
              <mc:Choice xmlns:v="urn:schemas-microsoft-com:vml" Requires="v">
                <p:oleObj spid="_x0000_s2050" name="ABC FlowCharter" r:id="rId3" imgW="4854893" imgH="4449128" progId="ABCFlow">
                  <p:embed/>
                </p:oleObj>
              </mc:Choice>
              <mc:Fallback>
                <p:oleObj name="ABC FlowCharter" r:id="rId3" imgW="4854893" imgH="4449128" progId="ABCFlow">
                  <p:embed/>
                  <p:pic>
                    <p:nvPicPr>
                      <p:cNvPr id="102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2375" y="1752600"/>
                        <a:ext cx="4656138" cy="426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7" name="Dátum helye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B1D9FB00-2E55-4667-A481-6D98E7CA823C}" type="datetime1">
              <a:rPr lang="hu-HU" altLang="hu-HU"/>
              <a:pPr eaLnBrk="1" hangingPunct="1"/>
              <a:t>2024. 11. 28.</a:t>
            </a:fld>
            <a:endParaRPr lang="hu-HU" altLang="hu-HU"/>
          </a:p>
        </p:txBody>
      </p:sp>
      <p:sp>
        <p:nvSpPr>
          <p:cNvPr id="1028" name="Élőláb helye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hu-HU" altLang="hu-HU"/>
              <a:t>Szoftvertechnológia II.</a:t>
            </a:r>
          </a:p>
        </p:txBody>
      </p:sp>
      <p:sp>
        <p:nvSpPr>
          <p:cNvPr id="1029" name="Dia számának helye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186120CC-5E78-4AC8-9A24-8575B22684FA}" type="slidenum">
              <a:rPr lang="hu-HU" altLang="hu-HU"/>
              <a:pPr eaLnBrk="1" hangingPunct="1"/>
              <a:t>182</a:t>
            </a:fld>
            <a:endParaRPr lang="hu-HU" altLang="hu-HU"/>
          </a:p>
        </p:txBody>
      </p:sp>
    </p:spTree>
    <p:extLst>
      <p:ext uri="{BB962C8B-B14F-4D97-AF65-F5344CB8AC3E}">
        <p14:creationId xmlns:p14="http://schemas.microsoft.com/office/powerpoint/2010/main" val="110662988"/>
      </p:ext>
    </p:extLst>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2"/>
          <p:cNvSpPr>
            <a:spLocks noGrp="1" noChangeArrowheads="1"/>
          </p:cNvSpPr>
          <p:nvPr>
            <p:ph type="title"/>
          </p:nvPr>
        </p:nvSpPr>
        <p:spPr/>
        <p:txBody>
          <a:bodyPr/>
          <a:lstStyle/>
          <a:p>
            <a:pPr eaLnBrk="1" hangingPunct="1"/>
            <a:r>
              <a:rPr lang="hu-HU" altLang="hu-HU" smtClean="0"/>
              <a:t>Példák a hívásra</a:t>
            </a:r>
          </a:p>
        </p:txBody>
      </p:sp>
      <p:sp>
        <p:nvSpPr>
          <p:cNvPr id="8198" name="Rectangle 3"/>
          <p:cNvSpPr>
            <a:spLocks noGrp="1" noChangeArrowheads="1"/>
          </p:cNvSpPr>
          <p:nvPr>
            <p:ph idx="1"/>
          </p:nvPr>
        </p:nvSpPr>
        <p:spPr/>
        <p:txBody>
          <a:bodyPr/>
          <a:lstStyle/>
          <a:p>
            <a:pPr eaLnBrk="1" hangingPunct="1">
              <a:lnSpc>
                <a:spcPct val="90000"/>
              </a:lnSpc>
            </a:pPr>
            <a:r>
              <a:rPr lang="hu-HU" altLang="hu-HU" sz="2600"/>
              <a:t>localComputers.addComputer („Vax1”);</a:t>
            </a:r>
          </a:p>
          <a:p>
            <a:pPr eaLnBrk="1" hangingPunct="1">
              <a:lnSpc>
                <a:spcPct val="90000"/>
              </a:lnSpc>
            </a:pPr>
            <a:r>
              <a:rPr lang="hu-HU" altLang="hu-HU" sz="2600"/>
              <a:t>localComputers.removeComputer („Vax2”);</a:t>
            </a:r>
          </a:p>
          <a:p>
            <a:pPr eaLnBrk="1" hangingPunct="1">
              <a:lnSpc>
                <a:spcPct val="90000"/>
              </a:lnSpc>
            </a:pPr>
            <a:endParaRPr lang="hu-HU" altLang="hu-HU" sz="2600"/>
          </a:p>
          <a:p>
            <a:pPr eaLnBrk="1" hangingPunct="1">
              <a:lnSpc>
                <a:spcPct val="90000"/>
              </a:lnSpc>
            </a:pPr>
            <a:r>
              <a:rPr lang="hu-HU" altLang="hu-HU" sz="2600"/>
              <a:t>A két utasítás egy olyan programból van kiemelve, amelyben az első hívás hatására a </a:t>
            </a:r>
            <a:r>
              <a:rPr lang="hu-HU" altLang="hu-HU" sz="2600" b="1"/>
              <a:t>localComputers</a:t>
            </a:r>
            <a:r>
              <a:rPr lang="hu-HU" altLang="hu-HU" sz="2600"/>
              <a:t> objektum </a:t>
            </a:r>
            <a:r>
              <a:rPr lang="hu-HU" altLang="hu-HU" sz="2600" b="1"/>
              <a:t>addComputer </a:t>
            </a:r>
            <a:r>
              <a:rPr lang="hu-HU" altLang="hu-HU" sz="2600"/>
              <a:t>nevű metódusa az objektum által tárolt listába felveszi a </a:t>
            </a:r>
            <a:r>
              <a:rPr lang="hu-HU" altLang="hu-HU" sz="2600" b="1"/>
              <a:t>Vax1</a:t>
            </a:r>
            <a:r>
              <a:rPr lang="hu-HU" altLang="hu-HU" sz="2600"/>
              <a:t> tartalmú szövegkonstanst. A másik hívás hatására ugyanebből a listából törlődik a </a:t>
            </a:r>
            <a:r>
              <a:rPr lang="hu-HU" altLang="hu-HU" sz="2600" b="1"/>
              <a:t>Vax2</a:t>
            </a:r>
            <a:r>
              <a:rPr lang="hu-HU" altLang="hu-HU" sz="2600"/>
              <a:t> elem.</a:t>
            </a:r>
          </a:p>
        </p:txBody>
      </p:sp>
      <p:sp>
        <p:nvSpPr>
          <p:cNvPr id="8194" name="Dátum helye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9DA6A25D-F0F0-4995-B373-4DAC6515FB93}" type="datetime1">
              <a:rPr lang="hu-HU" altLang="hu-HU"/>
              <a:pPr eaLnBrk="1" hangingPunct="1"/>
              <a:t>2024. 11. 28.</a:t>
            </a:fld>
            <a:endParaRPr lang="hu-HU" altLang="hu-HU"/>
          </a:p>
        </p:txBody>
      </p:sp>
      <p:sp>
        <p:nvSpPr>
          <p:cNvPr id="8195" name="Élőláb helye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hu-HU" altLang="hu-HU"/>
              <a:t>Szoftvertechnológia II.</a:t>
            </a:r>
          </a:p>
        </p:txBody>
      </p:sp>
      <p:sp>
        <p:nvSpPr>
          <p:cNvPr id="8196" name="Dia számának helye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62109E06-A041-4E6B-AED4-BD559FE687BC}" type="slidenum">
              <a:rPr lang="hu-HU" altLang="hu-HU"/>
              <a:pPr eaLnBrk="1" hangingPunct="1"/>
              <a:t>183</a:t>
            </a:fld>
            <a:endParaRPr lang="hu-HU" altLang="hu-HU"/>
          </a:p>
        </p:txBody>
      </p:sp>
    </p:spTree>
    <p:extLst>
      <p:ext uri="{BB962C8B-B14F-4D97-AF65-F5344CB8AC3E}">
        <p14:creationId xmlns:p14="http://schemas.microsoft.com/office/powerpoint/2010/main" val="1531260287"/>
      </p:ext>
    </p:extLst>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2"/>
          <p:cNvSpPr>
            <a:spLocks noGrp="1" noChangeArrowheads="1"/>
          </p:cNvSpPr>
          <p:nvPr>
            <p:ph type="title"/>
          </p:nvPr>
        </p:nvSpPr>
        <p:spPr/>
        <p:txBody>
          <a:bodyPr/>
          <a:lstStyle/>
          <a:p>
            <a:pPr eaLnBrk="1" hangingPunct="1"/>
            <a:r>
              <a:rPr lang="hu-HU" altLang="hu-HU" smtClean="0"/>
              <a:t>Szekvencia-diagram</a:t>
            </a:r>
          </a:p>
        </p:txBody>
      </p:sp>
      <p:sp>
        <p:nvSpPr>
          <p:cNvPr id="9222" name="Rectangle 3"/>
          <p:cNvSpPr>
            <a:spLocks noGrp="1" noChangeArrowheads="1"/>
          </p:cNvSpPr>
          <p:nvPr>
            <p:ph idx="1"/>
          </p:nvPr>
        </p:nvSpPr>
        <p:spPr/>
        <p:txBody>
          <a:bodyPr/>
          <a:lstStyle/>
          <a:p>
            <a:pPr eaLnBrk="1" hangingPunct="1"/>
            <a:r>
              <a:rPr lang="hu-HU" altLang="hu-HU" smtClean="0"/>
              <a:t>Az objektumok időbeli viselkedésének menetét, folyamatát tükrözik, az objektumok közötti üzenetek időbeli követésével együtt.</a:t>
            </a:r>
          </a:p>
          <a:p>
            <a:pPr eaLnBrk="1" hangingPunct="1"/>
            <a:r>
              <a:rPr lang="hu-HU" altLang="hu-HU" smtClean="0"/>
              <a:t>Arra használhatók, hogy egy adott use case szcenárió kölcsönhatásait szemléltessék.</a:t>
            </a:r>
          </a:p>
        </p:txBody>
      </p:sp>
      <p:sp>
        <p:nvSpPr>
          <p:cNvPr id="9218" name="Dátum helye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B35160AF-6EBA-4BC4-ADBE-0B8C81777108}" type="datetime1">
              <a:rPr lang="hu-HU" altLang="hu-HU"/>
              <a:pPr eaLnBrk="1" hangingPunct="1"/>
              <a:t>2024. 11. 28.</a:t>
            </a:fld>
            <a:endParaRPr lang="hu-HU" altLang="hu-HU"/>
          </a:p>
        </p:txBody>
      </p:sp>
      <p:sp>
        <p:nvSpPr>
          <p:cNvPr id="9219" name="Élőláb helye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hu-HU" altLang="hu-HU"/>
              <a:t>Szoftvertechnológia II.</a:t>
            </a:r>
          </a:p>
        </p:txBody>
      </p:sp>
      <p:sp>
        <p:nvSpPr>
          <p:cNvPr id="9220" name="Dia számának helye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92570CA4-D563-47C3-8980-AEA642A4D244}" type="slidenum">
              <a:rPr lang="hu-HU" altLang="hu-HU"/>
              <a:pPr eaLnBrk="1" hangingPunct="1"/>
              <a:t>184</a:t>
            </a:fld>
            <a:endParaRPr lang="hu-HU" altLang="hu-HU"/>
          </a:p>
        </p:txBody>
      </p:sp>
    </p:spTree>
    <p:extLst>
      <p:ext uri="{BB962C8B-B14F-4D97-AF65-F5344CB8AC3E}">
        <p14:creationId xmlns:p14="http://schemas.microsoft.com/office/powerpoint/2010/main" val="3740032361"/>
      </p:ext>
    </p:extLst>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2"/>
          <p:cNvSpPr>
            <a:spLocks noGrp="1" noChangeArrowheads="1"/>
          </p:cNvSpPr>
          <p:nvPr>
            <p:ph type="title"/>
          </p:nvPr>
        </p:nvSpPr>
        <p:spPr/>
        <p:txBody>
          <a:bodyPr/>
          <a:lstStyle/>
          <a:p>
            <a:pPr eaLnBrk="1" hangingPunct="1"/>
            <a:r>
              <a:rPr lang="hu-HU" altLang="hu-HU" smtClean="0"/>
              <a:t>Példa </a:t>
            </a:r>
            <a:r>
              <a:rPr lang="hu-HU" altLang="hu-HU" sz="1600"/>
              <a:t>(Bejelentkezés megérkezéskor)</a:t>
            </a:r>
          </a:p>
        </p:txBody>
      </p:sp>
      <p:pic>
        <p:nvPicPr>
          <p:cNvPr id="10246"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438" t="5043" r="807" b="2010"/>
          <a:stretch>
            <a:fillRect/>
          </a:stretch>
        </p:blipFill>
        <p:spPr>
          <a:xfrm>
            <a:off x="1524000" y="1773239"/>
            <a:ext cx="9144000" cy="3995737"/>
          </a:xfrm>
          <a:noFill/>
        </p:spPr>
      </p:pic>
      <p:sp>
        <p:nvSpPr>
          <p:cNvPr id="10242" name="Dátum helye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5D7C3A6E-E92D-4FCA-85E7-45F5A078F0ED}" type="datetime1">
              <a:rPr lang="hu-HU" altLang="hu-HU"/>
              <a:pPr eaLnBrk="1" hangingPunct="1"/>
              <a:t>2024. 11. 28.</a:t>
            </a:fld>
            <a:endParaRPr lang="hu-HU" altLang="hu-HU"/>
          </a:p>
        </p:txBody>
      </p:sp>
      <p:sp>
        <p:nvSpPr>
          <p:cNvPr id="10243" name="Élőláb helye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hu-HU" altLang="hu-HU"/>
              <a:t>Szoftvertechnológia II.</a:t>
            </a:r>
          </a:p>
        </p:txBody>
      </p:sp>
      <p:sp>
        <p:nvSpPr>
          <p:cNvPr id="10244" name="Dia számának helye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055B054D-51D5-4A37-A182-9BE8F060A1CC}" type="slidenum">
              <a:rPr lang="hu-HU" altLang="hu-HU"/>
              <a:pPr eaLnBrk="1" hangingPunct="1"/>
              <a:t>185</a:t>
            </a:fld>
            <a:endParaRPr lang="hu-HU" altLang="hu-HU"/>
          </a:p>
        </p:txBody>
      </p:sp>
    </p:spTree>
    <p:extLst>
      <p:ext uri="{BB962C8B-B14F-4D97-AF65-F5344CB8AC3E}">
        <p14:creationId xmlns:p14="http://schemas.microsoft.com/office/powerpoint/2010/main" val="1585752950"/>
      </p:ext>
    </p:extLst>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2"/>
          <p:cNvSpPr>
            <a:spLocks noGrp="1" noChangeArrowheads="1"/>
          </p:cNvSpPr>
          <p:nvPr>
            <p:ph type="title"/>
          </p:nvPr>
        </p:nvSpPr>
        <p:spPr/>
        <p:txBody>
          <a:bodyPr/>
          <a:lstStyle/>
          <a:p>
            <a:pPr eaLnBrk="1" hangingPunct="1"/>
            <a:r>
              <a:rPr lang="hu-HU" altLang="hu-HU" smtClean="0"/>
              <a:t>Szekvencia-diagram (folyt.)</a:t>
            </a:r>
          </a:p>
        </p:txBody>
      </p:sp>
      <p:sp>
        <p:nvSpPr>
          <p:cNvPr id="11270" name="Rectangle 3"/>
          <p:cNvSpPr>
            <a:spLocks noGrp="1" noChangeArrowheads="1"/>
          </p:cNvSpPr>
          <p:nvPr>
            <p:ph idx="1"/>
          </p:nvPr>
        </p:nvSpPr>
        <p:spPr/>
        <p:txBody>
          <a:bodyPr/>
          <a:lstStyle/>
          <a:p>
            <a:pPr eaLnBrk="1" hangingPunct="1">
              <a:lnSpc>
                <a:spcPct val="90000"/>
              </a:lnSpc>
            </a:pPr>
            <a:r>
              <a:rPr lang="hu-HU" altLang="hu-HU" smtClean="0"/>
              <a:t>A diagramon egy objektum egy dobozként van ábrázolva, egy függőleges szaggatott vonal tetején. </a:t>
            </a:r>
          </a:p>
          <a:p>
            <a:pPr eaLnBrk="1" hangingPunct="1">
              <a:lnSpc>
                <a:spcPct val="90000"/>
              </a:lnSpc>
            </a:pPr>
            <a:r>
              <a:rPr lang="hu-HU" altLang="hu-HU" smtClean="0"/>
              <a:t>A függőleges vonalat </a:t>
            </a:r>
            <a:r>
              <a:rPr lang="hu-HU" altLang="hu-HU" b="1" smtClean="0"/>
              <a:t>életvonalnak</a:t>
            </a:r>
            <a:r>
              <a:rPr lang="hu-HU" altLang="hu-HU" smtClean="0"/>
              <a:t> (</a:t>
            </a:r>
            <a:r>
              <a:rPr lang="hu-HU" altLang="hu-HU" b="1" smtClean="0"/>
              <a:t>life line</a:t>
            </a:r>
            <a:r>
              <a:rPr lang="hu-HU" altLang="hu-HU" smtClean="0"/>
              <a:t>) nevezzük.</a:t>
            </a:r>
          </a:p>
          <a:p>
            <a:pPr lvl="1" eaLnBrk="1" hangingPunct="1">
              <a:lnSpc>
                <a:spcPct val="90000"/>
              </a:lnSpc>
            </a:pPr>
            <a:r>
              <a:rPr lang="hu-HU" altLang="hu-HU" smtClean="0"/>
              <a:t> Az életvonal az objektum működésének lefolyását reprezentálja, az események menetét követve. (Ezért van használatban az </a:t>
            </a:r>
            <a:r>
              <a:rPr lang="hu-HU" altLang="hu-HU" b="1" smtClean="0"/>
              <a:t>eseménykövetési diagram</a:t>
            </a:r>
            <a:r>
              <a:rPr lang="hu-HU" altLang="hu-HU" smtClean="0"/>
              <a:t> elnevezés is.)</a:t>
            </a:r>
          </a:p>
        </p:txBody>
      </p:sp>
      <p:sp>
        <p:nvSpPr>
          <p:cNvPr id="11266" name="Dátum helye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D8E79FCA-9BF7-4B77-83BF-EF2280EA9A75}" type="datetime1">
              <a:rPr lang="hu-HU" altLang="hu-HU"/>
              <a:pPr eaLnBrk="1" hangingPunct="1"/>
              <a:t>2024. 11. 28.</a:t>
            </a:fld>
            <a:endParaRPr lang="hu-HU" altLang="hu-HU"/>
          </a:p>
        </p:txBody>
      </p:sp>
      <p:sp>
        <p:nvSpPr>
          <p:cNvPr id="11267" name="Élőláb helye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hu-HU" altLang="hu-HU"/>
              <a:t>Szoftvertechnológia II.</a:t>
            </a:r>
          </a:p>
        </p:txBody>
      </p:sp>
      <p:sp>
        <p:nvSpPr>
          <p:cNvPr id="11268" name="Dia számának helye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16C36F33-6E57-4EB9-B694-74A9A068D09C}" type="slidenum">
              <a:rPr lang="hu-HU" altLang="hu-HU"/>
              <a:pPr eaLnBrk="1" hangingPunct="1"/>
              <a:t>186</a:t>
            </a:fld>
            <a:endParaRPr lang="hu-HU" altLang="hu-HU"/>
          </a:p>
        </p:txBody>
      </p:sp>
    </p:spTree>
    <p:extLst>
      <p:ext uri="{BB962C8B-B14F-4D97-AF65-F5344CB8AC3E}">
        <p14:creationId xmlns:p14="http://schemas.microsoft.com/office/powerpoint/2010/main" val="4076282514"/>
      </p:ext>
    </p:extLst>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Rectangle 2"/>
          <p:cNvSpPr>
            <a:spLocks noGrp="1" noChangeArrowheads="1"/>
          </p:cNvSpPr>
          <p:nvPr>
            <p:ph type="title"/>
          </p:nvPr>
        </p:nvSpPr>
        <p:spPr/>
        <p:txBody>
          <a:bodyPr/>
          <a:lstStyle/>
          <a:p>
            <a:pPr eaLnBrk="1" hangingPunct="1"/>
            <a:r>
              <a:rPr lang="hu-HU" altLang="hu-HU" sz="3400"/>
              <a:t>Szekvencia-diagram</a:t>
            </a:r>
            <a:br>
              <a:rPr lang="hu-HU" altLang="hu-HU" sz="3400"/>
            </a:br>
            <a:r>
              <a:rPr lang="hu-HU" altLang="hu-HU" sz="3400"/>
              <a:t>Üzenetek</a:t>
            </a:r>
          </a:p>
        </p:txBody>
      </p:sp>
      <p:sp>
        <p:nvSpPr>
          <p:cNvPr id="12294" name="Rectangle 3"/>
          <p:cNvSpPr>
            <a:spLocks noGrp="1" noChangeArrowheads="1"/>
          </p:cNvSpPr>
          <p:nvPr>
            <p:ph idx="1"/>
          </p:nvPr>
        </p:nvSpPr>
        <p:spPr/>
        <p:txBody>
          <a:bodyPr/>
          <a:lstStyle/>
          <a:p>
            <a:pPr eaLnBrk="1" hangingPunct="1">
              <a:lnSpc>
                <a:spcPct val="90000"/>
              </a:lnSpc>
            </a:pPr>
            <a:r>
              <a:rPr lang="hu-HU" altLang="hu-HU" sz="2600"/>
              <a:t>A két objektum közötti üzenetet egy vízszintes nyíl ábrázolja, a két életvonal között húzódva. </a:t>
            </a:r>
          </a:p>
          <a:p>
            <a:pPr eaLnBrk="1" hangingPunct="1">
              <a:lnSpc>
                <a:spcPct val="90000"/>
              </a:lnSpc>
            </a:pPr>
            <a:r>
              <a:rPr lang="hu-HU" altLang="hu-HU" sz="2600"/>
              <a:t>Az üzenetek abban a sorrendben, szekvenciában követik egymást, fentről lefelé haladva, ahogyan egymás után bekövetkeznek. </a:t>
            </a:r>
          </a:p>
          <a:p>
            <a:pPr eaLnBrk="1" hangingPunct="1">
              <a:lnSpc>
                <a:spcPct val="90000"/>
              </a:lnSpc>
            </a:pPr>
            <a:r>
              <a:rPr lang="hu-HU" altLang="hu-HU" sz="2600"/>
              <a:t>A nyilakon fel van tüntetve az üzenet neve. Ehhez még hozzá lehet írni az üzenet argumentumait (vezérlési paramétereit), továbbá bizonyos vezérlési információt is.</a:t>
            </a:r>
            <a:r>
              <a:rPr lang="en-US" altLang="hu-HU" sz="2600"/>
              <a:t> </a:t>
            </a:r>
            <a:endParaRPr lang="hu-HU" altLang="hu-HU" sz="2600"/>
          </a:p>
        </p:txBody>
      </p:sp>
      <p:sp>
        <p:nvSpPr>
          <p:cNvPr id="12290" name="Dátum helye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5B45FBA6-720F-4831-ADD5-D682F176667A}" type="datetime1">
              <a:rPr lang="hu-HU" altLang="hu-HU"/>
              <a:pPr eaLnBrk="1" hangingPunct="1"/>
              <a:t>2024. 11. 28.</a:t>
            </a:fld>
            <a:endParaRPr lang="hu-HU" altLang="hu-HU"/>
          </a:p>
        </p:txBody>
      </p:sp>
      <p:sp>
        <p:nvSpPr>
          <p:cNvPr id="12291" name="Élőláb helye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hu-HU" altLang="hu-HU"/>
              <a:t>Szoftvertechnológia II.</a:t>
            </a:r>
          </a:p>
        </p:txBody>
      </p:sp>
      <p:sp>
        <p:nvSpPr>
          <p:cNvPr id="12292" name="Dia számának helye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03301C32-2A8E-4F74-9825-DF201DBDC7BB}" type="slidenum">
              <a:rPr lang="hu-HU" altLang="hu-HU"/>
              <a:pPr eaLnBrk="1" hangingPunct="1"/>
              <a:t>187</a:t>
            </a:fld>
            <a:endParaRPr lang="hu-HU" altLang="hu-HU"/>
          </a:p>
        </p:txBody>
      </p:sp>
    </p:spTree>
    <p:extLst>
      <p:ext uri="{BB962C8B-B14F-4D97-AF65-F5344CB8AC3E}">
        <p14:creationId xmlns:p14="http://schemas.microsoft.com/office/powerpoint/2010/main" val="4054190294"/>
      </p:ext>
    </p:extLst>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2"/>
          <p:cNvSpPr>
            <a:spLocks noGrp="1" noChangeArrowheads="1"/>
          </p:cNvSpPr>
          <p:nvPr>
            <p:ph type="title"/>
          </p:nvPr>
        </p:nvSpPr>
        <p:spPr/>
        <p:txBody>
          <a:bodyPr/>
          <a:lstStyle/>
          <a:p>
            <a:pPr eaLnBrk="1" hangingPunct="1"/>
            <a:r>
              <a:rPr lang="hu-HU" altLang="hu-HU" smtClean="0"/>
              <a:t>Ön-delegálás</a:t>
            </a:r>
          </a:p>
        </p:txBody>
      </p:sp>
      <p:sp>
        <p:nvSpPr>
          <p:cNvPr id="13318" name="Rectangle 3"/>
          <p:cNvSpPr>
            <a:spLocks noGrp="1" noChangeArrowheads="1"/>
          </p:cNvSpPr>
          <p:nvPr>
            <p:ph idx="1"/>
          </p:nvPr>
        </p:nvSpPr>
        <p:spPr/>
        <p:txBody>
          <a:bodyPr/>
          <a:lstStyle/>
          <a:p>
            <a:pPr eaLnBrk="1" hangingPunct="1"/>
            <a:r>
              <a:rPr lang="hu-HU" altLang="hu-HU" smtClean="0"/>
              <a:t>Self-delegation.</a:t>
            </a:r>
          </a:p>
          <a:p>
            <a:pPr eaLnBrk="1" hangingPunct="1"/>
            <a:r>
              <a:rPr lang="hu-HU" altLang="hu-HU" smtClean="0"/>
              <a:t>Egy objektum önmagának is küldhet üzenetet. </a:t>
            </a:r>
          </a:p>
          <a:p>
            <a:pPr lvl="1" eaLnBrk="1" hangingPunct="1"/>
            <a:r>
              <a:rPr lang="hu-HU" altLang="hu-HU" smtClean="0"/>
              <a:t>Az ilyen eseményt egy visszakanyarodó nyíl jelzi, a saját életvonalból kiindulva, és ugyanoda visszatérve.</a:t>
            </a:r>
          </a:p>
        </p:txBody>
      </p:sp>
      <p:sp>
        <p:nvSpPr>
          <p:cNvPr id="13314" name="Dátum helye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E0EE2248-A748-4595-A96C-720700314514}" type="datetime1">
              <a:rPr lang="hu-HU" altLang="hu-HU"/>
              <a:pPr eaLnBrk="1" hangingPunct="1"/>
              <a:t>2024. 11. 28.</a:t>
            </a:fld>
            <a:endParaRPr lang="hu-HU" altLang="hu-HU"/>
          </a:p>
        </p:txBody>
      </p:sp>
      <p:sp>
        <p:nvSpPr>
          <p:cNvPr id="13315" name="Élőláb helye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hu-HU" altLang="hu-HU"/>
              <a:t>Szoftvertechnológia II.</a:t>
            </a:r>
          </a:p>
        </p:txBody>
      </p:sp>
      <p:sp>
        <p:nvSpPr>
          <p:cNvPr id="13316" name="Dia számának helye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DD673F1F-CF51-4499-96B7-5F8875ADB2D1}" type="slidenum">
              <a:rPr lang="hu-HU" altLang="hu-HU"/>
              <a:pPr eaLnBrk="1" hangingPunct="1"/>
              <a:t>188</a:t>
            </a:fld>
            <a:endParaRPr lang="hu-HU" altLang="hu-HU"/>
          </a:p>
        </p:txBody>
      </p:sp>
    </p:spTree>
    <p:extLst>
      <p:ext uri="{BB962C8B-B14F-4D97-AF65-F5344CB8AC3E}">
        <p14:creationId xmlns:p14="http://schemas.microsoft.com/office/powerpoint/2010/main" val="424219870"/>
      </p:ext>
    </p:extLst>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2"/>
          <p:cNvSpPr>
            <a:spLocks noGrp="1" noChangeArrowheads="1"/>
          </p:cNvSpPr>
          <p:nvPr>
            <p:ph type="title"/>
          </p:nvPr>
        </p:nvSpPr>
        <p:spPr/>
        <p:txBody>
          <a:bodyPr/>
          <a:lstStyle/>
          <a:p>
            <a:pPr eaLnBrk="1" hangingPunct="1"/>
            <a:r>
              <a:rPr lang="hu-HU" altLang="hu-HU" smtClean="0"/>
              <a:t>Vezérlési információ megadása</a:t>
            </a:r>
          </a:p>
        </p:txBody>
      </p:sp>
      <p:sp>
        <p:nvSpPr>
          <p:cNvPr id="14342" name="Rectangle 3"/>
          <p:cNvSpPr>
            <a:spLocks noGrp="1" noChangeArrowheads="1"/>
          </p:cNvSpPr>
          <p:nvPr>
            <p:ph idx="1"/>
          </p:nvPr>
        </p:nvSpPr>
        <p:spPr/>
        <p:txBody>
          <a:bodyPr/>
          <a:lstStyle/>
          <a:p>
            <a:pPr eaLnBrk="1" hangingPunct="1"/>
            <a:r>
              <a:rPr lang="hu-HU" altLang="hu-HU" smtClean="0"/>
              <a:t>Meg lehet adni annak a </a:t>
            </a:r>
            <a:r>
              <a:rPr lang="hu-HU" altLang="hu-HU" b="1" smtClean="0"/>
              <a:t>feltételét</a:t>
            </a:r>
            <a:r>
              <a:rPr lang="hu-HU" altLang="hu-HU" smtClean="0"/>
              <a:t> (</a:t>
            </a:r>
            <a:r>
              <a:rPr lang="hu-HU" altLang="hu-HU" b="1" smtClean="0"/>
              <a:t>Condition</a:t>
            </a:r>
            <a:r>
              <a:rPr lang="hu-HU" altLang="hu-HU" smtClean="0"/>
              <a:t>), hogy mikor, mitől függően lesz elküldve egy üzenet. </a:t>
            </a:r>
          </a:p>
          <a:p>
            <a:pPr eaLnBrk="1" hangingPunct="1"/>
            <a:r>
              <a:rPr lang="hu-HU" altLang="hu-HU" smtClean="0"/>
              <a:t>Hasznos vezérlési jelölés az ún. </a:t>
            </a:r>
            <a:r>
              <a:rPr lang="hu-HU" altLang="hu-HU" b="1" smtClean="0"/>
              <a:t>ismétlési jel (iteration marker</a:t>
            </a:r>
            <a:r>
              <a:rPr lang="hu-HU" altLang="hu-HU" smtClean="0"/>
              <a:t>), ami azt mutatja, hogy egy üzenet több alkalommal lesz elküldve.</a:t>
            </a:r>
            <a:r>
              <a:rPr lang="hu-HU" altLang="hu-HU" sz="3400"/>
              <a:t> </a:t>
            </a:r>
            <a:endParaRPr lang="hu-HU" altLang="hu-HU" smtClean="0"/>
          </a:p>
        </p:txBody>
      </p:sp>
      <p:sp>
        <p:nvSpPr>
          <p:cNvPr id="14338" name="Dátum helye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B0CCC484-704B-4B4A-9602-F3E685A6244D}" type="datetime1">
              <a:rPr lang="hu-HU" altLang="hu-HU"/>
              <a:pPr eaLnBrk="1" hangingPunct="1"/>
              <a:t>2024. 11. 28.</a:t>
            </a:fld>
            <a:endParaRPr lang="hu-HU" altLang="hu-HU"/>
          </a:p>
        </p:txBody>
      </p:sp>
      <p:sp>
        <p:nvSpPr>
          <p:cNvPr id="14339" name="Élőláb helye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hu-HU" altLang="hu-HU"/>
              <a:t>Szoftvertechnológia II.</a:t>
            </a:r>
          </a:p>
        </p:txBody>
      </p:sp>
      <p:sp>
        <p:nvSpPr>
          <p:cNvPr id="14340" name="Dia számának helye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3C391479-F313-4D0F-8AE3-94C591BADD57}" type="slidenum">
              <a:rPr lang="hu-HU" altLang="hu-HU"/>
              <a:pPr eaLnBrk="1" hangingPunct="1"/>
              <a:t>189</a:t>
            </a:fld>
            <a:endParaRPr lang="hu-HU" altLang="hu-HU"/>
          </a:p>
        </p:txBody>
      </p:sp>
    </p:spTree>
    <p:extLst>
      <p:ext uri="{BB962C8B-B14F-4D97-AF65-F5344CB8AC3E}">
        <p14:creationId xmlns:p14="http://schemas.microsoft.com/office/powerpoint/2010/main" val="3255153996"/>
      </p:ext>
    </p:extLst>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2"/>
          <p:cNvSpPr>
            <a:spLocks noGrp="1" noChangeArrowheads="1"/>
          </p:cNvSpPr>
          <p:nvPr>
            <p:ph type="title"/>
          </p:nvPr>
        </p:nvSpPr>
        <p:spPr/>
        <p:txBody>
          <a:bodyPr/>
          <a:lstStyle/>
          <a:p>
            <a:pPr eaLnBrk="1" hangingPunct="1"/>
            <a:r>
              <a:rPr lang="hu-HU" altLang="hu-HU" sz="3400"/>
              <a:t>Konkurrens folyamatok és aktiválások</a:t>
            </a:r>
          </a:p>
        </p:txBody>
      </p:sp>
      <p:pic>
        <p:nvPicPr>
          <p:cNvPr id="15366"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3384" b="8408"/>
          <a:stretch>
            <a:fillRect/>
          </a:stretch>
        </p:blipFill>
        <p:spPr>
          <a:xfrm>
            <a:off x="3143250" y="1700214"/>
            <a:ext cx="5976938" cy="4478337"/>
          </a:xfrm>
          <a:noFill/>
        </p:spPr>
      </p:pic>
      <p:sp>
        <p:nvSpPr>
          <p:cNvPr id="15362" name="Dátum helye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5A478040-1B78-4261-BBEB-5188503BC7F2}" type="datetime1">
              <a:rPr lang="hu-HU" altLang="hu-HU"/>
              <a:pPr eaLnBrk="1" hangingPunct="1"/>
              <a:t>2024. 11. 28.</a:t>
            </a:fld>
            <a:endParaRPr lang="hu-HU" altLang="hu-HU"/>
          </a:p>
        </p:txBody>
      </p:sp>
      <p:sp>
        <p:nvSpPr>
          <p:cNvPr id="15363" name="Élőláb helye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hu-HU" altLang="hu-HU"/>
              <a:t>Szoftvertechnológia II.</a:t>
            </a:r>
          </a:p>
        </p:txBody>
      </p:sp>
      <p:sp>
        <p:nvSpPr>
          <p:cNvPr id="15364" name="Dia számának helye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162EFF43-90F8-47EC-B606-42F91C2BE017}" type="slidenum">
              <a:rPr lang="hu-HU" altLang="hu-HU"/>
              <a:pPr eaLnBrk="1" hangingPunct="1"/>
              <a:t>190</a:t>
            </a:fld>
            <a:endParaRPr lang="hu-HU" altLang="hu-HU"/>
          </a:p>
        </p:txBody>
      </p:sp>
    </p:spTree>
    <p:extLst>
      <p:ext uri="{BB962C8B-B14F-4D97-AF65-F5344CB8AC3E}">
        <p14:creationId xmlns:p14="http://schemas.microsoft.com/office/powerpoint/2010/main" val="395351927"/>
      </p:ext>
    </p:extLst>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2"/>
          <p:cNvSpPr>
            <a:spLocks noGrp="1" noChangeArrowheads="1"/>
          </p:cNvSpPr>
          <p:nvPr>
            <p:ph type="title"/>
          </p:nvPr>
        </p:nvSpPr>
        <p:spPr/>
        <p:txBody>
          <a:bodyPr/>
          <a:lstStyle/>
          <a:p>
            <a:pPr eaLnBrk="1" hangingPunct="1"/>
            <a:r>
              <a:rPr lang="hu-HU" altLang="hu-HU" sz="3400"/>
              <a:t>Szekvencia-diagram tranzakció-ellenőrzéssel</a:t>
            </a:r>
          </a:p>
        </p:txBody>
      </p:sp>
      <p:pic>
        <p:nvPicPr>
          <p:cNvPr id="16390"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4060" t="3831" r="3868" b="10081"/>
          <a:stretch>
            <a:fillRect/>
          </a:stretch>
        </p:blipFill>
        <p:spPr>
          <a:xfrm>
            <a:off x="2782888" y="1666876"/>
            <a:ext cx="6553200" cy="4519613"/>
          </a:xfrm>
          <a:noFill/>
        </p:spPr>
      </p:pic>
      <p:sp>
        <p:nvSpPr>
          <p:cNvPr id="16386" name="Dátum helye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D5075D17-3148-4766-9026-ED8BE925E9C1}" type="datetime1">
              <a:rPr lang="hu-HU" altLang="hu-HU"/>
              <a:pPr eaLnBrk="1" hangingPunct="1"/>
              <a:t>2024. 11. 28.</a:t>
            </a:fld>
            <a:endParaRPr lang="hu-HU" altLang="hu-HU"/>
          </a:p>
        </p:txBody>
      </p:sp>
      <p:sp>
        <p:nvSpPr>
          <p:cNvPr id="16387" name="Élőláb helye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hu-HU" altLang="hu-HU"/>
              <a:t>Szoftvertechnológia II.</a:t>
            </a:r>
          </a:p>
        </p:txBody>
      </p:sp>
      <p:sp>
        <p:nvSpPr>
          <p:cNvPr id="16388" name="Dia számának helye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5884BEB0-9BDC-4F9E-9ACD-403D5AFD8955}" type="slidenum">
              <a:rPr lang="hu-HU" altLang="hu-HU"/>
              <a:pPr eaLnBrk="1" hangingPunct="1"/>
              <a:t>191</a:t>
            </a:fld>
            <a:endParaRPr lang="hu-HU" altLang="hu-HU"/>
          </a:p>
        </p:txBody>
      </p:sp>
    </p:spTree>
    <p:extLst>
      <p:ext uri="{BB962C8B-B14F-4D97-AF65-F5344CB8AC3E}">
        <p14:creationId xmlns:p14="http://schemas.microsoft.com/office/powerpoint/2010/main" val="2285553991"/>
      </p:ext>
    </p:extLst>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Rectangle 2"/>
          <p:cNvSpPr>
            <a:spLocks noGrp="1" noChangeArrowheads="1"/>
          </p:cNvSpPr>
          <p:nvPr>
            <p:ph type="title"/>
          </p:nvPr>
        </p:nvSpPr>
        <p:spPr/>
        <p:txBody>
          <a:bodyPr/>
          <a:lstStyle/>
          <a:p>
            <a:pPr eaLnBrk="1" hangingPunct="1"/>
            <a:r>
              <a:rPr lang="hu-HU" altLang="hu-HU" sz="3400"/>
              <a:t>Szekvencia-diagramok a gyakorlatban</a:t>
            </a:r>
            <a:endParaRPr lang="hu-HU" altLang="hu-HU" sz="1400"/>
          </a:p>
        </p:txBody>
      </p:sp>
      <p:sp>
        <p:nvSpPr>
          <p:cNvPr id="17414" name="Rectangle 5"/>
          <p:cNvSpPr>
            <a:spLocks noGrp="1" noChangeArrowheads="1"/>
          </p:cNvSpPr>
          <p:nvPr>
            <p:ph idx="1"/>
          </p:nvPr>
        </p:nvSpPr>
        <p:spPr/>
        <p:txBody>
          <a:bodyPr/>
          <a:lstStyle/>
          <a:p>
            <a:pPr eaLnBrk="1" hangingPunct="1"/>
            <a:r>
              <a:rPr lang="hu-HU" altLang="hu-HU" smtClean="0"/>
              <a:t>Elemzési szakasz:</a:t>
            </a:r>
          </a:p>
          <a:p>
            <a:pPr lvl="1" eaLnBrk="1" hangingPunct="1"/>
            <a:r>
              <a:rPr lang="hu-HU" altLang="hu-HU" smtClean="0"/>
              <a:t>Üzenetekre koncentráló (SSD).</a:t>
            </a:r>
          </a:p>
          <a:p>
            <a:pPr lvl="1" eaLnBrk="1" hangingPunct="1"/>
            <a:r>
              <a:rPr lang="hu-HU" altLang="hu-HU" smtClean="0"/>
              <a:t>Teljes.</a:t>
            </a:r>
          </a:p>
          <a:p>
            <a:pPr eaLnBrk="1" hangingPunct="1"/>
            <a:r>
              <a:rPr lang="hu-HU" altLang="hu-HU" smtClean="0"/>
              <a:t>Tervezési szakasz:</a:t>
            </a:r>
          </a:p>
          <a:p>
            <a:pPr lvl="1" eaLnBrk="1" hangingPunct="1"/>
            <a:r>
              <a:rPr lang="hu-HU" altLang="hu-HU" smtClean="0"/>
              <a:t>Technikai részletekre is kiterjedő.</a:t>
            </a:r>
          </a:p>
        </p:txBody>
      </p:sp>
      <p:sp>
        <p:nvSpPr>
          <p:cNvPr id="17410" name="Dátum helye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D9740D7E-065E-4617-959E-85649167A9F4}" type="datetime1">
              <a:rPr lang="hu-HU" altLang="hu-HU"/>
              <a:pPr eaLnBrk="1" hangingPunct="1"/>
              <a:t>2024. 11. 28.</a:t>
            </a:fld>
            <a:endParaRPr lang="hu-HU" altLang="hu-HU"/>
          </a:p>
        </p:txBody>
      </p:sp>
      <p:sp>
        <p:nvSpPr>
          <p:cNvPr id="17411" name="Élőláb helye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hu-HU" altLang="hu-HU"/>
              <a:t>Szoftvertechnológia II.</a:t>
            </a:r>
          </a:p>
        </p:txBody>
      </p:sp>
      <p:sp>
        <p:nvSpPr>
          <p:cNvPr id="17412" name="Dia számának helye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E11FD21D-8B01-441C-BB07-4B296677CF49}" type="slidenum">
              <a:rPr lang="hu-HU" altLang="hu-HU"/>
              <a:pPr eaLnBrk="1" hangingPunct="1"/>
              <a:t>192</a:t>
            </a:fld>
            <a:endParaRPr lang="hu-HU" altLang="hu-HU"/>
          </a:p>
        </p:txBody>
      </p:sp>
    </p:spTree>
    <p:extLst>
      <p:ext uri="{BB962C8B-B14F-4D97-AF65-F5344CB8AC3E}">
        <p14:creationId xmlns:p14="http://schemas.microsoft.com/office/powerpoint/2010/main" val="423080526"/>
      </p:ext>
    </p:extLst>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Rectangle 2"/>
          <p:cNvSpPr>
            <a:spLocks noGrp="1" noChangeArrowheads="1"/>
          </p:cNvSpPr>
          <p:nvPr>
            <p:ph type="title"/>
          </p:nvPr>
        </p:nvSpPr>
        <p:spPr/>
        <p:txBody>
          <a:bodyPr/>
          <a:lstStyle/>
          <a:p>
            <a:pPr eaLnBrk="1" hangingPunct="1"/>
            <a:r>
              <a:rPr lang="hu-HU" altLang="hu-HU" smtClean="0"/>
              <a:t>Példa (SSD)</a:t>
            </a:r>
          </a:p>
        </p:txBody>
      </p:sp>
      <p:pic>
        <p:nvPicPr>
          <p:cNvPr id="18438"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4070" t="8826" r="1613" b="5119"/>
          <a:stretch>
            <a:fillRect/>
          </a:stretch>
        </p:blipFill>
        <p:spPr>
          <a:xfrm>
            <a:off x="1524000" y="2220913"/>
            <a:ext cx="9144000" cy="3389312"/>
          </a:xfrm>
          <a:noFill/>
        </p:spPr>
      </p:pic>
      <p:sp>
        <p:nvSpPr>
          <p:cNvPr id="18434" name="Dátum helye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69CCAB85-8770-44C1-82DB-E16738302896}" type="datetime1">
              <a:rPr lang="hu-HU" altLang="hu-HU"/>
              <a:pPr eaLnBrk="1" hangingPunct="1"/>
              <a:t>2024. 11. 28.</a:t>
            </a:fld>
            <a:endParaRPr lang="hu-HU" altLang="hu-HU"/>
          </a:p>
        </p:txBody>
      </p:sp>
      <p:sp>
        <p:nvSpPr>
          <p:cNvPr id="18435" name="Élőláb helye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hu-HU" altLang="hu-HU"/>
              <a:t>Szoftvertechnológia II.</a:t>
            </a:r>
          </a:p>
        </p:txBody>
      </p:sp>
      <p:sp>
        <p:nvSpPr>
          <p:cNvPr id="18436" name="Dia számának helye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4475474F-FC24-4D1E-93F4-DB479C28AEBC}" type="slidenum">
              <a:rPr lang="hu-HU" altLang="hu-HU"/>
              <a:pPr eaLnBrk="1" hangingPunct="1"/>
              <a:t>193</a:t>
            </a:fld>
            <a:endParaRPr lang="hu-HU" altLang="hu-HU"/>
          </a:p>
        </p:txBody>
      </p:sp>
    </p:spTree>
    <p:extLst>
      <p:ext uri="{BB962C8B-B14F-4D97-AF65-F5344CB8AC3E}">
        <p14:creationId xmlns:p14="http://schemas.microsoft.com/office/powerpoint/2010/main" val="2967041840"/>
      </p:ext>
    </p:extLst>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745" t="3380" r="1823" b="2109"/>
          <a:stretch>
            <a:fillRect/>
          </a:stretch>
        </p:blipFill>
        <p:spPr>
          <a:xfrm>
            <a:off x="1774826" y="163514"/>
            <a:ext cx="8569325" cy="6694487"/>
          </a:xfrm>
          <a:noFill/>
        </p:spPr>
      </p:pic>
      <p:sp>
        <p:nvSpPr>
          <p:cNvPr id="19459" name="Dátum helye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5ED86D3A-447A-4961-8908-8B842580E3AB}" type="datetime1">
              <a:rPr lang="hu-HU" altLang="hu-HU"/>
              <a:pPr eaLnBrk="1" hangingPunct="1"/>
              <a:t>2024. 11. 28.</a:t>
            </a:fld>
            <a:endParaRPr lang="hu-HU" altLang="hu-HU"/>
          </a:p>
        </p:txBody>
      </p:sp>
      <p:sp>
        <p:nvSpPr>
          <p:cNvPr id="19460" name="Élőláb helye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hu-HU" altLang="hu-HU"/>
              <a:t>Szoftvertechnológia II.</a:t>
            </a:r>
          </a:p>
        </p:txBody>
      </p:sp>
      <p:sp>
        <p:nvSpPr>
          <p:cNvPr id="19461" name="Dia számának helye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01657D5F-D5D4-40F8-997E-A2BFDE954100}" type="slidenum">
              <a:rPr lang="hu-HU" altLang="hu-HU"/>
              <a:pPr eaLnBrk="1" hangingPunct="1"/>
              <a:t>194</a:t>
            </a:fld>
            <a:endParaRPr lang="hu-HU" altLang="hu-HU"/>
          </a:p>
        </p:txBody>
      </p:sp>
    </p:spTree>
    <p:extLst>
      <p:ext uri="{BB962C8B-B14F-4D97-AF65-F5344CB8AC3E}">
        <p14:creationId xmlns:p14="http://schemas.microsoft.com/office/powerpoint/2010/main" val="3921003843"/>
      </p:ext>
    </p:extLst>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Dátum helye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E7D5BB89-0A92-44F3-8D36-025679C5C2A2}" type="datetime1">
              <a:rPr lang="hu-HU" altLang="hu-HU"/>
              <a:pPr eaLnBrk="1" hangingPunct="1"/>
              <a:t>2024. 11. 28.</a:t>
            </a:fld>
            <a:endParaRPr lang="hu-HU" altLang="hu-HU"/>
          </a:p>
        </p:txBody>
      </p:sp>
      <p:sp>
        <p:nvSpPr>
          <p:cNvPr id="20483" name="Élőláb helye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hu-HU" altLang="hu-HU"/>
              <a:t>Szoftvertechnológia II.</a:t>
            </a:r>
          </a:p>
        </p:txBody>
      </p:sp>
      <p:sp>
        <p:nvSpPr>
          <p:cNvPr id="20484" name="Dia számának helye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377FE80F-58F6-4406-9F3F-FA965422A7BF}" type="slidenum">
              <a:rPr lang="hu-HU" altLang="hu-HU"/>
              <a:pPr eaLnBrk="1" hangingPunct="1"/>
              <a:t>195</a:t>
            </a:fld>
            <a:endParaRPr lang="hu-HU" altLang="hu-HU"/>
          </a:p>
        </p:txBody>
      </p:sp>
      <p:pic>
        <p:nvPicPr>
          <p:cNvPr id="20485" name="Picture 4" descr="Kati-Sequ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1851" y="0"/>
            <a:ext cx="50577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23657955"/>
      </p:ext>
    </p:extLst>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Rectangle 2"/>
          <p:cNvSpPr>
            <a:spLocks noGrp="1" noChangeArrowheads="1"/>
          </p:cNvSpPr>
          <p:nvPr>
            <p:ph type="title"/>
          </p:nvPr>
        </p:nvSpPr>
        <p:spPr/>
        <p:txBody>
          <a:bodyPr/>
          <a:lstStyle/>
          <a:p>
            <a:pPr eaLnBrk="1" hangingPunct="1"/>
            <a:r>
              <a:rPr lang="hu-HU" altLang="hu-HU" smtClean="0"/>
              <a:t>Együttműködési diagram</a:t>
            </a:r>
          </a:p>
        </p:txBody>
      </p:sp>
      <p:sp>
        <p:nvSpPr>
          <p:cNvPr id="21510" name="Rectangle 3"/>
          <p:cNvSpPr>
            <a:spLocks noGrp="1" noChangeArrowheads="1"/>
          </p:cNvSpPr>
          <p:nvPr>
            <p:ph idx="1"/>
          </p:nvPr>
        </p:nvSpPr>
        <p:spPr/>
        <p:txBody>
          <a:bodyPr/>
          <a:lstStyle/>
          <a:p>
            <a:pPr eaLnBrk="1" hangingPunct="1">
              <a:lnSpc>
                <a:spcPct val="90000"/>
              </a:lnSpc>
            </a:pPr>
            <a:r>
              <a:rPr lang="hu-HU" altLang="hu-HU" sz="2600"/>
              <a:t>Az osztály-diagrammal való kapcsolatot jeleníti meg. </a:t>
            </a:r>
          </a:p>
          <a:p>
            <a:pPr eaLnBrk="1" hangingPunct="1">
              <a:lnSpc>
                <a:spcPct val="90000"/>
              </a:lnSpc>
            </a:pPr>
            <a:r>
              <a:rPr lang="hu-HU" altLang="hu-HU" sz="2600"/>
              <a:t>Az objektumok közötti kölcsönhatást üzenetek halmazaként ábrázolják, ahol az üzeneteket az egyik objektum küldi a másiknak, valamilyen részfunkció teljesítése céljából. </a:t>
            </a:r>
          </a:p>
          <a:p>
            <a:pPr lvl="1" eaLnBrk="1" hangingPunct="1">
              <a:lnSpc>
                <a:spcPct val="90000"/>
              </a:lnSpc>
            </a:pPr>
            <a:r>
              <a:rPr lang="hu-HU" altLang="hu-HU" sz="2200"/>
              <a:t>Ennek a megjelenítési módnak fontos sajátsága az, hogy az üzenetek csoportosan, bekövetkezésük sorrendjében vannak feltüntetve.</a:t>
            </a:r>
          </a:p>
        </p:txBody>
      </p:sp>
      <p:sp>
        <p:nvSpPr>
          <p:cNvPr id="21506" name="Dátum helye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97B1C090-59A5-4B29-A63D-050F8769B4FB}" type="datetime1">
              <a:rPr lang="hu-HU" altLang="hu-HU"/>
              <a:pPr eaLnBrk="1" hangingPunct="1"/>
              <a:t>2024. 11. 28.</a:t>
            </a:fld>
            <a:endParaRPr lang="hu-HU" altLang="hu-HU"/>
          </a:p>
        </p:txBody>
      </p:sp>
      <p:sp>
        <p:nvSpPr>
          <p:cNvPr id="21507" name="Élőláb helye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hu-HU" altLang="hu-HU"/>
              <a:t>Szoftvertechnológia II.</a:t>
            </a:r>
          </a:p>
        </p:txBody>
      </p:sp>
      <p:sp>
        <p:nvSpPr>
          <p:cNvPr id="21508" name="Dia számának helye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A49B12C0-D46D-49B3-BC68-96E57B7277E4}" type="slidenum">
              <a:rPr lang="hu-HU" altLang="hu-HU"/>
              <a:pPr eaLnBrk="1" hangingPunct="1"/>
              <a:t>196</a:t>
            </a:fld>
            <a:endParaRPr lang="hu-HU" altLang="hu-HU"/>
          </a:p>
        </p:txBody>
      </p:sp>
    </p:spTree>
    <p:extLst>
      <p:ext uri="{BB962C8B-B14F-4D97-AF65-F5344CB8AC3E}">
        <p14:creationId xmlns:p14="http://schemas.microsoft.com/office/powerpoint/2010/main" val="3715042452"/>
      </p:ext>
    </p:extLst>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2"/>
          <p:cNvSpPr>
            <a:spLocks noGrp="1" noChangeArrowheads="1"/>
          </p:cNvSpPr>
          <p:nvPr>
            <p:ph type="title"/>
          </p:nvPr>
        </p:nvSpPr>
        <p:spPr/>
        <p:txBody>
          <a:bodyPr/>
          <a:lstStyle/>
          <a:p>
            <a:pPr eaLnBrk="1" hangingPunct="1"/>
            <a:r>
              <a:rPr lang="hu-HU" altLang="hu-HU" sz="3400"/>
              <a:t>Együttműködési diagram (folyt.)</a:t>
            </a:r>
          </a:p>
        </p:txBody>
      </p:sp>
      <p:sp>
        <p:nvSpPr>
          <p:cNvPr id="22534" name="Rectangle 3"/>
          <p:cNvSpPr>
            <a:spLocks noGrp="1" noChangeArrowheads="1"/>
          </p:cNvSpPr>
          <p:nvPr>
            <p:ph idx="1"/>
          </p:nvPr>
        </p:nvSpPr>
        <p:spPr/>
        <p:txBody>
          <a:bodyPr/>
          <a:lstStyle/>
          <a:p>
            <a:pPr eaLnBrk="1" hangingPunct="1"/>
            <a:r>
              <a:rPr lang="hu-HU" altLang="hu-HU" smtClean="0"/>
              <a:t>Az objektumok a diagramon téglalapokkal vannak feltüntetve.</a:t>
            </a:r>
          </a:p>
          <a:p>
            <a:pPr eaLnBrk="1" hangingPunct="1"/>
            <a:r>
              <a:rPr lang="hu-HU" altLang="hu-HU" smtClean="0"/>
              <a:t>Az objektumok közti üzeneteket nyilakkal jelöljük, hasonlóan a szekvencia-diagramokhoz.</a:t>
            </a:r>
          </a:p>
        </p:txBody>
      </p:sp>
      <p:sp>
        <p:nvSpPr>
          <p:cNvPr id="22530" name="Dátum helye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D070A834-494C-4082-9A7F-CFCED1B13EBF}" type="datetime1">
              <a:rPr lang="hu-HU" altLang="hu-HU"/>
              <a:pPr eaLnBrk="1" hangingPunct="1"/>
              <a:t>2024. 11. 28.</a:t>
            </a:fld>
            <a:endParaRPr lang="hu-HU" altLang="hu-HU"/>
          </a:p>
        </p:txBody>
      </p:sp>
      <p:sp>
        <p:nvSpPr>
          <p:cNvPr id="22531" name="Élőláb helye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hu-HU" altLang="hu-HU"/>
              <a:t>Szoftvertechnológia II.</a:t>
            </a:r>
          </a:p>
        </p:txBody>
      </p:sp>
      <p:sp>
        <p:nvSpPr>
          <p:cNvPr id="22532" name="Dia számának helye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4D9C507E-029D-453C-8A12-E6BDC3351247}" type="slidenum">
              <a:rPr lang="hu-HU" altLang="hu-HU"/>
              <a:pPr eaLnBrk="1" hangingPunct="1"/>
              <a:t>197</a:t>
            </a:fld>
            <a:endParaRPr lang="hu-HU" altLang="hu-HU"/>
          </a:p>
        </p:txBody>
      </p:sp>
    </p:spTree>
    <p:extLst>
      <p:ext uri="{BB962C8B-B14F-4D97-AF65-F5344CB8AC3E}">
        <p14:creationId xmlns:p14="http://schemas.microsoft.com/office/powerpoint/2010/main" val="3977205363"/>
      </p:ext>
    </p:extLst>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2"/>
          <p:cNvSpPr>
            <a:spLocks noGrp="1" noChangeArrowheads="1"/>
          </p:cNvSpPr>
          <p:nvPr>
            <p:ph type="title"/>
          </p:nvPr>
        </p:nvSpPr>
        <p:spPr/>
        <p:txBody>
          <a:bodyPr/>
          <a:lstStyle/>
          <a:p>
            <a:pPr eaLnBrk="1" hangingPunct="1"/>
            <a:r>
              <a:rPr lang="hu-HU" altLang="hu-HU" sz="3400"/>
              <a:t>Együttműködési diagram egyszerű számozással</a:t>
            </a:r>
          </a:p>
        </p:txBody>
      </p:sp>
      <p:pic>
        <p:nvPicPr>
          <p:cNvPr id="23558"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354263" y="1752600"/>
            <a:ext cx="7472362" cy="4267200"/>
          </a:xfrm>
          <a:noFill/>
        </p:spPr>
      </p:pic>
      <p:sp>
        <p:nvSpPr>
          <p:cNvPr id="23554" name="Dátum helye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0B4D7068-D770-4F04-B6C3-08E0624EE57A}" type="datetime1">
              <a:rPr lang="hu-HU" altLang="hu-HU"/>
              <a:pPr eaLnBrk="1" hangingPunct="1"/>
              <a:t>2024. 11. 28.</a:t>
            </a:fld>
            <a:endParaRPr lang="hu-HU" altLang="hu-HU"/>
          </a:p>
        </p:txBody>
      </p:sp>
      <p:sp>
        <p:nvSpPr>
          <p:cNvPr id="23555" name="Élőláb helye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hu-HU" altLang="hu-HU"/>
              <a:t>Szoftvertechnológia II.</a:t>
            </a:r>
          </a:p>
        </p:txBody>
      </p:sp>
      <p:sp>
        <p:nvSpPr>
          <p:cNvPr id="23556" name="Dia számának helye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D0CFBB20-9F4F-4983-AD99-6B6833480FF3}" type="slidenum">
              <a:rPr lang="hu-HU" altLang="hu-HU"/>
              <a:pPr eaLnBrk="1" hangingPunct="1"/>
              <a:t>198</a:t>
            </a:fld>
            <a:endParaRPr lang="hu-HU" altLang="hu-HU"/>
          </a:p>
        </p:txBody>
      </p:sp>
    </p:spTree>
    <p:extLst>
      <p:ext uri="{BB962C8B-B14F-4D97-AF65-F5344CB8AC3E}">
        <p14:creationId xmlns:p14="http://schemas.microsoft.com/office/powerpoint/2010/main" val="964886844"/>
      </p:ext>
    </p:extLst>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2"/>
          <p:cNvSpPr>
            <a:spLocks noGrp="1" noChangeArrowheads="1"/>
          </p:cNvSpPr>
          <p:nvPr>
            <p:ph type="title"/>
          </p:nvPr>
        </p:nvSpPr>
        <p:spPr/>
        <p:txBody>
          <a:bodyPr/>
          <a:lstStyle/>
          <a:p>
            <a:pPr eaLnBrk="1" hangingPunct="1"/>
            <a:r>
              <a:rPr lang="hu-HU" altLang="hu-HU" sz="3400"/>
              <a:t>Együttműködési diagram decimális osztású számozással</a:t>
            </a:r>
          </a:p>
        </p:txBody>
      </p:sp>
      <p:pic>
        <p:nvPicPr>
          <p:cNvPr id="24582"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532063" y="1752600"/>
            <a:ext cx="7116762" cy="4267200"/>
          </a:xfrm>
          <a:noFill/>
        </p:spPr>
      </p:pic>
      <p:sp>
        <p:nvSpPr>
          <p:cNvPr id="24578" name="Dátum helye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F9D5E17F-3E9D-4244-8523-AB849B950F48}" type="datetime1">
              <a:rPr lang="hu-HU" altLang="hu-HU"/>
              <a:pPr eaLnBrk="1" hangingPunct="1"/>
              <a:t>2024. 11. 28.</a:t>
            </a:fld>
            <a:endParaRPr lang="hu-HU" altLang="hu-HU"/>
          </a:p>
        </p:txBody>
      </p:sp>
      <p:sp>
        <p:nvSpPr>
          <p:cNvPr id="24579" name="Élőláb helye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hu-HU" altLang="hu-HU"/>
              <a:t>Szoftvertechnológia II.</a:t>
            </a:r>
          </a:p>
        </p:txBody>
      </p:sp>
      <p:sp>
        <p:nvSpPr>
          <p:cNvPr id="24580" name="Dia számának helye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CAD09826-EE5F-4E1E-95D8-93635500B7AD}" type="slidenum">
              <a:rPr lang="hu-HU" altLang="hu-HU"/>
              <a:pPr eaLnBrk="1" hangingPunct="1"/>
              <a:t>199</a:t>
            </a:fld>
            <a:endParaRPr lang="hu-HU" altLang="hu-HU"/>
          </a:p>
        </p:txBody>
      </p:sp>
    </p:spTree>
    <p:extLst>
      <p:ext uri="{BB962C8B-B14F-4D97-AF65-F5344CB8AC3E}">
        <p14:creationId xmlns:p14="http://schemas.microsoft.com/office/powerpoint/2010/main" val="2593265713"/>
      </p:ext>
    </p:extLst>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2"/>
          <p:cNvSpPr>
            <a:spLocks noGrp="1" noChangeArrowheads="1"/>
          </p:cNvSpPr>
          <p:nvPr>
            <p:ph type="title"/>
          </p:nvPr>
        </p:nvSpPr>
        <p:spPr/>
        <p:txBody>
          <a:bodyPr/>
          <a:lstStyle/>
          <a:p>
            <a:pPr eaLnBrk="1" hangingPunct="1"/>
            <a:r>
              <a:rPr lang="hu-HU" altLang="hu-HU" sz="3400"/>
              <a:t>Könyvtári kölcsönzés business (üzleti) use case diagramja</a:t>
            </a:r>
          </a:p>
        </p:txBody>
      </p:sp>
      <p:pic>
        <p:nvPicPr>
          <p:cNvPr id="25606"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359026" y="1763714"/>
            <a:ext cx="7464425" cy="4243387"/>
          </a:xfrm>
          <a:noFill/>
        </p:spPr>
      </p:pic>
      <p:sp>
        <p:nvSpPr>
          <p:cNvPr id="25602" name="Dátum helye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6F9ED59F-86E9-4121-8EA0-CA7B610D52E5}" type="datetime1">
              <a:rPr lang="hu-HU" altLang="hu-HU"/>
              <a:pPr eaLnBrk="1" hangingPunct="1"/>
              <a:t>2024. 11. 28.</a:t>
            </a:fld>
            <a:endParaRPr lang="hu-HU" altLang="hu-HU"/>
          </a:p>
        </p:txBody>
      </p:sp>
      <p:sp>
        <p:nvSpPr>
          <p:cNvPr id="25603" name="Élőláb helye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hu-HU" altLang="hu-HU"/>
              <a:t>Szoftvertechnológia II.</a:t>
            </a:r>
          </a:p>
        </p:txBody>
      </p:sp>
      <p:sp>
        <p:nvSpPr>
          <p:cNvPr id="25604" name="Dia számának helye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6DDE9F6B-0D70-42EB-B657-F2C347194A38}" type="slidenum">
              <a:rPr lang="hu-HU" altLang="hu-HU"/>
              <a:pPr eaLnBrk="1" hangingPunct="1"/>
              <a:t>200</a:t>
            </a:fld>
            <a:endParaRPr lang="hu-HU" altLang="hu-HU"/>
          </a:p>
        </p:txBody>
      </p:sp>
    </p:spTree>
    <p:extLst>
      <p:ext uri="{BB962C8B-B14F-4D97-AF65-F5344CB8AC3E}">
        <p14:creationId xmlns:p14="http://schemas.microsoft.com/office/powerpoint/2010/main" val="1087727650"/>
      </p:ext>
    </p:extLst>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2"/>
          <p:cNvSpPr>
            <a:spLocks noGrp="1" noChangeArrowheads="1"/>
          </p:cNvSpPr>
          <p:nvPr>
            <p:ph type="title"/>
          </p:nvPr>
        </p:nvSpPr>
        <p:spPr/>
        <p:txBody>
          <a:bodyPr/>
          <a:lstStyle/>
          <a:p>
            <a:pPr eaLnBrk="1" hangingPunct="1"/>
            <a:r>
              <a:rPr lang="hu-HU" altLang="hu-HU" sz="3400"/>
              <a:t>A Könyvkölcsönzést leíró szekvencia-diagram</a:t>
            </a:r>
          </a:p>
        </p:txBody>
      </p:sp>
      <p:pic>
        <p:nvPicPr>
          <p:cNvPr id="26630"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5124" t="3831" r="3017" b="8408"/>
          <a:stretch>
            <a:fillRect/>
          </a:stretch>
        </p:blipFill>
        <p:spPr>
          <a:xfrm>
            <a:off x="4008438" y="1700214"/>
            <a:ext cx="4208462" cy="4465637"/>
          </a:xfrm>
          <a:noFill/>
        </p:spPr>
      </p:pic>
      <p:sp>
        <p:nvSpPr>
          <p:cNvPr id="26626" name="Dátum helye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4B421151-11B4-424F-9238-D08736312BF9}" type="datetime1">
              <a:rPr lang="hu-HU" altLang="hu-HU"/>
              <a:pPr eaLnBrk="1" hangingPunct="1"/>
              <a:t>2024. 11. 28.</a:t>
            </a:fld>
            <a:endParaRPr lang="hu-HU" altLang="hu-HU"/>
          </a:p>
        </p:txBody>
      </p:sp>
      <p:sp>
        <p:nvSpPr>
          <p:cNvPr id="26627" name="Élőláb helye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hu-HU" altLang="hu-HU"/>
              <a:t>Szoftvertechnológia II.</a:t>
            </a:r>
          </a:p>
        </p:txBody>
      </p:sp>
      <p:sp>
        <p:nvSpPr>
          <p:cNvPr id="26628" name="Dia számának helye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0EB461DF-8D44-41B4-A418-22224A46F45C}" type="slidenum">
              <a:rPr lang="hu-HU" altLang="hu-HU"/>
              <a:pPr eaLnBrk="1" hangingPunct="1"/>
              <a:t>201</a:t>
            </a:fld>
            <a:endParaRPr lang="hu-HU" altLang="hu-HU"/>
          </a:p>
        </p:txBody>
      </p:sp>
    </p:spTree>
    <p:extLst>
      <p:ext uri="{BB962C8B-B14F-4D97-AF65-F5344CB8AC3E}">
        <p14:creationId xmlns:p14="http://schemas.microsoft.com/office/powerpoint/2010/main" val="731571807"/>
      </p:ext>
    </p:extLst>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p:cNvSpPr>
            <a:spLocks noGrp="1" noChangeArrowheads="1"/>
          </p:cNvSpPr>
          <p:nvPr>
            <p:ph type="title"/>
          </p:nvPr>
        </p:nvSpPr>
        <p:spPr/>
        <p:txBody>
          <a:bodyPr>
            <a:normAutofit fontScale="90000"/>
          </a:bodyPr>
          <a:lstStyle/>
          <a:p>
            <a:pPr eaLnBrk="1" hangingPunct="1"/>
            <a:r>
              <a:rPr lang="hu-HU" altLang="hu-HU" sz="3400"/>
              <a:t>A Könyvkölcsönzésben részt vevő objektumok kommunikációját leíró együttműködési diagram</a:t>
            </a:r>
          </a:p>
        </p:txBody>
      </p:sp>
      <p:pic>
        <p:nvPicPr>
          <p:cNvPr id="27654"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12372" t="3831" r="3349" b="3348"/>
          <a:stretch>
            <a:fillRect/>
          </a:stretch>
        </p:blipFill>
        <p:spPr>
          <a:xfrm>
            <a:off x="3359150" y="1706563"/>
            <a:ext cx="6121400" cy="4430712"/>
          </a:xfrm>
          <a:noFill/>
        </p:spPr>
      </p:pic>
      <p:sp>
        <p:nvSpPr>
          <p:cNvPr id="27650" name="Dátum helye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D174E8BA-36B5-48EF-AD0A-BC18A1067824}" type="datetime1">
              <a:rPr lang="hu-HU" altLang="hu-HU"/>
              <a:pPr eaLnBrk="1" hangingPunct="1"/>
              <a:t>2024. 11. 28.</a:t>
            </a:fld>
            <a:endParaRPr lang="hu-HU" altLang="hu-HU"/>
          </a:p>
        </p:txBody>
      </p:sp>
      <p:sp>
        <p:nvSpPr>
          <p:cNvPr id="27651" name="Élőláb helye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hu-HU" altLang="hu-HU"/>
              <a:t>Szoftvertechnológia II.</a:t>
            </a:r>
          </a:p>
        </p:txBody>
      </p:sp>
      <p:sp>
        <p:nvSpPr>
          <p:cNvPr id="27652" name="Dia számának helye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2F70C462-41E7-43C8-A5E5-75E6206679BD}" type="slidenum">
              <a:rPr lang="hu-HU" altLang="hu-HU"/>
              <a:pPr eaLnBrk="1" hangingPunct="1"/>
              <a:t>202</a:t>
            </a:fld>
            <a:endParaRPr lang="hu-HU" altLang="hu-HU"/>
          </a:p>
        </p:txBody>
      </p:sp>
    </p:spTree>
    <p:extLst>
      <p:ext uri="{BB962C8B-B14F-4D97-AF65-F5344CB8AC3E}">
        <p14:creationId xmlns:p14="http://schemas.microsoft.com/office/powerpoint/2010/main" val="3840443710"/>
      </p:ext>
    </p:extLst>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4"/>
          <p:cNvPicPr>
            <a:picLocks noChangeAspect="1" noChangeArrowheads="1"/>
          </p:cNvPicPr>
          <p:nvPr/>
        </p:nvPicPr>
        <p:blipFill>
          <a:blip r:embed="rId2">
            <a:extLst>
              <a:ext uri="{28A0092B-C50C-407E-A947-70E740481C1C}">
                <a14:useLocalDpi xmlns:a14="http://schemas.microsoft.com/office/drawing/2010/main" val="0"/>
              </a:ext>
            </a:extLst>
          </a:blip>
          <a:srcRect l="1645" t="5682" r="813" b="2486"/>
          <a:stretch>
            <a:fillRect/>
          </a:stretch>
        </p:blipFill>
        <p:spPr bwMode="auto">
          <a:xfrm>
            <a:off x="1524000" y="1628776"/>
            <a:ext cx="9144000" cy="437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Dátum helye 3"/>
          <p:cNvSpPr>
            <a:spLocks noGrp="1"/>
          </p:cNvSpPr>
          <p:nvPr>
            <p:ph type="dt" sz="half"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D947CC2F-B017-4B5E-8DAB-FC19A2E738A0}" type="datetime1">
              <a:rPr lang="hu-HU" altLang="hu-HU"/>
              <a:pPr eaLnBrk="1" hangingPunct="1"/>
              <a:t>2024. 11. 28.</a:t>
            </a:fld>
            <a:endParaRPr lang="hu-HU" altLang="hu-HU"/>
          </a:p>
        </p:txBody>
      </p:sp>
      <p:sp>
        <p:nvSpPr>
          <p:cNvPr id="28676" name="Élőláb helye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hu-HU" altLang="hu-HU"/>
              <a:t>Szoftvertechnológia II.</a:t>
            </a:r>
          </a:p>
        </p:txBody>
      </p:sp>
      <p:sp>
        <p:nvSpPr>
          <p:cNvPr id="28677" name="Dia számának helye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C563F8CB-051C-4385-BEC2-2E326BFCE8AD}" type="slidenum">
              <a:rPr lang="hu-HU" altLang="hu-HU"/>
              <a:pPr eaLnBrk="1" hangingPunct="1"/>
              <a:t>203</a:t>
            </a:fld>
            <a:endParaRPr lang="hu-HU" altLang="hu-HU"/>
          </a:p>
        </p:txBody>
      </p:sp>
    </p:spTree>
    <p:extLst>
      <p:ext uri="{BB962C8B-B14F-4D97-AF65-F5344CB8AC3E}">
        <p14:creationId xmlns:p14="http://schemas.microsoft.com/office/powerpoint/2010/main" val="2242431524"/>
      </p:ext>
    </p:extLst>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ctrTitle"/>
          </p:nvPr>
        </p:nvSpPr>
        <p:spPr/>
        <p:txBody>
          <a:bodyPr/>
          <a:lstStyle/>
          <a:p>
            <a:r>
              <a:rPr lang="hu-HU" dirty="0" smtClean="0"/>
              <a:t>UML 2</a:t>
            </a:r>
            <a:br>
              <a:rPr lang="hu-HU" dirty="0" smtClean="0"/>
            </a:br>
            <a:r>
              <a:rPr lang="hu-HU" dirty="0" smtClean="0"/>
              <a:t>Interakciók</a:t>
            </a:r>
            <a:endParaRPr lang="hu-HU" dirty="0"/>
          </a:p>
        </p:txBody>
      </p:sp>
      <p:sp>
        <p:nvSpPr>
          <p:cNvPr id="3" name="Alcím 2"/>
          <p:cNvSpPr>
            <a:spLocks noGrp="1"/>
          </p:cNvSpPr>
          <p:nvPr>
            <p:ph type="subTitle" idx="1"/>
          </p:nvPr>
        </p:nvSpPr>
        <p:spPr/>
        <p:txBody>
          <a:bodyPr/>
          <a:lstStyle/>
          <a:p>
            <a:endParaRPr lang="hu-HU" dirty="0"/>
          </a:p>
        </p:txBody>
      </p:sp>
    </p:spTree>
    <p:extLst>
      <p:ext uri="{BB962C8B-B14F-4D97-AF65-F5344CB8AC3E}">
        <p14:creationId xmlns:p14="http://schemas.microsoft.com/office/powerpoint/2010/main" val="2883094580"/>
      </p:ext>
    </p:extLst>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Interakciók</a:t>
            </a:r>
            <a:endParaRPr lang="hu-HU" dirty="0"/>
          </a:p>
        </p:txBody>
      </p:sp>
      <p:sp>
        <p:nvSpPr>
          <p:cNvPr id="3" name="Tartalom helye 2"/>
          <p:cNvSpPr>
            <a:spLocks noGrp="1"/>
          </p:cNvSpPr>
          <p:nvPr>
            <p:ph idx="1"/>
          </p:nvPr>
        </p:nvSpPr>
        <p:spPr/>
        <p:txBody>
          <a:bodyPr/>
          <a:lstStyle/>
          <a:p>
            <a:r>
              <a:rPr lang="hu-HU" dirty="0" smtClean="0"/>
              <a:t>Az interakciós diagram üzenetváltásokat ábrázol.</a:t>
            </a:r>
          </a:p>
          <a:p>
            <a:r>
              <a:rPr lang="hu-HU" dirty="0" smtClean="0"/>
              <a:t>Kölcsönhatásban partnerek lehetnek:</a:t>
            </a:r>
          </a:p>
          <a:p>
            <a:pPr lvl="1"/>
            <a:r>
              <a:rPr lang="hu-HU" dirty="0" smtClean="0"/>
              <a:t>Osztály / </a:t>
            </a:r>
            <a:r>
              <a:rPr lang="hu-HU" dirty="0" err="1" smtClean="0"/>
              <a:t>class</a:t>
            </a:r>
            <a:endParaRPr lang="hu-HU" dirty="0" smtClean="0"/>
          </a:p>
          <a:p>
            <a:pPr lvl="1"/>
            <a:r>
              <a:rPr lang="hu-HU" dirty="0" err="1" smtClean="0"/>
              <a:t>Aktor</a:t>
            </a:r>
            <a:r>
              <a:rPr lang="hu-HU" dirty="0" smtClean="0"/>
              <a:t> / </a:t>
            </a:r>
            <a:r>
              <a:rPr lang="hu-HU" dirty="0" err="1" smtClean="0"/>
              <a:t>actor</a:t>
            </a:r>
            <a:endParaRPr lang="hu-HU" dirty="0" smtClean="0"/>
          </a:p>
          <a:p>
            <a:pPr lvl="1"/>
            <a:r>
              <a:rPr lang="hu-HU" dirty="0" smtClean="0"/>
              <a:t>Komponens / </a:t>
            </a:r>
            <a:r>
              <a:rPr lang="hu-HU" dirty="0" err="1" smtClean="0"/>
              <a:t>component</a:t>
            </a:r>
            <a:endParaRPr lang="hu-HU" dirty="0" smtClean="0"/>
          </a:p>
          <a:p>
            <a:pPr lvl="1"/>
            <a:r>
              <a:rPr lang="hu-HU" dirty="0" smtClean="0"/>
              <a:t>Csatlakozó / </a:t>
            </a:r>
            <a:r>
              <a:rPr lang="hu-HU" dirty="0" err="1" smtClean="0"/>
              <a:t>interface</a:t>
            </a:r>
            <a:endParaRPr lang="hu-HU" dirty="0" smtClean="0"/>
          </a:p>
          <a:p>
            <a:pPr lvl="1"/>
            <a:r>
              <a:rPr lang="hu-HU" dirty="0" smtClean="0"/>
              <a:t>Csomópont / </a:t>
            </a:r>
            <a:r>
              <a:rPr lang="hu-HU" dirty="0" err="1" smtClean="0"/>
              <a:t>node</a:t>
            </a:r>
            <a:endParaRPr lang="hu-HU" dirty="0"/>
          </a:p>
        </p:txBody>
      </p:sp>
    </p:spTree>
    <p:extLst>
      <p:ext uri="{BB962C8B-B14F-4D97-AF65-F5344CB8AC3E}">
        <p14:creationId xmlns:p14="http://schemas.microsoft.com/office/powerpoint/2010/main" val="2832063471"/>
      </p:ext>
    </p:extLst>
  </p:cSld>
  <p:clrMapOvr>
    <a:masterClrMapping/>
  </p:clrMapOvr>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Mire használható?</a:t>
            </a:r>
            <a:endParaRPr lang="hu-HU" dirty="0"/>
          </a:p>
        </p:txBody>
      </p:sp>
      <p:sp>
        <p:nvSpPr>
          <p:cNvPr id="3" name="Tartalom helye 2"/>
          <p:cNvSpPr>
            <a:spLocks noGrp="1"/>
          </p:cNvSpPr>
          <p:nvPr>
            <p:ph idx="1"/>
          </p:nvPr>
        </p:nvSpPr>
        <p:spPr>
          <a:xfrm>
            <a:off x="2567493" y="2323652"/>
            <a:ext cx="6777317" cy="3697636"/>
          </a:xfrm>
        </p:spPr>
        <p:txBody>
          <a:bodyPr>
            <a:normAutofit/>
          </a:bodyPr>
          <a:lstStyle/>
          <a:p>
            <a:r>
              <a:rPr lang="hu-HU" dirty="0" smtClean="0"/>
              <a:t>Követelmények leírása</a:t>
            </a:r>
          </a:p>
          <a:p>
            <a:r>
              <a:rPr lang="hu-HU" dirty="0" smtClean="0"/>
              <a:t>Tesztesetek leírása</a:t>
            </a:r>
          </a:p>
          <a:p>
            <a:r>
              <a:rPr lang="hu-HU" dirty="0" smtClean="0"/>
              <a:t>Viselkedés specifikálás</a:t>
            </a:r>
          </a:p>
          <a:p>
            <a:endParaRPr lang="hu-HU" dirty="0"/>
          </a:p>
          <a:p>
            <a:r>
              <a:rPr lang="hu-HU" dirty="0" smtClean="0"/>
              <a:t>Minták lefutásának illusztrálása</a:t>
            </a:r>
          </a:p>
          <a:p>
            <a:r>
              <a:rPr lang="hu-HU" dirty="0" smtClean="0"/>
              <a:t>Létező rendszerek folyamatainak</a:t>
            </a:r>
          </a:p>
          <a:p>
            <a:pPr lvl="1"/>
            <a:r>
              <a:rPr lang="hu-HU" dirty="0" smtClean="0"/>
              <a:t>Vizsgálata</a:t>
            </a:r>
          </a:p>
          <a:p>
            <a:pPr lvl="1"/>
            <a:r>
              <a:rPr lang="hu-HU" dirty="0" smtClean="0"/>
              <a:t>Dokumentálása</a:t>
            </a:r>
          </a:p>
          <a:p>
            <a:pPr lvl="1"/>
            <a:r>
              <a:rPr lang="hu-HU" dirty="0" smtClean="0"/>
              <a:t>Vizualizálása</a:t>
            </a:r>
          </a:p>
          <a:p>
            <a:endParaRPr lang="hu-HU" dirty="0"/>
          </a:p>
        </p:txBody>
      </p:sp>
    </p:spTree>
    <p:extLst>
      <p:ext uri="{BB962C8B-B14F-4D97-AF65-F5344CB8AC3E}">
        <p14:creationId xmlns:p14="http://schemas.microsoft.com/office/powerpoint/2010/main" val="2256092804"/>
      </p:ext>
    </p:extLst>
  </p:cSld>
  <p:clrMapOvr>
    <a:masterClrMapping/>
  </p:clrMapOvr>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a:bodyPr>
          <a:lstStyle/>
          <a:p>
            <a:r>
              <a:rPr lang="hu-HU" dirty="0" smtClean="0"/>
              <a:t>Interakciós diagramok</a:t>
            </a:r>
            <a:br>
              <a:rPr lang="hu-HU" dirty="0" smtClean="0"/>
            </a:br>
            <a:r>
              <a:rPr lang="hu-HU" dirty="0" smtClean="0"/>
              <a:t>			főbb szempontok</a:t>
            </a:r>
            <a:endParaRPr lang="hu-HU" dirty="0"/>
          </a:p>
        </p:txBody>
      </p:sp>
      <p:sp>
        <p:nvSpPr>
          <p:cNvPr id="3" name="Tartalom helye 2"/>
          <p:cNvSpPr>
            <a:spLocks noGrp="1"/>
          </p:cNvSpPr>
          <p:nvPr>
            <p:ph idx="1"/>
          </p:nvPr>
        </p:nvSpPr>
        <p:spPr/>
        <p:txBody>
          <a:bodyPr/>
          <a:lstStyle/>
          <a:p>
            <a:r>
              <a:rPr lang="hu-HU" dirty="0" smtClean="0"/>
              <a:t>Szekvencia diagramok</a:t>
            </a:r>
          </a:p>
          <a:p>
            <a:pPr lvl="1"/>
            <a:r>
              <a:rPr lang="hu-HU" dirty="0" smtClean="0"/>
              <a:t>Üzenetek cseréje</a:t>
            </a:r>
          </a:p>
          <a:p>
            <a:r>
              <a:rPr lang="hu-HU" dirty="0" smtClean="0"/>
              <a:t>Idődiagramok</a:t>
            </a:r>
          </a:p>
          <a:p>
            <a:pPr lvl="1"/>
            <a:r>
              <a:rPr lang="hu-HU" dirty="0" smtClean="0"/>
              <a:t>Üzenetek időbelisége</a:t>
            </a:r>
          </a:p>
          <a:p>
            <a:r>
              <a:rPr lang="hu-HU" dirty="0" smtClean="0"/>
              <a:t>Kommunikációs diagramok</a:t>
            </a:r>
          </a:p>
          <a:p>
            <a:pPr lvl="1"/>
            <a:r>
              <a:rPr lang="hu-HU" dirty="0" smtClean="0"/>
              <a:t>Résztvevő partnerek struktúrája,</a:t>
            </a:r>
          </a:p>
          <a:p>
            <a:endParaRPr lang="hu-HU" dirty="0"/>
          </a:p>
          <a:p>
            <a:r>
              <a:rPr lang="hu-HU" dirty="0" smtClean="0"/>
              <a:t>(Egyszerűbb tevékenységi diagramok)</a:t>
            </a:r>
            <a:endParaRPr lang="hu-HU" dirty="0"/>
          </a:p>
        </p:txBody>
      </p:sp>
    </p:spTree>
    <p:extLst>
      <p:ext uri="{BB962C8B-B14F-4D97-AF65-F5344CB8AC3E}">
        <p14:creationId xmlns:p14="http://schemas.microsoft.com/office/powerpoint/2010/main" val="1603259601"/>
      </p:ext>
    </p:extLst>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Szemantikai alapfogalmak</a:t>
            </a:r>
            <a:endParaRPr lang="hu-HU" dirty="0"/>
          </a:p>
        </p:txBody>
      </p:sp>
      <p:sp>
        <p:nvSpPr>
          <p:cNvPr id="3" name="Tartalom helye 2"/>
          <p:cNvSpPr>
            <a:spLocks noGrp="1"/>
          </p:cNvSpPr>
          <p:nvPr>
            <p:ph idx="1"/>
          </p:nvPr>
        </p:nvSpPr>
        <p:spPr>
          <a:xfrm>
            <a:off x="2567493" y="2323652"/>
            <a:ext cx="6777317" cy="3769644"/>
          </a:xfrm>
        </p:spPr>
        <p:txBody>
          <a:bodyPr>
            <a:normAutofit/>
          </a:bodyPr>
          <a:lstStyle/>
          <a:p>
            <a:r>
              <a:rPr lang="hu-HU" dirty="0" smtClean="0"/>
              <a:t>Az interakciós diagram kölcsönhatást ábrázol (</a:t>
            </a:r>
            <a:r>
              <a:rPr lang="hu-HU" dirty="0" err="1" smtClean="0"/>
              <a:t>Interaction</a:t>
            </a:r>
            <a:r>
              <a:rPr lang="hu-HU" dirty="0" smtClean="0"/>
              <a:t>).</a:t>
            </a:r>
          </a:p>
          <a:p>
            <a:r>
              <a:rPr lang="hu-HU" dirty="0" smtClean="0"/>
              <a:t>Ez több életvonalból áll (</a:t>
            </a:r>
            <a:r>
              <a:rPr lang="hu-HU" dirty="0" err="1" smtClean="0"/>
              <a:t>Lifeline</a:t>
            </a:r>
            <a:r>
              <a:rPr lang="hu-HU" dirty="0" smtClean="0"/>
              <a:t>).</a:t>
            </a:r>
          </a:p>
          <a:p>
            <a:r>
              <a:rPr lang="hu-HU" dirty="0" smtClean="0"/>
              <a:t>Az életvonal esemény előfordulások következménye (</a:t>
            </a:r>
            <a:r>
              <a:rPr lang="hu-HU" dirty="0" err="1" smtClean="0"/>
              <a:t>Event</a:t>
            </a:r>
            <a:r>
              <a:rPr lang="hu-HU" dirty="0" smtClean="0"/>
              <a:t> </a:t>
            </a:r>
            <a:r>
              <a:rPr lang="hu-HU" dirty="0" err="1" smtClean="0"/>
              <a:t>Occurence</a:t>
            </a:r>
            <a:r>
              <a:rPr lang="hu-HU" dirty="0" smtClean="0"/>
              <a:t>)</a:t>
            </a:r>
          </a:p>
          <a:p>
            <a:r>
              <a:rPr lang="hu-HU" dirty="0" smtClean="0"/>
              <a:t>Esemény előfordulás</a:t>
            </a:r>
          </a:p>
          <a:p>
            <a:pPr lvl="1"/>
            <a:r>
              <a:rPr lang="hu-HU" dirty="0" smtClean="0"/>
              <a:t>Üzenet (</a:t>
            </a:r>
            <a:r>
              <a:rPr lang="hu-HU" dirty="0" err="1"/>
              <a:t>M</a:t>
            </a:r>
            <a:r>
              <a:rPr lang="hu-HU" dirty="0" err="1" smtClean="0"/>
              <a:t>essage</a:t>
            </a:r>
            <a:r>
              <a:rPr lang="hu-HU" dirty="0" smtClean="0"/>
              <a:t>)</a:t>
            </a:r>
          </a:p>
          <a:p>
            <a:pPr lvl="1"/>
            <a:r>
              <a:rPr lang="hu-HU" dirty="0" smtClean="0"/>
              <a:t>Osztály példányosítás</a:t>
            </a:r>
          </a:p>
          <a:p>
            <a:pPr lvl="1"/>
            <a:r>
              <a:rPr lang="hu-HU" dirty="0" smtClean="0"/>
              <a:t>Objektum (ön)megsemmisítése</a:t>
            </a:r>
            <a:endParaRPr lang="hu-HU" dirty="0"/>
          </a:p>
        </p:txBody>
      </p:sp>
    </p:spTree>
    <p:extLst>
      <p:ext uri="{BB962C8B-B14F-4D97-AF65-F5344CB8AC3E}">
        <p14:creationId xmlns:p14="http://schemas.microsoft.com/office/powerpoint/2010/main" val="3861355315"/>
      </p:ext>
    </p:extLst>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a:bodyPr>
          <a:lstStyle/>
          <a:p>
            <a:r>
              <a:rPr lang="hu-HU" dirty="0" smtClean="0"/>
              <a:t>Osztály interakciók</a:t>
            </a:r>
            <a:endParaRPr lang="hu-HU" dirty="0"/>
          </a:p>
        </p:txBody>
      </p:sp>
      <p:sp>
        <p:nvSpPr>
          <p:cNvPr id="3" name="Tartalom helye 2"/>
          <p:cNvSpPr>
            <a:spLocks noGrp="1"/>
          </p:cNvSpPr>
          <p:nvPr>
            <p:ph idx="1"/>
          </p:nvPr>
        </p:nvSpPr>
        <p:spPr/>
        <p:txBody>
          <a:bodyPr/>
          <a:lstStyle/>
          <a:p>
            <a:r>
              <a:rPr lang="hu-HU" dirty="0" smtClean="0"/>
              <a:t>Objektumok és osztályok kölcsönhatásai</a:t>
            </a:r>
          </a:p>
          <a:p>
            <a:r>
              <a:rPr lang="hu-HU" dirty="0" smtClean="0"/>
              <a:t>Metódusok meghívásai</a:t>
            </a:r>
          </a:p>
          <a:p>
            <a:r>
              <a:rPr lang="hu-HU" dirty="0" smtClean="0"/>
              <a:t>Osztályok egymásra kihatása</a:t>
            </a:r>
            <a:endParaRPr lang="hu-HU" dirty="0"/>
          </a:p>
        </p:txBody>
      </p:sp>
    </p:spTree>
    <p:extLst>
      <p:ext uri="{BB962C8B-B14F-4D97-AF65-F5344CB8AC3E}">
        <p14:creationId xmlns:p14="http://schemas.microsoft.com/office/powerpoint/2010/main" val="2510710774"/>
      </p:ext>
    </p:extLst>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2135560" y="1027664"/>
            <a:ext cx="7024744" cy="1143000"/>
          </a:xfrm>
        </p:spPr>
        <p:txBody>
          <a:bodyPr>
            <a:normAutofit/>
          </a:bodyPr>
          <a:lstStyle/>
          <a:p>
            <a:r>
              <a:rPr lang="hu-HU" dirty="0" smtClean="0"/>
              <a:t>Komplementer ábrázolásmódok</a:t>
            </a:r>
            <a:endParaRPr lang="hu-HU" dirty="0"/>
          </a:p>
        </p:txBody>
      </p:sp>
      <p:sp>
        <p:nvSpPr>
          <p:cNvPr id="3" name="Tartalom helye 2"/>
          <p:cNvSpPr>
            <a:spLocks noGrp="1"/>
          </p:cNvSpPr>
          <p:nvPr>
            <p:ph idx="1"/>
          </p:nvPr>
        </p:nvSpPr>
        <p:spPr/>
        <p:txBody>
          <a:bodyPr/>
          <a:lstStyle/>
          <a:p>
            <a:r>
              <a:rPr lang="hu-HU" b="1" dirty="0" smtClean="0"/>
              <a:t>Szekvencia diagram</a:t>
            </a:r>
          </a:p>
          <a:p>
            <a:pPr lvl="1"/>
            <a:r>
              <a:rPr lang="hu-HU" dirty="0" smtClean="0"/>
              <a:t>Fent: interakciós partnerek listája</a:t>
            </a:r>
          </a:p>
          <a:p>
            <a:pPr lvl="1"/>
            <a:r>
              <a:rPr lang="hu-HU" dirty="0" smtClean="0"/>
              <a:t>Megjelenési sorrend (nem szigorú)</a:t>
            </a:r>
          </a:p>
          <a:p>
            <a:pPr lvl="1"/>
            <a:r>
              <a:rPr lang="hu-HU" dirty="0" smtClean="0"/>
              <a:t>Minden partnerhez életvonal</a:t>
            </a:r>
          </a:p>
          <a:p>
            <a:pPr lvl="1"/>
            <a:r>
              <a:rPr lang="hu-HU" dirty="0" smtClean="0"/>
              <a:t>Életvonal lehet szaggatott v. folyamatos</a:t>
            </a:r>
          </a:p>
          <a:p>
            <a:pPr lvl="1"/>
            <a:r>
              <a:rPr lang="hu-HU" dirty="0" smtClean="0"/>
              <a:t>Fentről lefelé</a:t>
            </a:r>
          </a:p>
          <a:p>
            <a:pPr lvl="1"/>
            <a:r>
              <a:rPr lang="hu-HU" dirty="0" smtClean="0"/>
              <a:t>Üzenetek nyilakként, névvel</a:t>
            </a:r>
          </a:p>
          <a:p>
            <a:pPr lvl="1"/>
            <a:r>
              <a:rPr lang="hu-HU" dirty="0" smtClean="0"/>
              <a:t>Térbeli távolság nem releváns.</a:t>
            </a:r>
            <a:endParaRPr lang="hu-HU" dirty="0"/>
          </a:p>
        </p:txBody>
      </p:sp>
      <p:pic>
        <p:nvPicPr>
          <p:cNvPr id="103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7968" y="692696"/>
            <a:ext cx="4066402" cy="2221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4307727"/>
      </p:ext>
    </p:extLst>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a:bodyPr>
          <a:lstStyle/>
          <a:p>
            <a:r>
              <a:rPr lang="hu-HU" dirty="0" smtClean="0"/>
              <a:t>Szekvencia diagramok – mikor?</a:t>
            </a:r>
            <a:endParaRPr lang="hu-HU" dirty="0"/>
          </a:p>
        </p:txBody>
      </p:sp>
      <p:sp>
        <p:nvSpPr>
          <p:cNvPr id="3" name="Tartalom helye 2"/>
          <p:cNvSpPr>
            <a:spLocks noGrp="1"/>
          </p:cNvSpPr>
          <p:nvPr>
            <p:ph idx="1"/>
          </p:nvPr>
        </p:nvSpPr>
        <p:spPr/>
        <p:txBody>
          <a:bodyPr/>
          <a:lstStyle/>
          <a:p>
            <a:r>
              <a:rPr lang="hu-HU" dirty="0" smtClean="0"/>
              <a:t>Ha kevés partner közt zajlik</a:t>
            </a:r>
          </a:p>
          <a:p>
            <a:r>
              <a:rPr lang="hu-HU" dirty="0" smtClean="0"/>
              <a:t>Sok üzenet</a:t>
            </a:r>
          </a:p>
          <a:p>
            <a:r>
              <a:rPr lang="hu-HU" dirty="0" smtClean="0"/>
              <a:t>Komplex minta szerint</a:t>
            </a:r>
            <a:endParaRPr lang="hu-HU" dirty="0"/>
          </a:p>
        </p:txBody>
      </p:sp>
    </p:spTree>
    <p:extLst>
      <p:ext uri="{BB962C8B-B14F-4D97-AF65-F5344CB8AC3E}">
        <p14:creationId xmlns:p14="http://schemas.microsoft.com/office/powerpoint/2010/main" val="2210565944"/>
      </p:ext>
    </p:extLst>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2135560" y="1027664"/>
            <a:ext cx="7024744" cy="1143000"/>
          </a:xfrm>
        </p:spPr>
        <p:txBody>
          <a:bodyPr>
            <a:normAutofit/>
          </a:bodyPr>
          <a:lstStyle/>
          <a:p>
            <a:r>
              <a:rPr lang="hu-HU" dirty="0" smtClean="0"/>
              <a:t>Komplementer ábrázolásmódok</a:t>
            </a:r>
            <a:endParaRPr lang="hu-HU" dirty="0"/>
          </a:p>
        </p:txBody>
      </p:sp>
      <p:sp>
        <p:nvSpPr>
          <p:cNvPr id="3" name="Tartalom helye 2"/>
          <p:cNvSpPr>
            <a:spLocks noGrp="1"/>
          </p:cNvSpPr>
          <p:nvPr>
            <p:ph idx="1"/>
          </p:nvPr>
        </p:nvSpPr>
        <p:spPr>
          <a:xfrm>
            <a:off x="2567493" y="2323653"/>
            <a:ext cx="6777317" cy="2329484"/>
          </a:xfrm>
        </p:spPr>
        <p:txBody>
          <a:bodyPr/>
          <a:lstStyle/>
          <a:p>
            <a:r>
              <a:rPr lang="hu-HU" b="1" dirty="0" smtClean="0"/>
              <a:t>Kommunikációs diagram</a:t>
            </a:r>
          </a:p>
          <a:p>
            <a:pPr lvl="1"/>
            <a:r>
              <a:rPr lang="hu-HU" dirty="0" smtClean="0"/>
              <a:t>Kapcsolat: explicit módon</a:t>
            </a:r>
          </a:p>
          <a:p>
            <a:pPr lvl="1"/>
            <a:r>
              <a:rPr lang="hu-HU" dirty="0" smtClean="0"/>
              <a:t>Üzenetsorrend: számozás</a:t>
            </a:r>
          </a:p>
        </p:txBody>
      </p:sp>
      <p:pic>
        <p:nvPicPr>
          <p:cNvPr id="205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1584" y="4869160"/>
            <a:ext cx="7416824" cy="1477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3817960"/>
      </p:ext>
    </p:extLst>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a:bodyPr>
          <a:lstStyle/>
          <a:p>
            <a:r>
              <a:rPr lang="hu-HU" smtClean="0"/>
              <a:t>Kommunikációs diagramok </a:t>
            </a:r>
            <a:r>
              <a:rPr lang="hu-HU" dirty="0" smtClean="0"/>
              <a:t>– mikor?</a:t>
            </a:r>
            <a:endParaRPr lang="hu-HU" dirty="0"/>
          </a:p>
        </p:txBody>
      </p:sp>
      <p:sp>
        <p:nvSpPr>
          <p:cNvPr id="3" name="Tartalom helye 2"/>
          <p:cNvSpPr>
            <a:spLocks noGrp="1"/>
          </p:cNvSpPr>
          <p:nvPr>
            <p:ph idx="1"/>
          </p:nvPr>
        </p:nvSpPr>
        <p:spPr/>
        <p:txBody>
          <a:bodyPr/>
          <a:lstStyle/>
          <a:p>
            <a:r>
              <a:rPr lang="hu-HU" dirty="0" smtClean="0"/>
              <a:t>Összetett interakciós hálózat kis részlete</a:t>
            </a:r>
          </a:p>
          <a:p>
            <a:r>
              <a:rPr lang="hu-HU" dirty="0" smtClean="0"/>
              <a:t>Üzenetszám növekedésével sajnos áttekinthetetlenné válik</a:t>
            </a:r>
          </a:p>
        </p:txBody>
      </p:sp>
    </p:spTree>
    <p:extLst>
      <p:ext uri="{BB962C8B-B14F-4D97-AF65-F5344CB8AC3E}">
        <p14:creationId xmlns:p14="http://schemas.microsoft.com/office/powerpoint/2010/main" val="2502752210"/>
      </p:ext>
    </p:extLst>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2135560" y="1027664"/>
            <a:ext cx="7024744" cy="1143000"/>
          </a:xfrm>
        </p:spPr>
        <p:txBody>
          <a:bodyPr>
            <a:normAutofit/>
          </a:bodyPr>
          <a:lstStyle/>
          <a:p>
            <a:r>
              <a:rPr lang="hu-HU" dirty="0" smtClean="0"/>
              <a:t>Komplementer ábrázolásmódok</a:t>
            </a:r>
            <a:endParaRPr lang="hu-HU" dirty="0"/>
          </a:p>
        </p:txBody>
      </p:sp>
      <p:sp>
        <p:nvSpPr>
          <p:cNvPr id="3" name="Tartalom helye 2"/>
          <p:cNvSpPr>
            <a:spLocks noGrp="1"/>
          </p:cNvSpPr>
          <p:nvPr>
            <p:ph idx="1"/>
          </p:nvPr>
        </p:nvSpPr>
        <p:spPr>
          <a:xfrm>
            <a:off x="2567493" y="2323653"/>
            <a:ext cx="6777317" cy="2329484"/>
          </a:xfrm>
        </p:spPr>
        <p:txBody>
          <a:bodyPr>
            <a:normAutofit fontScale="92500" lnSpcReduction="10000"/>
          </a:bodyPr>
          <a:lstStyle/>
          <a:p>
            <a:r>
              <a:rPr lang="hu-HU" b="1" dirty="0" smtClean="0"/>
              <a:t>Idődiagram</a:t>
            </a:r>
          </a:p>
          <a:p>
            <a:pPr lvl="1"/>
            <a:r>
              <a:rPr lang="hu-HU" dirty="0" smtClean="0"/>
              <a:t>Y: interakciós partnerek</a:t>
            </a:r>
          </a:p>
          <a:p>
            <a:pPr lvl="2"/>
            <a:r>
              <a:rPr lang="hu-HU" dirty="0" smtClean="0"/>
              <a:t>Állapotok opcionálisan</a:t>
            </a:r>
          </a:p>
          <a:p>
            <a:pPr lvl="2"/>
            <a:r>
              <a:rPr lang="hu-HU" dirty="0" smtClean="0"/>
              <a:t>(ehhez kellenek </a:t>
            </a:r>
            <a:r>
              <a:rPr lang="hu-HU" smtClean="0"/>
              <a:t>a releváns állapotok </a:t>
            </a:r>
            <a:r>
              <a:rPr lang="hu-HU" smtClean="0">
                <a:sym typeface="Wingdings" pitchFamily="2" charset="2"/>
              </a:rPr>
              <a:t> állapotgép?</a:t>
            </a:r>
            <a:r>
              <a:rPr lang="hu-HU" smtClean="0"/>
              <a:t>)</a:t>
            </a:r>
            <a:endParaRPr lang="hu-HU" dirty="0" smtClean="0"/>
          </a:p>
          <a:p>
            <a:pPr lvl="1"/>
            <a:r>
              <a:rPr lang="hu-HU" dirty="0" smtClean="0"/>
              <a:t>X: idő</a:t>
            </a:r>
          </a:p>
          <a:p>
            <a:pPr lvl="2"/>
            <a:r>
              <a:rPr lang="hu-HU" dirty="0" smtClean="0"/>
              <a:t>Valódi: megszorításokhoz</a:t>
            </a:r>
          </a:p>
          <a:p>
            <a:pPr lvl="2"/>
            <a:r>
              <a:rPr lang="hu-HU" dirty="0" smtClean="0"/>
              <a:t>Szimbolikus: időpontok explicit módon</a:t>
            </a:r>
          </a:p>
          <a:p>
            <a:pPr lvl="1"/>
            <a:endParaRPr lang="hu-HU" dirty="0" smtClean="0"/>
          </a:p>
          <a:p>
            <a:pPr lvl="1"/>
            <a:endParaRPr lang="hu-HU" dirty="0" smtClean="0"/>
          </a:p>
        </p:txBody>
      </p:sp>
    </p:spTree>
    <p:extLst>
      <p:ext uri="{BB962C8B-B14F-4D97-AF65-F5344CB8AC3E}">
        <p14:creationId xmlns:p14="http://schemas.microsoft.com/office/powerpoint/2010/main" val="3909095338"/>
      </p:ext>
    </p:extLst>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3592" y="836713"/>
            <a:ext cx="7285460" cy="2574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3592" y="3573017"/>
            <a:ext cx="7285460" cy="2550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07293911"/>
      </p:ext>
    </p:extLst>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Idő </a:t>
            </a:r>
            <a:r>
              <a:rPr lang="hu-HU" dirty="0" err="1" smtClean="0"/>
              <a:t>diagamok</a:t>
            </a:r>
            <a:endParaRPr lang="hu-HU" dirty="0"/>
          </a:p>
        </p:txBody>
      </p:sp>
      <p:sp>
        <p:nvSpPr>
          <p:cNvPr id="3" name="Tartalom helye 2"/>
          <p:cNvSpPr>
            <a:spLocks noGrp="1"/>
          </p:cNvSpPr>
          <p:nvPr>
            <p:ph idx="1"/>
          </p:nvPr>
        </p:nvSpPr>
        <p:spPr/>
        <p:txBody>
          <a:bodyPr/>
          <a:lstStyle/>
          <a:p>
            <a:r>
              <a:rPr lang="hu-HU" dirty="0"/>
              <a:t>Életvonalak: Balról jobbra</a:t>
            </a:r>
          </a:p>
          <a:p>
            <a:pPr lvl="1"/>
            <a:r>
              <a:rPr lang="hu-HU" dirty="0"/>
              <a:t>Függőleges ugrások: állapotváltozás</a:t>
            </a:r>
          </a:p>
          <a:p>
            <a:r>
              <a:rPr lang="hu-HU" dirty="0"/>
              <a:t>Üzenetek: </a:t>
            </a:r>
            <a:r>
              <a:rPr lang="hu-HU" dirty="0" smtClean="0"/>
              <a:t>nyilak</a:t>
            </a:r>
          </a:p>
          <a:p>
            <a:pPr lvl="1"/>
            <a:r>
              <a:rPr lang="hu-HU" dirty="0" smtClean="0"/>
              <a:t>Lehet színes</a:t>
            </a:r>
          </a:p>
          <a:p>
            <a:endParaRPr lang="hu-HU" dirty="0"/>
          </a:p>
          <a:p>
            <a:r>
              <a:rPr lang="hu-HU" dirty="0" smtClean="0"/>
              <a:t>Mikor?</a:t>
            </a:r>
          </a:p>
          <a:p>
            <a:pPr lvl="1"/>
            <a:r>
              <a:rPr lang="hu-HU" dirty="0" smtClean="0"/>
              <a:t>Időbeli koordináció</a:t>
            </a:r>
          </a:p>
          <a:p>
            <a:pPr lvl="1"/>
            <a:r>
              <a:rPr lang="hu-HU" dirty="0" smtClean="0"/>
              <a:t>Valós idejű rendszerek</a:t>
            </a:r>
            <a:endParaRPr lang="hu-HU" dirty="0"/>
          </a:p>
          <a:p>
            <a:endParaRPr lang="hu-HU" dirty="0"/>
          </a:p>
        </p:txBody>
      </p:sp>
    </p:spTree>
    <p:extLst>
      <p:ext uri="{BB962C8B-B14F-4D97-AF65-F5344CB8AC3E}">
        <p14:creationId xmlns:p14="http://schemas.microsoft.com/office/powerpoint/2010/main" val="1873775265"/>
      </p:ext>
    </p:extLst>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a:bodyPr>
          <a:lstStyle/>
          <a:p>
            <a:r>
              <a:rPr lang="hu-HU" dirty="0" smtClean="0"/>
              <a:t>Interakciók, mint esemény előfordulás következmények</a:t>
            </a:r>
            <a:endParaRPr lang="hu-HU" dirty="0"/>
          </a:p>
        </p:txBody>
      </p:sp>
      <p:sp>
        <p:nvSpPr>
          <p:cNvPr id="3" name="Tartalom helye 2"/>
          <p:cNvSpPr>
            <a:spLocks noGrp="1"/>
          </p:cNvSpPr>
          <p:nvPr>
            <p:ph idx="1"/>
          </p:nvPr>
        </p:nvSpPr>
        <p:spPr>
          <a:xfrm>
            <a:off x="2567493" y="2323653"/>
            <a:ext cx="6777317" cy="2041452"/>
          </a:xfrm>
        </p:spPr>
        <p:txBody>
          <a:bodyPr/>
          <a:lstStyle/>
          <a:p>
            <a:r>
              <a:rPr lang="hu-HU" dirty="0" smtClean="0"/>
              <a:t>Sorrend: életvonal vagy sorszám alapján</a:t>
            </a:r>
          </a:p>
          <a:p>
            <a:r>
              <a:rPr lang="hu-HU" dirty="0" smtClean="0"/>
              <a:t>Üzenet küldése megelőzi a fogadást!</a:t>
            </a:r>
          </a:p>
          <a:p>
            <a:pPr lvl="1"/>
            <a:r>
              <a:rPr lang="hu-HU" dirty="0" smtClean="0"/>
              <a:t>SND(n) </a:t>
            </a:r>
            <a:r>
              <a:rPr lang="hu-HU" dirty="0" smtClean="0">
                <a:sym typeface="Wingdings" pitchFamily="2" charset="2"/>
              </a:rPr>
              <a:t> RCV(n)</a:t>
            </a:r>
          </a:p>
          <a:p>
            <a:pPr lvl="1"/>
            <a:r>
              <a:rPr lang="hu-HU" dirty="0" smtClean="0">
                <a:sym typeface="Wingdings" pitchFamily="2" charset="2"/>
              </a:rPr>
              <a:t>Kétféle lefutás</a:t>
            </a:r>
            <a:endParaRPr lang="hu-HU" dirty="0"/>
          </a:p>
        </p:txBody>
      </p:sp>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1704" y="4149081"/>
            <a:ext cx="5688632" cy="1957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3890510"/>
      </p:ext>
    </p:extLst>
  </p:cSld>
  <p:clrMapOvr>
    <a:masterClrMapping/>
  </p:clrMapOvr>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Aktivitás és üzenettípusok</a:t>
            </a:r>
            <a:endParaRPr lang="hu-HU" dirty="0"/>
          </a:p>
        </p:txBody>
      </p:sp>
      <p:sp>
        <p:nvSpPr>
          <p:cNvPr id="3" name="Tartalom helye 2"/>
          <p:cNvSpPr>
            <a:spLocks noGrp="1"/>
          </p:cNvSpPr>
          <p:nvPr>
            <p:ph idx="1"/>
          </p:nvPr>
        </p:nvSpPr>
        <p:spPr/>
        <p:txBody>
          <a:bodyPr>
            <a:normAutofit/>
          </a:bodyPr>
          <a:lstStyle/>
          <a:p>
            <a:r>
              <a:rPr lang="hu-HU" dirty="0" smtClean="0"/>
              <a:t>Életvonal aktív és passzív szakaszai:</a:t>
            </a:r>
          </a:p>
          <a:p>
            <a:pPr lvl="1"/>
            <a:r>
              <a:rPr lang="hu-HU" dirty="0" smtClean="0"/>
              <a:t>Aktivitási sáv / </a:t>
            </a:r>
            <a:r>
              <a:rPr lang="hu-HU" dirty="0" err="1" smtClean="0"/>
              <a:t>activity</a:t>
            </a:r>
            <a:r>
              <a:rPr lang="hu-HU" dirty="0" smtClean="0"/>
              <a:t> bar</a:t>
            </a:r>
          </a:p>
          <a:p>
            <a:pPr lvl="1"/>
            <a:r>
              <a:rPr lang="hu-HU" dirty="0" smtClean="0"/>
              <a:t>Szaggatott: felfüggesztett</a:t>
            </a:r>
          </a:p>
          <a:p>
            <a:pPr lvl="1"/>
            <a:r>
              <a:rPr lang="hu-HU" dirty="0" smtClean="0"/>
              <a:t>Meghívott eljárás: „bar </a:t>
            </a:r>
            <a:r>
              <a:rPr lang="hu-HU" dirty="0" err="1" smtClean="0"/>
              <a:t>in</a:t>
            </a:r>
            <a:r>
              <a:rPr lang="hu-HU" dirty="0" smtClean="0"/>
              <a:t> </a:t>
            </a:r>
            <a:r>
              <a:rPr lang="hu-HU" dirty="0" err="1" smtClean="0"/>
              <a:t>bar</a:t>
            </a:r>
            <a:r>
              <a:rPr lang="hu-HU" dirty="0" smtClean="0"/>
              <a:t>”</a:t>
            </a:r>
          </a:p>
          <a:p>
            <a:r>
              <a:rPr lang="hu-HU" dirty="0" smtClean="0"/>
              <a:t>Szinkron üzenetek:</a:t>
            </a:r>
          </a:p>
          <a:p>
            <a:pPr lvl="1"/>
            <a:r>
              <a:rPr lang="hu-HU" dirty="0" smtClean="0"/>
              <a:t>Kérés/válasz</a:t>
            </a:r>
          </a:p>
          <a:p>
            <a:pPr lvl="1"/>
            <a:r>
              <a:rPr lang="hu-HU" dirty="0" smtClean="0"/>
              <a:t>Egyszerre csak az egyik aktív (vagy )</a:t>
            </a:r>
          </a:p>
          <a:p>
            <a:r>
              <a:rPr lang="hu-HU" dirty="0" smtClean="0"/>
              <a:t>Aszinkron üzenetek:</a:t>
            </a:r>
          </a:p>
          <a:p>
            <a:pPr lvl="1"/>
            <a:r>
              <a:rPr lang="hu-HU" dirty="0" smtClean="0"/>
              <a:t>Szignál</a:t>
            </a:r>
          </a:p>
          <a:p>
            <a:pPr lvl="1"/>
            <a:r>
              <a:rPr lang="hu-HU" dirty="0" smtClean="0"/>
              <a:t>Egyszerre mindkettő is aktív lehet</a:t>
            </a:r>
            <a:endParaRPr lang="hu-HU" dirty="0"/>
          </a:p>
        </p:txBody>
      </p:sp>
    </p:spTree>
    <p:extLst>
      <p:ext uri="{BB962C8B-B14F-4D97-AF65-F5344CB8AC3E}">
        <p14:creationId xmlns:p14="http://schemas.microsoft.com/office/powerpoint/2010/main" val="2137959779"/>
      </p:ext>
    </p:extLst>
  </p:cSld>
  <p:clrMapOvr>
    <a:masterClrMapping/>
  </p:clrMapOvr>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8112" y="1412776"/>
            <a:ext cx="8239461" cy="4248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00890058"/>
      </p:ext>
    </p:extLst>
  </p:cSld>
  <p:clrMapOvr>
    <a:masterClrMapping/>
  </p:clrMapOvr>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Üzenetek</a:t>
            </a:r>
            <a:endParaRPr lang="hu-HU" dirty="0"/>
          </a:p>
        </p:txBody>
      </p:sp>
      <p:sp>
        <p:nvSpPr>
          <p:cNvPr id="3" name="Tartalom helye 2"/>
          <p:cNvSpPr>
            <a:spLocks noGrp="1"/>
          </p:cNvSpPr>
          <p:nvPr>
            <p:ph idx="1"/>
          </p:nvPr>
        </p:nvSpPr>
        <p:spPr/>
        <p:txBody>
          <a:bodyPr>
            <a:normAutofit/>
          </a:bodyPr>
          <a:lstStyle/>
          <a:p>
            <a:r>
              <a:rPr lang="hu-HU" dirty="0" smtClean="0"/>
              <a:t>Kérés:</a:t>
            </a:r>
          </a:p>
          <a:p>
            <a:pPr lvl="1"/>
            <a:r>
              <a:rPr lang="hu-HU" dirty="0" smtClean="0"/>
              <a:t>Szinkron</a:t>
            </a:r>
          </a:p>
          <a:p>
            <a:pPr lvl="1"/>
            <a:r>
              <a:rPr lang="hu-HU" dirty="0" smtClean="0"/>
              <a:t>Utána a küldő szünetelteti aktivitását (szaggatott) </a:t>
            </a:r>
            <a:r>
              <a:rPr lang="hu-HU" dirty="0" smtClean="0">
                <a:sym typeface="Wingdings" pitchFamily="2" charset="2"/>
              </a:rPr>
              <a:t> fogadó aktiválása</a:t>
            </a:r>
            <a:endParaRPr lang="hu-HU" dirty="0" smtClean="0"/>
          </a:p>
          <a:p>
            <a:r>
              <a:rPr lang="hu-HU" dirty="0" smtClean="0"/>
              <a:t>Válasz:</a:t>
            </a:r>
          </a:p>
          <a:p>
            <a:pPr lvl="1"/>
            <a:r>
              <a:rPr lang="hu-HU" dirty="0" smtClean="0"/>
              <a:t>Szinkron</a:t>
            </a:r>
          </a:p>
          <a:p>
            <a:pPr lvl="1"/>
            <a:r>
              <a:rPr lang="hu-HU" dirty="0" smtClean="0"/>
              <a:t>Megelőző kérésre vonatkozik</a:t>
            </a:r>
          </a:p>
          <a:p>
            <a:pPr lvl="1"/>
            <a:r>
              <a:rPr lang="hu-HU" dirty="0" smtClean="0"/>
              <a:t>Szaggatott nyíl, nyitott nyílhegy</a:t>
            </a:r>
          </a:p>
          <a:p>
            <a:r>
              <a:rPr lang="hu-HU" dirty="0" smtClean="0"/>
              <a:t>Szignál:</a:t>
            </a:r>
          </a:p>
          <a:p>
            <a:pPr lvl="1"/>
            <a:r>
              <a:rPr lang="hu-HU" dirty="0" smtClean="0"/>
              <a:t>Aszinkron</a:t>
            </a:r>
          </a:p>
          <a:p>
            <a:pPr lvl="1"/>
            <a:r>
              <a:rPr lang="hu-HU" dirty="0" smtClean="0"/>
              <a:t>Nyitott hegyű áthúzott nyíl</a:t>
            </a:r>
            <a:endParaRPr lang="hu-HU" dirty="0"/>
          </a:p>
        </p:txBody>
      </p:sp>
    </p:spTree>
    <p:extLst>
      <p:ext uri="{BB962C8B-B14F-4D97-AF65-F5344CB8AC3E}">
        <p14:creationId xmlns:p14="http://schemas.microsoft.com/office/powerpoint/2010/main" val="4188566727"/>
      </p:ext>
    </p:extLst>
  </p:cSld>
  <p:clrMapOvr>
    <a:masterClrMapping/>
  </p:clrMapOvr>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576" y="620689"/>
            <a:ext cx="3528392" cy="5377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9652" y="891382"/>
            <a:ext cx="4507432" cy="484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85797850"/>
      </p:ext>
    </p:extLst>
  </p:cSld>
  <p:clrMapOvr>
    <a:masterClrMapping/>
  </p:clrMapOvr>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Üzenetek grammatikája</a:t>
            </a:r>
            <a:endParaRPr lang="hu-HU" dirty="0"/>
          </a:p>
        </p:txBody>
      </p:sp>
      <p:sp>
        <p:nvSpPr>
          <p:cNvPr id="3" name="Tartalom helye 2"/>
          <p:cNvSpPr>
            <a:spLocks noGrp="1"/>
          </p:cNvSpPr>
          <p:nvPr>
            <p:ph idx="1"/>
          </p:nvPr>
        </p:nvSpPr>
        <p:spPr>
          <a:xfrm>
            <a:off x="2063552" y="2323653"/>
            <a:ext cx="8064896" cy="3508977"/>
          </a:xfrm>
        </p:spPr>
        <p:txBody>
          <a:bodyPr>
            <a:normAutofit/>
          </a:bodyPr>
          <a:lstStyle/>
          <a:p>
            <a:r>
              <a:rPr lang="hu-HU" dirty="0" smtClean="0"/>
              <a:t>Üzenet: Szignál | kérés | válasz</a:t>
            </a:r>
          </a:p>
          <a:p>
            <a:r>
              <a:rPr lang="hu-HU" dirty="0" smtClean="0"/>
              <a:t>Szignál: Szignálnév[Argumentumok]</a:t>
            </a:r>
          </a:p>
          <a:p>
            <a:r>
              <a:rPr lang="hu-HU" dirty="0" smtClean="0"/>
              <a:t>Kérés:Műveletnév (Argumentumok)</a:t>
            </a:r>
          </a:p>
          <a:p>
            <a:r>
              <a:rPr lang="hu-HU" dirty="0" smtClean="0"/>
              <a:t>Válasz:[kérés:]</a:t>
            </a:r>
            <a:r>
              <a:rPr lang="hu-HU" dirty="0" err="1" smtClean="0"/>
              <a:t>VisszatérésiÉrték</a:t>
            </a:r>
            <a:endParaRPr lang="hu-HU" dirty="0" smtClean="0"/>
          </a:p>
          <a:p>
            <a:r>
              <a:rPr lang="hu-HU" dirty="0" smtClean="0"/>
              <a:t>Argumentumok: (argumentum (, </a:t>
            </a:r>
            <a:r>
              <a:rPr lang="hu-HU" dirty="0" err="1" smtClean="0"/>
              <a:t>argumentum</a:t>
            </a:r>
            <a:r>
              <a:rPr lang="hu-HU" dirty="0" smtClean="0"/>
              <a:t>)*)</a:t>
            </a:r>
          </a:p>
          <a:p>
            <a:r>
              <a:rPr lang="hu-HU" dirty="0" smtClean="0"/>
              <a:t>Argumentum: [irány]Paraméter: Érték | </a:t>
            </a:r>
            <a:r>
              <a:rPr lang="hu-HU" dirty="0" err="1" smtClean="0"/>
              <a:t>Érték</a:t>
            </a:r>
            <a:r>
              <a:rPr lang="hu-HU" dirty="0" smtClean="0"/>
              <a:t>…</a:t>
            </a:r>
          </a:p>
          <a:p>
            <a:r>
              <a:rPr lang="hu-HU" dirty="0" smtClean="0"/>
              <a:t>Irány: </a:t>
            </a:r>
            <a:r>
              <a:rPr lang="hu-HU" dirty="0" err="1" smtClean="0"/>
              <a:t>in</a:t>
            </a:r>
            <a:r>
              <a:rPr lang="hu-HU" dirty="0" smtClean="0"/>
              <a:t> | out | </a:t>
            </a:r>
            <a:r>
              <a:rPr lang="hu-HU" dirty="0" err="1" smtClean="0"/>
              <a:t>inout</a:t>
            </a:r>
            <a:r>
              <a:rPr lang="hu-HU" dirty="0" smtClean="0"/>
              <a:t> | </a:t>
            </a:r>
            <a:r>
              <a:rPr lang="hu-HU" dirty="0" err="1" smtClean="0"/>
              <a:t>return</a:t>
            </a:r>
            <a:endParaRPr lang="hu-HU" dirty="0"/>
          </a:p>
        </p:txBody>
      </p:sp>
    </p:spTree>
    <p:extLst>
      <p:ext uri="{BB962C8B-B14F-4D97-AF65-F5344CB8AC3E}">
        <p14:creationId xmlns:p14="http://schemas.microsoft.com/office/powerpoint/2010/main" val="3223608161"/>
      </p:ext>
    </p:extLst>
  </p:cSld>
  <p:clrMapOvr>
    <a:masterClrMapping/>
  </p:clrMapOvr>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Minta interakciók</a:t>
            </a:r>
            <a:endParaRPr lang="hu-HU" dirty="0"/>
          </a:p>
        </p:txBody>
      </p:sp>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1904" y="778309"/>
            <a:ext cx="4824536" cy="842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1704" y="2171278"/>
            <a:ext cx="6408712" cy="4255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97178820"/>
      </p:ext>
    </p:extLst>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2567490" y="269776"/>
            <a:ext cx="7024744" cy="1143000"/>
          </a:xfrm>
        </p:spPr>
        <p:txBody>
          <a:bodyPr/>
          <a:lstStyle/>
          <a:p>
            <a:r>
              <a:rPr lang="hu-HU" dirty="0" smtClean="0"/>
              <a:t>Kontextus interakciók</a:t>
            </a:r>
            <a:endParaRPr lang="hu-HU" dirty="0"/>
          </a:p>
        </p:txBody>
      </p:sp>
      <p:sp>
        <p:nvSpPr>
          <p:cNvPr id="3" name="Tartalom helye 2"/>
          <p:cNvSpPr>
            <a:spLocks noGrp="1"/>
          </p:cNvSpPr>
          <p:nvPr>
            <p:ph idx="1"/>
          </p:nvPr>
        </p:nvSpPr>
        <p:spPr>
          <a:xfrm>
            <a:off x="2567493" y="1412776"/>
            <a:ext cx="6777317" cy="1177356"/>
          </a:xfrm>
        </p:spPr>
        <p:txBody>
          <a:bodyPr>
            <a:normAutofit/>
          </a:bodyPr>
          <a:lstStyle/>
          <a:p>
            <a:r>
              <a:rPr lang="hu-HU" dirty="0" smtClean="0"/>
              <a:t>Nem-funkcionális követelmények is</a:t>
            </a:r>
          </a:p>
          <a:p>
            <a:r>
              <a:rPr lang="hu-HU" dirty="0" smtClean="0"/>
              <a:t>Táblázatos forma</a:t>
            </a:r>
          </a:p>
          <a:p>
            <a:pPr lvl="1"/>
            <a:r>
              <a:rPr lang="hu-HU" dirty="0" smtClean="0"/>
              <a:t>Felhasználói művelet - Rendszerválasz</a:t>
            </a:r>
            <a:endParaRPr lang="hu-HU" dirty="0"/>
          </a:p>
        </p:txBody>
      </p:sp>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5720" y="2636913"/>
            <a:ext cx="5256584" cy="330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1480265"/>
      </p:ext>
    </p:extLst>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Interakciós operátorok</a:t>
            </a:r>
            <a:endParaRPr lang="hu-HU" dirty="0"/>
          </a:p>
        </p:txBody>
      </p:sp>
      <p:sp>
        <p:nvSpPr>
          <p:cNvPr id="3" name="Tartalom helye 2"/>
          <p:cNvSpPr>
            <a:spLocks noGrp="1"/>
          </p:cNvSpPr>
          <p:nvPr>
            <p:ph idx="1"/>
          </p:nvPr>
        </p:nvSpPr>
        <p:spPr/>
        <p:txBody>
          <a:bodyPr/>
          <a:lstStyle/>
          <a:p>
            <a:r>
              <a:rPr lang="hu-HU" dirty="0" smtClean="0"/>
              <a:t>Egy szituációhoz nagyon sok lefutás tartozhat, ez bonyolulttá teheti a feltárást/ leírást / hibalehetőség.</a:t>
            </a:r>
          </a:p>
          <a:p>
            <a:r>
              <a:rPr lang="hu-HU" dirty="0" smtClean="0"/>
              <a:t>UML2 </a:t>
            </a:r>
            <a:r>
              <a:rPr lang="hu-HU" dirty="0" smtClean="0">
                <a:sym typeface="Wingdings" pitchFamily="2" charset="2"/>
              </a:rPr>
              <a:t> komplex interakció</a:t>
            </a:r>
          </a:p>
          <a:p>
            <a:r>
              <a:rPr lang="hu-HU" dirty="0" smtClean="0">
                <a:sym typeface="Wingdings" pitchFamily="2" charset="2"/>
              </a:rPr>
              <a:t>Nem kizárólag folyamatok, hanem folyamatok halmaza</a:t>
            </a:r>
            <a:endParaRPr lang="hu-HU" dirty="0"/>
          </a:p>
        </p:txBody>
      </p:sp>
    </p:spTree>
    <p:extLst>
      <p:ext uri="{BB962C8B-B14F-4D97-AF65-F5344CB8AC3E}">
        <p14:creationId xmlns:p14="http://schemas.microsoft.com/office/powerpoint/2010/main" val="2251594479"/>
      </p:ext>
    </p:extLst>
  </p:cSld>
  <p:clrMapOvr>
    <a:masterClrMapping/>
  </p:clrMapOvr>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673" y="476672"/>
            <a:ext cx="6048673" cy="6235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9838064"/>
      </p:ext>
    </p:extLst>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Strict</a:t>
            </a:r>
            <a:r>
              <a:rPr lang="hu-HU" dirty="0" smtClean="0"/>
              <a:t> operátor</a:t>
            </a:r>
            <a:endParaRPr lang="hu-HU" dirty="0"/>
          </a:p>
        </p:txBody>
      </p:sp>
      <p:sp>
        <p:nvSpPr>
          <p:cNvPr id="3" name="Tartalom helye 2"/>
          <p:cNvSpPr>
            <a:spLocks noGrp="1"/>
          </p:cNvSpPr>
          <p:nvPr>
            <p:ph idx="1"/>
          </p:nvPr>
        </p:nvSpPr>
        <p:spPr/>
        <p:txBody>
          <a:bodyPr/>
          <a:lstStyle/>
          <a:p>
            <a:r>
              <a:rPr lang="hu-HU" dirty="0" smtClean="0"/>
              <a:t>A halmazban lévő operandusok szigorú sorrendjét írja elő</a:t>
            </a:r>
          </a:p>
          <a:p>
            <a:r>
              <a:rPr lang="hu-HU" dirty="0" smtClean="0"/>
              <a:t>Csak akkor jöhet a következő, ha az előző teljes mértékben befejeződött</a:t>
            </a:r>
          </a:p>
          <a:p>
            <a:r>
              <a:rPr lang="hu-HU" dirty="0" smtClean="0"/>
              <a:t>Első argumentum eseményei … Második argumentum eseményei …</a:t>
            </a:r>
          </a:p>
          <a:p>
            <a:endParaRPr lang="hu-HU" dirty="0"/>
          </a:p>
        </p:txBody>
      </p:sp>
    </p:spTree>
    <p:extLst>
      <p:ext uri="{BB962C8B-B14F-4D97-AF65-F5344CB8AC3E}">
        <p14:creationId xmlns:p14="http://schemas.microsoft.com/office/powerpoint/2010/main" val="213604412"/>
      </p:ext>
    </p:extLst>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640" y="837865"/>
            <a:ext cx="6624736" cy="3469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5640" y="4365104"/>
            <a:ext cx="6624736" cy="2016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66716797"/>
      </p:ext>
    </p:extLst>
  </p:cSld>
  <p:clrMapOvr>
    <a:masterClrMapping/>
  </p:clrMapOvr>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Ref</a:t>
            </a:r>
            <a:r>
              <a:rPr lang="hu-HU" dirty="0" smtClean="0"/>
              <a:t> operátor</a:t>
            </a:r>
            <a:endParaRPr lang="hu-HU" dirty="0"/>
          </a:p>
        </p:txBody>
      </p:sp>
      <p:sp>
        <p:nvSpPr>
          <p:cNvPr id="3" name="Tartalom helye 2"/>
          <p:cNvSpPr>
            <a:spLocks noGrp="1"/>
          </p:cNvSpPr>
          <p:nvPr>
            <p:ph idx="1"/>
          </p:nvPr>
        </p:nvSpPr>
        <p:spPr>
          <a:xfrm>
            <a:off x="2207568" y="2323653"/>
            <a:ext cx="7848872" cy="3508977"/>
          </a:xfrm>
        </p:spPr>
        <p:txBody>
          <a:bodyPr>
            <a:normAutofit lnSpcReduction="10000"/>
          </a:bodyPr>
          <a:lstStyle/>
          <a:p>
            <a:r>
              <a:rPr lang="hu-HU" dirty="0" smtClean="0"/>
              <a:t>Névvel hivatkozik más interakciókra</a:t>
            </a:r>
          </a:p>
          <a:p>
            <a:r>
              <a:rPr lang="hu-HU" dirty="0" err="1" smtClean="0"/>
              <a:t>Parametrizálható</a:t>
            </a:r>
            <a:endParaRPr lang="hu-HU" dirty="0" smtClean="0"/>
          </a:p>
          <a:p>
            <a:pPr lvl="1"/>
            <a:r>
              <a:rPr lang="hu-HU" dirty="0" smtClean="0"/>
              <a:t>Formális paraméterek kötöttek</a:t>
            </a:r>
          </a:p>
          <a:p>
            <a:pPr lvl="1"/>
            <a:r>
              <a:rPr lang="hu-HU" dirty="0" smtClean="0"/>
              <a:t>Visszatérési érték példa</a:t>
            </a:r>
          </a:p>
          <a:p>
            <a:pPr lvl="1"/>
            <a:r>
              <a:rPr lang="hu-HU" sz="1400" dirty="0" err="1"/>
              <a:t>IAD-deklaráció</a:t>
            </a:r>
            <a:r>
              <a:rPr lang="hu-HU" sz="1400" dirty="0"/>
              <a:t>::= </a:t>
            </a:r>
            <a:r>
              <a:rPr lang="hu-HU" sz="1400" dirty="0" err="1"/>
              <a:t>Sdinterakciónév</a:t>
            </a:r>
            <a:r>
              <a:rPr lang="hu-HU" sz="1400" dirty="0"/>
              <a:t>[Argumentumok]</a:t>
            </a:r>
          </a:p>
          <a:p>
            <a:pPr lvl="1"/>
            <a:r>
              <a:rPr lang="hu-HU" sz="1400" dirty="0" err="1"/>
              <a:t>IAD-kérés</a:t>
            </a:r>
            <a:r>
              <a:rPr lang="hu-HU" sz="1400" dirty="0"/>
              <a:t>::=</a:t>
            </a:r>
            <a:r>
              <a:rPr lang="hu-HU" sz="1400" dirty="0" err="1"/>
              <a:t>refinterakciónév</a:t>
            </a:r>
            <a:r>
              <a:rPr lang="hu-HU" sz="1400" dirty="0"/>
              <a:t>[Argumentumok][</a:t>
            </a:r>
            <a:r>
              <a:rPr lang="hu-HU" sz="1400" dirty="0" err="1"/>
              <a:t>VisszatérésiFormula</a:t>
            </a:r>
            <a:r>
              <a:rPr lang="hu-HU" sz="1400" dirty="0"/>
              <a:t>]</a:t>
            </a:r>
          </a:p>
          <a:p>
            <a:pPr lvl="1"/>
            <a:r>
              <a:rPr lang="hu-HU" sz="1400" dirty="0" err="1"/>
              <a:t>VisszatérésiFormula</a:t>
            </a:r>
            <a:r>
              <a:rPr lang="hu-HU" sz="1400" dirty="0"/>
              <a:t>::= [</a:t>
            </a:r>
            <a:r>
              <a:rPr lang="hu-HU" sz="1400" dirty="0" err="1"/>
              <a:t>Attributum</a:t>
            </a:r>
            <a:r>
              <a:rPr lang="hu-HU" sz="1400" dirty="0"/>
              <a:t>=]Interakció[Argumentumok:][</a:t>
            </a:r>
            <a:r>
              <a:rPr lang="hu-HU" sz="1400" dirty="0" err="1"/>
              <a:t>VisszatérésiÉrték</a:t>
            </a:r>
            <a:r>
              <a:rPr lang="hu-HU" sz="1400" dirty="0"/>
              <a:t>]</a:t>
            </a:r>
          </a:p>
          <a:p>
            <a:pPr lvl="1"/>
            <a:r>
              <a:rPr lang="hu-HU" sz="1400" dirty="0"/>
              <a:t>Argumentumok::=(Argumentum (, </a:t>
            </a:r>
            <a:r>
              <a:rPr lang="hu-HU" sz="1400" dirty="0" err="1"/>
              <a:t>Argumentum</a:t>
            </a:r>
            <a:r>
              <a:rPr lang="hu-HU" sz="1400" dirty="0"/>
              <a:t>)*)</a:t>
            </a:r>
          </a:p>
          <a:p>
            <a:pPr lvl="1"/>
            <a:r>
              <a:rPr lang="hu-HU" sz="1400" dirty="0"/>
              <a:t>Argumentum::= [irány]paraméter:érték|</a:t>
            </a:r>
            <a:r>
              <a:rPr lang="hu-HU" sz="1400" dirty="0" err="1"/>
              <a:t>érték</a:t>
            </a:r>
            <a:r>
              <a:rPr lang="hu-HU" sz="1400" dirty="0"/>
              <a:t>|-</a:t>
            </a:r>
          </a:p>
          <a:p>
            <a:pPr lvl="1"/>
            <a:r>
              <a:rPr lang="hu-HU" sz="1400" dirty="0"/>
              <a:t>Irány:== </a:t>
            </a:r>
            <a:r>
              <a:rPr lang="hu-HU" sz="1400" dirty="0" err="1"/>
              <a:t>in</a:t>
            </a:r>
            <a:r>
              <a:rPr lang="hu-HU" sz="1400" dirty="0"/>
              <a:t> | out |</a:t>
            </a:r>
            <a:r>
              <a:rPr lang="hu-HU" sz="1400" dirty="0" err="1"/>
              <a:t>inout</a:t>
            </a:r>
            <a:r>
              <a:rPr lang="hu-HU" sz="1400" dirty="0"/>
              <a:t> | </a:t>
            </a:r>
            <a:r>
              <a:rPr lang="hu-HU" sz="1400" dirty="0" err="1"/>
              <a:t>return</a:t>
            </a:r>
            <a:endParaRPr lang="hu-HU" sz="1400" dirty="0"/>
          </a:p>
        </p:txBody>
      </p:sp>
    </p:spTree>
    <p:extLst>
      <p:ext uri="{BB962C8B-B14F-4D97-AF65-F5344CB8AC3E}">
        <p14:creationId xmlns:p14="http://schemas.microsoft.com/office/powerpoint/2010/main" val="3970252153"/>
      </p:ext>
    </p:extLst>
  </p:cSld>
  <p:clrMapOvr>
    <a:masterClrMapping/>
  </p:clrMapOvr>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Opt</a:t>
            </a:r>
            <a:r>
              <a:rPr lang="hu-HU" dirty="0" smtClean="0"/>
              <a:t> operátor</a:t>
            </a:r>
            <a:endParaRPr lang="hu-HU" dirty="0"/>
          </a:p>
        </p:txBody>
      </p:sp>
      <p:sp>
        <p:nvSpPr>
          <p:cNvPr id="3" name="Tartalom helye 2"/>
          <p:cNvSpPr>
            <a:spLocks noGrp="1"/>
          </p:cNvSpPr>
          <p:nvPr>
            <p:ph idx="1"/>
          </p:nvPr>
        </p:nvSpPr>
        <p:spPr>
          <a:xfrm>
            <a:off x="2567493" y="2323653"/>
            <a:ext cx="6777317" cy="1105348"/>
          </a:xfrm>
        </p:spPr>
        <p:txBody>
          <a:bodyPr/>
          <a:lstStyle/>
          <a:p>
            <a:r>
              <a:rPr lang="hu-HU" dirty="0" err="1" smtClean="0"/>
              <a:t>Opcionalitást</a:t>
            </a:r>
            <a:r>
              <a:rPr lang="hu-HU" dirty="0" smtClean="0"/>
              <a:t> fejez ki</a:t>
            </a:r>
          </a:p>
          <a:p>
            <a:endParaRPr lang="hu-HU"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577" y="3429000"/>
            <a:ext cx="7767181" cy="1152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0357302"/>
      </p:ext>
    </p:extLst>
  </p:cSld>
  <p:clrMapOvr>
    <a:masterClrMapping/>
  </p:clrMapOvr>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Brk</a:t>
            </a:r>
            <a:r>
              <a:rPr lang="hu-HU" dirty="0" smtClean="0"/>
              <a:t> operátor</a:t>
            </a:r>
            <a:endParaRPr lang="hu-HU" dirty="0"/>
          </a:p>
        </p:txBody>
      </p:sp>
      <p:sp>
        <p:nvSpPr>
          <p:cNvPr id="3" name="Tartalom helye 2"/>
          <p:cNvSpPr>
            <a:spLocks noGrp="1"/>
          </p:cNvSpPr>
          <p:nvPr>
            <p:ph idx="1"/>
          </p:nvPr>
        </p:nvSpPr>
        <p:spPr/>
        <p:txBody>
          <a:bodyPr/>
          <a:lstStyle/>
          <a:p>
            <a:r>
              <a:rPr lang="hu-HU" dirty="0" smtClean="0"/>
              <a:t>Megszakítás lehetőségét írja le</a:t>
            </a:r>
            <a:endParaRPr lang="hu-HU" dirty="0"/>
          </a:p>
        </p:txBody>
      </p:sp>
      <p:pic>
        <p:nvPicPr>
          <p:cNvPr id="41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1784" y="-32"/>
            <a:ext cx="5593060" cy="5180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084923"/>
      </p:ext>
    </p:extLst>
  </p:cSld>
  <p:clrMapOvr>
    <a:masterClrMapping/>
  </p:clrMapOvr>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576" y="798160"/>
            <a:ext cx="7848872" cy="5367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2393887"/>
      </p:ext>
    </p:extLst>
  </p:cSld>
  <p:clrMapOvr>
    <a:masterClrMapping/>
  </p:clrMapOvr>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Alt operátor</a:t>
            </a:r>
            <a:endParaRPr lang="hu-HU" dirty="0"/>
          </a:p>
        </p:txBody>
      </p:sp>
      <p:sp>
        <p:nvSpPr>
          <p:cNvPr id="3" name="Tartalom helye 2"/>
          <p:cNvSpPr>
            <a:spLocks noGrp="1"/>
          </p:cNvSpPr>
          <p:nvPr>
            <p:ph idx="1"/>
          </p:nvPr>
        </p:nvSpPr>
        <p:spPr/>
        <p:txBody>
          <a:bodyPr/>
          <a:lstStyle/>
          <a:p>
            <a:r>
              <a:rPr lang="hu-HU" dirty="0" smtClean="0"/>
              <a:t>Alternatív lefutások jelzéséhez</a:t>
            </a:r>
          </a:p>
          <a:p>
            <a:r>
              <a:rPr lang="hu-HU" dirty="0" smtClean="0"/>
              <a:t>Többől csak 1</a:t>
            </a:r>
          </a:p>
          <a:p>
            <a:r>
              <a:rPr lang="hu-HU" dirty="0" smtClean="0"/>
              <a:t>Szaggatott vonal választ el</a:t>
            </a:r>
          </a:p>
          <a:p>
            <a:endParaRPr lang="hu-HU" dirty="0"/>
          </a:p>
        </p:txBody>
      </p:sp>
    </p:spTree>
    <p:extLst>
      <p:ext uri="{BB962C8B-B14F-4D97-AF65-F5344CB8AC3E}">
        <p14:creationId xmlns:p14="http://schemas.microsoft.com/office/powerpoint/2010/main" val="2832312731"/>
      </p:ext>
    </p:extLst>
  </p:cSld>
  <p:clrMapOvr>
    <a:masterClrMapping/>
  </p:clrMapOvr>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1664" y="692696"/>
            <a:ext cx="6264696" cy="5804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Cím 1"/>
          <p:cNvSpPr>
            <a:spLocks noGrp="1"/>
          </p:cNvSpPr>
          <p:nvPr>
            <p:ph type="title"/>
          </p:nvPr>
        </p:nvSpPr>
        <p:spPr>
          <a:xfrm rot="16200000">
            <a:off x="323368" y="2245432"/>
            <a:ext cx="4392488" cy="1143000"/>
          </a:xfrm>
        </p:spPr>
        <p:txBody>
          <a:bodyPr/>
          <a:lstStyle/>
          <a:p>
            <a:r>
              <a:rPr lang="hu-HU" dirty="0" smtClean="0"/>
              <a:t>Ugrópontok</a:t>
            </a:r>
            <a:endParaRPr lang="hu-HU" dirty="0"/>
          </a:p>
        </p:txBody>
      </p:sp>
    </p:spTree>
    <p:extLst>
      <p:ext uri="{BB962C8B-B14F-4D97-AF65-F5344CB8AC3E}">
        <p14:creationId xmlns:p14="http://schemas.microsoft.com/office/powerpoint/2010/main" val="2357329691"/>
      </p:ext>
    </p:extLst>
  </p:cSld>
  <p:clrMapOvr>
    <a:masterClrMapping/>
  </p:clrMapOvr>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a:bodyPr>
          <a:lstStyle/>
          <a:p>
            <a:r>
              <a:rPr lang="hu-HU" dirty="0" smtClean="0"/>
              <a:t>Interakciók szöveges ábrázolása</a:t>
            </a:r>
            <a:endParaRPr lang="hu-HU" dirty="0"/>
          </a:p>
        </p:txBody>
      </p:sp>
      <p:sp>
        <p:nvSpPr>
          <p:cNvPr id="3" name="Tartalom helye 2"/>
          <p:cNvSpPr>
            <a:spLocks noGrp="1"/>
          </p:cNvSpPr>
          <p:nvPr>
            <p:ph idx="1"/>
          </p:nvPr>
        </p:nvSpPr>
        <p:spPr/>
        <p:txBody>
          <a:bodyPr/>
          <a:lstStyle/>
          <a:p>
            <a:r>
              <a:rPr lang="hu-HU" dirty="0" smtClean="0"/>
              <a:t>Operátorok függvényként:</a:t>
            </a:r>
          </a:p>
          <a:p>
            <a:pPr lvl="1"/>
            <a:r>
              <a:rPr lang="hu-HU" dirty="0" err="1" smtClean="0"/>
              <a:t>Strict</a:t>
            </a:r>
            <a:r>
              <a:rPr lang="hu-HU" dirty="0" smtClean="0"/>
              <a:t>(</a:t>
            </a:r>
            <a:r>
              <a:rPr lang="hu-HU" dirty="0" err="1" smtClean="0"/>
              <a:t>ref</a:t>
            </a:r>
            <a:r>
              <a:rPr lang="hu-HU" dirty="0" smtClean="0"/>
              <a:t>(utas bejelentkezése), </a:t>
            </a:r>
            <a:r>
              <a:rPr lang="hu-HU" dirty="0" err="1" smtClean="0"/>
              <a:t>ref</a:t>
            </a:r>
            <a:r>
              <a:rPr lang="hu-HU" dirty="0" smtClean="0"/>
              <a:t>(járat és ülőhely választás), </a:t>
            </a:r>
            <a:r>
              <a:rPr lang="hu-HU" dirty="0" err="1" smtClean="0"/>
              <a:t>opt</a:t>
            </a:r>
            <a:r>
              <a:rPr lang="hu-HU" dirty="0" smtClean="0"/>
              <a:t>(</a:t>
            </a:r>
            <a:r>
              <a:rPr lang="hu-HU" dirty="0" err="1" smtClean="0"/>
              <a:t>ref</a:t>
            </a:r>
            <a:r>
              <a:rPr lang="hu-HU" dirty="0" smtClean="0"/>
              <a:t>(csomag feladás)), </a:t>
            </a:r>
            <a:r>
              <a:rPr lang="hu-HU" dirty="0" err="1" smtClean="0"/>
              <a:t>ref</a:t>
            </a:r>
            <a:r>
              <a:rPr lang="hu-HU" dirty="0" smtClean="0"/>
              <a:t>(beszállókártya nyomtatás))</a:t>
            </a:r>
          </a:p>
          <a:p>
            <a:pPr lvl="1"/>
            <a:r>
              <a:rPr lang="hu-HU" dirty="0" err="1" smtClean="0"/>
              <a:t>Strict</a:t>
            </a:r>
            <a:r>
              <a:rPr lang="hu-HU" dirty="0" smtClean="0"/>
              <a:t>(O,</a:t>
            </a:r>
            <a:r>
              <a:rPr lang="hu-HU" dirty="0" err="1" smtClean="0"/>
              <a:t>strict</a:t>
            </a:r>
            <a:r>
              <a:rPr lang="hu-HU" dirty="0" smtClean="0"/>
              <a:t>(P,Q))=</a:t>
            </a:r>
            <a:r>
              <a:rPr lang="hu-HU" dirty="0" err="1" smtClean="0"/>
              <a:t>Strict</a:t>
            </a:r>
            <a:r>
              <a:rPr lang="hu-HU" dirty="0" smtClean="0"/>
              <a:t>(</a:t>
            </a:r>
            <a:r>
              <a:rPr lang="hu-HU" dirty="0" err="1" smtClean="0"/>
              <a:t>Strict</a:t>
            </a:r>
            <a:r>
              <a:rPr lang="hu-HU" dirty="0" smtClean="0"/>
              <a:t>(O,P),Q)</a:t>
            </a:r>
          </a:p>
          <a:p>
            <a:pPr lvl="1"/>
            <a:endParaRPr lang="hu-HU" dirty="0"/>
          </a:p>
        </p:txBody>
      </p:sp>
    </p:spTree>
    <p:extLst>
      <p:ext uri="{BB962C8B-B14F-4D97-AF65-F5344CB8AC3E}">
        <p14:creationId xmlns:p14="http://schemas.microsoft.com/office/powerpoint/2010/main" val="2966683553"/>
      </p:ext>
    </p:extLst>
  </p:cSld>
  <p:clrMapOvr>
    <a:masterClrMapping/>
  </p:clrMapOvr>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Loop</a:t>
            </a:r>
            <a:r>
              <a:rPr lang="hu-HU" dirty="0" smtClean="0"/>
              <a:t> operátor</a:t>
            </a:r>
            <a:endParaRPr lang="hu-HU" dirty="0"/>
          </a:p>
        </p:txBody>
      </p:sp>
      <p:sp>
        <p:nvSpPr>
          <p:cNvPr id="3" name="Tartalom helye 2"/>
          <p:cNvSpPr>
            <a:spLocks noGrp="1"/>
          </p:cNvSpPr>
          <p:nvPr>
            <p:ph idx="1"/>
          </p:nvPr>
        </p:nvSpPr>
        <p:spPr/>
        <p:txBody>
          <a:bodyPr/>
          <a:lstStyle/>
          <a:p>
            <a:r>
              <a:rPr lang="hu-HU" dirty="0" smtClean="0"/>
              <a:t>Ismétlődés szemléltetéséhez (</a:t>
            </a:r>
            <a:r>
              <a:rPr lang="hu-HU" dirty="0" err="1" smtClean="0"/>
              <a:t>strict</a:t>
            </a:r>
            <a:r>
              <a:rPr lang="hu-HU" dirty="0" smtClean="0"/>
              <a:t> és alt is jó lenne, de így egyszerűbb)</a:t>
            </a:r>
          </a:p>
          <a:p>
            <a:r>
              <a:rPr lang="hu-HU" dirty="0" err="1" smtClean="0"/>
              <a:t>Loop</a:t>
            </a:r>
            <a:r>
              <a:rPr lang="hu-HU" dirty="0" smtClean="0"/>
              <a:t>(Alsó határ, felső határ/*)</a:t>
            </a:r>
          </a:p>
          <a:p>
            <a:endParaRPr lang="hu-HU" dirty="0"/>
          </a:p>
        </p:txBody>
      </p:sp>
    </p:spTree>
    <p:extLst>
      <p:ext uri="{BB962C8B-B14F-4D97-AF65-F5344CB8AC3E}">
        <p14:creationId xmlns:p14="http://schemas.microsoft.com/office/powerpoint/2010/main" val="3486758372"/>
      </p:ext>
    </p:extLst>
  </p:cSld>
  <p:clrMapOvr>
    <a:masterClrMapping/>
  </p:clrMapOvr>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1625" y="692695"/>
            <a:ext cx="6748363" cy="56708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3332637"/>
      </p:ext>
    </p:extLst>
  </p:cSld>
  <p:clrMapOvr>
    <a:masterClrMapping/>
  </p:clrMapOvr>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Seq</a:t>
            </a:r>
            <a:r>
              <a:rPr lang="hu-HU" dirty="0" smtClean="0"/>
              <a:t> operátor</a:t>
            </a:r>
            <a:endParaRPr lang="hu-HU" dirty="0"/>
          </a:p>
        </p:txBody>
      </p:sp>
      <p:sp>
        <p:nvSpPr>
          <p:cNvPr id="3" name="Tartalom helye 2"/>
          <p:cNvSpPr>
            <a:spLocks noGrp="1"/>
          </p:cNvSpPr>
          <p:nvPr>
            <p:ph idx="1"/>
          </p:nvPr>
        </p:nvSpPr>
        <p:spPr/>
        <p:txBody>
          <a:bodyPr/>
          <a:lstStyle/>
          <a:p>
            <a:r>
              <a:rPr lang="hu-HU" dirty="0" smtClean="0"/>
              <a:t>Sorba kapcsolja az interakciókat</a:t>
            </a:r>
          </a:p>
          <a:p>
            <a:r>
              <a:rPr lang="hu-HU" dirty="0" smtClean="0"/>
              <a:t>Hasonlít a </a:t>
            </a:r>
            <a:r>
              <a:rPr lang="hu-HU" dirty="0" err="1" smtClean="0"/>
              <a:t>strict-hez</a:t>
            </a:r>
            <a:r>
              <a:rPr lang="hu-HU" dirty="0" smtClean="0"/>
              <a:t>, de itt a sorrendiség csak indításkor fontos</a:t>
            </a:r>
          </a:p>
          <a:p>
            <a:r>
              <a:rPr lang="hu-HU" dirty="0" smtClean="0"/>
              <a:t>Nem kell bevárni a </a:t>
            </a:r>
            <a:r>
              <a:rPr lang="hu-HU" dirty="0" err="1" smtClean="0"/>
              <a:t>befelyezést</a:t>
            </a:r>
            <a:endParaRPr lang="hu-HU" dirty="0" smtClean="0"/>
          </a:p>
          <a:p>
            <a:endParaRPr lang="hu-HU" dirty="0"/>
          </a:p>
        </p:txBody>
      </p:sp>
    </p:spTree>
    <p:extLst>
      <p:ext uri="{BB962C8B-B14F-4D97-AF65-F5344CB8AC3E}">
        <p14:creationId xmlns:p14="http://schemas.microsoft.com/office/powerpoint/2010/main" val="1799792903"/>
      </p:ext>
    </p:extLst>
  </p:cSld>
  <p:clrMapOvr>
    <a:masterClrMapping/>
  </p:clrMapOvr>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7568" y="928108"/>
            <a:ext cx="7488832" cy="5444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258806"/>
      </p:ext>
    </p:extLst>
  </p:cSld>
  <p:clrMapOvr>
    <a:masterClrMapping/>
  </p:clrMapOvr>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2567490" y="-27384"/>
            <a:ext cx="7024744" cy="1143000"/>
          </a:xfrm>
        </p:spPr>
        <p:txBody>
          <a:bodyPr/>
          <a:lstStyle/>
          <a:p>
            <a:r>
              <a:rPr lang="hu-HU" dirty="0" smtClean="0"/>
              <a:t>Par operátor</a:t>
            </a:r>
            <a:endParaRPr lang="hu-HU" dirty="0"/>
          </a:p>
        </p:txBody>
      </p:sp>
      <p:sp>
        <p:nvSpPr>
          <p:cNvPr id="3" name="Tartalom helye 2"/>
          <p:cNvSpPr>
            <a:spLocks noGrp="1"/>
          </p:cNvSpPr>
          <p:nvPr>
            <p:ph idx="1"/>
          </p:nvPr>
        </p:nvSpPr>
        <p:spPr>
          <a:xfrm>
            <a:off x="2567493" y="1382980"/>
            <a:ext cx="6777317" cy="821884"/>
          </a:xfrm>
        </p:spPr>
        <p:txBody>
          <a:bodyPr/>
          <a:lstStyle/>
          <a:p>
            <a:r>
              <a:rPr lang="hu-HU" dirty="0" smtClean="0"/>
              <a:t>Egyidejűség</a:t>
            </a:r>
            <a:endParaRPr lang="hu-HU" dirty="0"/>
          </a:p>
        </p:txBody>
      </p:sp>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5149" y="2336910"/>
            <a:ext cx="6601038" cy="39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09056094"/>
      </p:ext>
    </p:extLst>
  </p:cSld>
  <p:clrMapOvr>
    <a:masterClrMapping/>
  </p:clrMapOvr>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9616" y="692696"/>
            <a:ext cx="6336704" cy="5775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19918382"/>
      </p:ext>
    </p:extLst>
  </p:cSld>
  <p:clrMapOvr>
    <a:masterClrMapping/>
  </p:clrMapOvr>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5600" y="836712"/>
            <a:ext cx="6936252" cy="1872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2237061"/>
      </p:ext>
    </p:extLst>
  </p:cSld>
  <p:clrMapOvr>
    <a:masterClrMapping/>
  </p:clrMapOvr>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Region</a:t>
            </a:r>
            <a:r>
              <a:rPr lang="hu-HU" dirty="0" smtClean="0"/>
              <a:t> operátor</a:t>
            </a:r>
            <a:endParaRPr lang="hu-HU" dirty="0"/>
          </a:p>
        </p:txBody>
      </p:sp>
      <p:sp>
        <p:nvSpPr>
          <p:cNvPr id="3" name="Tartalom helye 2"/>
          <p:cNvSpPr>
            <a:spLocks noGrp="1"/>
          </p:cNvSpPr>
          <p:nvPr>
            <p:ph idx="1"/>
          </p:nvPr>
        </p:nvSpPr>
        <p:spPr/>
        <p:txBody>
          <a:bodyPr/>
          <a:lstStyle/>
          <a:p>
            <a:r>
              <a:rPr lang="hu-HU" dirty="0" smtClean="0"/>
              <a:t>Par esetén</a:t>
            </a:r>
          </a:p>
          <a:p>
            <a:r>
              <a:rPr lang="hu-HU" dirty="0" smtClean="0"/>
              <a:t>Kritikus szakasz: egyben kell hogy lefusson</a:t>
            </a:r>
          </a:p>
          <a:p>
            <a:pPr lvl="1"/>
            <a:r>
              <a:rPr lang="hu-HU" dirty="0" smtClean="0"/>
              <a:t>Megosztott erőforrások miatt</a:t>
            </a:r>
          </a:p>
          <a:p>
            <a:r>
              <a:rPr lang="hu-HU" dirty="0" smtClean="0"/>
              <a:t>Kevesebb lefutási lehetőség</a:t>
            </a:r>
            <a:endParaRPr lang="hu-HU" dirty="0"/>
          </a:p>
        </p:txBody>
      </p:sp>
      <p:pic>
        <p:nvPicPr>
          <p:cNvPr id="122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1585" y="4017964"/>
            <a:ext cx="3819553" cy="2219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2623362"/>
      </p:ext>
    </p:extLst>
  </p:cSld>
  <p:clrMapOvr>
    <a:masterClrMapping/>
  </p:clrMapOvr>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Ignore</a:t>
            </a:r>
            <a:r>
              <a:rPr lang="hu-HU" dirty="0" smtClean="0"/>
              <a:t> /</a:t>
            </a:r>
            <a:r>
              <a:rPr lang="hu-HU" dirty="0" err="1" smtClean="0"/>
              <a:t>consider</a:t>
            </a:r>
            <a:endParaRPr lang="hu-HU" dirty="0"/>
          </a:p>
        </p:txBody>
      </p:sp>
      <p:sp>
        <p:nvSpPr>
          <p:cNvPr id="3" name="Tartalom helye 2"/>
          <p:cNvSpPr>
            <a:spLocks noGrp="1"/>
          </p:cNvSpPr>
          <p:nvPr>
            <p:ph idx="1"/>
          </p:nvPr>
        </p:nvSpPr>
        <p:spPr>
          <a:xfrm>
            <a:off x="2567493" y="2323652"/>
            <a:ext cx="6777317" cy="4057676"/>
          </a:xfrm>
        </p:spPr>
        <p:txBody>
          <a:bodyPr>
            <a:normAutofit/>
          </a:bodyPr>
          <a:lstStyle/>
          <a:p>
            <a:r>
              <a:rPr lang="hu-HU" dirty="0" smtClean="0"/>
              <a:t>Interakciók sok esetben </a:t>
            </a:r>
            <a:r>
              <a:rPr lang="hu-HU" dirty="0" err="1" smtClean="0"/>
              <a:t>explicitebbek</a:t>
            </a:r>
            <a:r>
              <a:rPr lang="hu-HU" dirty="0" smtClean="0"/>
              <a:t>, mint kellene (ha egy osztály több mintában is szerepel, vagy több kollaborációban szerepel)</a:t>
            </a:r>
          </a:p>
          <a:p>
            <a:r>
              <a:rPr lang="hu-HU" dirty="0" smtClean="0"/>
              <a:t>Több hatás egyidejű fellépése bonyolult</a:t>
            </a:r>
          </a:p>
          <a:p>
            <a:r>
              <a:rPr lang="hu-HU" dirty="0" smtClean="0"/>
              <a:t>Kombinációk ábrázolása </a:t>
            </a:r>
            <a:r>
              <a:rPr lang="hu-HU" dirty="0" smtClean="0">
                <a:sym typeface="Wingdings" pitchFamily="2" charset="2"/>
              </a:rPr>
              <a:t> vizualizáció </a:t>
            </a:r>
            <a:r>
              <a:rPr lang="hu-HU" dirty="0" err="1" smtClean="0">
                <a:sym typeface="Wingdings" pitchFamily="2" charset="2"/>
              </a:rPr>
              <a:t>bonyolodik</a:t>
            </a:r>
            <a:endParaRPr lang="hu-HU" dirty="0" smtClean="0">
              <a:sym typeface="Wingdings" pitchFamily="2" charset="2"/>
            </a:endParaRPr>
          </a:p>
          <a:p>
            <a:r>
              <a:rPr lang="hu-HU" dirty="0" smtClean="0">
                <a:sym typeface="Wingdings" pitchFamily="2" charset="2"/>
              </a:rPr>
              <a:t>Minta (releváns folyamat) a mintában (irreleváns folyamat) ábrázolása</a:t>
            </a:r>
          </a:p>
          <a:p>
            <a:r>
              <a:rPr lang="hu-HU" dirty="0" smtClean="0">
                <a:sym typeface="Wingdings" pitchFamily="2" charset="2"/>
              </a:rPr>
              <a:t>Absztrakt  finomított esetén is:</a:t>
            </a:r>
          </a:p>
          <a:p>
            <a:pPr lvl="1"/>
            <a:r>
              <a:rPr lang="hu-HU" dirty="0" smtClean="0">
                <a:sym typeface="Wingdings" pitchFamily="2" charset="2"/>
              </a:rPr>
              <a:t>Jó a részletesség</a:t>
            </a:r>
          </a:p>
          <a:p>
            <a:pPr lvl="1"/>
            <a:r>
              <a:rPr lang="hu-HU" dirty="0" smtClean="0">
                <a:sym typeface="Wingdings" pitchFamily="2" charset="2"/>
              </a:rPr>
              <a:t>De bonyolít</a:t>
            </a:r>
            <a:endParaRPr lang="hu-HU" dirty="0" smtClean="0"/>
          </a:p>
          <a:p>
            <a:endParaRPr lang="hu-HU" dirty="0"/>
          </a:p>
        </p:txBody>
      </p:sp>
    </p:spTree>
    <p:extLst>
      <p:ext uri="{BB962C8B-B14F-4D97-AF65-F5344CB8AC3E}">
        <p14:creationId xmlns:p14="http://schemas.microsoft.com/office/powerpoint/2010/main" val="2716620698"/>
      </p:ext>
    </p:extLst>
  </p:cSld>
  <p:clrMapOvr>
    <a:masterClrMapping/>
  </p:clrMapOvr>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Ignore</a:t>
            </a:r>
            <a:r>
              <a:rPr lang="hu-HU" dirty="0" smtClean="0"/>
              <a:t> operátor</a:t>
            </a:r>
            <a:endParaRPr lang="hu-HU" dirty="0"/>
          </a:p>
        </p:txBody>
      </p:sp>
      <p:sp>
        <p:nvSpPr>
          <p:cNvPr id="3" name="Tartalom helye 2"/>
          <p:cNvSpPr>
            <a:spLocks noGrp="1"/>
          </p:cNvSpPr>
          <p:nvPr>
            <p:ph idx="1"/>
          </p:nvPr>
        </p:nvSpPr>
        <p:spPr/>
        <p:txBody>
          <a:bodyPr/>
          <a:lstStyle/>
          <a:p>
            <a:r>
              <a:rPr lang="hu-HU" dirty="0" smtClean="0"/>
              <a:t>A lehetséges (felsorolt) üzenetek figyelmen kívül maradnak</a:t>
            </a:r>
          </a:p>
          <a:p>
            <a:pPr lvl="1"/>
            <a:r>
              <a:rPr lang="hu-HU" dirty="0" smtClean="0"/>
              <a:t>Attól még jelen lehetnek</a:t>
            </a:r>
          </a:p>
          <a:p>
            <a:r>
              <a:rPr lang="hu-HU" dirty="0" smtClean="0"/>
              <a:t>Részletek nélküli interakciós specifikáció</a:t>
            </a:r>
            <a:endParaRPr lang="hu-HU" dirty="0"/>
          </a:p>
        </p:txBody>
      </p:sp>
    </p:spTree>
    <p:extLst>
      <p:ext uri="{BB962C8B-B14F-4D97-AF65-F5344CB8AC3E}">
        <p14:creationId xmlns:p14="http://schemas.microsoft.com/office/powerpoint/2010/main" val="514146513"/>
      </p:ext>
    </p:extLst>
  </p:cSld>
  <p:clrMapOvr>
    <a:masterClrMapping/>
  </p:clrMapOvr>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Consider</a:t>
            </a:r>
            <a:r>
              <a:rPr lang="hu-HU" dirty="0" smtClean="0"/>
              <a:t> operátor</a:t>
            </a:r>
            <a:endParaRPr lang="hu-HU" dirty="0"/>
          </a:p>
        </p:txBody>
      </p:sp>
      <p:sp>
        <p:nvSpPr>
          <p:cNvPr id="3" name="Tartalom helye 2"/>
          <p:cNvSpPr>
            <a:spLocks noGrp="1"/>
          </p:cNvSpPr>
          <p:nvPr>
            <p:ph idx="1"/>
          </p:nvPr>
        </p:nvSpPr>
        <p:spPr/>
        <p:txBody>
          <a:bodyPr/>
          <a:lstStyle/>
          <a:p>
            <a:r>
              <a:rPr lang="hu-HU" dirty="0" smtClean="0"/>
              <a:t>Bizonyos üzenetek legyenek figyelve!</a:t>
            </a:r>
          </a:p>
          <a:p>
            <a:endParaRPr lang="hu-HU" dirty="0"/>
          </a:p>
          <a:p>
            <a:r>
              <a:rPr lang="hu-HU" dirty="0" smtClean="0"/>
              <a:t>Tehát:</a:t>
            </a:r>
          </a:p>
          <a:p>
            <a:pPr lvl="1"/>
            <a:r>
              <a:rPr lang="hu-HU" dirty="0" smtClean="0"/>
              <a:t>Ha: Z az üzenetek részhalmaza, X a részhalmaz,</a:t>
            </a:r>
          </a:p>
          <a:p>
            <a:pPr lvl="1"/>
            <a:r>
              <a:rPr lang="hu-HU" dirty="0" smtClean="0"/>
              <a:t>Akkor: </a:t>
            </a:r>
            <a:r>
              <a:rPr lang="hu-HU" dirty="0" err="1" smtClean="0"/>
              <a:t>ignore</a:t>
            </a:r>
            <a:r>
              <a:rPr lang="hu-HU" dirty="0" smtClean="0"/>
              <a:t>(P,X)=</a:t>
            </a:r>
            <a:r>
              <a:rPr lang="hu-HU" dirty="0" err="1" smtClean="0"/>
              <a:t>consider</a:t>
            </a:r>
            <a:r>
              <a:rPr lang="hu-HU" dirty="0" smtClean="0"/>
              <a:t>(P,Z-X)</a:t>
            </a:r>
            <a:endParaRPr lang="hu-HU" dirty="0"/>
          </a:p>
        </p:txBody>
      </p:sp>
    </p:spTree>
    <p:extLst>
      <p:ext uri="{BB962C8B-B14F-4D97-AF65-F5344CB8AC3E}">
        <p14:creationId xmlns:p14="http://schemas.microsoft.com/office/powerpoint/2010/main" val="38541677"/>
      </p:ext>
    </p:extLst>
  </p:cSld>
  <p:clrMapOvr>
    <a:masterClrMapping/>
  </p:clrMapOvr>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9616" y="764704"/>
            <a:ext cx="6659654" cy="5472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9990665"/>
      </p:ext>
    </p:extLst>
  </p:cSld>
  <p:clrMapOvr>
    <a:masterClrMapping/>
  </p:clrMapOvr>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endParaRPr lang="hu-HU" dirty="0"/>
          </a:p>
        </p:txBody>
      </p:sp>
      <p:sp>
        <p:nvSpPr>
          <p:cNvPr id="3" name="Tartalom helye 2"/>
          <p:cNvSpPr>
            <a:spLocks noGrp="1"/>
          </p:cNvSpPr>
          <p:nvPr>
            <p:ph idx="1"/>
          </p:nvPr>
        </p:nvSpPr>
        <p:spPr>
          <a:xfrm>
            <a:off x="2567493" y="2323653"/>
            <a:ext cx="6777317" cy="1969444"/>
          </a:xfrm>
        </p:spPr>
        <p:txBody>
          <a:bodyPr/>
          <a:lstStyle/>
          <a:p>
            <a:r>
              <a:rPr lang="hu-HU" dirty="0" smtClean="0"/>
              <a:t>Interakciós deklaráció mindig példán alapul,</a:t>
            </a:r>
          </a:p>
          <a:p>
            <a:r>
              <a:rPr lang="hu-HU" dirty="0" smtClean="0"/>
              <a:t>Így a jó (és releváns) lefutások vannak deklarálva.</a:t>
            </a:r>
            <a:endParaRPr lang="hu-HU"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1744" y="4077073"/>
            <a:ext cx="4788730" cy="2272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49031987"/>
      </p:ext>
    </p:extLst>
  </p:cSld>
  <p:clrMapOvr>
    <a:masterClrMapping/>
  </p:clrMapOvr>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Neg</a:t>
            </a:r>
            <a:r>
              <a:rPr lang="hu-HU" dirty="0" smtClean="0"/>
              <a:t> operátor</a:t>
            </a:r>
            <a:endParaRPr lang="hu-HU" dirty="0"/>
          </a:p>
        </p:txBody>
      </p:sp>
      <p:sp>
        <p:nvSpPr>
          <p:cNvPr id="3" name="Tartalom helye 2"/>
          <p:cNvSpPr>
            <a:spLocks noGrp="1"/>
          </p:cNvSpPr>
          <p:nvPr>
            <p:ph idx="1"/>
          </p:nvPr>
        </p:nvSpPr>
        <p:spPr/>
        <p:txBody>
          <a:bodyPr/>
          <a:lstStyle/>
          <a:p>
            <a:r>
              <a:rPr lang="hu-HU" dirty="0" smtClean="0"/>
              <a:t>Az operandus által előírt interakciók nem megengedettek</a:t>
            </a:r>
          </a:p>
          <a:p>
            <a:pPr lvl="1"/>
            <a:r>
              <a:rPr lang="hu-HU" dirty="0" smtClean="0"/>
              <a:t>Mi </a:t>
            </a:r>
            <a:r>
              <a:rPr lang="hu-HU" u="sng" dirty="0" smtClean="0"/>
              <a:t>nem</a:t>
            </a:r>
            <a:r>
              <a:rPr lang="hu-HU" dirty="0" smtClean="0"/>
              <a:t> kellene, hogy történjen</a:t>
            </a:r>
          </a:p>
          <a:p>
            <a:r>
              <a:rPr lang="hu-HU" dirty="0" smtClean="0"/>
              <a:t>Komplex interakció esetén csak legkülső operátorként használható</a:t>
            </a:r>
          </a:p>
          <a:p>
            <a:endParaRPr lang="hu-HU" dirty="0" smtClean="0"/>
          </a:p>
          <a:p>
            <a:r>
              <a:rPr lang="hu-HU" u="sng" dirty="0" smtClean="0"/>
              <a:t>Nem használt</a:t>
            </a:r>
            <a:r>
              <a:rPr lang="hu-HU" dirty="0" smtClean="0"/>
              <a:t>, szemantikailag sem teljesen tisztázott.</a:t>
            </a:r>
            <a:endParaRPr lang="hu-HU" dirty="0"/>
          </a:p>
        </p:txBody>
      </p:sp>
    </p:spTree>
    <p:extLst>
      <p:ext uri="{BB962C8B-B14F-4D97-AF65-F5344CB8AC3E}">
        <p14:creationId xmlns:p14="http://schemas.microsoft.com/office/powerpoint/2010/main" val="978940348"/>
      </p:ext>
    </p:extLst>
  </p:cSld>
  <p:clrMapOvr>
    <a:masterClrMapping/>
  </p:clrMapOvr>
  <p:timing>
    <p:tnLst>
      <p:par>
        <p:cTn id="1" dur="indefinite" restart="never" nodeType="tmRoot"/>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Assert</a:t>
            </a:r>
            <a:r>
              <a:rPr lang="hu-HU" dirty="0" smtClean="0"/>
              <a:t> operátor</a:t>
            </a:r>
            <a:endParaRPr lang="hu-HU" dirty="0"/>
          </a:p>
        </p:txBody>
      </p:sp>
      <p:sp>
        <p:nvSpPr>
          <p:cNvPr id="3" name="Tartalom helye 2"/>
          <p:cNvSpPr>
            <a:spLocks noGrp="1"/>
          </p:cNvSpPr>
          <p:nvPr>
            <p:ph idx="1"/>
          </p:nvPr>
        </p:nvSpPr>
        <p:spPr/>
        <p:txBody>
          <a:bodyPr/>
          <a:lstStyle/>
          <a:p>
            <a:r>
              <a:rPr lang="hu-HU" dirty="0" smtClean="0"/>
              <a:t>Minden meghatározatlan lefutást szabálytalannak minősít.</a:t>
            </a:r>
          </a:p>
          <a:p>
            <a:r>
              <a:rPr lang="hu-HU" dirty="0" smtClean="0"/>
              <a:t>Specifikáció lezárását jelenti</a:t>
            </a:r>
          </a:p>
          <a:p>
            <a:r>
              <a:rPr lang="hu-HU" dirty="0" smtClean="0"/>
              <a:t>Biztosíték arra, hogy a specifikáció teljes.</a:t>
            </a:r>
            <a:endParaRPr lang="hu-HU" dirty="0"/>
          </a:p>
        </p:txBody>
      </p:sp>
    </p:spTree>
    <p:extLst>
      <p:ext uri="{BB962C8B-B14F-4D97-AF65-F5344CB8AC3E}">
        <p14:creationId xmlns:p14="http://schemas.microsoft.com/office/powerpoint/2010/main" val="2283249753"/>
      </p:ext>
    </p:extLst>
  </p:cSld>
  <p:clrMapOvr>
    <a:masterClrMapping/>
  </p:clrMapOvr>
  <p:timing>
    <p:tnLst>
      <p:par>
        <p:cTn id="1" dur="indefinite" restart="never" nodeType="tmRoot"/>
      </p:par>
    </p:tn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Tesztesetek</a:t>
            </a:r>
            <a:endParaRPr lang="hu-HU" dirty="0"/>
          </a:p>
        </p:txBody>
      </p:sp>
      <p:sp>
        <p:nvSpPr>
          <p:cNvPr id="3" name="Tartalom helye 2"/>
          <p:cNvSpPr>
            <a:spLocks noGrp="1"/>
          </p:cNvSpPr>
          <p:nvPr>
            <p:ph idx="1"/>
          </p:nvPr>
        </p:nvSpPr>
        <p:spPr>
          <a:xfrm>
            <a:off x="2567493" y="2132856"/>
            <a:ext cx="6777317" cy="4176464"/>
          </a:xfrm>
        </p:spPr>
        <p:txBody>
          <a:bodyPr>
            <a:normAutofit fontScale="92500" lnSpcReduction="20000"/>
          </a:bodyPr>
          <a:lstStyle/>
          <a:p>
            <a:r>
              <a:rPr lang="hu-HU" dirty="0" smtClean="0"/>
              <a:t>V-modell bal ága </a:t>
            </a:r>
            <a:r>
              <a:rPr lang="hu-HU" dirty="0" smtClean="0">
                <a:sym typeface="Wingdings" pitchFamily="2" charset="2"/>
              </a:rPr>
              <a:t> jobb ága</a:t>
            </a:r>
          </a:p>
          <a:p>
            <a:endParaRPr lang="hu-HU" dirty="0">
              <a:sym typeface="Wingdings" pitchFamily="2" charset="2"/>
            </a:endParaRPr>
          </a:p>
          <a:p>
            <a:r>
              <a:rPr lang="hu-HU" u="sng" dirty="0" smtClean="0">
                <a:sym typeface="Wingdings" pitchFamily="2" charset="2"/>
              </a:rPr>
              <a:t>Azonosító</a:t>
            </a:r>
            <a:r>
              <a:rPr lang="hu-HU" dirty="0" smtClean="0">
                <a:sym typeface="Wingdings" pitchFamily="2" charset="2"/>
              </a:rPr>
              <a:t>: egyértelmű jelölés, üzleti folyamathoz kötve</a:t>
            </a:r>
          </a:p>
          <a:p>
            <a:r>
              <a:rPr lang="hu-HU" u="sng" dirty="0" smtClean="0">
                <a:sym typeface="Wingdings" pitchFamily="2" charset="2"/>
              </a:rPr>
              <a:t>Név</a:t>
            </a:r>
            <a:r>
              <a:rPr lang="hu-HU" dirty="0" smtClean="0">
                <a:sym typeface="Wingdings" pitchFamily="2" charset="2"/>
              </a:rPr>
              <a:t>: üzleti folyamat / használati eset </a:t>
            </a:r>
            <a:r>
              <a:rPr lang="hu-HU" dirty="0" err="1" smtClean="0">
                <a:sym typeface="Wingdings" pitchFamily="2" charset="2"/>
              </a:rPr>
              <a:t>specializácója</a:t>
            </a:r>
            <a:endParaRPr lang="hu-HU" dirty="0" smtClean="0">
              <a:sym typeface="Wingdings" pitchFamily="2" charset="2"/>
            </a:endParaRPr>
          </a:p>
          <a:p>
            <a:r>
              <a:rPr lang="hu-HU" u="sng" dirty="0" smtClean="0">
                <a:sym typeface="Wingdings" pitchFamily="2" charset="2"/>
              </a:rPr>
              <a:t>Tesztcél</a:t>
            </a:r>
            <a:r>
              <a:rPr lang="hu-HU" dirty="0" smtClean="0">
                <a:sym typeface="Wingdings" pitchFamily="2" charset="2"/>
              </a:rPr>
              <a:t>: tesztelendő tulajdonság, szövegesen</a:t>
            </a:r>
          </a:p>
          <a:p>
            <a:r>
              <a:rPr lang="hu-HU" u="sng" dirty="0" smtClean="0">
                <a:sym typeface="Wingdings" pitchFamily="2" charset="2"/>
              </a:rPr>
              <a:t>Előfeltétel</a:t>
            </a:r>
            <a:r>
              <a:rPr lang="hu-HU" dirty="0" smtClean="0">
                <a:sym typeface="Wingdings" pitchFamily="2" charset="2"/>
              </a:rPr>
              <a:t>: ennek kell teljesülni, hogy a teszt eredménye értékes legyen</a:t>
            </a:r>
          </a:p>
          <a:p>
            <a:r>
              <a:rPr lang="hu-HU" u="sng" dirty="0" smtClean="0">
                <a:sym typeface="Wingdings" pitchFamily="2" charset="2"/>
              </a:rPr>
              <a:t>Argumentumok</a:t>
            </a:r>
            <a:r>
              <a:rPr lang="hu-HU" dirty="0" smtClean="0">
                <a:sym typeface="Wingdings" pitchFamily="2" charset="2"/>
              </a:rPr>
              <a:t>: a kezdetkor és futás során felhasználásra kerülő adatok</a:t>
            </a:r>
          </a:p>
          <a:p>
            <a:r>
              <a:rPr lang="hu-HU" u="sng" dirty="0" smtClean="0">
                <a:sym typeface="Wingdings" pitchFamily="2" charset="2"/>
              </a:rPr>
              <a:t>Tesztlefutás</a:t>
            </a:r>
            <a:r>
              <a:rPr lang="hu-HU" dirty="0" smtClean="0">
                <a:sym typeface="Wingdings" pitchFamily="2" charset="2"/>
              </a:rPr>
              <a:t>: lépéssorozat, interakciós </a:t>
            </a:r>
            <a:r>
              <a:rPr lang="hu-HU" dirty="0" err="1" smtClean="0">
                <a:sym typeface="Wingdings" pitchFamily="2" charset="2"/>
              </a:rPr>
              <a:t>diagrammal</a:t>
            </a:r>
            <a:endParaRPr lang="hu-HU" dirty="0" smtClean="0">
              <a:sym typeface="Wingdings" pitchFamily="2" charset="2"/>
            </a:endParaRPr>
          </a:p>
          <a:p>
            <a:pPr lvl="1"/>
            <a:r>
              <a:rPr lang="hu-HU" dirty="0" smtClean="0">
                <a:sym typeface="Wingdings" pitchFamily="2" charset="2"/>
              </a:rPr>
              <a:t>Absztrakciós szinttől függően </a:t>
            </a:r>
            <a:r>
              <a:rPr lang="hu-HU" dirty="0" err="1" smtClean="0">
                <a:sym typeface="Wingdings" pitchFamily="2" charset="2"/>
              </a:rPr>
              <a:t>kontextuinterakció</a:t>
            </a:r>
            <a:r>
              <a:rPr lang="hu-HU" dirty="0" smtClean="0">
                <a:sym typeface="Wingdings" pitchFamily="2" charset="2"/>
              </a:rPr>
              <a:t>  </a:t>
            </a:r>
            <a:r>
              <a:rPr lang="hu-HU" dirty="0" err="1" smtClean="0">
                <a:sym typeface="Wingdings" pitchFamily="2" charset="2"/>
              </a:rPr>
              <a:t>osztályinterakció</a:t>
            </a:r>
            <a:endParaRPr lang="hu-HU" dirty="0" smtClean="0">
              <a:sym typeface="Wingdings" pitchFamily="2" charset="2"/>
            </a:endParaRPr>
          </a:p>
          <a:p>
            <a:r>
              <a:rPr lang="hu-HU" u="sng" dirty="0" smtClean="0">
                <a:sym typeface="Wingdings" pitchFamily="2" charset="2"/>
              </a:rPr>
              <a:t>Eredmény</a:t>
            </a:r>
            <a:r>
              <a:rPr lang="hu-HU" dirty="0" smtClean="0">
                <a:sym typeface="Wingdings" pitchFamily="2" charset="2"/>
              </a:rPr>
              <a:t>: értékhalmaz vagy állapot (Utófeltétel is lehet)</a:t>
            </a:r>
            <a:endParaRPr lang="hu-HU" dirty="0"/>
          </a:p>
        </p:txBody>
      </p:sp>
    </p:spTree>
    <p:extLst>
      <p:ext uri="{BB962C8B-B14F-4D97-AF65-F5344CB8AC3E}">
        <p14:creationId xmlns:p14="http://schemas.microsoft.com/office/powerpoint/2010/main" val="335283815"/>
      </p:ext>
    </p:extLst>
  </p:cSld>
  <p:clrMapOvr>
    <a:masterClrMapping/>
  </p:clrMapOvr>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Tesztlefutás</a:t>
            </a:r>
            <a:endParaRPr lang="hu-HU" dirty="0"/>
          </a:p>
        </p:txBody>
      </p:sp>
      <p:sp>
        <p:nvSpPr>
          <p:cNvPr id="3" name="Tartalom helye 2"/>
          <p:cNvSpPr>
            <a:spLocks noGrp="1"/>
          </p:cNvSpPr>
          <p:nvPr>
            <p:ph idx="1"/>
          </p:nvPr>
        </p:nvSpPr>
        <p:spPr/>
        <p:txBody>
          <a:bodyPr>
            <a:normAutofit/>
          </a:bodyPr>
          <a:lstStyle/>
          <a:p>
            <a:r>
              <a:rPr lang="hu-HU" dirty="0" smtClean="0"/>
              <a:t>Fekete doboz tesztlefutás</a:t>
            </a:r>
          </a:p>
          <a:p>
            <a:pPr lvl="1"/>
            <a:r>
              <a:rPr lang="hu-HU" dirty="0" smtClean="0"/>
              <a:t>2 interakciós partner:</a:t>
            </a:r>
          </a:p>
          <a:p>
            <a:pPr lvl="2"/>
            <a:r>
              <a:rPr lang="hu-HU" dirty="0" smtClean="0"/>
              <a:t>Tesztelendő rendszer</a:t>
            </a:r>
          </a:p>
          <a:p>
            <a:pPr lvl="2"/>
            <a:r>
              <a:rPr lang="hu-HU" dirty="0" err="1" smtClean="0"/>
              <a:t>Teszkörnyezet</a:t>
            </a:r>
            <a:r>
              <a:rPr lang="hu-HU" dirty="0" smtClean="0"/>
              <a:t> / </a:t>
            </a:r>
            <a:r>
              <a:rPr lang="hu-HU" dirty="0" err="1" smtClean="0"/>
              <a:t>Bed</a:t>
            </a:r>
            <a:endParaRPr lang="hu-HU" dirty="0" smtClean="0"/>
          </a:p>
          <a:p>
            <a:r>
              <a:rPr lang="hu-HU" dirty="0"/>
              <a:t>Fehér doboz </a:t>
            </a:r>
            <a:r>
              <a:rPr lang="hu-HU" dirty="0" smtClean="0"/>
              <a:t>tesztlefutás</a:t>
            </a:r>
          </a:p>
          <a:p>
            <a:pPr lvl="1"/>
            <a:r>
              <a:rPr lang="hu-HU" dirty="0" smtClean="0"/>
              <a:t>Legalább 2 partner:</a:t>
            </a:r>
          </a:p>
          <a:p>
            <a:pPr lvl="2"/>
            <a:r>
              <a:rPr lang="hu-HU" dirty="0" err="1" smtClean="0"/>
              <a:t>Teszkörnyezet</a:t>
            </a:r>
            <a:r>
              <a:rPr lang="hu-HU" dirty="0" smtClean="0"/>
              <a:t> / Tesztvezérlő</a:t>
            </a:r>
          </a:p>
          <a:p>
            <a:pPr lvl="2"/>
            <a:r>
              <a:rPr lang="hu-HU" dirty="0" smtClean="0"/>
              <a:t>Rendszer részei</a:t>
            </a:r>
          </a:p>
          <a:p>
            <a:pPr lvl="2"/>
            <a:r>
              <a:rPr lang="hu-HU" dirty="0" smtClean="0"/>
              <a:t>…</a:t>
            </a:r>
            <a:endParaRPr lang="hu-HU" dirty="0"/>
          </a:p>
        </p:txBody>
      </p:sp>
    </p:spTree>
    <p:extLst>
      <p:ext uri="{BB962C8B-B14F-4D97-AF65-F5344CB8AC3E}">
        <p14:creationId xmlns:p14="http://schemas.microsoft.com/office/powerpoint/2010/main" val="1380723577"/>
      </p:ext>
    </p:extLst>
  </p:cSld>
  <p:clrMapOvr>
    <a:masterClrMapping/>
  </p:clrMapOvr>
  <p:timing>
    <p:tnLst>
      <p:par>
        <p:cTn id="1" dur="indefinite" restart="never" nodeType="tmRoot"/>
      </p:par>
    </p:tn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err="1" smtClean="0"/>
              <a:t>Protokollinterakciók</a:t>
            </a:r>
            <a:endParaRPr lang="hu-HU" dirty="0"/>
          </a:p>
        </p:txBody>
      </p:sp>
      <p:sp>
        <p:nvSpPr>
          <p:cNvPr id="3" name="Tartalom helye 2"/>
          <p:cNvSpPr>
            <a:spLocks noGrp="1"/>
          </p:cNvSpPr>
          <p:nvPr>
            <p:ph idx="1"/>
          </p:nvPr>
        </p:nvSpPr>
        <p:spPr/>
        <p:txBody>
          <a:bodyPr/>
          <a:lstStyle/>
          <a:p>
            <a:r>
              <a:rPr lang="hu-HU" dirty="0" smtClean="0"/>
              <a:t>Legnagyobb kihívás a dinamikus aspektus modellezése</a:t>
            </a:r>
          </a:p>
          <a:p>
            <a:r>
              <a:rPr lang="hu-HU" dirty="0" smtClean="0"/>
              <a:t>Idő és koordináció</a:t>
            </a:r>
          </a:p>
          <a:p>
            <a:endParaRPr lang="hu-HU" dirty="0"/>
          </a:p>
          <a:p>
            <a:r>
              <a:rPr lang="hu-HU" dirty="0" smtClean="0"/>
              <a:t>Ugrójelek állapotok megvilágítására</a:t>
            </a:r>
          </a:p>
          <a:p>
            <a:r>
              <a:rPr lang="hu-HU" dirty="0" smtClean="0"/>
              <a:t>Fázisok absztrakciója</a:t>
            </a:r>
          </a:p>
          <a:p>
            <a:endParaRPr lang="hu-HU" dirty="0"/>
          </a:p>
        </p:txBody>
      </p:sp>
    </p:spTree>
    <p:extLst>
      <p:ext uri="{BB962C8B-B14F-4D97-AF65-F5344CB8AC3E}">
        <p14:creationId xmlns:p14="http://schemas.microsoft.com/office/powerpoint/2010/main" val="1095080605"/>
      </p:ext>
    </p:extLst>
  </p:cSld>
  <p:clrMapOvr>
    <a:masterClrMapping/>
  </p:clrMapOvr>
  <p:timing>
    <p:tnLst>
      <p:par>
        <p:cTn id="1" dur="indefinite" restart="never" nodeType="tmRoot"/>
      </p:par>
    </p:tn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560" y="897410"/>
            <a:ext cx="7952192" cy="519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5854326"/>
      </p:ext>
    </p:extLst>
  </p:cSld>
  <p:clrMapOvr>
    <a:masterClrMapping/>
  </p:clrMapOvr>
  <p:timing>
    <p:tnLst>
      <p:par>
        <p:cTn id="1" dur="indefinite" restart="never" nodeType="tmRoot"/>
      </p:par>
    </p:tn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1624" y="764704"/>
            <a:ext cx="6480720" cy="5581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4007451"/>
      </p:ext>
    </p:extLst>
  </p:cSld>
  <p:clrMapOvr>
    <a:masterClrMapping/>
  </p:clrMapOvr>
  <p:timing>
    <p:tnLst>
      <p:par>
        <p:cTn id="1" dur="indefinite" restart="never" nodeType="tmRoot"/>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3632" y="692697"/>
            <a:ext cx="6840760" cy="5714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17812952"/>
      </p:ext>
    </p:extLst>
  </p:cSld>
  <p:clrMapOvr>
    <a:masterClrMapping/>
  </p:clrMapOvr>
  <p:timing>
    <p:tnLst>
      <p:par>
        <p:cTn id="1" dur="indefinite" restart="never" nodeType="tmRoot"/>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561" y="1124744"/>
            <a:ext cx="7893251" cy="4320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69132893"/>
      </p:ext>
    </p:extLst>
  </p:cSld>
  <p:clrMapOvr>
    <a:masterClrMapping/>
  </p:clrMapOvr>
  <p:timing>
    <p:tnLst>
      <p:par>
        <p:cTn id="1" dur="indefinite" restart="never" nodeType="tmRoot"/>
      </p:par>
    </p:tn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2351584" y="332656"/>
            <a:ext cx="3600400" cy="1143000"/>
          </a:xfrm>
        </p:spPr>
        <p:txBody>
          <a:bodyPr>
            <a:normAutofit fontScale="90000"/>
          </a:bodyPr>
          <a:lstStyle/>
          <a:p>
            <a:r>
              <a:rPr lang="hu-HU" dirty="0" smtClean="0"/>
              <a:t>Interakciós</a:t>
            </a:r>
            <a:br>
              <a:rPr lang="hu-HU" dirty="0" smtClean="0"/>
            </a:br>
            <a:r>
              <a:rPr lang="hu-HU" dirty="0" smtClean="0"/>
              <a:t>áttekintés</a:t>
            </a:r>
            <a:endParaRPr lang="hu-HU" dirty="0"/>
          </a:p>
        </p:txBody>
      </p:sp>
      <p:pic>
        <p:nvPicPr>
          <p:cNvPr id="717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3872" y="764704"/>
            <a:ext cx="4393665" cy="5616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Cím 1"/>
          <p:cNvSpPr txBox="1">
            <a:spLocks/>
          </p:cNvSpPr>
          <p:nvPr/>
        </p:nvSpPr>
        <p:spPr>
          <a:xfrm rot="16200000">
            <a:off x="2297942" y="3289548"/>
            <a:ext cx="3600400" cy="1143000"/>
          </a:xfrm>
          <a:prstGeom prst="rect">
            <a:avLst/>
          </a:prstGeom>
        </p:spPr>
        <p:txBody>
          <a:bodyPr vert="horz" lIns="91440" tIns="45720" rIns="91440" bIns="45720" rtlCol="0" anchor="b">
            <a:normAutofit fontScale="60000" lnSpcReduction="20000"/>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hu-HU" dirty="0"/>
              <a:t>Tevékenységdiagram vizualitása + interakciós diagramok jelentése</a:t>
            </a:r>
          </a:p>
        </p:txBody>
      </p:sp>
    </p:spTree>
    <p:extLst>
      <p:ext uri="{BB962C8B-B14F-4D97-AF65-F5344CB8AC3E}">
        <p14:creationId xmlns:p14="http://schemas.microsoft.com/office/powerpoint/2010/main" val="2779649208"/>
      </p:ext>
    </p:extLst>
  </p:cSld>
  <p:clrMapOvr>
    <a:masterClrMapping/>
  </p:clrMapOvr>
  <p:timing>
    <p:tnLst>
      <p:par>
        <p:cTn id="1" dur="indefinite" restart="never" nodeType="tmRoot"/>
      </p:par>
    </p:tn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4"/>
          <p:cNvSpPr>
            <a:spLocks noGrp="1" noChangeArrowheads="1"/>
          </p:cNvSpPr>
          <p:nvPr>
            <p:ph type="title"/>
          </p:nvPr>
        </p:nvSpPr>
        <p:spPr>
          <a:xfrm>
            <a:off x="1952625" y="2786063"/>
            <a:ext cx="8229600" cy="1143000"/>
          </a:xfrm>
        </p:spPr>
        <p:txBody>
          <a:bodyPr/>
          <a:lstStyle/>
          <a:p>
            <a:pPr marL="838200" indent="-838200"/>
            <a:r>
              <a:rPr lang="hu-HU" altLang="hu-HU" sz="4000"/>
              <a:t>Csomag-diagramok</a:t>
            </a:r>
            <a:endParaRPr lang="en-US" altLang="hu-HU" sz="4000"/>
          </a:p>
        </p:txBody>
      </p:sp>
      <p:sp>
        <p:nvSpPr>
          <p:cNvPr id="4" name="Dátum helye 4"/>
          <p:cNvSpPr>
            <a:spLocks noGrp="1"/>
          </p:cNvSpPr>
          <p:nvPr>
            <p:ph type="dt" sz="half" idx="10"/>
          </p:nvPr>
        </p:nvSpPr>
        <p:spPr>
          <a:xfrm>
            <a:off x="8077200" y="6356351"/>
            <a:ext cx="2133600" cy="365125"/>
          </a:xfrm>
        </p:spPr>
        <p:txBody>
          <a:bodyPr/>
          <a:lstStyle/>
          <a:p>
            <a:pPr algn="r">
              <a:defRPr/>
            </a:pPr>
            <a:fld id="{60C9220E-6287-4A1C-A1CA-BB29CC539485}" type="datetime4">
              <a:rPr lang="hu-HU"/>
              <a:pPr algn="r">
                <a:defRPr/>
              </a:pPr>
              <a:t>2024. november 28.</a:t>
            </a:fld>
            <a:endParaRPr lang="hu-HU" dirty="0"/>
          </a:p>
        </p:txBody>
      </p:sp>
      <p:sp>
        <p:nvSpPr>
          <p:cNvPr id="3" name="Dia számának helye 3"/>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F0DC1F70-A428-4D2E-B314-6519F2D30CC7}" type="slidenum">
              <a:rPr lang="hu-HU" altLang="hu-HU">
                <a:solidFill>
                  <a:srgbClr val="898989"/>
                </a:solidFill>
              </a:rPr>
              <a:pPr algn="ctr"/>
              <a:t>259</a:t>
            </a:fld>
            <a:endParaRPr lang="hu-HU" altLang="hu-HU">
              <a:solidFill>
                <a:srgbClr val="898989"/>
              </a:solidFill>
            </a:endParaRPr>
          </a:p>
        </p:txBody>
      </p:sp>
    </p:spTree>
    <p:extLst>
      <p:ext uri="{BB962C8B-B14F-4D97-AF65-F5344CB8AC3E}">
        <p14:creationId xmlns:p14="http://schemas.microsoft.com/office/powerpoint/2010/main" val="2575724419"/>
      </p:ext>
    </p:extLst>
  </p:cSld>
  <p:clrMapOvr>
    <a:masterClrMapping/>
  </p:clrMapOvr>
  <p:timing>
    <p:tnLst>
      <p:par>
        <p:cTn id="1" dur="indefinite" restart="never" nodeType="tmRoot"/>
      </p:par>
    </p:tn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p:txBody>
          <a:bodyPr/>
          <a:lstStyle/>
          <a:p>
            <a:r>
              <a:rPr lang="hu-HU" altLang="hu-HU" sz="4000"/>
              <a:t>Használati szempontok</a:t>
            </a:r>
            <a:endParaRPr lang="en-US" altLang="hu-HU" sz="4000"/>
          </a:p>
        </p:txBody>
      </p:sp>
      <p:sp>
        <p:nvSpPr>
          <p:cNvPr id="3077" name="Rectangle 3"/>
          <p:cNvSpPr>
            <a:spLocks noGrp="1" noChangeArrowheads="1"/>
          </p:cNvSpPr>
          <p:nvPr>
            <p:ph idx="1"/>
          </p:nvPr>
        </p:nvSpPr>
        <p:spPr>
          <a:xfrm>
            <a:off x="1992313" y="1785938"/>
            <a:ext cx="8159750" cy="4546600"/>
          </a:xfrm>
        </p:spPr>
        <p:txBody>
          <a:bodyPr/>
          <a:lstStyle/>
          <a:p>
            <a:r>
              <a:rPr lang="hu-HU" altLang="hu-HU"/>
              <a:t>Használata meglévő szoftverek átalakításánál</a:t>
            </a:r>
          </a:p>
          <a:p>
            <a:pPr lvl="2"/>
            <a:r>
              <a:rPr lang="hu-HU" altLang="hu-HU"/>
              <a:t>Meglévő osztályok  közötti függőségek megállapítása</a:t>
            </a:r>
          </a:p>
          <a:p>
            <a:pPr lvl="2"/>
            <a:r>
              <a:rPr lang="hu-HU" altLang="hu-HU"/>
              <a:t>Osztályok csomagokba osztása</a:t>
            </a:r>
          </a:p>
          <a:p>
            <a:pPr lvl="2"/>
            <a:r>
              <a:rPr lang="hu-HU" altLang="hu-HU"/>
              <a:t>Osztályok közti függőségek elemzése</a:t>
            </a:r>
          </a:p>
          <a:p>
            <a:pPr lvl="2"/>
            <a:r>
              <a:rPr lang="hu-HU" altLang="hu-HU"/>
              <a:t>Refaktoring → függőségek csökkenése</a:t>
            </a:r>
          </a:p>
          <a:p>
            <a:endParaRPr lang="hu-HU" altLang="hu-HU"/>
          </a:p>
          <a:p>
            <a:endParaRPr lang="hu-HU" altLang="hu-HU"/>
          </a:p>
          <a:p>
            <a:r>
              <a:rPr lang="hu-HU" altLang="hu-HU"/>
              <a:t>Nagy projekteknél hasznos</a:t>
            </a:r>
          </a:p>
          <a:p>
            <a:pPr lvl="2"/>
            <a:r>
              <a:rPr lang="hu-HU" altLang="hu-HU"/>
              <a:t>De kis projekteknél is megérheti</a:t>
            </a:r>
          </a:p>
          <a:p>
            <a:pPr lvl="1"/>
            <a:endParaRPr lang="en-US" altLang="hu-HU" sz="2000"/>
          </a:p>
        </p:txBody>
      </p:sp>
      <p:sp>
        <p:nvSpPr>
          <p:cNvPr id="5" name="Dátum helye 5"/>
          <p:cNvSpPr>
            <a:spLocks noGrp="1"/>
          </p:cNvSpPr>
          <p:nvPr>
            <p:ph type="dt" sz="half" idx="10"/>
          </p:nvPr>
        </p:nvSpPr>
        <p:spPr>
          <a:xfrm>
            <a:off x="8077200" y="6356351"/>
            <a:ext cx="2133600" cy="365125"/>
          </a:xfrm>
        </p:spPr>
        <p:txBody>
          <a:bodyPr/>
          <a:lstStyle/>
          <a:p>
            <a:pPr algn="r">
              <a:defRPr/>
            </a:pPr>
            <a:fld id="{640E8B34-80FE-4EDD-8C8C-71C1F74CCAF9}" type="datetime4">
              <a:rPr lang="hu-HU"/>
              <a:pPr algn="r">
                <a:defRPr/>
              </a:pPr>
              <a:t>2024. november 28.</a:t>
            </a:fld>
            <a:endParaRPr lang="hu-HU"/>
          </a:p>
        </p:txBody>
      </p:sp>
      <p:sp>
        <p:nvSpPr>
          <p:cNvPr id="4" name="Dia számának helye 4"/>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4268F817-22B3-43D8-A2FB-10BD15110329}" type="slidenum">
              <a:rPr lang="hu-HU" altLang="hu-HU">
                <a:solidFill>
                  <a:srgbClr val="898989"/>
                </a:solidFill>
              </a:rPr>
              <a:pPr algn="ctr"/>
              <a:t>260</a:t>
            </a:fld>
            <a:endParaRPr lang="hu-HU" altLang="hu-HU">
              <a:solidFill>
                <a:srgbClr val="898989"/>
              </a:solidFill>
            </a:endParaRPr>
          </a:p>
        </p:txBody>
      </p:sp>
    </p:spTree>
    <p:extLst>
      <p:ext uri="{BB962C8B-B14F-4D97-AF65-F5344CB8AC3E}">
        <p14:creationId xmlns:p14="http://schemas.microsoft.com/office/powerpoint/2010/main" val="2757825519"/>
      </p:ext>
    </p:extLst>
  </p:cSld>
  <p:clrMapOvr>
    <a:masterClrMapping/>
  </p:clrMapOvr>
  <p:timing>
    <p:tnLst>
      <p:par>
        <p:cTn id="1" dur="indefinite" restart="never" nodeType="tmRoot"/>
      </p:par>
    </p:tn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p:txBody>
          <a:bodyPr/>
          <a:lstStyle/>
          <a:p>
            <a:r>
              <a:rPr lang="hu-HU" altLang="hu-HU" sz="4000"/>
              <a:t>Használati szempontok</a:t>
            </a:r>
            <a:endParaRPr lang="en-US" altLang="hu-HU" sz="4000"/>
          </a:p>
        </p:txBody>
      </p:sp>
      <p:sp>
        <p:nvSpPr>
          <p:cNvPr id="4101" name="Rectangle 3"/>
          <p:cNvSpPr>
            <a:spLocks noGrp="1" noChangeArrowheads="1"/>
          </p:cNvSpPr>
          <p:nvPr>
            <p:ph idx="1"/>
          </p:nvPr>
        </p:nvSpPr>
        <p:spPr>
          <a:xfrm>
            <a:off x="1992313" y="2500314"/>
            <a:ext cx="8159750" cy="3832225"/>
          </a:xfrm>
        </p:spPr>
        <p:txBody>
          <a:bodyPr/>
          <a:lstStyle/>
          <a:p>
            <a:r>
              <a:rPr lang="hu-HU" altLang="hu-HU"/>
              <a:t>Törekedni kell a függőségek számának csökkentésére</a:t>
            </a:r>
          </a:p>
          <a:p>
            <a:r>
              <a:rPr lang="hu-HU" altLang="hu-HU"/>
              <a:t>Nincs általános algoritmus</a:t>
            </a:r>
          </a:p>
          <a:p>
            <a:pPr lvl="1"/>
            <a:r>
              <a:rPr lang="hu-HU" altLang="hu-HU" sz="2000"/>
              <a:t>Maradnak az intuitív és heruisztikus  elvek</a:t>
            </a:r>
            <a:endParaRPr lang="en-US" altLang="hu-HU" sz="2000"/>
          </a:p>
        </p:txBody>
      </p:sp>
      <p:sp>
        <p:nvSpPr>
          <p:cNvPr id="5" name="Dátum helye 5"/>
          <p:cNvSpPr>
            <a:spLocks noGrp="1"/>
          </p:cNvSpPr>
          <p:nvPr>
            <p:ph type="dt" sz="half" idx="10"/>
          </p:nvPr>
        </p:nvSpPr>
        <p:spPr>
          <a:xfrm>
            <a:off x="8077200" y="6356351"/>
            <a:ext cx="2133600" cy="365125"/>
          </a:xfrm>
        </p:spPr>
        <p:txBody>
          <a:bodyPr/>
          <a:lstStyle/>
          <a:p>
            <a:pPr algn="r">
              <a:defRPr/>
            </a:pPr>
            <a:fld id="{640E8B34-80FE-4EDD-8C8C-71C1F74CCAF9}" type="datetime4">
              <a:rPr lang="hu-HU"/>
              <a:pPr algn="r">
                <a:defRPr/>
              </a:pPr>
              <a:t>2024. november 28.</a:t>
            </a:fld>
            <a:endParaRPr lang="hu-HU"/>
          </a:p>
        </p:txBody>
      </p:sp>
      <p:sp>
        <p:nvSpPr>
          <p:cNvPr id="4" name="Dia számának helye 4"/>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93EE7296-91A0-4729-BAD4-31911DF8ECF3}" type="slidenum">
              <a:rPr lang="hu-HU" altLang="hu-HU">
                <a:solidFill>
                  <a:srgbClr val="898989"/>
                </a:solidFill>
              </a:rPr>
              <a:pPr algn="ctr"/>
              <a:t>261</a:t>
            </a:fld>
            <a:endParaRPr lang="hu-HU" altLang="hu-HU">
              <a:solidFill>
                <a:srgbClr val="898989"/>
              </a:solidFill>
            </a:endParaRPr>
          </a:p>
        </p:txBody>
      </p:sp>
    </p:spTree>
    <p:extLst>
      <p:ext uri="{BB962C8B-B14F-4D97-AF65-F5344CB8AC3E}">
        <p14:creationId xmlns:p14="http://schemas.microsoft.com/office/powerpoint/2010/main" val="2069676088"/>
      </p:ext>
    </p:extLst>
  </p:cSld>
  <p:clrMapOvr>
    <a:masterClrMapping/>
  </p:clrMapOvr>
  <p:timing>
    <p:tnLst>
      <p:par>
        <p:cTn id="1" dur="indefinite" restart="never" nodeType="tmRoot"/>
      </p:par>
    </p:tn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noChangeArrowheads="1"/>
          </p:cNvSpPr>
          <p:nvPr>
            <p:ph type="title"/>
          </p:nvPr>
        </p:nvSpPr>
        <p:spPr/>
        <p:txBody>
          <a:bodyPr/>
          <a:lstStyle/>
          <a:p>
            <a:r>
              <a:rPr lang="hu-HU" altLang="hu-HU" sz="4000"/>
              <a:t>Használati szempontok</a:t>
            </a:r>
            <a:endParaRPr lang="en-US" altLang="hu-HU" sz="4000"/>
          </a:p>
        </p:txBody>
      </p:sp>
      <p:sp>
        <p:nvSpPr>
          <p:cNvPr id="5125" name="Rectangle 3"/>
          <p:cNvSpPr>
            <a:spLocks noGrp="1" noChangeArrowheads="1"/>
          </p:cNvSpPr>
          <p:nvPr>
            <p:ph idx="1"/>
          </p:nvPr>
        </p:nvSpPr>
        <p:spPr>
          <a:xfrm>
            <a:off x="1992313" y="1412876"/>
            <a:ext cx="8159750" cy="4919663"/>
          </a:xfrm>
        </p:spPr>
        <p:txBody>
          <a:bodyPr/>
          <a:lstStyle/>
          <a:p>
            <a:r>
              <a:rPr lang="hu-HU" altLang="hu-HU"/>
              <a:t>A csomagokat igen jól lehet felhasználni a szoftver tesztelése során. Ehhez kétféle megközelítést érdemes alkalmazni:</a:t>
            </a:r>
          </a:p>
          <a:p>
            <a:pPr lvl="1"/>
            <a:r>
              <a:rPr lang="hu-HU" altLang="hu-HU"/>
              <a:t>Először az egyes osztályokhoz készítsünk, írjunk teszteket.</a:t>
            </a:r>
          </a:p>
          <a:p>
            <a:pPr lvl="1"/>
            <a:r>
              <a:rPr lang="hu-HU" altLang="hu-HU"/>
              <a:t>A második menetben az egyes csomagokhoz, mint magasabb szintű egységekhez készítsük el és hajtsuk végre a teszteket.</a:t>
            </a:r>
            <a:endParaRPr lang="en-US" altLang="hu-HU"/>
          </a:p>
        </p:txBody>
      </p:sp>
      <p:sp>
        <p:nvSpPr>
          <p:cNvPr id="5" name="Dátum helye 5"/>
          <p:cNvSpPr>
            <a:spLocks noGrp="1"/>
          </p:cNvSpPr>
          <p:nvPr>
            <p:ph type="dt" sz="half" idx="10"/>
          </p:nvPr>
        </p:nvSpPr>
        <p:spPr>
          <a:xfrm>
            <a:off x="8077200" y="6356351"/>
            <a:ext cx="2133600" cy="365125"/>
          </a:xfrm>
        </p:spPr>
        <p:txBody>
          <a:bodyPr/>
          <a:lstStyle/>
          <a:p>
            <a:pPr algn="r">
              <a:defRPr/>
            </a:pPr>
            <a:fld id="{640E8B34-80FE-4EDD-8C8C-71C1F74CCAF9}" type="datetime4">
              <a:rPr lang="hu-HU"/>
              <a:pPr algn="r">
                <a:defRPr/>
              </a:pPr>
              <a:t>2024. november 28.</a:t>
            </a:fld>
            <a:endParaRPr lang="hu-HU"/>
          </a:p>
        </p:txBody>
      </p:sp>
      <p:sp>
        <p:nvSpPr>
          <p:cNvPr id="4" name="Dia számának helye 4"/>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F98EE997-F175-41C9-ACA9-922961A7FF64}" type="slidenum">
              <a:rPr lang="hu-HU" altLang="hu-HU">
                <a:solidFill>
                  <a:srgbClr val="898989"/>
                </a:solidFill>
              </a:rPr>
              <a:pPr algn="ctr"/>
              <a:t>262</a:t>
            </a:fld>
            <a:endParaRPr lang="hu-HU" altLang="hu-HU">
              <a:solidFill>
                <a:srgbClr val="898989"/>
              </a:solidFill>
            </a:endParaRPr>
          </a:p>
        </p:txBody>
      </p:sp>
    </p:spTree>
    <p:extLst>
      <p:ext uri="{BB962C8B-B14F-4D97-AF65-F5344CB8AC3E}">
        <p14:creationId xmlns:p14="http://schemas.microsoft.com/office/powerpoint/2010/main" val="801058668"/>
      </p:ext>
    </p:extLst>
  </p:cSld>
  <p:clrMapOvr>
    <a:masterClrMapping/>
  </p:clrMapOvr>
  <p:timing>
    <p:tnLst>
      <p:par>
        <p:cTn id="1" dur="indefinite" restart="never" nodeType="tmRoot"/>
      </p:par>
    </p:tn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p:txBody>
          <a:bodyPr/>
          <a:lstStyle/>
          <a:p>
            <a:pPr marL="838200" indent="-838200"/>
            <a:r>
              <a:rPr lang="hu-HU" altLang="hu-HU" sz="4000"/>
              <a:t>A szoftver-működés lebontása</a:t>
            </a:r>
            <a:endParaRPr lang="en-US" altLang="hu-HU" sz="4000"/>
          </a:p>
        </p:txBody>
      </p:sp>
      <p:sp>
        <p:nvSpPr>
          <p:cNvPr id="6149" name="Rectangle 3"/>
          <p:cNvSpPr>
            <a:spLocks noGrp="1" noChangeArrowheads="1"/>
          </p:cNvSpPr>
          <p:nvPr>
            <p:ph idx="1"/>
          </p:nvPr>
        </p:nvSpPr>
        <p:spPr>
          <a:xfrm>
            <a:off x="1992313" y="1412875"/>
            <a:ext cx="8248650" cy="4948238"/>
          </a:xfrm>
        </p:spPr>
        <p:txBody>
          <a:bodyPr/>
          <a:lstStyle/>
          <a:p>
            <a:r>
              <a:rPr lang="hu-HU" altLang="hu-HU"/>
              <a:t>Nagy rendszerek → nehéz áttekinthetőség → nehéz a megértése → nehéz a változtatások elvégzése</a:t>
            </a:r>
          </a:p>
          <a:p>
            <a:endParaRPr lang="hu-HU" altLang="hu-HU" sz="1600"/>
          </a:p>
          <a:p>
            <a:r>
              <a:rPr lang="hu-HU" altLang="hu-HU"/>
              <a:t>Nagy, bonyolult rendszerek lebontása kisebb részekre</a:t>
            </a:r>
          </a:p>
          <a:p>
            <a:endParaRPr lang="hu-HU" altLang="hu-HU"/>
          </a:p>
        </p:txBody>
      </p:sp>
      <p:sp>
        <p:nvSpPr>
          <p:cNvPr id="5" name="Dátum helye 5"/>
          <p:cNvSpPr>
            <a:spLocks noGrp="1"/>
          </p:cNvSpPr>
          <p:nvPr>
            <p:ph type="dt" sz="half" idx="10"/>
          </p:nvPr>
        </p:nvSpPr>
        <p:spPr>
          <a:xfrm>
            <a:off x="8077200" y="6356351"/>
            <a:ext cx="2133600" cy="365125"/>
          </a:xfrm>
        </p:spPr>
        <p:txBody>
          <a:bodyPr/>
          <a:lstStyle/>
          <a:p>
            <a:pPr algn="r">
              <a:defRPr/>
            </a:pPr>
            <a:fld id="{9296C939-533E-43BF-8111-D00216EA656A}" type="datetime4">
              <a:rPr lang="hu-HU"/>
              <a:pPr algn="r">
                <a:defRPr/>
              </a:pPr>
              <a:t>2024. november 28.</a:t>
            </a:fld>
            <a:endParaRPr lang="hu-HU"/>
          </a:p>
        </p:txBody>
      </p:sp>
      <p:sp>
        <p:nvSpPr>
          <p:cNvPr id="4" name="Dia számának helye 4"/>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6ED2736A-294D-4623-AA11-2A507BDBAB31}" type="slidenum">
              <a:rPr lang="hu-HU" altLang="hu-HU">
                <a:solidFill>
                  <a:srgbClr val="898989"/>
                </a:solidFill>
              </a:rPr>
              <a:pPr algn="ctr"/>
              <a:t>263</a:t>
            </a:fld>
            <a:endParaRPr lang="hu-HU" altLang="hu-HU">
              <a:solidFill>
                <a:srgbClr val="898989"/>
              </a:solidFill>
            </a:endParaRPr>
          </a:p>
        </p:txBody>
      </p:sp>
    </p:spTree>
    <p:extLst>
      <p:ext uri="{BB962C8B-B14F-4D97-AF65-F5344CB8AC3E}">
        <p14:creationId xmlns:p14="http://schemas.microsoft.com/office/powerpoint/2010/main" val="4144248665"/>
      </p:ext>
    </p:extLst>
  </p:cSld>
  <p:clrMapOvr>
    <a:masterClrMapping/>
  </p:clrMapOvr>
  <p:timing>
    <p:tnLst>
      <p:par>
        <p:cTn id="1" dur="indefinite" restart="never" nodeType="tmRoot"/>
      </p:par>
    </p:tn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p:txBody>
          <a:bodyPr/>
          <a:lstStyle/>
          <a:p>
            <a:pPr marL="838200" indent="-838200"/>
            <a:r>
              <a:rPr lang="hu-HU" altLang="hu-HU" sz="4000"/>
              <a:t>A szoftver-működés lebontása</a:t>
            </a:r>
            <a:endParaRPr lang="en-US" altLang="hu-HU" sz="4000"/>
          </a:p>
        </p:txBody>
      </p:sp>
      <p:sp>
        <p:nvSpPr>
          <p:cNvPr id="7173" name="Rectangle 3"/>
          <p:cNvSpPr>
            <a:spLocks noGrp="1" noChangeArrowheads="1"/>
          </p:cNvSpPr>
          <p:nvPr>
            <p:ph idx="1"/>
          </p:nvPr>
        </p:nvSpPr>
        <p:spPr>
          <a:xfrm>
            <a:off x="1992313" y="1412875"/>
            <a:ext cx="8248650" cy="4948238"/>
          </a:xfrm>
        </p:spPr>
        <p:txBody>
          <a:bodyPr/>
          <a:lstStyle/>
          <a:p>
            <a:r>
              <a:rPr lang="hu-HU" altLang="hu-HU"/>
              <a:t>Nagy, bonyolult rendszerek lebontása kisebb részekre.</a:t>
            </a:r>
          </a:p>
          <a:p>
            <a:pPr lvl="1"/>
            <a:r>
              <a:rPr lang="hu-HU" altLang="hu-HU"/>
              <a:t>A procedurális, és ezen belül a strukturális tervezési módszerek </a:t>
            </a:r>
            <a:r>
              <a:rPr lang="hu-HU" altLang="hu-HU" b="1"/>
              <a:t>funkcionális lebontást (functional decomposition)</a:t>
            </a:r>
            <a:r>
              <a:rPr lang="hu-HU" altLang="hu-HU"/>
              <a:t> alkalmaznak.</a:t>
            </a:r>
          </a:p>
          <a:p>
            <a:pPr lvl="1"/>
            <a:r>
              <a:rPr lang="hu-HU" altLang="hu-HU"/>
              <a:t>Az objektum-orientált tervezési módszerek a modellek felbontására a </a:t>
            </a:r>
            <a:r>
              <a:rPr lang="hu-HU" altLang="hu-HU" b="1"/>
              <a:t>csomagot</a:t>
            </a:r>
            <a:r>
              <a:rPr lang="hu-HU" altLang="hu-HU"/>
              <a:t> használják.</a:t>
            </a:r>
          </a:p>
          <a:p>
            <a:pPr lvl="2"/>
            <a:r>
              <a:rPr lang="hu-HU" altLang="hu-HU"/>
              <a:t>A csoportosítás (felbontás) menetére vonatkozóan nem állnak rendelkezésre egzakt algoritmusok, bevált módszerek. Vagyis: általános recept nincsen. Ehelyett intuitív, heurisztikus megoldásokat lehet alkalmazni.</a:t>
            </a:r>
            <a:r>
              <a:rPr lang="en-US" altLang="hu-HU"/>
              <a:t> </a:t>
            </a:r>
          </a:p>
        </p:txBody>
      </p:sp>
      <p:sp>
        <p:nvSpPr>
          <p:cNvPr id="5" name="Dátum helye 5"/>
          <p:cNvSpPr>
            <a:spLocks noGrp="1"/>
          </p:cNvSpPr>
          <p:nvPr>
            <p:ph type="dt" sz="half" idx="10"/>
          </p:nvPr>
        </p:nvSpPr>
        <p:spPr>
          <a:xfrm>
            <a:off x="8077200" y="6356351"/>
            <a:ext cx="2133600" cy="365125"/>
          </a:xfrm>
        </p:spPr>
        <p:txBody>
          <a:bodyPr/>
          <a:lstStyle/>
          <a:p>
            <a:pPr algn="r">
              <a:defRPr/>
            </a:pPr>
            <a:fld id="{9296C939-533E-43BF-8111-D00216EA656A}" type="datetime4">
              <a:rPr lang="hu-HU"/>
              <a:pPr algn="r">
                <a:defRPr/>
              </a:pPr>
              <a:t>2024. november 28.</a:t>
            </a:fld>
            <a:endParaRPr lang="hu-HU"/>
          </a:p>
        </p:txBody>
      </p:sp>
      <p:sp>
        <p:nvSpPr>
          <p:cNvPr id="4" name="Dia számának helye 4"/>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4809C46B-2324-42E0-934E-3AD93737ABB7}" type="slidenum">
              <a:rPr lang="hu-HU" altLang="hu-HU">
                <a:solidFill>
                  <a:srgbClr val="898989"/>
                </a:solidFill>
              </a:rPr>
              <a:pPr algn="ctr"/>
              <a:t>264</a:t>
            </a:fld>
            <a:endParaRPr lang="hu-HU" altLang="hu-HU">
              <a:solidFill>
                <a:srgbClr val="898989"/>
              </a:solidFill>
            </a:endParaRPr>
          </a:p>
        </p:txBody>
      </p:sp>
    </p:spTree>
    <p:extLst>
      <p:ext uri="{BB962C8B-B14F-4D97-AF65-F5344CB8AC3E}">
        <p14:creationId xmlns:p14="http://schemas.microsoft.com/office/powerpoint/2010/main" val="1989901657"/>
      </p:ext>
    </p:extLst>
  </p:cSld>
  <p:clrMapOvr>
    <a:masterClrMapping/>
  </p:clrMapOvr>
  <p:timing>
    <p:tnLst>
      <p:par>
        <p:cTn id="1" dur="indefinite" restart="never" nodeType="tmRoot"/>
      </p:par>
    </p:tnLst>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ím 1"/>
          <p:cNvSpPr>
            <a:spLocks noGrp="1"/>
          </p:cNvSpPr>
          <p:nvPr>
            <p:ph type="title"/>
          </p:nvPr>
        </p:nvSpPr>
        <p:spPr/>
        <p:txBody>
          <a:bodyPr/>
          <a:lstStyle/>
          <a:p>
            <a:r>
              <a:rPr lang="hu-HU" altLang="hu-HU" smtClean="0"/>
              <a:t>Megoldás</a:t>
            </a:r>
          </a:p>
        </p:txBody>
      </p:sp>
      <p:sp>
        <p:nvSpPr>
          <p:cNvPr id="8195" name="Tartalom helye 2"/>
          <p:cNvSpPr>
            <a:spLocks noGrp="1"/>
          </p:cNvSpPr>
          <p:nvPr>
            <p:ph idx="1"/>
          </p:nvPr>
        </p:nvSpPr>
        <p:spPr/>
        <p:txBody>
          <a:bodyPr/>
          <a:lstStyle/>
          <a:p>
            <a:r>
              <a:rPr lang="hu-HU" altLang="hu-HU" smtClean="0"/>
              <a:t>Osztályok csoportosítása magasabb szintű egységekbe (OO tervezési módszerek)</a:t>
            </a:r>
          </a:p>
          <a:p>
            <a:r>
              <a:rPr lang="hu-HU" altLang="hu-HU" smtClean="0"/>
              <a:t>Ezeket a csoportokat csomagnak (package) nevezzük</a:t>
            </a:r>
          </a:p>
        </p:txBody>
      </p:sp>
    </p:spTree>
    <p:extLst>
      <p:ext uri="{BB962C8B-B14F-4D97-AF65-F5344CB8AC3E}">
        <p14:creationId xmlns:p14="http://schemas.microsoft.com/office/powerpoint/2010/main" val="770903487"/>
      </p:ext>
    </p:extLst>
  </p:cSld>
  <p:clrMapOvr>
    <a:masterClrMapping/>
  </p:clrMapOvr>
  <p:timing>
    <p:tnLst>
      <p:par>
        <p:cTn id="1" dur="indefinite" restart="never" nodeType="tmRoot"/>
      </p:par>
    </p:tn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p:txBody>
          <a:bodyPr/>
          <a:lstStyle/>
          <a:p>
            <a:pPr marL="838200" indent="-838200"/>
            <a:r>
              <a:rPr lang="hu-HU" altLang="hu-HU" sz="4000"/>
              <a:t>Függőségi viszonyok</a:t>
            </a:r>
            <a:endParaRPr lang="en-US" altLang="hu-HU" sz="4000"/>
          </a:p>
        </p:txBody>
      </p:sp>
      <p:sp>
        <p:nvSpPr>
          <p:cNvPr id="9221" name="Rectangle 3"/>
          <p:cNvSpPr>
            <a:spLocks noGrp="1" noChangeArrowheads="1"/>
          </p:cNvSpPr>
          <p:nvPr>
            <p:ph idx="1"/>
          </p:nvPr>
        </p:nvSpPr>
        <p:spPr/>
        <p:txBody>
          <a:bodyPr/>
          <a:lstStyle/>
          <a:p>
            <a:pPr>
              <a:lnSpc>
                <a:spcPct val="90000"/>
              </a:lnSpc>
            </a:pPr>
            <a:r>
              <a:rPr lang="hu-HU" altLang="hu-HU"/>
              <a:t>Csomagba csoportosítás </a:t>
            </a:r>
            <a:r>
              <a:rPr lang="hu-HU" altLang="hu-HU" u="sng"/>
              <a:t>nem</a:t>
            </a:r>
            <a:r>
              <a:rPr lang="hu-HU" altLang="hu-HU"/>
              <a:t> csak osztályokra alkalmazható, hanem bármilyen alkotóelemre</a:t>
            </a:r>
          </a:p>
          <a:p>
            <a:pPr>
              <a:lnSpc>
                <a:spcPct val="90000"/>
              </a:lnSpc>
            </a:pPr>
            <a:r>
              <a:rPr lang="hu-HU" altLang="hu-HU"/>
              <a:t>Csoportosítás menete: </a:t>
            </a:r>
          </a:p>
          <a:p>
            <a:pPr lvl="1">
              <a:lnSpc>
                <a:spcPct val="90000"/>
              </a:lnSpc>
            </a:pPr>
            <a:r>
              <a:rPr lang="hu-HU" altLang="hu-HU"/>
              <a:t>Nincs algoritmus rá</a:t>
            </a:r>
          </a:p>
          <a:p>
            <a:pPr lvl="1">
              <a:lnSpc>
                <a:spcPct val="90000"/>
              </a:lnSpc>
            </a:pPr>
            <a:r>
              <a:rPr lang="hu-HU" altLang="hu-HU"/>
              <a:t>Intuició, heurisztikus  megoldások</a:t>
            </a:r>
          </a:p>
          <a:p>
            <a:pPr>
              <a:lnSpc>
                <a:spcPct val="90000"/>
              </a:lnSpc>
            </a:pPr>
            <a:endParaRPr lang="hu-HU" altLang="hu-HU"/>
          </a:p>
        </p:txBody>
      </p:sp>
      <p:sp>
        <p:nvSpPr>
          <p:cNvPr id="5" name="Dátum helye 5"/>
          <p:cNvSpPr>
            <a:spLocks noGrp="1"/>
          </p:cNvSpPr>
          <p:nvPr>
            <p:ph type="dt" sz="half" idx="10"/>
          </p:nvPr>
        </p:nvSpPr>
        <p:spPr>
          <a:xfrm>
            <a:off x="8077200" y="6356351"/>
            <a:ext cx="2133600" cy="365125"/>
          </a:xfrm>
        </p:spPr>
        <p:txBody>
          <a:bodyPr/>
          <a:lstStyle/>
          <a:p>
            <a:pPr algn="r">
              <a:defRPr/>
            </a:pPr>
            <a:fld id="{F7D871E5-63C6-4FAC-BEAA-ABE6798A228F}" type="datetime4">
              <a:rPr lang="hu-HU"/>
              <a:pPr algn="r">
                <a:defRPr/>
              </a:pPr>
              <a:t>2024. november 28.</a:t>
            </a:fld>
            <a:endParaRPr lang="hu-HU"/>
          </a:p>
        </p:txBody>
      </p:sp>
      <p:sp>
        <p:nvSpPr>
          <p:cNvPr id="4" name="Dia számának helye 4"/>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BB0D16EF-8A83-46EF-AC35-457F943AC322}" type="slidenum">
              <a:rPr lang="hu-HU" altLang="hu-HU">
                <a:solidFill>
                  <a:srgbClr val="898989"/>
                </a:solidFill>
              </a:rPr>
              <a:pPr algn="ctr"/>
              <a:t>266</a:t>
            </a:fld>
            <a:endParaRPr lang="hu-HU" altLang="hu-HU">
              <a:solidFill>
                <a:srgbClr val="898989"/>
              </a:solidFill>
            </a:endParaRPr>
          </a:p>
        </p:txBody>
      </p:sp>
    </p:spTree>
    <p:extLst>
      <p:ext uri="{BB962C8B-B14F-4D97-AF65-F5344CB8AC3E}">
        <p14:creationId xmlns:p14="http://schemas.microsoft.com/office/powerpoint/2010/main" val="2654868542"/>
      </p:ext>
    </p:extLst>
  </p:cSld>
  <p:clrMapOvr>
    <a:masterClrMapping/>
  </p:clrMapOvr>
  <p:timing>
    <p:tnLst>
      <p:par>
        <p:cTn id="1" dur="indefinite" restart="never" nodeType="tmRoot"/>
      </p:par>
    </p:tn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p:cNvSpPr>
            <a:spLocks noGrp="1" noChangeArrowheads="1"/>
          </p:cNvSpPr>
          <p:nvPr>
            <p:ph type="title"/>
          </p:nvPr>
        </p:nvSpPr>
        <p:spPr/>
        <p:txBody>
          <a:bodyPr/>
          <a:lstStyle/>
          <a:p>
            <a:pPr marL="838200" indent="-838200"/>
            <a:r>
              <a:rPr lang="hu-HU" altLang="hu-HU" sz="4000"/>
              <a:t>Függőségi viszonyok</a:t>
            </a:r>
            <a:endParaRPr lang="en-US" altLang="hu-HU" sz="4000"/>
          </a:p>
        </p:txBody>
      </p:sp>
      <p:sp>
        <p:nvSpPr>
          <p:cNvPr id="10245" name="Rectangle 3"/>
          <p:cNvSpPr>
            <a:spLocks noGrp="1" noChangeArrowheads="1"/>
          </p:cNvSpPr>
          <p:nvPr>
            <p:ph idx="1"/>
          </p:nvPr>
        </p:nvSpPr>
        <p:spPr/>
        <p:txBody>
          <a:bodyPr/>
          <a:lstStyle/>
          <a:p>
            <a:pPr>
              <a:lnSpc>
                <a:spcPct val="90000"/>
              </a:lnSpc>
            </a:pPr>
            <a:r>
              <a:rPr lang="hu-HU" altLang="hu-HU"/>
              <a:t>Az UML-ben a leginkább elterjedt rendezési elv a függőség (dependency).</a:t>
            </a:r>
          </a:p>
          <a:p>
            <a:pPr>
              <a:lnSpc>
                <a:spcPct val="90000"/>
              </a:lnSpc>
            </a:pPr>
            <a:r>
              <a:rPr lang="hu-HU" altLang="hu-HU"/>
              <a:t>A csomagokat ábrázoló diagramokat, melyek a függőségeket is kifelyezik, csomag diagramnak nevezik (package diagram).</a:t>
            </a:r>
          </a:p>
          <a:p>
            <a:pPr>
              <a:lnSpc>
                <a:spcPct val="90000"/>
              </a:lnSpc>
            </a:pPr>
            <a:r>
              <a:rPr lang="hu-HU" altLang="hu-HU"/>
              <a:t>A függőségi kapcsolatok, és a csoportosítás </a:t>
            </a:r>
            <a:r>
              <a:rPr lang="hu-HU" altLang="hu-HU" u="sng"/>
              <a:t>osztályokra</a:t>
            </a:r>
            <a:r>
              <a:rPr lang="hu-HU" altLang="hu-HU"/>
              <a:t> vonatkozik</a:t>
            </a:r>
          </a:p>
          <a:p>
            <a:pPr>
              <a:lnSpc>
                <a:spcPct val="90000"/>
              </a:lnSpc>
            </a:pPr>
            <a:r>
              <a:rPr lang="hu-HU" altLang="hu-HU"/>
              <a:t>→ ezért mondható: a csomag diagram az osztály diagram egy megjelenési formája</a:t>
            </a:r>
          </a:p>
          <a:p>
            <a:pPr>
              <a:lnSpc>
                <a:spcPct val="90000"/>
              </a:lnSpc>
            </a:pPr>
            <a:r>
              <a:rPr lang="hu-HU" altLang="hu-HU"/>
              <a:t>De másra használhatóak!</a:t>
            </a:r>
          </a:p>
        </p:txBody>
      </p:sp>
      <p:sp>
        <p:nvSpPr>
          <p:cNvPr id="5" name="Dátum helye 5"/>
          <p:cNvSpPr>
            <a:spLocks noGrp="1"/>
          </p:cNvSpPr>
          <p:nvPr>
            <p:ph type="dt" sz="half" idx="10"/>
          </p:nvPr>
        </p:nvSpPr>
        <p:spPr>
          <a:xfrm>
            <a:off x="8077200" y="6356351"/>
            <a:ext cx="2133600" cy="365125"/>
          </a:xfrm>
        </p:spPr>
        <p:txBody>
          <a:bodyPr/>
          <a:lstStyle/>
          <a:p>
            <a:pPr algn="r">
              <a:defRPr/>
            </a:pPr>
            <a:fld id="{F7D871E5-63C6-4FAC-BEAA-ABE6798A228F}" type="datetime4">
              <a:rPr lang="hu-HU"/>
              <a:pPr algn="r">
                <a:defRPr/>
              </a:pPr>
              <a:t>2024. november 28.</a:t>
            </a:fld>
            <a:endParaRPr lang="hu-HU"/>
          </a:p>
        </p:txBody>
      </p:sp>
      <p:sp>
        <p:nvSpPr>
          <p:cNvPr id="4" name="Dia számának helye 4"/>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D8989ABD-0562-4249-8EE1-0484722A66CA}" type="slidenum">
              <a:rPr lang="hu-HU" altLang="hu-HU">
                <a:solidFill>
                  <a:srgbClr val="898989"/>
                </a:solidFill>
              </a:rPr>
              <a:pPr algn="ctr"/>
              <a:t>267</a:t>
            </a:fld>
            <a:endParaRPr lang="hu-HU" altLang="hu-HU">
              <a:solidFill>
                <a:srgbClr val="898989"/>
              </a:solidFill>
            </a:endParaRPr>
          </a:p>
        </p:txBody>
      </p:sp>
    </p:spTree>
    <p:extLst>
      <p:ext uri="{BB962C8B-B14F-4D97-AF65-F5344CB8AC3E}">
        <p14:creationId xmlns:p14="http://schemas.microsoft.com/office/powerpoint/2010/main" val="2670392822"/>
      </p:ext>
    </p:extLst>
  </p:cSld>
  <p:clrMapOvr>
    <a:masterClrMapping/>
  </p:clrMapOvr>
  <p:timing>
    <p:tnLst>
      <p:par>
        <p:cTn id="1" dur="indefinite" restart="never" nodeType="tmRoot"/>
      </p:par>
    </p:tnLst>
  </p:timing>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p:txBody>
          <a:bodyPr/>
          <a:lstStyle/>
          <a:p>
            <a:pPr marL="838200" indent="-838200"/>
            <a:r>
              <a:rPr lang="hu-HU" altLang="hu-HU" sz="4000"/>
              <a:t>Függőségi viszonyok</a:t>
            </a:r>
            <a:endParaRPr lang="en-US" altLang="hu-HU" sz="4000"/>
          </a:p>
        </p:txBody>
      </p:sp>
      <p:sp>
        <p:nvSpPr>
          <p:cNvPr id="11269" name="Rectangle 3"/>
          <p:cNvSpPr>
            <a:spLocks noGrp="1" noChangeArrowheads="1"/>
          </p:cNvSpPr>
          <p:nvPr>
            <p:ph idx="1"/>
          </p:nvPr>
        </p:nvSpPr>
        <p:spPr/>
        <p:txBody>
          <a:bodyPr/>
          <a:lstStyle/>
          <a:p>
            <a:pPr>
              <a:lnSpc>
                <a:spcPct val="90000"/>
              </a:lnSpc>
            </a:pPr>
            <a:endParaRPr lang="hu-HU" altLang="hu-HU"/>
          </a:p>
          <a:p>
            <a:pPr>
              <a:lnSpc>
                <a:spcPct val="90000"/>
              </a:lnSpc>
            </a:pPr>
            <a:r>
              <a:rPr lang="hu-HU" altLang="hu-HU"/>
              <a:t>Két tetszőleges elem között akkor létezik </a:t>
            </a:r>
            <a:r>
              <a:rPr lang="hu-HU" altLang="hu-HU" b="1"/>
              <a:t>függőség</a:t>
            </a:r>
            <a:r>
              <a:rPr lang="hu-HU" altLang="hu-HU"/>
              <a:t>, ha az egyik elem specifikációjában, megvalósításában történő változtatás változást okozhat a másik elem specifikációjában, megvalósításában. </a:t>
            </a:r>
          </a:p>
          <a:p>
            <a:pPr>
              <a:lnSpc>
                <a:spcPct val="90000"/>
              </a:lnSpc>
            </a:pPr>
            <a:r>
              <a:rPr lang="hu-HU" altLang="hu-HU"/>
              <a:t>Az egyik elem megváltoztatása kihat a másik elemre. </a:t>
            </a:r>
          </a:p>
        </p:txBody>
      </p:sp>
      <p:sp>
        <p:nvSpPr>
          <p:cNvPr id="5" name="Dátum helye 5"/>
          <p:cNvSpPr>
            <a:spLocks noGrp="1"/>
          </p:cNvSpPr>
          <p:nvPr>
            <p:ph type="dt" sz="half" idx="10"/>
          </p:nvPr>
        </p:nvSpPr>
        <p:spPr>
          <a:xfrm>
            <a:off x="8077200" y="6356351"/>
            <a:ext cx="2133600" cy="365125"/>
          </a:xfrm>
        </p:spPr>
        <p:txBody>
          <a:bodyPr/>
          <a:lstStyle/>
          <a:p>
            <a:pPr algn="r">
              <a:defRPr/>
            </a:pPr>
            <a:fld id="{F7D871E5-63C6-4FAC-BEAA-ABE6798A228F}" type="datetime4">
              <a:rPr lang="hu-HU"/>
              <a:pPr algn="r">
                <a:defRPr/>
              </a:pPr>
              <a:t>2024. november 28.</a:t>
            </a:fld>
            <a:endParaRPr lang="hu-HU"/>
          </a:p>
        </p:txBody>
      </p:sp>
      <p:sp>
        <p:nvSpPr>
          <p:cNvPr id="4" name="Dia számának helye 4"/>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D0DE90EC-4B1D-45C0-A023-1BBA59B09A26}" type="slidenum">
              <a:rPr lang="hu-HU" altLang="hu-HU">
                <a:solidFill>
                  <a:srgbClr val="898989"/>
                </a:solidFill>
              </a:rPr>
              <a:pPr algn="ctr"/>
              <a:t>268</a:t>
            </a:fld>
            <a:endParaRPr lang="hu-HU" altLang="hu-HU">
              <a:solidFill>
                <a:srgbClr val="898989"/>
              </a:solidFill>
            </a:endParaRPr>
          </a:p>
        </p:txBody>
      </p:sp>
    </p:spTree>
    <p:extLst>
      <p:ext uri="{BB962C8B-B14F-4D97-AF65-F5344CB8AC3E}">
        <p14:creationId xmlns:p14="http://schemas.microsoft.com/office/powerpoint/2010/main" val="3687915998"/>
      </p:ext>
    </p:extLst>
  </p:cSld>
  <p:clrMapOvr>
    <a:masterClrMapping/>
  </p:clrMapOvr>
  <p:timing>
    <p:tnLst>
      <p:par>
        <p:cTn id="1" dur="indefinite" restart="never" nodeType="tmRoot"/>
      </p:par>
    </p:tnLst>
  </p:timing>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p:nvPr>
        </p:nvSpPr>
        <p:spPr/>
        <p:txBody>
          <a:bodyPr/>
          <a:lstStyle/>
          <a:p>
            <a:r>
              <a:rPr lang="hu-HU" altLang="hu-HU" sz="4000"/>
              <a:t>Példa csomag-diagramra</a:t>
            </a:r>
            <a:endParaRPr lang="en-US" altLang="hu-HU" sz="4000"/>
          </a:p>
        </p:txBody>
      </p:sp>
      <p:sp>
        <p:nvSpPr>
          <p:cNvPr id="5" name="Dátum helye 5"/>
          <p:cNvSpPr>
            <a:spLocks noGrp="1"/>
          </p:cNvSpPr>
          <p:nvPr>
            <p:ph type="dt" sz="half" idx="10"/>
          </p:nvPr>
        </p:nvSpPr>
        <p:spPr>
          <a:xfrm>
            <a:off x="8077200" y="6356351"/>
            <a:ext cx="2133600" cy="365125"/>
          </a:xfrm>
        </p:spPr>
        <p:txBody>
          <a:bodyPr/>
          <a:lstStyle/>
          <a:p>
            <a:pPr algn="r">
              <a:defRPr/>
            </a:pPr>
            <a:fld id="{6AEC7BEA-7EFA-43B2-931D-50F9124A6ECD}" type="datetime4">
              <a:rPr lang="hu-HU"/>
              <a:pPr algn="r">
                <a:defRPr/>
              </a:pPr>
              <a:t>2024. november 28.</a:t>
            </a:fld>
            <a:endParaRPr lang="hu-HU"/>
          </a:p>
        </p:txBody>
      </p:sp>
      <p:sp>
        <p:nvSpPr>
          <p:cNvPr id="4" name="Dia számának helye 4"/>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BAF1F9CA-9F99-40D5-87D2-1E00B40C0B87}" type="slidenum">
              <a:rPr lang="hu-HU" altLang="hu-HU">
                <a:solidFill>
                  <a:srgbClr val="898989"/>
                </a:solidFill>
              </a:rPr>
              <a:pPr algn="ctr"/>
              <a:t>269</a:t>
            </a:fld>
            <a:endParaRPr lang="hu-HU" altLang="hu-HU">
              <a:solidFill>
                <a:srgbClr val="898989"/>
              </a:solidFill>
            </a:endParaRPr>
          </a:p>
        </p:txBody>
      </p:sp>
      <p:pic>
        <p:nvPicPr>
          <p:cNvPr id="1229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584326"/>
            <a:ext cx="7258050" cy="527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50653379"/>
      </p:ext>
    </p:extLst>
  </p:cSld>
  <p:clrMapOvr>
    <a:masterClrMapping/>
  </p:clrMapOvr>
  <p:timing>
    <p:tnLst>
      <p:par>
        <p:cTn id="1" dur="indefinite" restart="never" nodeType="tmRoot"/>
      </p:par>
    </p:tnLst>
  </p:timing>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p:txBody>
          <a:bodyPr/>
          <a:lstStyle/>
          <a:p>
            <a:r>
              <a:rPr lang="hu-HU" altLang="hu-HU" sz="4000"/>
              <a:t>Függőségi kapcsolat</a:t>
            </a:r>
            <a:endParaRPr lang="en-US" altLang="hu-HU" sz="4000"/>
          </a:p>
        </p:txBody>
      </p:sp>
      <p:sp>
        <p:nvSpPr>
          <p:cNvPr id="6" name="Dátum helye 5"/>
          <p:cNvSpPr>
            <a:spLocks noGrp="1"/>
          </p:cNvSpPr>
          <p:nvPr>
            <p:ph type="dt" sz="half" idx="10"/>
          </p:nvPr>
        </p:nvSpPr>
        <p:spPr>
          <a:xfrm>
            <a:off x="8077200" y="6356351"/>
            <a:ext cx="2133600" cy="365125"/>
          </a:xfrm>
        </p:spPr>
        <p:txBody>
          <a:bodyPr/>
          <a:lstStyle/>
          <a:p>
            <a:pPr algn="r">
              <a:defRPr/>
            </a:pPr>
            <a:fld id="{890E9B03-145A-4AB5-87EF-C9BCB57082A8}" type="datetime4">
              <a:rPr lang="hu-HU"/>
              <a:pPr algn="r">
                <a:defRPr/>
              </a:pPr>
              <a:t>2024. november 28.</a:t>
            </a:fld>
            <a:endParaRPr lang="hu-HU"/>
          </a:p>
        </p:txBody>
      </p:sp>
      <p:sp>
        <p:nvSpPr>
          <p:cNvPr id="5" name="Dia számának helye 4"/>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9DBBC005-CA12-4674-89E0-B672ABA4E3C9}" type="slidenum">
              <a:rPr lang="hu-HU" altLang="hu-HU">
                <a:solidFill>
                  <a:srgbClr val="898989"/>
                </a:solidFill>
              </a:rPr>
              <a:pPr algn="ctr"/>
              <a:t>270</a:t>
            </a:fld>
            <a:endParaRPr lang="hu-HU" altLang="hu-HU">
              <a:solidFill>
                <a:srgbClr val="898989"/>
              </a:solidFill>
            </a:endParaRPr>
          </a:p>
        </p:txBody>
      </p:sp>
      <p:sp>
        <p:nvSpPr>
          <p:cNvPr id="13317" name="Rectangle 5"/>
          <p:cNvSpPr>
            <a:spLocks noChangeArrowheads="1"/>
          </p:cNvSpPr>
          <p:nvPr/>
        </p:nvSpPr>
        <p:spPr bwMode="auto">
          <a:xfrm>
            <a:off x="1524001" y="262044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hu-HU" altLang="hu-HU"/>
          </a:p>
        </p:txBody>
      </p:sp>
      <p:graphicFrame>
        <p:nvGraphicFramePr>
          <p:cNvPr id="13318" name="Object 4"/>
          <p:cNvGraphicFramePr>
            <a:graphicFrameLocks noChangeAspect="1"/>
          </p:cNvGraphicFramePr>
          <p:nvPr/>
        </p:nvGraphicFramePr>
        <p:xfrm>
          <a:off x="2016125" y="2311400"/>
          <a:ext cx="7772400" cy="2597150"/>
        </p:xfrm>
        <a:graphic>
          <a:graphicData uri="http://schemas.openxmlformats.org/presentationml/2006/ole">
            <mc:AlternateContent xmlns:mc="http://schemas.openxmlformats.org/markup-compatibility/2006">
              <mc:Choice xmlns:v="urn:schemas-microsoft-com:vml" Requires="v">
                <p:oleObj spid="_x0000_s3074" name="ABC FlowCharter" r:id="rId4" imgW="3166110" imgH="1060133" progId="ABCFlow">
                  <p:embed/>
                </p:oleObj>
              </mc:Choice>
              <mc:Fallback>
                <p:oleObj name="ABC FlowCharter" r:id="rId4" imgW="3166110" imgH="1060133" progId="ABCFlow">
                  <p:embed/>
                  <p:pic>
                    <p:nvPicPr>
                      <p:cNvPr id="1331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6125" y="2311400"/>
                        <a:ext cx="7772400" cy="259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836710501"/>
      </p:ext>
    </p:extLst>
  </p:cSld>
  <p:clrMapOvr>
    <a:masterClrMapping/>
  </p:clrMapOvr>
  <p:timing>
    <p:tnLst>
      <p:par>
        <p:cTn id="1" dur="indefinite" restart="never" nodeType="tmRoot"/>
      </p:par>
    </p:tnLst>
  </p:timing>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p:txBody>
          <a:bodyPr/>
          <a:lstStyle/>
          <a:p>
            <a:r>
              <a:rPr lang="hu-HU" altLang="hu-HU" sz="4000"/>
              <a:t>Nem tranzitív kapcsolatok</a:t>
            </a:r>
            <a:r>
              <a:rPr lang="en-US" altLang="hu-HU" sz="4000"/>
              <a:t> </a:t>
            </a:r>
          </a:p>
        </p:txBody>
      </p:sp>
      <p:sp>
        <p:nvSpPr>
          <p:cNvPr id="6" name="Dátum helye 5"/>
          <p:cNvSpPr>
            <a:spLocks noGrp="1"/>
          </p:cNvSpPr>
          <p:nvPr>
            <p:ph type="dt" sz="half" idx="10"/>
          </p:nvPr>
        </p:nvSpPr>
        <p:spPr>
          <a:xfrm>
            <a:off x="8077200" y="6356351"/>
            <a:ext cx="2133600" cy="365125"/>
          </a:xfrm>
        </p:spPr>
        <p:txBody>
          <a:bodyPr/>
          <a:lstStyle/>
          <a:p>
            <a:pPr algn="r">
              <a:defRPr/>
            </a:pPr>
            <a:fld id="{857D269E-0618-41CE-A326-7C06AFF3063C}" type="datetime4">
              <a:rPr lang="hu-HU"/>
              <a:pPr algn="r">
                <a:defRPr/>
              </a:pPr>
              <a:t>2024. november 28.</a:t>
            </a:fld>
            <a:endParaRPr lang="hu-HU"/>
          </a:p>
        </p:txBody>
      </p:sp>
      <p:sp>
        <p:nvSpPr>
          <p:cNvPr id="5" name="Dia számának helye 4"/>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E84039EA-6E3B-4946-93A1-A7BB23C31817}" type="slidenum">
              <a:rPr lang="hu-HU" altLang="hu-HU">
                <a:solidFill>
                  <a:srgbClr val="898989"/>
                </a:solidFill>
              </a:rPr>
              <a:pPr algn="ctr"/>
              <a:t>271</a:t>
            </a:fld>
            <a:endParaRPr lang="hu-HU" altLang="hu-HU">
              <a:solidFill>
                <a:srgbClr val="898989"/>
              </a:solidFill>
            </a:endParaRPr>
          </a:p>
        </p:txBody>
      </p:sp>
      <p:sp>
        <p:nvSpPr>
          <p:cNvPr id="14341" name="Rectangle 5"/>
          <p:cNvSpPr>
            <a:spLocks noChangeArrowheads="1"/>
          </p:cNvSpPr>
          <p:nvPr/>
        </p:nvSpPr>
        <p:spPr bwMode="auto">
          <a:xfrm>
            <a:off x="1524001" y="276808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hu-HU" altLang="hu-HU"/>
          </a:p>
        </p:txBody>
      </p:sp>
      <p:graphicFrame>
        <p:nvGraphicFramePr>
          <p:cNvPr id="14342" name="Object 4"/>
          <p:cNvGraphicFramePr>
            <a:graphicFrameLocks noChangeAspect="1"/>
          </p:cNvGraphicFramePr>
          <p:nvPr/>
        </p:nvGraphicFramePr>
        <p:xfrm>
          <a:off x="1843088" y="2546350"/>
          <a:ext cx="8475662" cy="1403350"/>
        </p:xfrm>
        <a:graphic>
          <a:graphicData uri="http://schemas.openxmlformats.org/presentationml/2006/ole">
            <mc:AlternateContent xmlns:mc="http://schemas.openxmlformats.org/markup-compatibility/2006">
              <mc:Choice xmlns:v="urn:schemas-microsoft-com:vml" Requires="v">
                <p:oleObj spid="_x0000_s4098" name="ABC FlowCharter" r:id="rId4" imgW="6346508" imgH="1048703" progId="ABCFlow">
                  <p:embed/>
                </p:oleObj>
              </mc:Choice>
              <mc:Fallback>
                <p:oleObj name="ABC FlowCharter" r:id="rId4" imgW="6346508" imgH="1048703" progId="ABCFlow">
                  <p:embed/>
                  <p:pic>
                    <p:nvPicPr>
                      <p:cNvPr id="14342"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43088" y="2546350"/>
                        <a:ext cx="8475662" cy="140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709333377"/>
      </p:ext>
    </p:extLst>
  </p:cSld>
  <p:clrMapOvr>
    <a:masterClrMapping/>
  </p:clrMapOvr>
  <p:timing>
    <p:tnLst>
      <p:par>
        <p:cTn id="1" dur="indefinite" restart="never" nodeType="tmRoot"/>
      </p:par>
    </p:tnLst>
  </p:timing>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ím 1"/>
          <p:cNvSpPr>
            <a:spLocks noGrp="1"/>
          </p:cNvSpPr>
          <p:nvPr>
            <p:ph type="title"/>
          </p:nvPr>
        </p:nvSpPr>
        <p:spPr/>
        <p:txBody>
          <a:bodyPr/>
          <a:lstStyle/>
          <a:p>
            <a:r>
              <a:rPr lang="hu-HU" altLang="hu-HU" smtClean="0"/>
              <a:t>Kibővítések</a:t>
            </a:r>
          </a:p>
        </p:txBody>
      </p:sp>
      <p:sp>
        <p:nvSpPr>
          <p:cNvPr id="15363" name="Tartalom helye 2"/>
          <p:cNvSpPr>
            <a:spLocks noGrp="1"/>
          </p:cNvSpPr>
          <p:nvPr>
            <p:ph idx="1"/>
          </p:nvPr>
        </p:nvSpPr>
        <p:spPr/>
        <p:txBody>
          <a:bodyPr/>
          <a:lstStyle/>
          <a:p>
            <a:r>
              <a:rPr lang="hu-HU" altLang="hu-HU" smtClean="0"/>
              <a:t>{global}</a:t>
            </a:r>
          </a:p>
          <a:p>
            <a:r>
              <a:rPr lang="hu-HU" altLang="hu-HU" smtClean="0"/>
              <a:t>{abstract}</a:t>
            </a:r>
          </a:p>
        </p:txBody>
      </p:sp>
    </p:spTree>
    <p:extLst>
      <p:ext uri="{BB962C8B-B14F-4D97-AF65-F5344CB8AC3E}">
        <p14:creationId xmlns:p14="http://schemas.microsoft.com/office/powerpoint/2010/main" val="148190313"/>
      </p:ext>
    </p:extLst>
  </p:cSld>
  <p:clrMapOvr>
    <a:masterClrMapping/>
  </p:clrMapOvr>
  <p:timing>
    <p:tnLst>
      <p:par>
        <p:cTn id="1" dur="indefinite" restart="never" nodeType="tmRoot"/>
      </p:par>
    </p:tnLst>
  </p:timing>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a:xfrm>
            <a:off x="1992313" y="492126"/>
            <a:ext cx="8229600" cy="703263"/>
          </a:xfrm>
        </p:spPr>
        <p:txBody>
          <a:bodyPr/>
          <a:lstStyle/>
          <a:p>
            <a:r>
              <a:rPr lang="hu-HU" altLang="hu-HU" sz="4000"/>
              <a:t>Kibővített csomag-diagram</a:t>
            </a:r>
            <a:r>
              <a:rPr lang="en-US" altLang="hu-HU" sz="4000"/>
              <a:t> </a:t>
            </a:r>
          </a:p>
        </p:txBody>
      </p:sp>
      <p:sp>
        <p:nvSpPr>
          <p:cNvPr id="11" name="Dátum helye 5"/>
          <p:cNvSpPr>
            <a:spLocks noGrp="1"/>
          </p:cNvSpPr>
          <p:nvPr>
            <p:ph type="dt" sz="half" idx="10"/>
          </p:nvPr>
        </p:nvSpPr>
        <p:spPr>
          <a:xfrm>
            <a:off x="8077200" y="6356351"/>
            <a:ext cx="2133600" cy="365125"/>
          </a:xfrm>
        </p:spPr>
        <p:txBody>
          <a:bodyPr/>
          <a:lstStyle/>
          <a:p>
            <a:pPr algn="r">
              <a:defRPr/>
            </a:pPr>
            <a:fld id="{FE5DD188-6434-4B59-8CD5-AABB4FB5AEFB}" type="datetime4">
              <a:rPr lang="hu-HU"/>
              <a:pPr algn="r">
                <a:defRPr/>
              </a:pPr>
              <a:t>2024. november 28.</a:t>
            </a:fld>
            <a:endParaRPr lang="hu-HU"/>
          </a:p>
        </p:txBody>
      </p:sp>
      <p:sp>
        <p:nvSpPr>
          <p:cNvPr id="10" name="Dia számának helye 4"/>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8CA1C9CD-162E-4829-B50D-070489014F87}" type="slidenum">
              <a:rPr lang="hu-HU" altLang="hu-HU">
                <a:solidFill>
                  <a:srgbClr val="898989"/>
                </a:solidFill>
              </a:rPr>
              <a:pPr algn="ctr"/>
              <a:t>273</a:t>
            </a:fld>
            <a:endParaRPr lang="hu-HU" altLang="hu-HU">
              <a:solidFill>
                <a:srgbClr val="898989"/>
              </a:solidFill>
            </a:endParaRPr>
          </a:p>
        </p:txBody>
      </p:sp>
      <p:grpSp>
        <p:nvGrpSpPr>
          <p:cNvPr id="16389" name="Group 10"/>
          <p:cNvGrpSpPr>
            <a:grpSpLocks/>
          </p:cNvGrpSpPr>
          <p:nvPr/>
        </p:nvGrpSpPr>
        <p:grpSpPr bwMode="auto">
          <a:xfrm>
            <a:off x="3338514" y="1076325"/>
            <a:ext cx="4981575" cy="5981700"/>
            <a:chOff x="1033" y="292"/>
            <a:chExt cx="3138" cy="3768"/>
          </a:xfrm>
        </p:grpSpPr>
        <p:pic>
          <p:nvPicPr>
            <p:cNvPr id="16390" name="Picture 4"/>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3" y="292"/>
              <a:ext cx="3138" cy="3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1" name="AutoShape 5"/>
            <p:cNvSpPr>
              <a:spLocks noChangeAspect="1" noChangeArrowheads="1"/>
            </p:cNvSpPr>
            <p:nvPr/>
          </p:nvSpPr>
          <p:spPr bwMode="auto">
            <a:xfrm rot="-5400000">
              <a:off x="3072" y="3228"/>
              <a:ext cx="144" cy="144"/>
            </a:xfrm>
            <a:prstGeom prst="triangle">
              <a:avLst>
                <a:gd name="adj" fmla="val 50000"/>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hu-HU" altLang="hu-HU"/>
            </a:p>
          </p:txBody>
        </p:sp>
        <p:sp>
          <p:nvSpPr>
            <p:cNvPr id="16392" name="Line 6"/>
            <p:cNvSpPr>
              <a:spLocks noChangeShapeType="1"/>
            </p:cNvSpPr>
            <p:nvPr/>
          </p:nvSpPr>
          <p:spPr bwMode="auto">
            <a:xfrm>
              <a:off x="3192" y="3300"/>
              <a:ext cx="14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6393" name="Line 7"/>
            <p:cNvSpPr>
              <a:spLocks noChangeShapeType="1"/>
            </p:cNvSpPr>
            <p:nvPr/>
          </p:nvSpPr>
          <p:spPr bwMode="auto">
            <a:xfrm>
              <a:off x="3369" y="3147"/>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6394" name="Line 8"/>
            <p:cNvSpPr>
              <a:spLocks noChangeShapeType="1"/>
            </p:cNvSpPr>
            <p:nvPr/>
          </p:nvSpPr>
          <p:spPr bwMode="auto">
            <a:xfrm>
              <a:off x="3378" y="3138"/>
              <a:ext cx="7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hu-HU"/>
            </a:p>
          </p:txBody>
        </p:sp>
        <p:sp>
          <p:nvSpPr>
            <p:cNvPr id="16395" name="Line 9"/>
            <p:cNvSpPr>
              <a:spLocks noChangeShapeType="1"/>
            </p:cNvSpPr>
            <p:nvPr/>
          </p:nvSpPr>
          <p:spPr bwMode="auto">
            <a:xfrm>
              <a:off x="3378" y="3570"/>
              <a:ext cx="7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hu-HU"/>
            </a:p>
          </p:txBody>
        </p:sp>
      </p:grpSp>
    </p:spTree>
    <p:extLst>
      <p:ext uri="{BB962C8B-B14F-4D97-AF65-F5344CB8AC3E}">
        <p14:creationId xmlns:p14="http://schemas.microsoft.com/office/powerpoint/2010/main" val="3898685161"/>
      </p:ext>
    </p:extLst>
  </p:cSld>
  <p:clrMapOvr>
    <a:masterClrMapping/>
  </p:clrMapOvr>
  <p:timing>
    <p:tnLst>
      <p:par>
        <p:cTn id="1" dur="indefinite" restart="never" nodeType="tmRoot"/>
      </p:par>
    </p:tnLst>
  </p:timing>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p:txBody>
          <a:bodyPr/>
          <a:lstStyle/>
          <a:p>
            <a:r>
              <a:rPr lang="hu-HU" altLang="hu-HU" sz="4000"/>
              <a:t>Függőségi ciklus</a:t>
            </a:r>
            <a:endParaRPr lang="en-US" altLang="hu-HU" sz="4000"/>
          </a:p>
        </p:txBody>
      </p:sp>
      <p:sp>
        <p:nvSpPr>
          <p:cNvPr id="6" name="Dátum helye 5"/>
          <p:cNvSpPr>
            <a:spLocks noGrp="1"/>
          </p:cNvSpPr>
          <p:nvPr>
            <p:ph type="dt" sz="half" idx="10"/>
          </p:nvPr>
        </p:nvSpPr>
        <p:spPr>
          <a:xfrm>
            <a:off x="8077200" y="6356351"/>
            <a:ext cx="2133600" cy="365125"/>
          </a:xfrm>
        </p:spPr>
        <p:txBody>
          <a:bodyPr/>
          <a:lstStyle/>
          <a:p>
            <a:pPr algn="r">
              <a:defRPr/>
            </a:pPr>
            <a:fld id="{5FA48DD7-BE89-441F-9001-971810C19924}" type="datetime4">
              <a:rPr lang="hu-HU"/>
              <a:pPr algn="r">
                <a:defRPr/>
              </a:pPr>
              <a:t>2024. november 28.</a:t>
            </a:fld>
            <a:endParaRPr lang="hu-HU"/>
          </a:p>
        </p:txBody>
      </p:sp>
      <p:sp>
        <p:nvSpPr>
          <p:cNvPr id="5" name="Dia számának helye 4"/>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5F0D095A-EE2E-4EAF-B854-76BC94AFD2E7}" type="slidenum">
              <a:rPr lang="hu-HU" altLang="hu-HU">
                <a:solidFill>
                  <a:srgbClr val="898989"/>
                </a:solidFill>
              </a:rPr>
              <a:pPr algn="ctr"/>
              <a:t>274</a:t>
            </a:fld>
            <a:endParaRPr lang="hu-HU" altLang="hu-HU">
              <a:solidFill>
                <a:srgbClr val="898989"/>
              </a:solidFill>
            </a:endParaRPr>
          </a:p>
        </p:txBody>
      </p:sp>
      <p:sp>
        <p:nvSpPr>
          <p:cNvPr id="17413" name="Rectangle 5"/>
          <p:cNvSpPr>
            <a:spLocks noChangeArrowheads="1"/>
          </p:cNvSpPr>
          <p:nvPr/>
        </p:nvSpPr>
        <p:spPr bwMode="auto">
          <a:xfrm>
            <a:off x="1524001" y="136314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hu-HU" altLang="hu-HU"/>
          </a:p>
        </p:txBody>
      </p:sp>
      <p:graphicFrame>
        <p:nvGraphicFramePr>
          <p:cNvPr id="17414" name="Object 4"/>
          <p:cNvGraphicFramePr>
            <a:graphicFrameLocks noChangeAspect="1"/>
          </p:cNvGraphicFramePr>
          <p:nvPr/>
        </p:nvGraphicFramePr>
        <p:xfrm>
          <a:off x="2147888" y="1547813"/>
          <a:ext cx="7402512" cy="4832350"/>
        </p:xfrm>
        <a:graphic>
          <a:graphicData uri="http://schemas.openxmlformats.org/presentationml/2006/ole">
            <mc:AlternateContent xmlns:mc="http://schemas.openxmlformats.org/markup-compatibility/2006">
              <mc:Choice xmlns:v="urn:schemas-microsoft-com:vml" Requires="v">
                <p:oleObj spid="_x0000_s5122" name="ABC FlowCharter" r:id="rId4" imgW="5926455" imgH="3866198" progId="ABCFlow">
                  <p:embed/>
                </p:oleObj>
              </mc:Choice>
              <mc:Fallback>
                <p:oleObj name="ABC FlowCharter" r:id="rId4" imgW="5926455" imgH="3866198" progId="ABCFlow">
                  <p:embed/>
                  <p:pic>
                    <p:nvPicPr>
                      <p:cNvPr id="1741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7888" y="1547813"/>
                        <a:ext cx="7402512"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82367882"/>
      </p:ext>
    </p:extLst>
  </p:cSld>
  <p:clrMapOvr>
    <a:masterClrMapping/>
  </p:clrMapOvr>
  <p:timing>
    <p:tnLst>
      <p:par>
        <p:cTn id="1" dur="indefinite" restart="never" nodeType="tmRoot"/>
      </p:par>
    </p:tnLst>
  </p:timing>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ctrTitle"/>
          </p:nvPr>
        </p:nvSpPr>
        <p:spPr/>
        <p:txBody>
          <a:bodyPr>
            <a:normAutofit fontScale="90000"/>
          </a:bodyPr>
          <a:lstStyle/>
          <a:p>
            <a:r>
              <a:rPr lang="hu-HU" dirty="0" smtClean="0"/>
              <a:t>UML2 - Csomagdiagramok</a:t>
            </a:r>
            <a:endParaRPr lang="hu-HU" dirty="0"/>
          </a:p>
        </p:txBody>
      </p:sp>
      <p:sp>
        <p:nvSpPr>
          <p:cNvPr id="3" name="Alcím 2"/>
          <p:cNvSpPr>
            <a:spLocks noGrp="1"/>
          </p:cNvSpPr>
          <p:nvPr>
            <p:ph type="subTitle" idx="1"/>
          </p:nvPr>
        </p:nvSpPr>
        <p:spPr/>
        <p:txBody>
          <a:bodyPr>
            <a:normAutofit/>
          </a:bodyPr>
          <a:lstStyle/>
          <a:p>
            <a:endParaRPr lang="hu-HU" dirty="0"/>
          </a:p>
        </p:txBody>
      </p:sp>
    </p:spTree>
    <p:extLst>
      <p:ext uri="{BB962C8B-B14F-4D97-AF65-F5344CB8AC3E}">
        <p14:creationId xmlns:p14="http://schemas.microsoft.com/office/powerpoint/2010/main" val="1006474723"/>
      </p:ext>
    </p:extLst>
  </p:cSld>
  <p:clrMapOvr>
    <a:masterClrMapping/>
  </p:clrMapOvr>
  <p:timing>
    <p:tnLst>
      <p:par>
        <p:cTn id="1" dur="indefinite" restart="never" nodeType="tmRoot"/>
      </p:par>
    </p:tnLst>
  </p:timing>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2279576" y="5373216"/>
            <a:ext cx="3218696" cy="914400"/>
          </a:xfrm>
        </p:spPr>
        <p:txBody>
          <a:bodyPr/>
          <a:lstStyle/>
          <a:p>
            <a:r>
              <a:rPr lang="hu-HU" dirty="0" smtClean="0"/>
              <a:t>Csomagok</a:t>
            </a:r>
            <a:endParaRPr lang="hu-HU" dirty="0"/>
          </a:p>
        </p:txBody>
      </p:sp>
      <p:sp>
        <p:nvSpPr>
          <p:cNvPr id="3" name="Tartalom helye 2"/>
          <p:cNvSpPr>
            <a:spLocks noGrp="1"/>
          </p:cNvSpPr>
          <p:nvPr>
            <p:ph idx="1"/>
          </p:nvPr>
        </p:nvSpPr>
        <p:spPr/>
        <p:txBody>
          <a:bodyPr/>
          <a:lstStyle/>
          <a:p>
            <a:r>
              <a:rPr lang="hu-HU" dirty="0" err="1" smtClean="0"/>
              <a:t>Package</a:t>
            </a:r>
            <a:r>
              <a:rPr lang="hu-HU" dirty="0" smtClean="0"/>
              <a:t> diagram</a:t>
            </a:r>
          </a:p>
          <a:p>
            <a:r>
              <a:rPr lang="hu-HU" dirty="0" smtClean="0"/>
              <a:t>Cél: elemek csoportosítása, közös névtérben való elhelyezés és fastruktúrába szervezés</a:t>
            </a:r>
          </a:p>
          <a:p>
            <a:r>
              <a:rPr lang="hu-HU" dirty="0" smtClean="0"/>
              <a:t>Csom</a:t>
            </a:r>
            <a:r>
              <a:rPr lang="hu-HU" dirty="0"/>
              <a:t>a</a:t>
            </a:r>
            <a:r>
              <a:rPr lang="hu-HU" dirty="0" smtClean="0"/>
              <a:t>gok elemei mappán belül és kívül </a:t>
            </a:r>
          </a:p>
          <a:p>
            <a:endParaRPr lang="hu-HU"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3512" y="188640"/>
            <a:ext cx="1724143" cy="1296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6160" y="3487067"/>
            <a:ext cx="2317750" cy="193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7655" y="3645025"/>
            <a:ext cx="2935287" cy="1614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59256506"/>
      </p:ext>
    </p:extLst>
  </p:cSld>
  <p:clrMapOvr>
    <a:masterClrMapping/>
  </p:clrMapOvr>
  <p:timing>
    <p:tnLst>
      <p:par>
        <p:cTn id="1" dur="indefinite" restart="never" nodeType="tmRoot"/>
      </p:par>
    </p:tnLst>
  </p:timing>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1648544" y="5466928"/>
            <a:ext cx="7543800" cy="914400"/>
          </a:xfrm>
        </p:spPr>
        <p:txBody>
          <a:bodyPr>
            <a:normAutofit fontScale="90000"/>
          </a:bodyPr>
          <a:lstStyle/>
          <a:p>
            <a:r>
              <a:rPr lang="hu-HU" dirty="0" smtClean="0"/>
              <a:t>Csomaghierarchiák és minősített nevek</a:t>
            </a:r>
            <a:endParaRPr lang="hu-HU" dirty="0"/>
          </a:p>
        </p:txBody>
      </p:sp>
      <p:sp>
        <p:nvSpPr>
          <p:cNvPr id="3" name="Tartalom helye 2"/>
          <p:cNvSpPr>
            <a:spLocks noGrp="1"/>
          </p:cNvSpPr>
          <p:nvPr>
            <p:ph idx="1"/>
          </p:nvPr>
        </p:nvSpPr>
        <p:spPr>
          <a:xfrm>
            <a:off x="1944216" y="188640"/>
            <a:ext cx="6096000" cy="2808312"/>
          </a:xfrm>
        </p:spPr>
        <p:txBody>
          <a:bodyPr>
            <a:normAutofit/>
          </a:bodyPr>
          <a:lstStyle/>
          <a:p>
            <a:r>
              <a:rPr lang="hu-HU" dirty="0" smtClean="0"/>
              <a:t>A fastruktúra a struktúrán belüli csomagoknak minősített nevet határoz meg, mely egyértelműen azonosítja.</a:t>
            </a:r>
          </a:p>
          <a:p>
            <a:r>
              <a:rPr lang="hu-HU" dirty="0" smtClean="0"/>
              <a:t>Gyökércsomag:</a:t>
            </a:r>
            <a:r>
              <a:rPr lang="hu-HU" dirty="0" smtClean="0">
                <a:sym typeface="Wingdings" pitchFamily="2" charset="2"/>
              </a:rPr>
              <a:t>:(csomagnév::)*elemnév</a:t>
            </a:r>
          </a:p>
          <a:p>
            <a:r>
              <a:rPr lang="hu-HU" dirty="0" smtClean="0">
                <a:sym typeface="Wingdings" pitchFamily="2" charset="2"/>
              </a:rPr>
              <a:t>Általánosan elmondható, hogy:</a:t>
            </a:r>
          </a:p>
          <a:p>
            <a:pPr lvl="1"/>
            <a:r>
              <a:rPr lang="hu-HU" dirty="0" smtClean="0">
                <a:sym typeface="Wingdings" pitchFamily="2" charset="2"/>
              </a:rPr>
              <a:t>Egy „…p</a:t>
            </a:r>
            <a:r>
              <a:rPr lang="hu-HU" baseline="-25000" dirty="0" smtClean="0">
                <a:sym typeface="Wingdings" pitchFamily="2" charset="2"/>
              </a:rPr>
              <a:t>i</a:t>
            </a:r>
            <a:r>
              <a:rPr lang="hu-HU" dirty="0" smtClean="0">
                <a:sym typeface="Wingdings" pitchFamily="2" charset="2"/>
              </a:rPr>
              <a:t>::</a:t>
            </a:r>
            <a:r>
              <a:rPr lang="hu-HU" dirty="0" err="1" smtClean="0">
                <a:sym typeface="Wingdings" pitchFamily="2" charset="2"/>
              </a:rPr>
              <a:t>p</a:t>
            </a:r>
            <a:r>
              <a:rPr lang="hu-HU" baseline="-25000" dirty="0" err="1" smtClean="0">
                <a:sym typeface="Wingdings" pitchFamily="2" charset="2"/>
              </a:rPr>
              <a:t>i</a:t>
            </a:r>
            <a:r>
              <a:rPr lang="hu-HU" baseline="-25000" dirty="0" smtClean="0">
                <a:sym typeface="Wingdings" pitchFamily="2" charset="2"/>
              </a:rPr>
              <a:t>+1</a:t>
            </a:r>
            <a:r>
              <a:rPr lang="hu-HU" dirty="0" smtClean="0">
                <a:sym typeface="Wingdings" pitchFamily="2" charset="2"/>
              </a:rPr>
              <a:t>…” minősített név esetén p</a:t>
            </a:r>
            <a:r>
              <a:rPr lang="hu-HU" baseline="-25000" dirty="0" smtClean="0">
                <a:sym typeface="Wingdings" pitchFamily="2" charset="2"/>
              </a:rPr>
              <a:t>i+1</a:t>
            </a:r>
            <a:r>
              <a:rPr lang="hu-HU" dirty="0" smtClean="0">
                <a:sym typeface="Wingdings" pitchFamily="2" charset="2"/>
              </a:rPr>
              <a:t>-et p</a:t>
            </a:r>
            <a:r>
              <a:rPr lang="hu-HU" baseline="-25000" dirty="0" smtClean="0">
                <a:sym typeface="Wingdings" pitchFamily="2" charset="2"/>
              </a:rPr>
              <a:t>i</a:t>
            </a:r>
            <a:r>
              <a:rPr lang="hu-HU" dirty="0" smtClean="0">
                <a:sym typeface="Wingdings" pitchFamily="2" charset="2"/>
              </a:rPr>
              <a:t> közvetlenül tartalmazza, bármely i-re.</a:t>
            </a:r>
          </a:p>
          <a:p>
            <a:r>
              <a:rPr lang="hu-HU" dirty="0" smtClean="0">
                <a:sym typeface="Wingdings" pitchFamily="2" charset="2"/>
              </a:rPr>
              <a:t>Csomagokban osztályok is feltüntethetőek!</a:t>
            </a:r>
            <a:endParaRPr lang="hu-HU" dirty="0" smtClean="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0217" y="1124744"/>
            <a:ext cx="2233613" cy="523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1584" y="2924944"/>
            <a:ext cx="2317750" cy="193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30277820"/>
      </p:ext>
    </p:extLst>
  </p:cSld>
  <p:clrMapOvr>
    <a:masterClrMapping/>
  </p:clrMapOvr>
  <p:timing>
    <p:tnLst>
      <p:par>
        <p:cTn id="1" dur="indefinite" restart="never" nodeType="tmRoot"/>
      </p:par>
    </p:tnLst>
  </p:timing>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ím 2"/>
          <p:cNvSpPr>
            <a:spLocks noGrp="1"/>
          </p:cNvSpPr>
          <p:nvPr>
            <p:ph type="title"/>
          </p:nvPr>
        </p:nvSpPr>
        <p:spPr>
          <a:xfrm>
            <a:off x="1775520" y="5440065"/>
            <a:ext cx="7543800" cy="914400"/>
          </a:xfrm>
        </p:spPr>
        <p:txBody>
          <a:bodyPr/>
          <a:lstStyle/>
          <a:p>
            <a:r>
              <a:rPr lang="hu-HU" dirty="0" smtClean="0"/>
              <a:t>Import</a:t>
            </a:r>
            <a:endParaRPr lang="hu-HU" dirty="0"/>
          </a:p>
        </p:txBody>
      </p:sp>
      <p:sp>
        <p:nvSpPr>
          <p:cNvPr id="2" name="Tartalom helye 1"/>
          <p:cNvSpPr>
            <a:spLocks noGrp="1"/>
          </p:cNvSpPr>
          <p:nvPr>
            <p:ph idx="1"/>
          </p:nvPr>
        </p:nvSpPr>
        <p:spPr>
          <a:xfrm>
            <a:off x="2063552" y="685802"/>
            <a:ext cx="8424936" cy="3657599"/>
          </a:xfrm>
        </p:spPr>
        <p:txBody>
          <a:bodyPr>
            <a:normAutofit/>
          </a:bodyPr>
          <a:lstStyle/>
          <a:p>
            <a:r>
              <a:rPr lang="hu-HU" dirty="0" smtClean="0"/>
              <a:t>A csomagbeli elemekhez láthatóság rendelhető.</a:t>
            </a:r>
          </a:p>
          <a:p>
            <a:r>
              <a:rPr lang="hu-HU" dirty="0" smtClean="0"/>
              <a:t>Elem neve előtt, de</a:t>
            </a:r>
          </a:p>
          <a:p>
            <a:pPr lvl="1"/>
            <a:r>
              <a:rPr lang="hu-HU" dirty="0" smtClean="0"/>
              <a:t>Csak </a:t>
            </a:r>
            <a:r>
              <a:rPr lang="hu-HU" dirty="0" err="1" smtClean="0"/>
              <a:t>private</a:t>
            </a:r>
            <a:r>
              <a:rPr lang="hu-HU" dirty="0" smtClean="0"/>
              <a:t>/</a:t>
            </a:r>
            <a:r>
              <a:rPr lang="hu-HU" dirty="0" err="1" smtClean="0"/>
              <a:t>public</a:t>
            </a:r>
            <a:endParaRPr lang="hu-HU" dirty="0" smtClean="0"/>
          </a:p>
          <a:p>
            <a:pPr lvl="1"/>
            <a:r>
              <a:rPr lang="hu-HU" dirty="0" smtClean="0"/>
              <a:t>Ha nincs semmi </a:t>
            </a:r>
            <a:r>
              <a:rPr lang="hu-HU" dirty="0" smtClean="0">
                <a:sym typeface="Wingdings" pitchFamily="2" charset="2"/>
              </a:rPr>
              <a:t> </a:t>
            </a:r>
            <a:r>
              <a:rPr lang="hu-HU" dirty="0" err="1" smtClean="0">
                <a:sym typeface="Wingdings" pitchFamily="2" charset="2"/>
              </a:rPr>
              <a:t>public</a:t>
            </a:r>
            <a:r>
              <a:rPr lang="hu-HU" dirty="0" smtClean="0">
                <a:sym typeface="Wingdings" pitchFamily="2" charset="2"/>
              </a:rPr>
              <a:t> (a csomag összes </a:t>
            </a:r>
            <a:r>
              <a:rPr lang="hu-HU" dirty="0">
                <a:sym typeface="Wingdings" pitchFamily="2" charset="2"/>
              </a:rPr>
              <a:t>n</a:t>
            </a:r>
            <a:r>
              <a:rPr lang="hu-HU" dirty="0" smtClean="0">
                <a:sym typeface="Wingdings" pitchFamily="2" charset="2"/>
              </a:rPr>
              <a:t>yilvános eleme minden más névtérből elérhető teljesen minősített név segítségével  hosszú és bonyolult, merev)</a:t>
            </a:r>
          </a:p>
          <a:p>
            <a:r>
              <a:rPr lang="hu-HU" dirty="0" smtClean="0">
                <a:sym typeface="Wingdings" pitchFamily="2" charset="2"/>
              </a:rPr>
              <a:t>Relatív út hivatkozás az elemekre: importkapcsolatok:</a:t>
            </a:r>
          </a:p>
          <a:p>
            <a:pPr lvl="1"/>
            <a:r>
              <a:rPr lang="hu-HU" dirty="0" smtClean="0">
                <a:sym typeface="Wingdings" pitchFamily="2" charset="2"/>
              </a:rPr>
              <a:t>Nyíltvégű, szaggatott nyíl, importáló felől az exportálóba (exportált elembe) vezetve, a függőség típusa feltüntetve.</a:t>
            </a: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9856" y="5013176"/>
            <a:ext cx="5426808" cy="1512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5593964"/>
      </p:ext>
    </p:extLst>
  </p:cSld>
  <p:clrMapOvr>
    <a:masterClrMapping/>
  </p:clrMapOvr>
  <p:timing>
    <p:tnLst>
      <p:par>
        <p:cTn id="1" dur="indefinite" restart="never" nodeType="tmRoot"/>
      </p:par>
    </p:tnLst>
  </p:timing>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ím 2"/>
          <p:cNvSpPr>
            <a:spLocks noGrp="1"/>
          </p:cNvSpPr>
          <p:nvPr>
            <p:ph type="title"/>
          </p:nvPr>
        </p:nvSpPr>
        <p:spPr>
          <a:xfrm>
            <a:off x="2207568" y="5445224"/>
            <a:ext cx="4514840" cy="914400"/>
          </a:xfrm>
        </p:spPr>
        <p:txBody>
          <a:bodyPr/>
          <a:lstStyle/>
          <a:p>
            <a:r>
              <a:rPr lang="hu-HU" dirty="0" smtClean="0"/>
              <a:t>Egyedi import</a:t>
            </a:r>
            <a:endParaRPr lang="hu-HU" dirty="0"/>
          </a:p>
        </p:txBody>
      </p:sp>
      <p:sp>
        <p:nvSpPr>
          <p:cNvPr id="2" name="Tartalom helye 1"/>
          <p:cNvSpPr>
            <a:spLocks noGrp="1"/>
          </p:cNvSpPr>
          <p:nvPr>
            <p:ph idx="1"/>
          </p:nvPr>
        </p:nvSpPr>
        <p:spPr>
          <a:xfrm>
            <a:off x="2639616" y="620688"/>
            <a:ext cx="7632848" cy="4968552"/>
          </a:xfrm>
        </p:spPr>
        <p:txBody>
          <a:bodyPr>
            <a:normAutofit/>
          </a:bodyPr>
          <a:lstStyle/>
          <a:p>
            <a:r>
              <a:rPr lang="hu-HU" dirty="0" smtClean="0"/>
              <a:t>Egyedi import esetén a csomag egyedi elemei importálhatóak</a:t>
            </a:r>
          </a:p>
          <a:p>
            <a:r>
              <a:rPr lang="hu-HU" dirty="0" smtClean="0"/>
              <a:t>Ez a gyakoribb, így importnak nevezhető</a:t>
            </a:r>
          </a:p>
          <a:p>
            <a:r>
              <a:rPr lang="hu-HU" dirty="0" smtClean="0"/>
              <a:t>Három jelölésmód</a:t>
            </a:r>
          </a:p>
          <a:p>
            <a:pPr lvl="1"/>
            <a:r>
              <a:rPr lang="hu-HU" dirty="0" smtClean="0"/>
              <a:t>Importált elemre mutat</a:t>
            </a:r>
          </a:p>
          <a:p>
            <a:pPr lvl="1"/>
            <a:r>
              <a:rPr lang="hu-HU" dirty="0" smtClean="0"/>
              <a:t>Exportálóra mutat, névkiírással,</a:t>
            </a:r>
          </a:p>
          <a:p>
            <a:pPr lvl="1"/>
            <a:r>
              <a:rPr lang="hu-HU" dirty="0" smtClean="0"/>
              <a:t>Importálón belül szöveg</a:t>
            </a:r>
          </a:p>
          <a:p>
            <a:r>
              <a:rPr lang="hu-HU" dirty="0" smtClean="0"/>
              <a:t>Egyedi import lehet nyilvános vagy privát (kitehető, hogy &lt;&lt;</a:t>
            </a:r>
            <a:r>
              <a:rPr lang="hu-HU" dirty="0" err="1" smtClean="0"/>
              <a:t>element</a:t>
            </a:r>
            <a:r>
              <a:rPr lang="hu-HU" dirty="0" smtClean="0"/>
              <a:t> import / </a:t>
            </a:r>
            <a:r>
              <a:rPr lang="hu-HU" dirty="0" err="1" smtClean="0"/>
              <a:t>access</a:t>
            </a:r>
            <a:r>
              <a:rPr lang="hu-HU" dirty="0" smtClean="0"/>
              <a:t>&gt;&gt;):</a:t>
            </a:r>
          </a:p>
          <a:p>
            <a:pPr lvl="1"/>
            <a:r>
              <a:rPr lang="hu-HU" dirty="0" smtClean="0"/>
              <a:t>Nyilvános: 	&lt;&lt;import&gt;&gt; Elemnév</a:t>
            </a:r>
          </a:p>
          <a:p>
            <a:pPr lvl="1"/>
            <a:r>
              <a:rPr lang="hu-HU" dirty="0" smtClean="0"/>
              <a:t>Privát: 		&lt;&lt;</a:t>
            </a:r>
            <a:r>
              <a:rPr lang="hu-HU" dirty="0" err="1" smtClean="0"/>
              <a:t>access</a:t>
            </a:r>
            <a:r>
              <a:rPr lang="hu-HU" dirty="0" smtClean="0"/>
              <a:t>&gt;&gt;  Elemnév</a:t>
            </a:r>
          </a:p>
          <a:p>
            <a:r>
              <a:rPr lang="hu-HU" dirty="0" smtClean="0"/>
              <a:t>Explicit átnevezés: </a:t>
            </a:r>
            <a:r>
              <a:rPr lang="hu-HU" dirty="0" err="1" smtClean="0"/>
              <a:t>as</a:t>
            </a:r>
            <a:r>
              <a:rPr lang="hu-HU" dirty="0" smtClean="0"/>
              <a:t> Újnév (alulra v. jobbra)</a:t>
            </a:r>
          </a:p>
          <a:p>
            <a:r>
              <a:rPr lang="hu-HU" dirty="0" smtClean="0"/>
              <a:t>Importált elem láthatóságát az import határozza meg.</a:t>
            </a:r>
          </a:p>
          <a:p>
            <a:pPr lvl="1"/>
            <a:r>
              <a:rPr lang="hu-HU" dirty="0" smtClean="0"/>
              <a:t>Ha nincs megadva, akkor az exportáló csomagbéli láthatóság</a:t>
            </a:r>
            <a:endParaRPr lang="hu-HU" dirty="0"/>
          </a:p>
        </p:txBody>
      </p:sp>
    </p:spTree>
    <p:extLst>
      <p:ext uri="{BB962C8B-B14F-4D97-AF65-F5344CB8AC3E}">
        <p14:creationId xmlns:p14="http://schemas.microsoft.com/office/powerpoint/2010/main" val="2666384914"/>
      </p:ext>
    </p:extLst>
  </p:cSld>
  <p:clrMapOvr>
    <a:masterClrMapping/>
  </p:clrMapOvr>
  <p:timing>
    <p:tnLst>
      <p:par>
        <p:cTn id="1" dur="indefinite" restart="never" nodeType="tmRoot"/>
      </p:par>
    </p:tnLst>
  </p:timing>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5592" y="548681"/>
            <a:ext cx="8425232" cy="553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57482941"/>
      </p:ext>
    </p:extLst>
  </p:cSld>
  <p:clrMapOvr>
    <a:masterClrMapping/>
  </p:clrMapOvr>
  <p:timing>
    <p:tnLst>
      <p:par>
        <p:cTn id="1" dur="indefinite" restart="never" nodeType="tmRoot"/>
      </p:par>
    </p:tnLst>
  </p:timing>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9917" y="1268760"/>
            <a:ext cx="8989835" cy="3744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06204892"/>
      </p:ext>
    </p:extLst>
  </p:cSld>
  <p:clrMapOvr>
    <a:masterClrMapping/>
  </p:clrMapOvr>
  <p:timing>
    <p:tnLst>
      <p:par>
        <p:cTn id="1" dur="indefinite" restart="never" nodeType="tmRoot"/>
      </p:par>
    </p:tnLst>
  </p:timing>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rtalom helye 3"/>
          <p:cNvGraphicFramePr>
            <a:graphicFrameLocks noGrp="1"/>
          </p:cNvGraphicFramePr>
          <p:nvPr>
            <p:ph idx="1"/>
            <p:extLst/>
          </p:nvPr>
        </p:nvGraphicFramePr>
        <p:xfrm>
          <a:off x="1775520" y="188641"/>
          <a:ext cx="8640960" cy="6511176"/>
        </p:xfrm>
        <a:graphic>
          <a:graphicData uri="http://schemas.openxmlformats.org/drawingml/2006/table">
            <a:tbl>
              <a:tblPr firstRow="1" bandRow="1">
                <a:tableStyleId>{5C22544A-7EE6-4342-B048-85BDC9FD1C3A}</a:tableStyleId>
              </a:tblPr>
              <a:tblGrid>
                <a:gridCol w="1224136">
                  <a:extLst>
                    <a:ext uri="{9D8B030D-6E8A-4147-A177-3AD203B41FA5}">
                      <a16:colId xmlns:a16="http://schemas.microsoft.com/office/drawing/2014/main" val="20000"/>
                    </a:ext>
                  </a:extLst>
                </a:gridCol>
                <a:gridCol w="864096">
                  <a:extLst>
                    <a:ext uri="{9D8B030D-6E8A-4147-A177-3AD203B41FA5}">
                      <a16:colId xmlns:a16="http://schemas.microsoft.com/office/drawing/2014/main" val="20001"/>
                    </a:ext>
                  </a:extLst>
                </a:gridCol>
                <a:gridCol w="1584176">
                  <a:extLst>
                    <a:ext uri="{9D8B030D-6E8A-4147-A177-3AD203B41FA5}">
                      <a16:colId xmlns:a16="http://schemas.microsoft.com/office/drawing/2014/main" val="20002"/>
                    </a:ext>
                  </a:extLst>
                </a:gridCol>
                <a:gridCol w="4968552">
                  <a:extLst>
                    <a:ext uri="{9D8B030D-6E8A-4147-A177-3AD203B41FA5}">
                      <a16:colId xmlns:a16="http://schemas.microsoft.com/office/drawing/2014/main" val="20003"/>
                    </a:ext>
                  </a:extLst>
                </a:gridCol>
              </a:tblGrid>
              <a:tr h="585432">
                <a:tc>
                  <a:txBody>
                    <a:bodyPr/>
                    <a:lstStyle/>
                    <a:p>
                      <a:pPr algn="ctr"/>
                      <a:r>
                        <a:rPr lang="hu-HU" dirty="0" smtClean="0"/>
                        <a:t>Csomag</a:t>
                      </a:r>
                      <a:endParaRPr lang="hu-HU" dirty="0"/>
                    </a:p>
                  </a:txBody>
                  <a:tcPr/>
                </a:tc>
                <a:tc>
                  <a:txBody>
                    <a:bodyPr/>
                    <a:lstStyle/>
                    <a:p>
                      <a:pPr algn="ctr"/>
                      <a:r>
                        <a:rPr lang="hu-HU" dirty="0" smtClean="0"/>
                        <a:t>Elem </a:t>
                      </a:r>
                      <a:endParaRPr lang="hu-HU" dirty="0"/>
                    </a:p>
                  </a:txBody>
                  <a:tcPr/>
                </a:tc>
                <a:tc>
                  <a:txBody>
                    <a:bodyPr/>
                    <a:lstStyle/>
                    <a:p>
                      <a:pPr algn="ctr"/>
                      <a:r>
                        <a:rPr lang="hu-HU" dirty="0" smtClean="0"/>
                        <a:t>Láthatóság</a:t>
                      </a:r>
                      <a:endParaRPr lang="hu-HU" dirty="0"/>
                    </a:p>
                  </a:txBody>
                  <a:tcPr/>
                </a:tc>
                <a:tc>
                  <a:txBody>
                    <a:bodyPr/>
                    <a:lstStyle/>
                    <a:p>
                      <a:r>
                        <a:rPr lang="hu-HU" dirty="0" smtClean="0"/>
                        <a:t>Indoklás</a:t>
                      </a:r>
                      <a:endParaRPr lang="hu-HU" dirty="0"/>
                    </a:p>
                  </a:txBody>
                  <a:tcPr/>
                </a:tc>
                <a:extLst>
                  <a:ext uri="{0D108BD9-81ED-4DB2-BD59-A6C34878D82A}">
                    <a16:rowId xmlns:a16="http://schemas.microsoft.com/office/drawing/2014/main" val="10000"/>
                  </a:ext>
                </a:extLst>
              </a:tr>
              <a:tr h="616593">
                <a:tc>
                  <a:txBody>
                    <a:bodyPr/>
                    <a:lstStyle/>
                    <a:p>
                      <a:pPr algn="ctr"/>
                      <a:r>
                        <a:rPr lang="hu-HU" dirty="0" smtClean="0"/>
                        <a:t>A</a:t>
                      </a:r>
                      <a:endParaRPr lang="hu-HU" dirty="0"/>
                    </a:p>
                  </a:txBody>
                  <a:tcPr/>
                </a:tc>
                <a:tc>
                  <a:txBody>
                    <a:bodyPr/>
                    <a:lstStyle/>
                    <a:p>
                      <a:pPr algn="ctr"/>
                      <a:r>
                        <a:rPr lang="hu-HU" dirty="0" smtClean="0"/>
                        <a:t>X</a:t>
                      </a:r>
                      <a:endParaRPr lang="hu-HU" dirty="0"/>
                    </a:p>
                  </a:txBody>
                  <a:tcPr/>
                </a:tc>
                <a:tc>
                  <a:txBody>
                    <a:bodyPr/>
                    <a:lstStyle/>
                    <a:p>
                      <a:pPr algn="ctr"/>
                      <a:r>
                        <a:rPr lang="hu-HU" dirty="0" smtClean="0"/>
                        <a:t>Nyilvános</a:t>
                      </a:r>
                      <a:endParaRPr lang="hu-HU" dirty="0"/>
                    </a:p>
                  </a:txBody>
                  <a:tcPr/>
                </a:tc>
                <a:tc>
                  <a:txBody>
                    <a:bodyPr/>
                    <a:lstStyle/>
                    <a:p>
                      <a:r>
                        <a:rPr lang="hu-HU" dirty="0" smtClean="0"/>
                        <a:t>Az &lt;&lt;import&gt;&gt; nyilvános láthatóságot határoz meg.</a:t>
                      </a:r>
                      <a:endParaRPr lang="hu-HU" dirty="0"/>
                    </a:p>
                  </a:txBody>
                  <a:tcPr/>
                </a:tc>
                <a:extLst>
                  <a:ext uri="{0D108BD9-81ED-4DB2-BD59-A6C34878D82A}">
                    <a16:rowId xmlns:a16="http://schemas.microsoft.com/office/drawing/2014/main" val="10001"/>
                  </a:ext>
                </a:extLst>
              </a:tr>
              <a:tr h="616593">
                <a:tc>
                  <a:txBody>
                    <a:bodyPr/>
                    <a:lstStyle/>
                    <a:p>
                      <a:pPr algn="ctr"/>
                      <a:r>
                        <a:rPr lang="hu-HU" dirty="0" smtClean="0"/>
                        <a:t>A</a:t>
                      </a:r>
                      <a:endParaRPr lang="hu-HU" dirty="0"/>
                    </a:p>
                  </a:txBody>
                  <a:tcPr/>
                </a:tc>
                <a:tc>
                  <a:txBody>
                    <a:bodyPr/>
                    <a:lstStyle/>
                    <a:p>
                      <a:pPr algn="ctr"/>
                      <a:r>
                        <a:rPr lang="hu-HU" dirty="0" smtClean="0"/>
                        <a:t>C::X</a:t>
                      </a:r>
                      <a:endParaRPr lang="hu-HU" dirty="0"/>
                    </a:p>
                  </a:txBody>
                  <a:tcPr/>
                </a:tc>
                <a:tc>
                  <a:txBody>
                    <a:bodyPr/>
                    <a:lstStyle/>
                    <a:p>
                      <a:pPr algn="ctr"/>
                      <a:r>
                        <a:rPr lang="hu-HU" dirty="0" smtClean="0"/>
                        <a:t>Nyilvános</a:t>
                      </a:r>
                      <a:endParaRPr lang="hu-H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hu-HU" dirty="0" smtClean="0"/>
                        <a:t>Az &lt;&lt;import&gt;&gt; nyilvános láthatóságot határoz meg.</a:t>
                      </a:r>
                    </a:p>
                  </a:txBody>
                  <a:tcPr/>
                </a:tc>
                <a:extLst>
                  <a:ext uri="{0D108BD9-81ED-4DB2-BD59-A6C34878D82A}">
                    <a16:rowId xmlns:a16="http://schemas.microsoft.com/office/drawing/2014/main" val="10002"/>
                  </a:ext>
                </a:extLst>
              </a:tr>
              <a:tr h="585432">
                <a:tc>
                  <a:txBody>
                    <a:bodyPr/>
                    <a:lstStyle/>
                    <a:p>
                      <a:pPr algn="ctr"/>
                      <a:r>
                        <a:rPr lang="hu-HU" dirty="0" smtClean="0"/>
                        <a:t>A</a:t>
                      </a:r>
                      <a:endParaRPr lang="hu-HU" dirty="0"/>
                    </a:p>
                  </a:txBody>
                  <a:tcPr/>
                </a:tc>
                <a:tc>
                  <a:txBody>
                    <a:bodyPr/>
                    <a:lstStyle/>
                    <a:p>
                      <a:pPr algn="ctr"/>
                      <a:r>
                        <a:rPr lang="hu-HU" dirty="0" smtClean="0"/>
                        <a:t>Y</a:t>
                      </a:r>
                      <a:endParaRPr lang="hu-HU" dirty="0"/>
                    </a:p>
                  </a:txBody>
                  <a:tcPr/>
                </a:tc>
                <a:tc>
                  <a:txBody>
                    <a:bodyPr/>
                    <a:lstStyle/>
                    <a:p>
                      <a:pPr algn="ctr"/>
                      <a:r>
                        <a:rPr lang="hu-HU" dirty="0" smtClean="0"/>
                        <a:t>Nem látható</a:t>
                      </a:r>
                      <a:endParaRPr lang="hu-HU" dirty="0"/>
                    </a:p>
                  </a:txBody>
                  <a:tcPr/>
                </a:tc>
                <a:tc>
                  <a:txBody>
                    <a:bodyPr/>
                    <a:lstStyle/>
                    <a:p>
                      <a:r>
                        <a:rPr lang="hu-HU" dirty="0" smtClean="0"/>
                        <a:t>Y B-ben privát, nem exportálható</a:t>
                      </a:r>
                      <a:endParaRPr lang="hu-HU" dirty="0"/>
                    </a:p>
                  </a:txBody>
                  <a:tcPr/>
                </a:tc>
                <a:extLst>
                  <a:ext uri="{0D108BD9-81ED-4DB2-BD59-A6C34878D82A}">
                    <a16:rowId xmlns:a16="http://schemas.microsoft.com/office/drawing/2014/main" val="10003"/>
                  </a:ext>
                </a:extLst>
              </a:tr>
              <a:tr h="880847">
                <a:tc>
                  <a:txBody>
                    <a:bodyPr/>
                    <a:lstStyle/>
                    <a:p>
                      <a:pPr algn="ctr"/>
                      <a:r>
                        <a:rPr lang="hu-HU" dirty="0" smtClean="0"/>
                        <a:t>A</a:t>
                      </a:r>
                      <a:endParaRPr lang="hu-HU" dirty="0"/>
                    </a:p>
                  </a:txBody>
                  <a:tcPr/>
                </a:tc>
                <a:tc>
                  <a:txBody>
                    <a:bodyPr/>
                    <a:lstStyle/>
                    <a:p>
                      <a:pPr algn="ctr"/>
                      <a:r>
                        <a:rPr lang="hu-HU" dirty="0" smtClean="0"/>
                        <a:t>Q</a:t>
                      </a:r>
                      <a:endParaRPr lang="hu-HU" dirty="0"/>
                    </a:p>
                  </a:txBody>
                  <a:tcPr/>
                </a:tc>
                <a:tc>
                  <a:txBody>
                    <a:bodyPr/>
                    <a:lstStyle/>
                    <a:p>
                      <a:pPr algn="ctr"/>
                      <a:r>
                        <a:rPr lang="hu-HU" dirty="0" smtClean="0"/>
                        <a:t>Nyilvános</a:t>
                      </a:r>
                      <a:endParaRPr lang="hu-H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hu-HU" dirty="0" smtClean="0"/>
                        <a:t>A B csomagimportja Q-t láthatóvá teszi Az &lt;&lt;import&gt;&gt; nyilvános láthatóságot határoz meg.</a:t>
                      </a:r>
                    </a:p>
                  </a:txBody>
                  <a:tcPr/>
                </a:tc>
                <a:extLst>
                  <a:ext uri="{0D108BD9-81ED-4DB2-BD59-A6C34878D82A}">
                    <a16:rowId xmlns:a16="http://schemas.microsoft.com/office/drawing/2014/main" val="10004"/>
                  </a:ext>
                </a:extLst>
              </a:tr>
              <a:tr h="616593">
                <a:tc>
                  <a:txBody>
                    <a:bodyPr/>
                    <a:lstStyle/>
                    <a:p>
                      <a:pPr algn="ctr"/>
                      <a:r>
                        <a:rPr lang="hu-HU" dirty="0" smtClean="0"/>
                        <a:t>B</a:t>
                      </a:r>
                      <a:endParaRPr lang="hu-HU" dirty="0"/>
                    </a:p>
                  </a:txBody>
                  <a:tcPr/>
                </a:tc>
                <a:tc>
                  <a:txBody>
                    <a:bodyPr/>
                    <a:lstStyle/>
                    <a:p>
                      <a:pPr algn="ctr"/>
                      <a:r>
                        <a:rPr lang="hu-HU" dirty="0" smtClean="0"/>
                        <a:t>Q</a:t>
                      </a:r>
                      <a:endParaRPr lang="hu-HU" dirty="0"/>
                    </a:p>
                  </a:txBody>
                  <a:tcPr/>
                </a:tc>
                <a:tc>
                  <a:txBody>
                    <a:bodyPr/>
                    <a:lstStyle/>
                    <a:p>
                      <a:pPr algn="ctr"/>
                      <a:r>
                        <a:rPr lang="hu-HU" dirty="0" smtClean="0"/>
                        <a:t>Nyilvános</a:t>
                      </a:r>
                      <a:endParaRPr lang="hu-HU" dirty="0"/>
                    </a:p>
                  </a:txBody>
                  <a:tcPr/>
                </a:tc>
                <a:tc>
                  <a:txBody>
                    <a:bodyPr/>
                    <a:lstStyle/>
                    <a:p>
                      <a:r>
                        <a:rPr lang="hu-HU" dirty="0" smtClean="0"/>
                        <a:t>Explicit deklaráció nincs, alapértelmezés számít.</a:t>
                      </a:r>
                      <a:endParaRPr lang="hu-HU" dirty="0"/>
                    </a:p>
                  </a:txBody>
                  <a:tcPr/>
                </a:tc>
                <a:extLst>
                  <a:ext uri="{0D108BD9-81ED-4DB2-BD59-A6C34878D82A}">
                    <a16:rowId xmlns:a16="http://schemas.microsoft.com/office/drawing/2014/main" val="10005"/>
                  </a:ext>
                </a:extLst>
              </a:tr>
              <a:tr h="616593">
                <a:tc>
                  <a:txBody>
                    <a:bodyPr/>
                    <a:lstStyle/>
                    <a:p>
                      <a:pPr algn="ctr"/>
                      <a:r>
                        <a:rPr lang="hu-HU" dirty="0" smtClean="0"/>
                        <a:t>B</a:t>
                      </a:r>
                      <a:endParaRPr lang="hu-HU" dirty="0"/>
                    </a:p>
                  </a:txBody>
                  <a:tcPr/>
                </a:tc>
                <a:tc>
                  <a:txBody>
                    <a:bodyPr/>
                    <a:lstStyle/>
                    <a:p>
                      <a:pPr algn="ctr"/>
                      <a:r>
                        <a:rPr lang="hu-HU" dirty="0" smtClean="0"/>
                        <a:t>X</a:t>
                      </a:r>
                      <a:endParaRPr lang="hu-HU" dirty="0"/>
                    </a:p>
                  </a:txBody>
                  <a:tcPr/>
                </a:tc>
                <a:tc>
                  <a:txBody>
                    <a:bodyPr/>
                    <a:lstStyle/>
                    <a:p>
                      <a:pPr algn="ctr"/>
                      <a:r>
                        <a:rPr lang="hu-HU" dirty="0" smtClean="0"/>
                        <a:t>Nyilvános</a:t>
                      </a:r>
                      <a:endParaRPr lang="hu-H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hu-HU" dirty="0" smtClean="0"/>
                        <a:t>Az &lt;&lt;import&gt;&gt; nyilvános láthatóságot határoz meg.</a:t>
                      </a:r>
                    </a:p>
                  </a:txBody>
                  <a:tcPr/>
                </a:tc>
                <a:extLst>
                  <a:ext uri="{0D108BD9-81ED-4DB2-BD59-A6C34878D82A}">
                    <a16:rowId xmlns:a16="http://schemas.microsoft.com/office/drawing/2014/main" val="10006"/>
                  </a:ext>
                </a:extLst>
              </a:tr>
              <a:tr h="616593">
                <a:tc>
                  <a:txBody>
                    <a:bodyPr/>
                    <a:lstStyle/>
                    <a:p>
                      <a:pPr algn="ctr"/>
                      <a:r>
                        <a:rPr lang="hu-HU" dirty="0" smtClean="0"/>
                        <a:t>B</a:t>
                      </a:r>
                      <a:endParaRPr lang="hu-HU" dirty="0"/>
                    </a:p>
                  </a:txBody>
                  <a:tcPr/>
                </a:tc>
                <a:tc>
                  <a:txBody>
                    <a:bodyPr/>
                    <a:lstStyle/>
                    <a:p>
                      <a:pPr algn="ctr"/>
                      <a:r>
                        <a:rPr lang="hu-HU" dirty="0" smtClean="0"/>
                        <a:t>Z</a:t>
                      </a:r>
                      <a:endParaRPr lang="hu-HU"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hu-HU" dirty="0" smtClean="0"/>
                        <a:t>Nem látható</a:t>
                      </a:r>
                    </a:p>
                    <a:p>
                      <a:pPr algn="ctr"/>
                      <a:endParaRPr lang="hu-HU" dirty="0"/>
                    </a:p>
                  </a:txBody>
                  <a:tcPr/>
                </a:tc>
                <a:tc>
                  <a:txBody>
                    <a:bodyPr/>
                    <a:lstStyle/>
                    <a:p>
                      <a:r>
                        <a:rPr lang="hu-HU" dirty="0" smtClean="0"/>
                        <a:t>C-ben Z privát,</a:t>
                      </a:r>
                      <a:r>
                        <a:rPr lang="hu-HU" baseline="0" dirty="0" smtClean="0"/>
                        <a:t> nem exportálható.</a:t>
                      </a:r>
                      <a:endParaRPr lang="hu-HU" dirty="0"/>
                    </a:p>
                  </a:txBody>
                  <a:tcPr/>
                </a:tc>
                <a:extLst>
                  <a:ext uri="{0D108BD9-81ED-4DB2-BD59-A6C34878D82A}">
                    <a16:rowId xmlns:a16="http://schemas.microsoft.com/office/drawing/2014/main" val="10007"/>
                  </a:ext>
                </a:extLst>
              </a:tr>
              <a:tr h="616593">
                <a:tc>
                  <a:txBody>
                    <a:bodyPr/>
                    <a:lstStyle/>
                    <a:p>
                      <a:pPr algn="ctr"/>
                      <a:r>
                        <a:rPr lang="hu-HU" dirty="0" smtClean="0"/>
                        <a:t>C</a:t>
                      </a:r>
                      <a:endParaRPr lang="hu-HU" dirty="0"/>
                    </a:p>
                  </a:txBody>
                  <a:tcPr/>
                </a:tc>
                <a:tc>
                  <a:txBody>
                    <a:bodyPr/>
                    <a:lstStyle/>
                    <a:p>
                      <a:pPr algn="ctr"/>
                      <a:r>
                        <a:rPr lang="hu-HU" dirty="0" smtClean="0"/>
                        <a:t>Y</a:t>
                      </a:r>
                      <a:endParaRPr lang="hu-HU" dirty="0"/>
                    </a:p>
                  </a:txBody>
                  <a:tcPr/>
                </a:tc>
                <a:tc>
                  <a:txBody>
                    <a:bodyPr/>
                    <a:lstStyle/>
                    <a:p>
                      <a:pPr algn="ctr"/>
                      <a:r>
                        <a:rPr lang="hu-HU" dirty="0" smtClean="0"/>
                        <a:t>Nyilvános</a:t>
                      </a:r>
                      <a:endParaRPr lang="hu-H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hu-HU" dirty="0" smtClean="0"/>
                        <a:t>Explicit deklaráció nincs, alapértelmezés számít.</a:t>
                      </a:r>
                    </a:p>
                  </a:txBody>
                  <a:tcPr/>
                </a:tc>
                <a:extLst>
                  <a:ext uri="{0D108BD9-81ED-4DB2-BD59-A6C34878D82A}">
                    <a16:rowId xmlns:a16="http://schemas.microsoft.com/office/drawing/2014/main" val="10008"/>
                  </a:ext>
                </a:extLst>
              </a:tr>
              <a:tr h="585432">
                <a:tc>
                  <a:txBody>
                    <a:bodyPr/>
                    <a:lstStyle/>
                    <a:p>
                      <a:pPr algn="ctr"/>
                      <a:r>
                        <a:rPr lang="hu-HU" dirty="0" smtClean="0"/>
                        <a:t>C</a:t>
                      </a:r>
                      <a:endParaRPr lang="hu-HU" dirty="0"/>
                    </a:p>
                  </a:txBody>
                  <a:tcPr/>
                </a:tc>
                <a:tc>
                  <a:txBody>
                    <a:bodyPr/>
                    <a:lstStyle/>
                    <a:p>
                      <a:pPr algn="ctr"/>
                      <a:r>
                        <a:rPr lang="hu-HU" dirty="0" smtClean="0"/>
                        <a:t>Z</a:t>
                      </a:r>
                      <a:endParaRPr lang="hu-HU" dirty="0"/>
                    </a:p>
                  </a:txBody>
                  <a:tcPr/>
                </a:tc>
                <a:tc>
                  <a:txBody>
                    <a:bodyPr/>
                    <a:lstStyle/>
                    <a:p>
                      <a:pPr algn="ctr"/>
                      <a:r>
                        <a:rPr lang="hu-HU" dirty="0" smtClean="0"/>
                        <a:t>Privát</a:t>
                      </a:r>
                      <a:endParaRPr lang="hu-HU" dirty="0"/>
                    </a:p>
                  </a:txBody>
                  <a:tcPr/>
                </a:tc>
                <a:tc>
                  <a:txBody>
                    <a:bodyPr/>
                    <a:lstStyle/>
                    <a:p>
                      <a:r>
                        <a:rPr lang="hu-HU" dirty="0" smtClean="0"/>
                        <a:t>Explicit deklaráció</a:t>
                      </a:r>
                      <a:endParaRPr lang="hu-HU" dirty="0"/>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417654577"/>
      </p:ext>
    </p:extLst>
  </p:cSld>
  <p:clrMapOvr>
    <a:masterClrMapping/>
  </p:clrMapOvr>
  <p:timing>
    <p:tnLst>
      <p:par>
        <p:cTn id="1" dur="indefinite" restart="never" nodeType="tmRoot"/>
      </p:par>
    </p:tnLst>
  </p:timing>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ím 2"/>
          <p:cNvSpPr>
            <a:spLocks noGrp="1"/>
          </p:cNvSpPr>
          <p:nvPr>
            <p:ph type="title"/>
          </p:nvPr>
        </p:nvSpPr>
        <p:spPr>
          <a:xfrm>
            <a:off x="1991544" y="5733256"/>
            <a:ext cx="7543800" cy="914400"/>
          </a:xfrm>
        </p:spPr>
        <p:txBody>
          <a:bodyPr/>
          <a:lstStyle/>
          <a:p>
            <a:r>
              <a:rPr lang="hu-HU" dirty="0" smtClean="0"/>
              <a:t>Csomagimport</a:t>
            </a:r>
            <a:endParaRPr lang="hu-HU" dirty="0"/>
          </a:p>
        </p:txBody>
      </p:sp>
      <p:sp>
        <p:nvSpPr>
          <p:cNvPr id="2" name="Tartalom helye 1"/>
          <p:cNvSpPr>
            <a:spLocks noGrp="1"/>
          </p:cNvSpPr>
          <p:nvPr>
            <p:ph idx="1"/>
          </p:nvPr>
        </p:nvSpPr>
        <p:spPr>
          <a:xfrm>
            <a:off x="1631504" y="404665"/>
            <a:ext cx="8928992" cy="5616624"/>
          </a:xfrm>
        </p:spPr>
        <p:txBody>
          <a:bodyPr>
            <a:normAutofit/>
          </a:bodyPr>
          <a:lstStyle/>
          <a:p>
            <a:r>
              <a:rPr lang="hu-HU" dirty="0" smtClean="0"/>
              <a:t>Ha nem egyedi elemeket, hanem az összes elemet szeretnénk importálni</a:t>
            </a:r>
          </a:p>
          <a:p>
            <a:r>
              <a:rPr lang="hu-HU" dirty="0" smtClean="0"/>
              <a:t>A nyíl  az &lt;&lt;import&gt;&gt; feliratot hordozza</a:t>
            </a:r>
          </a:p>
          <a:p>
            <a:endParaRPr lang="hu-HU" dirty="0" smtClean="0"/>
          </a:p>
          <a:p>
            <a:endParaRPr lang="hu-HU" dirty="0"/>
          </a:p>
          <a:p>
            <a:pPr lvl="1"/>
            <a:r>
              <a:rPr lang="hu-HU" dirty="0" err="1" smtClean="0"/>
              <a:t>EgyediImport</a:t>
            </a:r>
            <a:r>
              <a:rPr lang="hu-HU" dirty="0" smtClean="0"/>
              <a:t> ::= [</a:t>
            </a:r>
            <a:r>
              <a:rPr lang="hu-HU" dirty="0" err="1" smtClean="0"/>
              <a:t>element</a:t>
            </a:r>
            <a:r>
              <a:rPr lang="hu-HU" dirty="0" smtClean="0"/>
              <a:t>] </a:t>
            </a:r>
            <a:r>
              <a:rPr lang="hu-HU" dirty="0" err="1" smtClean="0"/>
              <a:t>ImportFajta</a:t>
            </a:r>
            <a:r>
              <a:rPr lang="hu-HU" dirty="0" smtClean="0"/>
              <a:t> [Elem[</a:t>
            </a:r>
            <a:r>
              <a:rPr lang="hu-HU" dirty="0" err="1" smtClean="0"/>
              <a:t>as</a:t>
            </a:r>
            <a:r>
              <a:rPr lang="hu-HU" dirty="0" smtClean="0"/>
              <a:t> </a:t>
            </a:r>
            <a:r>
              <a:rPr lang="hu-HU" dirty="0" err="1" smtClean="0"/>
              <a:t>ÚjNév</a:t>
            </a:r>
            <a:r>
              <a:rPr lang="hu-HU" dirty="0" smtClean="0"/>
              <a:t>]]</a:t>
            </a:r>
          </a:p>
          <a:p>
            <a:pPr lvl="1"/>
            <a:r>
              <a:rPr lang="hu-HU" dirty="0" err="1" smtClean="0"/>
              <a:t>ImportFajta</a:t>
            </a:r>
            <a:r>
              <a:rPr lang="hu-HU" dirty="0"/>
              <a:t> </a:t>
            </a:r>
            <a:r>
              <a:rPr lang="hu-HU" dirty="0" smtClean="0"/>
              <a:t>::= </a:t>
            </a:r>
            <a:r>
              <a:rPr lang="hu-HU" dirty="0"/>
              <a:t>&lt;&lt;import</a:t>
            </a:r>
            <a:r>
              <a:rPr lang="hu-HU" dirty="0" smtClean="0"/>
              <a:t>&gt;&gt;|&lt;&lt;</a:t>
            </a:r>
            <a:r>
              <a:rPr lang="hu-HU" dirty="0" err="1" smtClean="0"/>
              <a:t>element</a:t>
            </a:r>
            <a:r>
              <a:rPr lang="hu-HU" dirty="0" smtClean="0"/>
              <a:t> </a:t>
            </a:r>
            <a:r>
              <a:rPr lang="hu-HU" dirty="0" err="1" smtClean="0"/>
              <a:t>import</a:t>
            </a:r>
            <a:r>
              <a:rPr lang="hu-HU" dirty="0" smtClean="0"/>
              <a:t>&gt;&gt;|&lt;&lt;</a:t>
            </a:r>
            <a:r>
              <a:rPr lang="hu-HU" dirty="0" err="1" smtClean="0"/>
              <a:t>access</a:t>
            </a:r>
            <a:r>
              <a:rPr lang="hu-HU" dirty="0" smtClean="0"/>
              <a:t>&gt;&gt;|&lt;&lt;</a:t>
            </a:r>
            <a:r>
              <a:rPr lang="hu-HU" dirty="0" err="1" smtClean="0"/>
              <a:t>element</a:t>
            </a:r>
            <a:r>
              <a:rPr lang="hu-HU" dirty="0" smtClean="0"/>
              <a:t> </a:t>
            </a:r>
            <a:r>
              <a:rPr lang="hu-HU" dirty="0" err="1" smtClean="0"/>
              <a:t>access</a:t>
            </a:r>
            <a:r>
              <a:rPr lang="hu-HU" dirty="0" smtClean="0"/>
              <a:t>&gt;&gt;</a:t>
            </a:r>
          </a:p>
          <a:p>
            <a:pPr lvl="1"/>
            <a:r>
              <a:rPr lang="hu-HU" dirty="0" err="1" smtClean="0"/>
              <a:t>CsomagImport</a:t>
            </a:r>
            <a:r>
              <a:rPr lang="hu-HU" dirty="0" smtClean="0"/>
              <a:t> ::= </a:t>
            </a:r>
            <a:r>
              <a:rPr lang="hu-HU" dirty="0" err="1" smtClean="0"/>
              <a:t>ImportFajta</a:t>
            </a:r>
            <a:r>
              <a:rPr lang="hu-HU" dirty="0" smtClean="0"/>
              <a:t> </a:t>
            </a:r>
            <a:r>
              <a:rPr lang="hu-HU" dirty="0" err="1" smtClean="0"/>
              <a:t>MinősítettNév</a:t>
            </a:r>
            <a:endParaRPr lang="hu-HU" dirty="0" smtClean="0"/>
          </a:p>
          <a:p>
            <a:pPr lvl="1"/>
            <a:r>
              <a:rPr lang="hu-HU" dirty="0" err="1" smtClean="0"/>
              <a:t>CsomagLáthatóság</a:t>
            </a:r>
            <a:r>
              <a:rPr lang="hu-HU" dirty="0" smtClean="0"/>
              <a:t> ::= [</a:t>
            </a:r>
            <a:r>
              <a:rPr lang="hu-HU" dirty="0" err="1" smtClean="0"/>
              <a:t>public</a:t>
            </a:r>
            <a:r>
              <a:rPr lang="hu-HU" dirty="0" smtClean="0"/>
              <a:t>|</a:t>
            </a:r>
            <a:r>
              <a:rPr lang="hu-HU" dirty="0" err="1" smtClean="0"/>
              <a:t>private</a:t>
            </a:r>
            <a:r>
              <a:rPr lang="hu-HU" dirty="0" smtClean="0"/>
              <a:t>]</a:t>
            </a:r>
          </a:p>
          <a:p>
            <a:pPr lvl="1"/>
            <a:r>
              <a:rPr lang="hu-HU" dirty="0" err="1" smtClean="0"/>
              <a:t>ImportKikötés</a:t>
            </a:r>
            <a:r>
              <a:rPr lang="hu-HU" dirty="0" smtClean="0"/>
              <a:t> ::= {(</a:t>
            </a:r>
            <a:r>
              <a:rPr lang="hu-HU" dirty="0" err="1"/>
              <a:t>CsomagImport</a:t>
            </a:r>
            <a:r>
              <a:rPr lang="hu-HU" dirty="0"/>
              <a:t> </a:t>
            </a:r>
            <a:r>
              <a:rPr lang="hu-HU" dirty="0" smtClean="0"/>
              <a:t>| </a:t>
            </a:r>
            <a:r>
              <a:rPr lang="hu-HU" dirty="0" err="1" smtClean="0"/>
              <a:t>EgyediImport</a:t>
            </a:r>
            <a:r>
              <a:rPr lang="hu-HU" dirty="0" smtClean="0"/>
              <a:t>)*}</a:t>
            </a:r>
          </a:p>
          <a:p>
            <a:pPr lvl="1"/>
            <a:r>
              <a:rPr lang="hu-HU" dirty="0" err="1" smtClean="0"/>
              <a:t>MinősítettNév</a:t>
            </a:r>
            <a:r>
              <a:rPr lang="hu-HU" dirty="0" smtClean="0"/>
              <a:t> ::= Csomag:</a:t>
            </a:r>
            <a:r>
              <a:rPr lang="hu-HU" dirty="0" smtClean="0">
                <a:sym typeface="Wingdings" pitchFamily="2" charset="2"/>
              </a:rPr>
              <a:t>:(</a:t>
            </a:r>
            <a:r>
              <a:rPr lang="hu-HU" dirty="0" err="1" smtClean="0">
                <a:sym typeface="Wingdings" pitchFamily="2" charset="2"/>
              </a:rPr>
              <a:t>Csomag</a:t>
            </a:r>
            <a:r>
              <a:rPr lang="hu-HU" dirty="0" smtClean="0">
                <a:sym typeface="Wingdings" pitchFamily="2" charset="2"/>
              </a:rPr>
              <a:t>)* Elem</a:t>
            </a:r>
            <a:endParaRPr lang="hu-HU" dirty="0"/>
          </a:p>
        </p:txBody>
      </p:sp>
    </p:spTree>
    <p:extLst>
      <p:ext uri="{BB962C8B-B14F-4D97-AF65-F5344CB8AC3E}">
        <p14:creationId xmlns:p14="http://schemas.microsoft.com/office/powerpoint/2010/main" val="1628944824"/>
      </p:ext>
    </p:extLst>
  </p:cSld>
  <p:clrMapOvr>
    <a:masterClrMapping/>
  </p:clrMapOvr>
  <p:timing>
    <p:tnLst>
      <p:par>
        <p:cTn id="1" dur="indefinite" restart="never" nodeType="tmRoot"/>
      </p:par>
    </p:tnLst>
  </p:timing>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ím 2"/>
          <p:cNvSpPr>
            <a:spLocks noGrp="1"/>
          </p:cNvSpPr>
          <p:nvPr>
            <p:ph type="title"/>
          </p:nvPr>
        </p:nvSpPr>
        <p:spPr>
          <a:xfrm>
            <a:off x="5231904" y="5805264"/>
            <a:ext cx="5306928" cy="914400"/>
          </a:xfrm>
        </p:spPr>
        <p:txBody>
          <a:bodyPr/>
          <a:lstStyle/>
          <a:p>
            <a:r>
              <a:rPr lang="hu-HU" dirty="0" smtClean="0"/>
              <a:t>Csomagimport -2</a:t>
            </a:r>
            <a:endParaRPr lang="hu-HU" dirty="0"/>
          </a:p>
        </p:txBody>
      </p:sp>
      <p:sp>
        <p:nvSpPr>
          <p:cNvPr id="2" name="Tartalom helye 1"/>
          <p:cNvSpPr>
            <a:spLocks noGrp="1"/>
          </p:cNvSpPr>
          <p:nvPr>
            <p:ph idx="1"/>
          </p:nvPr>
        </p:nvSpPr>
        <p:spPr>
          <a:xfrm>
            <a:off x="1991544" y="685802"/>
            <a:ext cx="7762056" cy="5119463"/>
          </a:xfrm>
        </p:spPr>
        <p:txBody>
          <a:bodyPr>
            <a:normAutofit/>
          </a:bodyPr>
          <a:lstStyle/>
          <a:p>
            <a:r>
              <a:rPr lang="hu-HU" dirty="0" smtClean="0"/>
              <a:t>Minden névtér 2 szegmense: saját és importált nevek,</a:t>
            </a:r>
          </a:p>
          <a:p>
            <a:r>
              <a:rPr lang="hu-HU" dirty="0" smtClean="0"/>
              <a:t>Csak a nyilvánosak importálhatóak csomagon kívülről</a:t>
            </a:r>
          </a:p>
          <a:p>
            <a:endParaRPr lang="hu-HU" dirty="0"/>
          </a:p>
          <a:p>
            <a:r>
              <a:rPr lang="hu-HU" dirty="0" smtClean="0"/>
              <a:t>P csomagban minden elem látható, mely:</a:t>
            </a:r>
          </a:p>
          <a:p>
            <a:pPr lvl="1"/>
            <a:r>
              <a:rPr lang="hu-HU" dirty="0" smtClean="0"/>
              <a:t>P-hez tartozik,</a:t>
            </a:r>
          </a:p>
          <a:p>
            <a:pPr lvl="1"/>
            <a:r>
              <a:rPr lang="hu-HU" dirty="0" smtClean="0"/>
              <a:t>Látható olyan csomagban, mely </a:t>
            </a:r>
            <a:r>
              <a:rPr lang="hu-HU" dirty="0" err="1" smtClean="0"/>
              <a:t>tranzitívan</a:t>
            </a:r>
            <a:r>
              <a:rPr lang="hu-HU" dirty="0" smtClean="0"/>
              <a:t> P-hez tartozik,</a:t>
            </a:r>
          </a:p>
          <a:p>
            <a:pPr lvl="1"/>
            <a:r>
              <a:rPr lang="hu-HU" dirty="0" smtClean="0"/>
              <a:t>P-be importált.</a:t>
            </a:r>
          </a:p>
          <a:p>
            <a:endParaRPr lang="hu-HU" dirty="0"/>
          </a:p>
          <a:p>
            <a:r>
              <a:rPr lang="hu-HU" dirty="0" smtClean="0"/>
              <a:t>Saját elemekkel ellentétben az importáló elemekre csak hivatkozás történik </a:t>
            </a:r>
            <a:r>
              <a:rPr lang="hu-HU" dirty="0" smtClean="0">
                <a:sym typeface="Wingdings" pitchFamily="2" charset="2"/>
              </a:rPr>
              <a:t> ha az importáló törlődik, az exportált elemek még rendelkezésre állnak.</a:t>
            </a:r>
          </a:p>
          <a:p>
            <a:r>
              <a:rPr lang="hu-HU" dirty="0" smtClean="0">
                <a:sym typeface="Wingdings" pitchFamily="2" charset="2"/>
              </a:rPr>
              <a:t>Láncimportok?</a:t>
            </a:r>
          </a:p>
          <a:p>
            <a:r>
              <a:rPr lang="hu-HU" dirty="0" smtClean="0">
                <a:sym typeface="Wingdings" pitchFamily="2" charset="2"/>
              </a:rPr>
              <a:t>Ciklikus importok?</a:t>
            </a:r>
            <a:endParaRPr lang="hu-HU" dirty="0"/>
          </a:p>
        </p:txBody>
      </p:sp>
    </p:spTree>
    <p:extLst>
      <p:ext uri="{BB962C8B-B14F-4D97-AF65-F5344CB8AC3E}">
        <p14:creationId xmlns:p14="http://schemas.microsoft.com/office/powerpoint/2010/main" val="3627233446"/>
      </p:ext>
    </p:extLst>
  </p:cSld>
  <p:clrMapOvr>
    <a:masterClrMapping/>
  </p:clrMapOvr>
  <p:timing>
    <p:tnLst>
      <p:par>
        <p:cTn id="1" dur="indefinite" restart="never" nodeType="tmRoot"/>
      </p:par>
    </p:tnLst>
  </p:timing>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ím 2"/>
          <p:cNvSpPr>
            <a:spLocks noGrp="1"/>
          </p:cNvSpPr>
          <p:nvPr>
            <p:ph type="title"/>
          </p:nvPr>
        </p:nvSpPr>
        <p:spPr/>
        <p:txBody>
          <a:bodyPr/>
          <a:lstStyle/>
          <a:p>
            <a:r>
              <a:rPr lang="hu-HU" dirty="0" smtClean="0"/>
              <a:t>Beolvasztás</a:t>
            </a:r>
            <a:endParaRPr lang="hu-HU" dirty="0"/>
          </a:p>
        </p:txBody>
      </p:sp>
      <p:sp>
        <p:nvSpPr>
          <p:cNvPr id="2" name="Tartalom helye 1"/>
          <p:cNvSpPr>
            <a:spLocks noGrp="1"/>
          </p:cNvSpPr>
          <p:nvPr>
            <p:ph idx="1"/>
          </p:nvPr>
        </p:nvSpPr>
        <p:spPr>
          <a:xfrm>
            <a:off x="2783632" y="685802"/>
            <a:ext cx="6969968" cy="4327375"/>
          </a:xfrm>
        </p:spPr>
        <p:txBody>
          <a:bodyPr/>
          <a:lstStyle/>
          <a:p>
            <a:r>
              <a:rPr lang="hu-HU" dirty="0" smtClean="0"/>
              <a:t>Csomag átfogó transzformációja</a:t>
            </a:r>
          </a:p>
          <a:p>
            <a:r>
              <a:rPr lang="hu-HU" dirty="0" smtClean="0"/>
              <a:t>Nemcsak névtér elérhető, hanem összetett kapcsolatok állíthatóak elő a meglévő és importált elemek közt</a:t>
            </a:r>
          </a:p>
          <a:p>
            <a:r>
              <a:rPr lang="hu-HU" dirty="0" smtClean="0"/>
              <a:t>&lt;&lt;</a:t>
            </a:r>
            <a:r>
              <a:rPr lang="hu-HU" dirty="0" err="1" smtClean="0"/>
              <a:t>merge</a:t>
            </a:r>
            <a:r>
              <a:rPr lang="hu-HU" dirty="0" smtClean="0"/>
              <a:t>&gt;&gt; kulcsszó</a:t>
            </a:r>
          </a:p>
          <a:p>
            <a:endParaRPr lang="hu-HU" dirty="0" smtClean="0"/>
          </a:p>
          <a:p>
            <a:endParaRPr lang="hu-HU" dirty="0"/>
          </a:p>
          <a:p>
            <a:r>
              <a:rPr lang="hu-HU" dirty="0" smtClean="0"/>
              <a:t>Gyakorlati alkalmazása ritka</a:t>
            </a:r>
            <a:endParaRPr lang="hu-HU" dirty="0"/>
          </a:p>
        </p:txBody>
      </p:sp>
    </p:spTree>
    <p:extLst>
      <p:ext uri="{BB962C8B-B14F-4D97-AF65-F5344CB8AC3E}">
        <p14:creationId xmlns:p14="http://schemas.microsoft.com/office/powerpoint/2010/main" val="2677658833"/>
      </p:ext>
    </p:extLst>
  </p:cSld>
  <p:clrMapOvr>
    <a:masterClrMapping/>
  </p:clrMapOvr>
  <p:timing>
    <p:tnLst>
      <p:par>
        <p:cTn id="1" dur="indefinite" restart="never" nodeType="tmRoot"/>
      </p:par>
    </p:tnLst>
  </p:timing>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7529" y="1268760"/>
            <a:ext cx="8561273" cy="417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9197717"/>
      </p:ext>
    </p:extLst>
  </p:cSld>
  <p:clrMapOvr>
    <a:masterClrMapping/>
  </p:clrMapOvr>
  <p:timing>
    <p:tnLst>
      <p:par>
        <p:cTn id="1" dur="indefinite" restart="never" nodeType="tmRoot"/>
      </p:par>
    </p:tnLst>
  </p:timing>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9496" y="1844824"/>
            <a:ext cx="9062162" cy="259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56535291"/>
      </p:ext>
    </p:extLst>
  </p:cSld>
  <p:clrMapOvr>
    <a:masterClrMapping/>
  </p:clrMapOvr>
  <p:timing>
    <p:tnLst>
      <p:par>
        <p:cTn id="1" dur="indefinite" restart="never" nodeType="tmRoot"/>
      </p:par>
    </p:tnLst>
  </p:timing>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4"/>
          <p:cNvSpPr>
            <a:spLocks noGrp="1" noChangeArrowheads="1"/>
          </p:cNvSpPr>
          <p:nvPr>
            <p:ph type="title"/>
          </p:nvPr>
        </p:nvSpPr>
        <p:spPr/>
        <p:txBody>
          <a:bodyPr/>
          <a:lstStyle/>
          <a:p>
            <a:pPr eaLnBrk="1" hangingPunct="1"/>
            <a:r>
              <a:rPr lang="hu-HU" altLang="hu-HU" sz="4000"/>
              <a:t>Állapotmodellezés</a:t>
            </a:r>
            <a:endParaRPr lang="en-US" altLang="hu-HU" sz="4000"/>
          </a:p>
        </p:txBody>
      </p:sp>
      <p:sp>
        <p:nvSpPr>
          <p:cNvPr id="4" name="Dátum helye 4"/>
          <p:cNvSpPr>
            <a:spLocks noGrp="1"/>
          </p:cNvSpPr>
          <p:nvPr>
            <p:ph type="dt" sz="half" idx="10"/>
          </p:nvPr>
        </p:nvSpPr>
        <p:spPr>
          <a:xfrm>
            <a:off x="8077200" y="6356351"/>
            <a:ext cx="2133600" cy="365125"/>
          </a:xfrm>
        </p:spPr>
        <p:txBody>
          <a:bodyPr/>
          <a:lstStyle/>
          <a:p>
            <a:pPr algn="r">
              <a:defRPr/>
            </a:pPr>
            <a:fld id="{CE07FDAA-00F0-4EB9-B7B8-9EABAF2C78E9}" type="datetime4">
              <a:rPr lang="hu-HU"/>
              <a:pPr algn="r">
                <a:defRPr/>
              </a:pPr>
              <a:t>2024. november 28.</a:t>
            </a:fld>
            <a:endParaRPr lang="hu-HU"/>
          </a:p>
        </p:txBody>
      </p:sp>
      <p:sp>
        <p:nvSpPr>
          <p:cNvPr id="5122" name="Dia számának helye 3"/>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5F4BCB0D-588E-4518-B4EF-50B2BFA57304}" type="slidenum">
              <a:rPr lang="hu-HU" altLang="hu-HU" sz="1200">
                <a:solidFill>
                  <a:srgbClr val="898989"/>
                </a:solidFill>
              </a:rPr>
              <a:pPr algn="ctr">
                <a:spcBef>
                  <a:spcPct val="0"/>
                </a:spcBef>
                <a:buFontTx/>
                <a:buNone/>
              </a:pPr>
              <a:t>288</a:t>
            </a:fld>
            <a:endParaRPr lang="hu-HU" altLang="hu-HU" sz="1200">
              <a:solidFill>
                <a:srgbClr val="898989"/>
              </a:solidFill>
            </a:endParaRPr>
          </a:p>
        </p:txBody>
      </p:sp>
    </p:spTree>
    <p:extLst>
      <p:ext uri="{BB962C8B-B14F-4D97-AF65-F5344CB8AC3E}">
        <p14:creationId xmlns:p14="http://schemas.microsoft.com/office/powerpoint/2010/main" val="2419459394"/>
      </p:ext>
    </p:extLst>
  </p:cSld>
  <p:clrMapOvr>
    <a:masterClrMapping/>
  </p:clrMapOvr>
  <p:timing>
    <p:tnLst>
      <p:par>
        <p:cTn id="1" dur="indefinite" restart="never" nodeType="tmRoot"/>
      </p:par>
    </p:tnLst>
  </p:timing>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p:txBody>
          <a:bodyPr/>
          <a:lstStyle/>
          <a:p>
            <a:pPr eaLnBrk="1" hangingPunct="1"/>
            <a:r>
              <a:rPr lang="hu-HU" altLang="hu-HU" sz="4000"/>
              <a:t>A dinamikus viselkedés elemei</a:t>
            </a:r>
            <a:r>
              <a:rPr lang="hu-HU" altLang="hu-HU" smtClean="0"/>
              <a:t> </a:t>
            </a:r>
          </a:p>
        </p:txBody>
      </p:sp>
      <p:sp>
        <p:nvSpPr>
          <p:cNvPr id="7173" name="Rectangle 3"/>
          <p:cNvSpPr>
            <a:spLocks noGrp="1" noChangeArrowheads="1"/>
          </p:cNvSpPr>
          <p:nvPr>
            <p:ph idx="1"/>
          </p:nvPr>
        </p:nvSpPr>
        <p:spPr>
          <a:xfrm>
            <a:off x="1992314" y="1616076"/>
            <a:ext cx="8421687" cy="4454525"/>
          </a:xfrm>
        </p:spPr>
        <p:txBody>
          <a:bodyPr/>
          <a:lstStyle/>
          <a:p>
            <a:pPr eaLnBrk="1" hangingPunct="1"/>
            <a:r>
              <a:rPr lang="hu-HU" altLang="hu-HU"/>
              <a:t>Állapot (state):</a:t>
            </a:r>
          </a:p>
          <a:p>
            <a:pPr lvl="1" eaLnBrk="1" hangingPunct="1"/>
            <a:r>
              <a:rPr lang="hu-HU" altLang="hu-HU"/>
              <a:t>egy objektum állapota </a:t>
            </a:r>
          </a:p>
          <a:p>
            <a:pPr lvl="1" eaLnBrk="1" hangingPunct="1"/>
            <a:r>
              <a:rPr lang="hu-HU" altLang="hu-HU"/>
              <a:t>meghatározza: </a:t>
            </a:r>
            <a:br>
              <a:rPr lang="hu-HU" altLang="hu-HU"/>
            </a:br>
            <a:r>
              <a:rPr lang="hu-HU" altLang="hu-HU" sz="2200"/>
              <a:t>- attribútumok értékei (pl. x</a:t>
            </a:r>
            <a:r>
              <a:rPr lang="en-US" altLang="hu-HU" sz="2200"/>
              <a:t>&lt;3)</a:t>
            </a:r>
            <a:r>
              <a:rPr lang="hu-HU" altLang="hu-HU" sz="2200"/>
              <a:t/>
            </a:r>
            <a:br>
              <a:rPr lang="hu-HU" altLang="hu-HU" sz="2200"/>
            </a:br>
            <a:r>
              <a:rPr lang="hu-HU" altLang="hu-HU" sz="2200"/>
              <a:t>- feltételek teljesülnek (pl. művelet végrehajtható)</a:t>
            </a:r>
            <a:endParaRPr lang="hu-HU" altLang="hu-HU"/>
          </a:p>
          <a:p>
            <a:pPr eaLnBrk="1" hangingPunct="1"/>
            <a:r>
              <a:rPr lang="hu-HU" altLang="hu-HU"/>
              <a:t>Állapotátmenet:</a:t>
            </a:r>
          </a:p>
          <a:p>
            <a:pPr lvl="1" eaLnBrk="1" hangingPunct="1"/>
            <a:r>
              <a:rPr lang="hu-HU" altLang="hu-HU"/>
              <a:t>állapot változása</a:t>
            </a:r>
          </a:p>
          <a:p>
            <a:pPr lvl="1" eaLnBrk="1" hangingPunct="1"/>
            <a:r>
              <a:rPr lang="hu-HU" altLang="hu-HU"/>
              <a:t>bejövő üzenet hatására (triggerelt)</a:t>
            </a:r>
            <a:br>
              <a:rPr lang="hu-HU" altLang="hu-HU"/>
            </a:br>
            <a:r>
              <a:rPr lang="hu-HU" altLang="hu-HU"/>
              <a:t>vagy önállóan (null trigger) </a:t>
            </a:r>
          </a:p>
          <a:p>
            <a:pPr eaLnBrk="1" hangingPunct="1"/>
            <a:r>
              <a:rPr lang="hu-HU" altLang="hu-HU"/>
              <a:t>Akció: az objektum által végzett műveletek</a:t>
            </a:r>
          </a:p>
        </p:txBody>
      </p:sp>
      <p:sp>
        <p:nvSpPr>
          <p:cNvPr id="5" name="Dátum helye 5"/>
          <p:cNvSpPr>
            <a:spLocks noGrp="1"/>
          </p:cNvSpPr>
          <p:nvPr>
            <p:ph type="dt" sz="half" idx="10"/>
          </p:nvPr>
        </p:nvSpPr>
        <p:spPr>
          <a:xfrm>
            <a:off x="8077200" y="6356351"/>
            <a:ext cx="2133600" cy="365125"/>
          </a:xfrm>
        </p:spPr>
        <p:txBody>
          <a:bodyPr/>
          <a:lstStyle/>
          <a:p>
            <a:pPr algn="r">
              <a:defRPr/>
            </a:pPr>
            <a:fld id="{0C597232-909F-47BF-B360-118BEAEF38B5}" type="datetime4">
              <a:rPr lang="hu-HU"/>
              <a:pPr algn="r">
                <a:defRPr/>
              </a:pPr>
              <a:t>2024. november 28.</a:t>
            </a:fld>
            <a:endParaRPr lang="hu-HU"/>
          </a:p>
        </p:txBody>
      </p:sp>
      <p:sp>
        <p:nvSpPr>
          <p:cNvPr id="7170"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5ECDAD8C-72DC-4AFE-B628-3832B3E7C1CB}" type="slidenum">
              <a:rPr lang="hu-HU" altLang="hu-HU" sz="1200">
                <a:solidFill>
                  <a:srgbClr val="898989"/>
                </a:solidFill>
              </a:rPr>
              <a:pPr algn="ctr">
                <a:spcBef>
                  <a:spcPct val="0"/>
                </a:spcBef>
                <a:buFontTx/>
                <a:buNone/>
              </a:pPr>
              <a:t>289</a:t>
            </a:fld>
            <a:endParaRPr lang="hu-HU" altLang="hu-HU" sz="1200">
              <a:solidFill>
                <a:srgbClr val="898989"/>
              </a:solidFill>
            </a:endParaRPr>
          </a:p>
        </p:txBody>
      </p:sp>
    </p:spTree>
    <p:extLst>
      <p:ext uri="{BB962C8B-B14F-4D97-AF65-F5344CB8AC3E}">
        <p14:creationId xmlns:p14="http://schemas.microsoft.com/office/powerpoint/2010/main" val="488756970"/>
      </p:ext>
    </p:extLst>
  </p:cSld>
  <p:clrMapOvr>
    <a:masterClrMapping/>
  </p:clrMapOvr>
  <p:timing>
    <p:tnLst>
      <p:par>
        <p:cTn id="1" dur="indefinite" restart="never" nodeType="tmRoot"/>
      </p:par>
    </p:tnLst>
  </p:timing>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a:xfrm>
            <a:off x="1963738" y="203200"/>
            <a:ext cx="8229600" cy="1143000"/>
          </a:xfrm>
        </p:spPr>
        <p:txBody>
          <a:bodyPr/>
          <a:lstStyle/>
          <a:p>
            <a:pPr eaLnBrk="1" hangingPunct="1"/>
            <a:r>
              <a:rPr lang="en-US" altLang="hu-HU" smtClean="0"/>
              <a:t>A</a:t>
            </a:r>
            <a:r>
              <a:rPr lang="hu-HU" altLang="hu-HU" smtClean="0"/>
              <a:t>z objektum állapota</a:t>
            </a:r>
            <a:endParaRPr lang="en-US" altLang="hu-HU" smtClean="0"/>
          </a:p>
        </p:txBody>
      </p:sp>
      <p:sp>
        <p:nvSpPr>
          <p:cNvPr id="9221" name="Rectangle 3"/>
          <p:cNvSpPr>
            <a:spLocks noGrp="1" noChangeArrowheads="1"/>
          </p:cNvSpPr>
          <p:nvPr>
            <p:ph idx="1"/>
          </p:nvPr>
        </p:nvSpPr>
        <p:spPr>
          <a:xfrm>
            <a:off x="2063750" y="1446213"/>
            <a:ext cx="8280400" cy="3294062"/>
          </a:xfrm>
        </p:spPr>
        <p:txBody>
          <a:bodyPr/>
          <a:lstStyle/>
          <a:p>
            <a:pPr eaLnBrk="1" hangingPunct="1">
              <a:lnSpc>
                <a:spcPct val="90000"/>
              </a:lnSpc>
            </a:pPr>
            <a:r>
              <a:rPr lang="hu-HU" altLang="hu-HU"/>
              <a:t>Az objektumok a külső hatások eredményeként megváltoztatják állapotukat, </a:t>
            </a:r>
          </a:p>
          <a:p>
            <a:pPr eaLnBrk="1" hangingPunct="1">
              <a:lnSpc>
                <a:spcPct val="90000"/>
              </a:lnSpc>
            </a:pPr>
            <a:r>
              <a:rPr lang="hu-HU" altLang="hu-HU"/>
              <a:t>hatnak környezetükre, amivel a környezetükben levő más objektumok állapotváltozását idézhetik elő.</a:t>
            </a:r>
          </a:p>
        </p:txBody>
      </p:sp>
      <p:sp>
        <p:nvSpPr>
          <p:cNvPr id="5" name="Dátum helye 5"/>
          <p:cNvSpPr>
            <a:spLocks noGrp="1"/>
          </p:cNvSpPr>
          <p:nvPr>
            <p:ph type="dt" sz="half" idx="10"/>
          </p:nvPr>
        </p:nvSpPr>
        <p:spPr>
          <a:xfrm>
            <a:off x="8077200" y="6356351"/>
            <a:ext cx="2133600" cy="365125"/>
          </a:xfrm>
        </p:spPr>
        <p:txBody>
          <a:bodyPr/>
          <a:lstStyle/>
          <a:p>
            <a:pPr algn="r">
              <a:defRPr/>
            </a:pPr>
            <a:fld id="{56F34F6A-B75D-4087-B9A3-10FC431F2573}" type="datetime4">
              <a:rPr lang="hu-HU"/>
              <a:pPr algn="r">
                <a:defRPr/>
              </a:pPr>
              <a:t>2024. november 28.</a:t>
            </a:fld>
            <a:endParaRPr lang="hu-HU"/>
          </a:p>
        </p:txBody>
      </p:sp>
      <p:sp>
        <p:nvSpPr>
          <p:cNvPr id="9218"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0B4A5BD5-8698-4FFC-990E-A447DA153499}" type="slidenum">
              <a:rPr lang="hu-HU" altLang="hu-HU" sz="1200">
                <a:solidFill>
                  <a:srgbClr val="898989"/>
                </a:solidFill>
              </a:rPr>
              <a:pPr algn="ctr">
                <a:spcBef>
                  <a:spcPct val="0"/>
                </a:spcBef>
                <a:buFontTx/>
                <a:buNone/>
              </a:pPr>
              <a:t>290</a:t>
            </a:fld>
            <a:endParaRPr lang="hu-HU" altLang="hu-HU" sz="1200">
              <a:solidFill>
                <a:srgbClr val="898989"/>
              </a:solidFill>
            </a:endParaRPr>
          </a:p>
        </p:txBody>
      </p:sp>
    </p:spTree>
    <p:extLst>
      <p:ext uri="{BB962C8B-B14F-4D97-AF65-F5344CB8AC3E}">
        <p14:creationId xmlns:p14="http://schemas.microsoft.com/office/powerpoint/2010/main" val="67791110"/>
      </p:ext>
    </p:extLst>
  </p:cSld>
  <p:clrMapOvr>
    <a:masterClrMapping/>
  </p:clrMapOvr>
  <p:timing>
    <p:tnLst>
      <p:par>
        <p:cTn id="1" dur="indefinite" restart="never" nodeType="tmRoot"/>
      </p:par>
    </p:tnLst>
  </p:timing>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a:xfrm>
            <a:off x="2006600" y="257175"/>
            <a:ext cx="8229600" cy="1143000"/>
          </a:xfrm>
        </p:spPr>
        <p:txBody>
          <a:bodyPr/>
          <a:lstStyle/>
          <a:p>
            <a:pPr eaLnBrk="1" hangingPunct="1"/>
            <a:r>
              <a:rPr lang="en-US" altLang="hu-HU" smtClean="0"/>
              <a:t>A</a:t>
            </a:r>
            <a:r>
              <a:rPr lang="hu-HU" altLang="hu-HU" smtClean="0"/>
              <a:t>z objektum állapota</a:t>
            </a:r>
            <a:endParaRPr lang="en-US" altLang="hu-HU" smtClean="0"/>
          </a:p>
        </p:txBody>
      </p:sp>
      <p:sp>
        <p:nvSpPr>
          <p:cNvPr id="11269" name="Rectangle 3"/>
          <p:cNvSpPr>
            <a:spLocks noGrp="1" noChangeArrowheads="1"/>
          </p:cNvSpPr>
          <p:nvPr>
            <p:ph idx="1"/>
          </p:nvPr>
        </p:nvSpPr>
        <p:spPr>
          <a:xfrm>
            <a:off x="2063750" y="1627188"/>
            <a:ext cx="8280400" cy="5732462"/>
          </a:xfrm>
        </p:spPr>
        <p:txBody>
          <a:bodyPr/>
          <a:lstStyle/>
          <a:p>
            <a:pPr eaLnBrk="1" hangingPunct="1"/>
            <a:r>
              <a:rPr lang="hu-HU" altLang="hu-HU"/>
              <a:t>Az objektumok állapota az attribútumaikban lesz eltárolva. </a:t>
            </a:r>
          </a:p>
          <a:p>
            <a:pPr eaLnBrk="1" hangingPunct="1"/>
            <a:r>
              <a:rPr lang="hu-HU" altLang="hu-HU"/>
              <a:t>Osztályokat leíró attribútumokat már az elemzés korai szakaszában definiálunk. </a:t>
            </a:r>
          </a:p>
          <a:p>
            <a:pPr eaLnBrk="1" hangingPunct="1"/>
            <a:r>
              <a:rPr lang="hu-HU" altLang="hu-HU"/>
              <a:t>Az elemzés során felállított lista számos olyan attribútum-jellemzőt is tartalmaz, amelyekre a modellben valójában nincs szükség. Az állapotmodellezés segít a felesleges jellemzők kiszűrésében.</a:t>
            </a:r>
            <a:endParaRPr lang="en-US" altLang="hu-HU"/>
          </a:p>
        </p:txBody>
      </p:sp>
      <p:sp>
        <p:nvSpPr>
          <p:cNvPr id="5" name="Dátum helye 5"/>
          <p:cNvSpPr>
            <a:spLocks noGrp="1"/>
          </p:cNvSpPr>
          <p:nvPr>
            <p:ph type="dt" sz="half" idx="10"/>
          </p:nvPr>
        </p:nvSpPr>
        <p:spPr>
          <a:xfrm>
            <a:off x="8077200" y="6356351"/>
            <a:ext cx="2133600" cy="365125"/>
          </a:xfrm>
        </p:spPr>
        <p:txBody>
          <a:bodyPr/>
          <a:lstStyle/>
          <a:p>
            <a:pPr algn="r">
              <a:defRPr/>
            </a:pPr>
            <a:fld id="{8D92593C-3128-4067-8A48-E6AA621C4B3C}" type="datetime4">
              <a:rPr lang="hu-HU"/>
              <a:pPr algn="r">
                <a:defRPr/>
              </a:pPr>
              <a:t>2024. november 28.</a:t>
            </a:fld>
            <a:endParaRPr lang="hu-HU"/>
          </a:p>
        </p:txBody>
      </p:sp>
      <p:sp>
        <p:nvSpPr>
          <p:cNvPr id="11266"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AB3C650B-BA2C-4485-8176-F5277BA2D67F}" type="slidenum">
              <a:rPr lang="hu-HU" altLang="hu-HU" sz="1200">
                <a:solidFill>
                  <a:srgbClr val="898989"/>
                </a:solidFill>
              </a:rPr>
              <a:pPr algn="ctr">
                <a:spcBef>
                  <a:spcPct val="0"/>
                </a:spcBef>
                <a:buFontTx/>
                <a:buNone/>
              </a:pPr>
              <a:t>291</a:t>
            </a:fld>
            <a:endParaRPr lang="hu-HU" altLang="hu-HU" sz="1200">
              <a:solidFill>
                <a:srgbClr val="898989"/>
              </a:solidFill>
            </a:endParaRPr>
          </a:p>
        </p:txBody>
      </p:sp>
    </p:spTree>
    <p:extLst>
      <p:ext uri="{BB962C8B-B14F-4D97-AF65-F5344CB8AC3E}">
        <p14:creationId xmlns:p14="http://schemas.microsoft.com/office/powerpoint/2010/main" val="3907188168"/>
      </p:ext>
    </p:extLst>
  </p:cSld>
  <p:clrMapOvr>
    <a:masterClrMapping/>
  </p:clrMapOvr>
  <p:timing>
    <p:tnLst>
      <p:par>
        <p:cTn id="1" dur="indefinite" restart="never" nodeType="tmRoot"/>
      </p:par>
    </p:tnLst>
  </p:timing>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a:xfrm>
            <a:off x="1978025" y="492125"/>
            <a:ext cx="8229600" cy="1143000"/>
          </a:xfrm>
        </p:spPr>
        <p:txBody>
          <a:bodyPr/>
          <a:lstStyle/>
          <a:p>
            <a:pPr eaLnBrk="1" hangingPunct="1"/>
            <a:r>
              <a:rPr lang="hu-HU" altLang="hu-HU" smtClean="0"/>
              <a:t>Állapot-átmeneti diagramok</a:t>
            </a:r>
          </a:p>
        </p:txBody>
      </p:sp>
      <p:sp>
        <p:nvSpPr>
          <p:cNvPr id="4" name="Dátum helye 5"/>
          <p:cNvSpPr>
            <a:spLocks noGrp="1"/>
          </p:cNvSpPr>
          <p:nvPr>
            <p:ph type="dt" sz="half" idx="10"/>
          </p:nvPr>
        </p:nvSpPr>
        <p:spPr>
          <a:xfrm>
            <a:off x="8077200" y="6356351"/>
            <a:ext cx="2133600" cy="365125"/>
          </a:xfrm>
        </p:spPr>
        <p:txBody>
          <a:bodyPr/>
          <a:lstStyle/>
          <a:p>
            <a:pPr algn="r">
              <a:defRPr/>
            </a:pPr>
            <a:fld id="{2C1D4A03-CE38-40EF-A791-B1586749879D}" type="datetime4">
              <a:rPr lang="hu-HU"/>
              <a:pPr algn="r">
                <a:defRPr/>
              </a:pPr>
              <a:t>2024. november 28.</a:t>
            </a:fld>
            <a:endParaRPr lang="hu-HU"/>
          </a:p>
        </p:txBody>
      </p:sp>
      <p:sp>
        <p:nvSpPr>
          <p:cNvPr id="13314"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75471DEB-8A9F-48D7-85C1-80C147EF3A71}" type="slidenum">
              <a:rPr lang="hu-HU" altLang="hu-HU" sz="1200">
                <a:solidFill>
                  <a:srgbClr val="898989"/>
                </a:solidFill>
              </a:rPr>
              <a:pPr algn="ctr">
                <a:spcBef>
                  <a:spcPct val="0"/>
                </a:spcBef>
                <a:buFontTx/>
                <a:buNone/>
              </a:pPr>
              <a:t>292</a:t>
            </a:fld>
            <a:endParaRPr lang="hu-HU" altLang="hu-HU" sz="1200">
              <a:solidFill>
                <a:srgbClr val="898989"/>
              </a:solidFill>
            </a:endParaRPr>
          </a:p>
        </p:txBody>
      </p:sp>
    </p:spTree>
    <p:extLst>
      <p:ext uri="{BB962C8B-B14F-4D97-AF65-F5344CB8AC3E}">
        <p14:creationId xmlns:p14="http://schemas.microsoft.com/office/powerpoint/2010/main" val="2557463806"/>
      </p:ext>
    </p:extLst>
  </p:cSld>
  <p:clrMapOvr>
    <a:masterClrMapping/>
  </p:clrMapOvr>
  <p:timing>
    <p:tnLst>
      <p:par>
        <p:cTn id="1" dur="indefinite" restart="never" nodeType="tmRoot"/>
      </p:par>
    </p:tnLst>
  </p:timing>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lstStyle/>
          <a:p>
            <a:pPr eaLnBrk="1" hangingPunct="1"/>
            <a:r>
              <a:rPr lang="hu-HU" altLang="hu-HU" smtClean="0"/>
              <a:t>Állapot-átmeneti diagram</a:t>
            </a:r>
          </a:p>
        </p:txBody>
      </p:sp>
      <p:sp>
        <p:nvSpPr>
          <p:cNvPr id="15365" name="Rectangle 3"/>
          <p:cNvSpPr>
            <a:spLocks noGrp="1" noChangeArrowheads="1"/>
          </p:cNvSpPr>
          <p:nvPr>
            <p:ph idx="1"/>
          </p:nvPr>
        </p:nvSpPr>
        <p:spPr>
          <a:xfrm>
            <a:off x="1981201" y="1600201"/>
            <a:ext cx="8435975" cy="4924425"/>
          </a:xfrm>
        </p:spPr>
        <p:txBody>
          <a:bodyPr/>
          <a:lstStyle/>
          <a:p>
            <a:pPr eaLnBrk="1" hangingPunct="1"/>
            <a:r>
              <a:rPr lang="hu-HU" altLang="hu-HU" smtClean="0"/>
              <a:t>Az objektumok dinamikus viselkedésének leírására szolgáló eszköz. </a:t>
            </a:r>
          </a:p>
          <a:p>
            <a:pPr eaLnBrk="1" hangingPunct="1"/>
            <a:r>
              <a:rPr lang="hu-HU" altLang="hu-HU" smtClean="0"/>
              <a:t>Egy-egy objektum elemezésére szolgál:</a:t>
            </a:r>
          </a:p>
          <a:p>
            <a:pPr lvl="1" eaLnBrk="1" hangingPunct="1"/>
            <a:r>
              <a:rPr lang="hu-HU" altLang="hu-HU" smtClean="0"/>
              <a:t>az objektum az események hatására hogyan változtatja meg a belső állapotát, </a:t>
            </a:r>
          </a:p>
          <a:p>
            <a:pPr lvl="1" eaLnBrk="1" hangingPunct="1"/>
            <a:r>
              <a:rPr lang="hu-HU" altLang="hu-HU" smtClean="0"/>
              <a:t>az események hatására milyen üzeneteket küld a többi objektum számára. </a:t>
            </a:r>
          </a:p>
        </p:txBody>
      </p:sp>
      <p:sp>
        <p:nvSpPr>
          <p:cNvPr id="5" name="Dátum helye 5"/>
          <p:cNvSpPr>
            <a:spLocks noGrp="1"/>
          </p:cNvSpPr>
          <p:nvPr>
            <p:ph type="dt" sz="half" idx="10"/>
          </p:nvPr>
        </p:nvSpPr>
        <p:spPr>
          <a:xfrm>
            <a:off x="8077200" y="6356351"/>
            <a:ext cx="2133600" cy="365125"/>
          </a:xfrm>
        </p:spPr>
        <p:txBody>
          <a:bodyPr/>
          <a:lstStyle/>
          <a:p>
            <a:pPr algn="r">
              <a:defRPr/>
            </a:pPr>
            <a:fld id="{4F474223-F668-4854-9EA6-8D63B6085923}" type="datetime4">
              <a:rPr lang="hu-HU"/>
              <a:pPr algn="r">
                <a:defRPr/>
              </a:pPr>
              <a:t>2024. november 28.</a:t>
            </a:fld>
            <a:endParaRPr lang="hu-HU"/>
          </a:p>
        </p:txBody>
      </p:sp>
      <p:sp>
        <p:nvSpPr>
          <p:cNvPr id="15362"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39DDAD18-DCDB-4B28-ABD7-D6629E1E87A6}" type="slidenum">
              <a:rPr lang="hu-HU" altLang="hu-HU" sz="1200">
                <a:solidFill>
                  <a:srgbClr val="898989"/>
                </a:solidFill>
              </a:rPr>
              <a:pPr algn="ctr">
                <a:spcBef>
                  <a:spcPct val="0"/>
                </a:spcBef>
                <a:buFontTx/>
                <a:buNone/>
              </a:pPr>
              <a:t>293</a:t>
            </a:fld>
            <a:endParaRPr lang="hu-HU" altLang="hu-HU" sz="1200">
              <a:solidFill>
                <a:srgbClr val="898989"/>
              </a:solidFill>
            </a:endParaRPr>
          </a:p>
        </p:txBody>
      </p:sp>
    </p:spTree>
    <p:extLst>
      <p:ext uri="{BB962C8B-B14F-4D97-AF65-F5344CB8AC3E}">
        <p14:creationId xmlns:p14="http://schemas.microsoft.com/office/powerpoint/2010/main" val="3344768950"/>
      </p:ext>
    </p:extLst>
  </p:cSld>
  <p:clrMapOvr>
    <a:masterClrMapping/>
  </p:clrMapOvr>
  <p:timing>
    <p:tnLst>
      <p:par>
        <p:cTn id="1" dur="indefinite" restart="never" nodeType="tmRoot"/>
      </p:par>
    </p:tnLst>
  </p:timing>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p:txBody>
          <a:bodyPr/>
          <a:lstStyle/>
          <a:p>
            <a:pPr eaLnBrk="1" hangingPunct="1"/>
            <a:r>
              <a:rPr lang="hu-HU" altLang="hu-HU" smtClean="0"/>
              <a:t>Állapot-átmeneti diagram</a:t>
            </a:r>
          </a:p>
        </p:txBody>
      </p:sp>
      <p:sp>
        <p:nvSpPr>
          <p:cNvPr id="17413" name="Rectangle 3"/>
          <p:cNvSpPr>
            <a:spLocks noGrp="1" noChangeArrowheads="1"/>
          </p:cNvSpPr>
          <p:nvPr>
            <p:ph idx="1"/>
          </p:nvPr>
        </p:nvSpPr>
        <p:spPr>
          <a:xfrm>
            <a:off x="1981200" y="1341438"/>
            <a:ext cx="8686800" cy="5516562"/>
          </a:xfrm>
        </p:spPr>
        <p:txBody>
          <a:bodyPr/>
          <a:lstStyle/>
          <a:p>
            <a:pPr eaLnBrk="1" hangingPunct="1"/>
            <a:r>
              <a:rPr lang="hu-HU" altLang="hu-HU"/>
              <a:t>Tágabb értelemben:</a:t>
            </a:r>
          </a:p>
          <a:p>
            <a:pPr lvl="1" eaLnBrk="1" hangingPunct="1"/>
            <a:r>
              <a:rPr lang="hu-HU" altLang="hu-HU"/>
              <a:t>a rendszer dinamikus nézetét jellemző technika,</a:t>
            </a:r>
          </a:p>
          <a:p>
            <a:pPr lvl="1" eaLnBrk="1" hangingPunct="1"/>
            <a:r>
              <a:rPr lang="hu-HU" altLang="hu-HU"/>
              <a:t>az állapot diagramokkal leírható egy rendszer viselkedése.</a:t>
            </a:r>
          </a:p>
          <a:p>
            <a:pPr eaLnBrk="1" hangingPunct="1"/>
            <a:r>
              <a:rPr lang="hu-HU" altLang="hu-HU"/>
              <a:t>Szűkebb megközelítésben:</a:t>
            </a:r>
          </a:p>
          <a:p>
            <a:pPr lvl="1" eaLnBrk="1" hangingPunct="1"/>
            <a:r>
              <a:rPr lang="hu-HU" altLang="hu-HU"/>
              <a:t>egyetlen osztályhoz kapcsolódó fogalom, amely bemutatja az osztály konkrét objektumának élettartama (a rendszerben levő) alatt mutatott viselkedését, vagyis </a:t>
            </a:r>
          </a:p>
          <a:p>
            <a:pPr lvl="2" eaLnBrk="1" hangingPunct="1"/>
            <a:r>
              <a:rPr lang="hu-HU" altLang="hu-HU" sz="2200"/>
              <a:t>azokat a lehetséges állapotokat, amelyekbe az objektum kerül, jut, és</a:t>
            </a:r>
          </a:p>
          <a:p>
            <a:pPr lvl="2" eaLnBrk="1" hangingPunct="1"/>
            <a:r>
              <a:rPr lang="hu-HU" altLang="hu-HU" sz="2200"/>
              <a:t>ahogy az objektum állapota változik (állapotátmenet) az őt érő események hatására.</a:t>
            </a:r>
          </a:p>
        </p:txBody>
      </p:sp>
      <p:sp>
        <p:nvSpPr>
          <p:cNvPr id="5" name="Dátum helye 5"/>
          <p:cNvSpPr>
            <a:spLocks noGrp="1"/>
          </p:cNvSpPr>
          <p:nvPr>
            <p:ph type="dt" sz="half" idx="10"/>
          </p:nvPr>
        </p:nvSpPr>
        <p:spPr>
          <a:xfrm>
            <a:off x="8077200" y="6356351"/>
            <a:ext cx="2133600" cy="365125"/>
          </a:xfrm>
        </p:spPr>
        <p:txBody>
          <a:bodyPr/>
          <a:lstStyle/>
          <a:p>
            <a:pPr algn="r">
              <a:defRPr/>
            </a:pPr>
            <a:fld id="{290A56CB-A630-4862-B0BD-A563B4E7828A}" type="datetime4">
              <a:rPr lang="hu-HU"/>
              <a:pPr algn="r">
                <a:defRPr/>
              </a:pPr>
              <a:t>2024. november 28.</a:t>
            </a:fld>
            <a:endParaRPr lang="hu-HU"/>
          </a:p>
        </p:txBody>
      </p:sp>
      <p:sp>
        <p:nvSpPr>
          <p:cNvPr id="17410"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50715EFA-EFDC-44CB-852B-20D01A1A58FF}" type="slidenum">
              <a:rPr lang="hu-HU" altLang="hu-HU" sz="1200">
                <a:solidFill>
                  <a:srgbClr val="898989"/>
                </a:solidFill>
              </a:rPr>
              <a:pPr algn="ctr">
                <a:spcBef>
                  <a:spcPct val="0"/>
                </a:spcBef>
                <a:buFontTx/>
                <a:buNone/>
              </a:pPr>
              <a:t>294</a:t>
            </a:fld>
            <a:endParaRPr lang="hu-HU" altLang="hu-HU" sz="1200">
              <a:solidFill>
                <a:srgbClr val="898989"/>
              </a:solidFill>
            </a:endParaRPr>
          </a:p>
        </p:txBody>
      </p:sp>
    </p:spTree>
    <p:extLst>
      <p:ext uri="{BB962C8B-B14F-4D97-AF65-F5344CB8AC3E}">
        <p14:creationId xmlns:p14="http://schemas.microsoft.com/office/powerpoint/2010/main" val="987031469"/>
      </p:ext>
    </p:extLst>
  </p:cSld>
  <p:clrMapOvr>
    <a:masterClrMapping/>
  </p:clrMapOvr>
  <p:timing>
    <p:tnLst>
      <p:par>
        <p:cTn id="1" dur="indefinite" restart="never" nodeType="tmRoot"/>
      </p:par>
    </p:tnLst>
  </p:timing>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p:txBody>
          <a:bodyPr/>
          <a:lstStyle/>
          <a:p>
            <a:pPr eaLnBrk="1" hangingPunct="1"/>
            <a:r>
              <a:rPr lang="hu-HU" altLang="hu-HU" smtClean="0"/>
              <a:t>Állapot-átmeneti diagram</a:t>
            </a:r>
            <a:endParaRPr lang="en-US" altLang="hu-HU" smtClean="0"/>
          </a:p>
        </p:txBody>
      </p:sp>
      <p:sp>
        <p:nvSpPr>
          <p:cNvPr id="19461" name="Rectangle 3"/>
          <p:cNvSpPr>
            <a:spLocks noGrp="1" noChangeArrowheads="1"/>
          </p:cNvSpPr>
          <p:nvPr>
            <p:ph idx="1"/>
          </p:nvPr>
        </p:nvSpPr>
        <p:spPr/>
        <p:txBody>
          <a:bodyPr/>
          <a:lstStyle/>
          <a:p>
            <a:pPr eaLnBrk="1" hangingPunct="1"/>
            <a:r>
              <a:rPr lang="hu-HU" altLang="hu-HU" smtClean="0"/>
              <a:t>A fejlesztés során csak az intenzíven dinamikus (változó) viselkedésű objektumok állapot-átmeneteit érdemes modellezni. </a:t>
            </a:r>
          </a:p>
          <a:p>
            <a:pPr eaLnBrk="1" hangingPunct="1"/>
            <a:r>
              <a:rPr lang="hu-HU" altLang="hu-HU" smtClean="0"/>
              <a:t>A gyakorlatban a legtöbb osztályhoz nem készül állapot-átmeneti diagram, mert azok a rendszerben csak kisegítő ún. utility osztályok.</a:t>
            </a:r>
            <a:endParaRPr lang="en-US" altLang="hu-HU" smtClean="0"/>
          </a:p>
        </p:txBody>
      </p:sp>
      <p:sp>
        <p:nvSpPr>
          <p:cNvPr id="5" name="Dátum helye 5"/>
          <p:cNvSpPr>
            <a:spLocks noGrp="1"/>
          </p:cNvSpPr>
          <p:nvPr>
            <p:ph type="dt" sz="half" idx="10"/>
          </p:nvPr>
        </p:nvSpPr>
        <p:spPr>
          <a:xfrm>
            <a:off x="8077200" y="6356351"/>
            <a:ext cx="2133600" cy="365125"/>
          </a:xfrm>
        </p:spPr>
        <p:txBody>
          <a:bodyPr/>
          <a:lstStyle/>
          <a:p>
            <a:pPr algn="r">
              <a:defRPr/>
            </a:pPr>
            <a:fld id="{6D58F85B-B89C-4D40-981B-2D0E2F42128A}" type="datetime4">
              <a:rPr lang="hu-HU"/>
              <a:pPr algn="r">
                <a:defRPr/>
              </a:pPr>
              <a:t>2024. november 28.</a:t>
            </a:fld>
            <a:endParaRPr lang="hu-HU"/>
          </a:p>
        </p:txBody>
      </p:sp>
      <p:sp>
        <p:nvSpPr>
          <p:cNvPr id="19458"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54760FFF-8C22-4018-A652-82B42CFF6D96}" type="slidenum">
              <a:rPr lang="hu-HU" altLang="hu-HU" sz="1200">
                <a:solidFill>
                  <a:srgbClr val="898989"/>
                </a:solidFill>
              </a:rPr>
              <a:pPr algn="ctr">
                <a:spcBef>
                  <a:spcPct val="0"/>
                </a:spcBef>
                <a:buFontTx/>
                <a:buNone/>
              </a:pPr>
              <a:t>295</a:t>
            </a:fld>
            <a:endParaRPr lang="hu-HU" altLang="hu-HU" sz="1200">
              <a:solidFill>
                <a:srgbClr val="898989"/>
              </a:solidFill>
            </a:endParaRPr>
          </a:p>
        </p:txBody>
      </p:sp>
    </p:spTree>
    <p:extLst>
      <p:ext uri="{BB962C8B-B14F-4D97-AF65-F5344CB8AC3E}">
        <p14:creationId xmlns:p14="http://schemas.microsoft.com/office/powerpoint/2010/main" val="2235117290"/>
      </p:ext>
    </p:extLst>
  </p:cSld>
  <p:clrMapOvr>
    <a:masterClrMapping/>
  </p:clrMapOvr>
  <p:timing>
    <p:tnLst>
      <p:par>
        <p:cTn id="1" dur="indefinite" restart="never" nodeType="tmRoot"/>
      </p:par>
    </p:tnLst>
  </p:timing>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p:txBody>
          <a:bodyPr/>
          <a:lstStyle/>
          <a:p>
            <a:pPr eaLnBrk="1" hangingPunct="1"/>
            <a:r>
              <a:rPr lang="hu-HU" altLang="hu-HU" smtClean="0"/>
              <a:t>Állapot-átmeneti diagram</a:t>
            </a:r>
          </a:p>
        </p:txBody>
      </p:sp>
      <p:sp>
        <p:nvSpPr>
          <p:cNvPr id="21509" name="Rectangle 3"/>
          <p:cNvSpPr>
            <a:spLocks noGrp="1" noChangeArrowheads="1"/>
          </p:cNvSpPr>
          <p:nvPr>
            <p:ph idx="1"/>
          </p:nvPr>
        </p:nvSpPr>
        <p:spPr>
          <a:xfrm>
            <a:off x="1981201" y="1600201"/>
            <a:ext cx="8435975" cy="4924425"/>
          </a:xfrm>
        </p:spPr>
        <p:txBody>
          <a:bodyPr/>
          <a:lstStyle/>
          <a:p>
            <a:pPr eaLnBrk="1" hangingPunct="1"/>
            <a:r>
              <a:rPr lang="hu-HU" altLang="hu-HU"/>
              <a:t>Ábrázolásukra különböző megoldások vannak.</a:t>
            </a:r>
          </a:p>
          <a:p>
            <a:pPr eaLnBrk="1" hangingPunct="1"/>
            <a:r>
              <a:rPr lang="hu-HU" altLang="hu-HU"/>
              <a:t>Az egyes megoldások némileg szemantikájukban különböznek egymástól.</a:t>
            </a:r>
          </a:p>
          <a:p>
            <a:pPr eaLnBrk="1" hangingPunct="1"/>
            <a:r>
              <a:rPr lang="hu-HU" altLang="hu-HU"/>
              <a:t>Az UML szerinti állapot diagram: David Harel által kidolgozott megoldás, javasolt állapot diagram:</a:t>
            </a:r>
          </a:p>
          <a:p>
            <a:pPr lvl="1" eaLnBrk="1" hangingPunct="1"/>
            <a:r>
              <a:rPr lang="hu-HU" altLang="hu-HU"/>
              <a:t>elsőként az OO módszertanok közül az OMT alkalmazta.</a:t>
            </a:r>
          </a:p>
          <a:p>
            <a:pPr lvl="1" eaLnBrk="1" hangingPunct="1"/>
            <a:r>
              <a:rPr lang="hu-HU" altLang="hu-HU"/>
              <a:t>1994 - Booch is beépítette módszertanába - second edition.</a:t>
            </a:r>
          </a:p>
        </p:txBody>
      </p:sp>
      <p:sp>
        <p:nvSpPr>
          <p:cNvPr id="5" name="Dátum helye 5"/>
          <p:cNvSpPr>
            <a:spLocks noGrp="1"/>
          </p:cNvSpPr>
          <p:nvPr>
            <p:ph type="dt" sz="half" idx="10"/>
          </p:nvPr>
        </p:nvSpPr>
        <p:spPr>
          <a:xfrm>
            <a:off x="8077200" y="6356351"/>
            <a:ext cx="2133600" cy="365125"/>
          </a:xfrm>
        </p:spPr>
        <p:txBody>
          <a:bodyPr/>
          <a:lstStyle/>
          <a:p>
            <a:pPr algn="r">
              <a:defRPr/>
            </a:pPr>
            <a:fld id="{E815DE07-B828-41E6-AFD6-13262F34147B}" type="datetime4">
              <a:rPr lang="hu-HU"/>
              <a:pPr algn="r">
                <a:defRPr/>
              </a:pPr>
              <a:t>2024. november 28.</a:t>
            </a:fld>
            <a:endParaRPr lang="hu-HU"/>
          </a:p>
        </p:txBody>
      </p:sp>
      <p:sp>
        <p:nvSpPr>
          <p:cNvPr id="21506"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A4874B6E-39CB-48A9-A964-822E12BEBE0F}" type="slidenum">
              <a:rPr lang="hu-HU" altLang="hu-HU" sz="1200">
                <a:solidFill>
                  <a:srgbClr val="898989"/>
                </a:solidFill>
              </a:rPr>
              <a:pPr algn="ctr">
                <a:spcBef>
                  <a:spcPct val="0"/>
                </a:spcBef>
                <a:buFontTx/>
                <a:buNone/>
              </a:pPr>
              <a:t>296</a:t>
            </a:fld>
            <a:endParaRPr lang="hu-HU" altLang="hu-HU" sz="1200">
              <a:solidFill>
                <a:srgbClr val="898989"/>
              </a:solidFill>
            </a:endParaRPr>
          </a:p>
        </p:txBody>
      </p:sp>
    </p:spTree>
    <p:extLst>
      <p:ext uri="{BB962C8B-B14F-4D97-AF65-F5344CB8AC3E}">
        <p14:creationId xmlns:p14="http://schemas.microsoft.com/office/powerpoint/2010/main" val="1104400829"/>
      </p:ext>
    </p:extLst>
  </p:cSld>
  <p:clrMapOvr>
    <a:masterClrMapping/>
  </p:clrMapOvr>
  <p:timing>
    <p:tnLst>
      <p:par>
        <p:cTn id="1" dur="indefinite" restart="never" nodeType="tmRoot"/>
      </p:par>
    </p:tnLst>
  </p:timing>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p:nvPr>
        </p:nvSpPr>
        <p:spPr/>
        <p:txBody>
          <a:bodyPr/>
          <a:lstStyle/>
          <a:p>
            <a:pPr eaLnBrk="1" hangingPunct="1"/>
            <a:r>
              <a:rPr lang="hu-HU" altLang="hu-HU" smtClean="0"/>
              <a:t>Állapotok leírása</a:t>
            </a:r>
            <a:endParaRPr lang="en-US" altLang="hu-HU" smtClean="0"/>
          </a:p>
        </p:txBody>
      </p:sp>
      <p:sp>
        <p:nvSpPr>
          <p:cNvPr id="23557" name="Rectangle 3"/>
          <p:cNvSpPr>
            <a:spLocks noGrp="1" noChangeArrowheads="1"/>
          </p:cNvSpPr>
          <p:nvPr>
            <p:ph idx="1"/>
          </p:nvPr>
        </p:nvSpPr>
        <p:spPr>
          <a:xfrm>
            <a:off x="1981200" y="1600200"/>
            <a:ext cx="8218488" cy="5257800"/>
          </a:xfrm>
        </p:spPr>
        <p:txBody>
          <a:bodyPr/>
          <a:lstStyle/>
          <a:p>
            <a:pPr eaLnBrk="1" hangingPunct="1"/>
            <a:r>
              <a:rPr lang="hu-HU" altLang="hu-HU" sz="2400"/>
              <a:t>Eseménykövetési diagramok is segítenek. </a:t>
            </a:r>
          </a:p>
          <a:p>
            <a:pPr eaLnBrk="1" hangingPunct="1"/>
            <a:r>
              <a:rPr lang="hu-HU" altLang="hu-HU" sz="2400"/>
              <a:t>Az állapotok feltérképezéséhez ki kell gyűjteni:</a:t>
            </a:r>
          </a:p>
          <a:p>
            <a:pPr lvl="1" eaLnBrk="1" hangingPunct="1"/>
            <a:r>
              <a:rPr lang="hu-HU" altLang="hu-HU" sz="2000"/>
              <a:t>az adott osztály objektumait reprezentáló függőleges vonalakat (életvonal – lifeline), </a:t>
            </a:r>
          </a:p>
          <a:p>
            <a:pPr lvl="1" eaLnBrk="1" hangingPunct="1"/>
            <a:r>
              <a:rPr lang="hu-HU" altLang="hu-HU" sz="2000"/>
              <a:t>a kapott és küldött üzeneteket jelölő nyilakkal együtt. </a:t>
            </a:r>
          </a:p>
          <a:p>
            <a:pPr eaLnBrk="1" hangingPunct="1"/>
            <a:r>
              <a:rPr lang="hu-HU" altLang="hu-HU" sz="2400"/>
              <a:t>A kapott üzenetek forrása és a küldött üzenetek célja az állapotmodell szempontjából lényegtelen.</a:t>
            </a:r>
          </a:p>
          <a:p>
            <a:pPr eaLnBrk="1" hangingPunct="1"/>
            <a:r>
              <a:rPr lang="hu-HU" altLang="hu-HU" sz="2400"/>
              <a:t>Egyetlen eseménykövetési diagramrészletből kell kiindulni.</a:t>
            </a:r>
          </a:p>
          <a:p>
            <a:pPr eaLnBrk="1" hangingPunct="1"/>
            <a:r>
              <a:rPr lang="hu-HU" altLang="hu-HU" sz="2400"/>
              <a:t>Végig kell nézni az objektumhoz érkező, és az objektumot elhagyó üzeneteket. </a:t>
            </a:r>
          </a:p>
        </p:txBody>
      </p:sp>
      <p:sp>
        <p:nvSpPr>
          <p:cNvPr id="5" name="Dátum helye 5"/>
          <p:cNvSpPr>
            <a:spLocks noGrp="1"/>
          </p:cNvSpPr>
          <p:nvPr>
            <p:ph type="dt" sz="half" idx="10"/>
          </p:nvPr>
        </p:nvSpPr>
        <p:spPr>
          <a:xfrm>
            <a:off x="8077200" y="6356351"/>
            <a:ext cx="2133600" cy="365125"/>
          </a:xfrm>
        </p:spPr>
        <p:txBody>
          <a:bodyPr/>
          <a:lstStyle/>
          <a:p>
            <a:pPr algn="r">
              <a:defRPr/>
            </a:pPr>
            <a:fld id="{37801C8C-677B-4245-A653-08E8B2BD5853}" type="datetime4">
              <a:rPr lang="hu-HU"/>
              <a:pPr algn="r">
                <a:defRPr/>
              </a:pPr>
              <a:t>2024. november 28.</a:t>
            </a:fld>
            <a:endParaRPr lang="hu-HU"/>
          </a:p>
        </p:txBody>
      </p:sp>
      <p:sp>
        <p:nvSpPr>
          <p:cNvPr id="23554"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261611C6-DE04-4851-BACC-7B7DDB594AA6}" type="slidenum">
              <a:rPr lang="hu-HU" altLang="hu-HU" sz="1200">
                <a:solidFill>
                  <a:srgbClr val="898989"/>
                </a:solidFill>
              </a:rPr>
              <a:pPr algn="ctr">
                <a:spcBef>
                  <a:spcPct val="0"/>
                </a:spcBef>
                <a:buFontTx/>
                <a:buNone/>
              </a:pPr>
              <a:t>297</a:t>
            </a:fld>
            <a:endParaRPr lang="hu-HU" altLang="hu-HU" sz="1200">
              <a:solidFill>
                <a:srgbClr val="898989"/>
              </a:solidFill>
            </a:endParaRPr>
          </a:p>
        </p:txBody>
      </p:sp>
    </p:spTree>
    <p:extLst>
      <p:ext uri="{BB962C8B-B14F-4D97-AF65-F5344CB8AC3E}">
        <p14:creationId xmlns:p14="http://schemas.microsoft.com/office/powerpoint/2010/main" val="1519749242"/>
      </p:ext>
    </p:extLst>
  </p:cSld>
  <p:clrMapOvr>
    <a:masterClrMapping/>
  </p:clrMapOvr>
  <p:timing>
    <p:tnLst>
      <p:par>
        <p:cTn id="1" dur="indefinite" restart="never" nodeType="tmRoot"/>
      </p:par>
    </p:tnLst>
  </p:timing>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2"/>
          <p:cNvSpPr>
            <a:spLocks noGrp="1" noChangeArrowheads="1"/>
          </p:cNvSpPr>
          <p:nvPr>
            <p:ph type="title"/>
          </p:nvPr>
        </p:nvSpPr>
        <p:spPr/>
        <p:txBody>
          <a:bodyPr/>
          <a:lstStyle/>
          <a:p>
            <a:pPr eaLnBrk="1" hangingPunct="1"/>
            <a:r>
              <a:rPr lang="hu-HU" altLang="hu-HU" smtClean="0"/>
              <a:t>Az objektumok állapota</a:t>
            </a:r>
          </a:p>
        </p:txBody>
      </p:sp>
      <p:sp>
        <p:nvSpPr>
          <p:cNvPr id="25605" name="Rectangle 3"/>
          <p:cNvSpPr>
            <a:spLocks noGrp="1" noChangeArrowheads="1"/>
          </p:cNvSpPr>
          <p:nvPr>
            <p:ph idx="1"/>
          </p:nvPr>
        </p:nvSpPr>
        <p:spPr/>
        <p:txBody>
          <a:bodyPr/>
          <a:lstStyle/>
          <a:p>
            <a:pPr eaLnBrk="1" hangingPunct="1"/>
            <a:r>
              <a:rPr lang="hu-HU" altLang="hu-HU"/>
              <a:t>Az objektumok a valós dolgokat leíró elemek.</a:t>
            </a:r>
          </a:p>
          <a:p>
            <a:pPr eaLnBrk="1" hangingPunct="1"/>
            <a:r>
              <a:rPr lang="hu-HU" altLang="hu-HU"/>
              <a:t>A valós dolgokhoz hasonlóan az objektumoknak is van létük, mindegyik valamikor, valaminek a hatására létrejön, egy ideig létezik, majd megszűnik.</a:t>
            </a:r>
          </a:p>
          <a:p>
            <a:pPr eaLnBrk="1" hangingPunct="1"/>
            <a:r>
              <a:rPr lang="hu-HU" altLang="hu-HU"/>
              <a:t>Életük során más más állapotokat vesznek fel, különböző módon viselkednek.</a:t>
            </a:r>
          </a:p>
          <a:p>
            <a:pPr eaLnBrk="1" hangingPunct="1"/>
            <a:r>
              <a:rPr lang="hu-HU" altLang="hu-HU"/>
              <a:t>A felvett állapotokat csak véges ideig tartják, ez alatt az idő alatt az objektum az adott állapotban van.</a:t>
            </a:r>
          </a:p>
        </p:txBody>
      </p:sp>
      <p:sp>
        <p:nvSpPr>
          <p:cNvPr id="5" name="Dátum helye 5"/>
          <p:cNvSpPr>
            <a:spLocks noGrp="1"/>
          </p:cNvSpPr>
          <p:nvPr>
            <p:ph type="dt" sz="half" idx="10"/>
          </p:nvPr>
        </p:nvSpPr>
        <p:spPr>
          <a:xfrm>
            <a:off x="8077200" y="6356351"/>
            <a:ext cx="2133600" cy="365125"/>
          </a:xfrm>
        </p:spPr>
        <p:txBody>
          <a:bodyPr/>
          <a:lstStyle/>
          <a:p>
            <a:pPr algn="r">
              <a:defRPr/>
            </a:pPr>
            <a:fld id="{6B47C84D-4E57-4111-9481-0370006E6D6C}" type="datetime4">
              <a:rPr lang="hu-HU"/>
              <a:pPr algn="r">
                <a:defRPr/>
              </a:pPr>
              <a:t>2024. november 28.</a:t>
            </a:fld>
            <a:endParaRPr lang="hu-HU"/>
          </a:p>
        </p:txBody>
      </p:sp>
      <p:sp>
        <p:nvSpPr>
          <p:cNvPr id="25602"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3752E78D-D41C-4475-B526-5D8FDF1E0E32}" type="slidenum">
              <a:rPr lang="hu-HU" altLang="hu-HU" sz="1200">
                <a:solidFill>
                  <a:srgbClr val="898989"/>
                </a:solidFill>
              </a:rPr>
              <a:pPr algn="ctr">
                <a:spcBef>
                  <a:spcPct val="0"/>
                </a:spcBef>
                <a:buFontTx/>
                <a:buNone/>
              </a:pPr>
              <a:t>298</a:t>
            </a:fld>
            <a:endParaRPr lang="hu-HU" altLang="hu-HU" sz="1200">
              <a:solidFill>
                <a:srgbClr val="898989"/>
              </a:solidFill>
            </a:endParaRPr>
          </a:p>
        </p:txBody>
      </p:sp>
    </p:spTree>
    <p:extLst>
      <p:ext uri="{BB962C8B-B14F-4D97-AF65-F5344CB8AC3E}">
        <p14:creationId xmlns:p14="http://schemas.microsoft.com/office/powerpoint/2010/main" val="3214478113"/>
      </p:ext>
    </p:extLst>
  </p:cSld>
  <p:clrMapOvr>
    <a:masterClrMapping/>
  </p:clrMapOvr>
  <p:timing>
    <p:tnLst>
      <p:par>
        <p:cTn id="1" dur="indefinite" restart="never" nodeType="tmRoot"/>
      </p:par>
    </p:tnLst>
  </p:timing>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8242" name="Rectangle 2"/>
          <p:cNvSpPr>
            <a:spLocks noGrp="1" noChangeArrowheads="1"/>
          </p:cNvSpPr>
          <p:nvPr>
            <p:ph type="title"/>
          </p:nvPr>
        </p:nvSpPr>
        <p:spPr>
          <a:xfrm>
            <a:off x="1992313" y="446088"/>
            <a:ext cx="8229600" cy="703262"/>
          </a:xfrm>
        </p:spPr>
        <p:txBody>
          <a:bodyPr rtlCol="0">
            <a:normAutofit/>
          </a:bodyPr>
          <a:lstStyle/>
          <a:p>
            <a:pPr>
              <a:defRPr/>
            </a:pPr>
            <a:r>
              <a:rPr lang="hu-HU"/>
              <a:t>Az állapot</a:t>
            </a:r>
          </a:p>
        </p:txBody>
      </p:sp>
      <p:sp>
        <p:nvSpPr>
          <p:cNvPr id="27653" name="Rectangle 3"/>
          <p:cNvSpPr>
            <a:spLocks noGrp="1" noChangeArrowheads="1"/>
          </p:cNvSpPr>
          <p:nvPr>
            <p:ph type="body" sz="half" idx="1"/>
          </p:nvPr>
        </p:nvSpPr>
        <p:spPr>
          <a:xfrm>
            <a:off x="1774825" y="1341439"/>
            <a:ext cx="8686800" cy="5068887"/>
          </a:xfrm>
        </p:spPr>
        <p:txBody>
          <a:bodyPr/>
          <a:lstStyle/>
          <a:p>
            <a:pPr eaLnBrk="1" hangingPunct="1"/>
            <a:r>
              <a:rPr lang="hu-HU" altLang="hu-HU" smtClean="0"/>
              <a:t>Egy konkrét objektum adott időpontban vett attribútum-értékei és kapcsolatai együttesen.</a:t>
            </a:r>
          </a:p>
          <a:p>
            <a:pPr eaLnBrk="1" hangingPunct="1"/>
            <a:r>
              <a:rPr lang="hu-HU" altLang="hu-HU" smtClean="0"/>
              <a:t>Az állapot két esemény közötti időtartamot határoz meg.</a:t>
            </a:r>
            <a:endParaRPr lang="hu-HU" altLang="hu-HU" sz="3600"/>
          </a:p>
          <a:p>
            <a:pPr eaLnBrk="1" hangingPunct="1"/>
            <a:r>
              <a:rPr lang="hu-HU" altLang="hu-HU" smtClean="0"/>
              <a:t>Az a nem nulla hosszú időszak, amíg az objektum valamely esemény bekövetkezését várja.</a:t>
            </a:r>
          </a:p>
          <a:p>
            <a:pPr eaLnBrk="1" hangingPunct="1"/>
            <a:r>
              <a:rPr lang="hu-HU" altLang="hu-HU" smtClean="0"/>
              <a:t>Jelölés:</a:t>
            </a:r>
          </a:p>
        </p:txBody>
      </p:sp>
      <p:pic>
        <p:nvPicPr>
          <p:cNvPr id="27654"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7491414" y="5459414"/>
            <a:ext cx="2232025" cy="987425"/>
          </a:xfrm>
        </p:spPr>
      </p:pic>
      <p:sp>
        <p:nvSpPr>
          <p:cNvPr id="27650" name="Dia számának helye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5F1B4C9-E4B3-4647-B0F0-8C45D6B95816}" type="slidenum">
              <a:rPr lang="hu-HU" altLang="hu-HU" sz="1200">
                <a:solidFill>
                  <a:srgbClr val="898989"/>
                </a:solidFill>
              </a:rPr>
              <a:pPr>
                <a:spcBef>
                  <a:spcPct val="0"/>
                </a:spcBef>
                <a:buFontTx/>
                <a:buNone/>
              </a:pPr>
              <a:t>299</a:t>
            </a:fld>
            <a:endParaRPr lang="hu-HU" altLang="hu-HU" sz="1200">
              <a:solidFill>
                <a:srgbClr val="898989"/>
              </a:solidFill>
            </a:endParaRPr>
          </a:p>
        </p:txBody>
      </p:sp>
      <p:sp>
        <p:nvSpPr>
          <p:cNvPr id="6" name="Dátum helye 6"/>
          <p:cNvSpPr>
            <a:spLocks noGrp="1"/>
          </p:cNvSpPr>
          <p:nvPr>
            <p:ph type="dt" sz="half" idx="12"/>
          </p:nvPr>
        </p:nvSpPr>
        <p:spPr/>
        <p:txBody>
          <a:bodyPr/>
          <a:lstStyle/>
          <a:p>
            <a:pPr>
              <a:defRPr/>
            </a:pPr>
            <a:fld id="{C1CF4A55-362F-46F8-815D-29D271783CCA}" type="datetime4">
              <a:rPr lang="hu-HU"/>
              <a:pPr>
                <a:defRPr/>
              </a:pPr>
              <a:t>2024. november 28.</a:t>
            </a:fld>
            <a:endParaRPr lang="hu-HU"/>
          </a:p>
        </p:txBody>
      </p:sp>
    </p:spTree>
    <p:extLst>
      <p:ext uri="{BB962C8B-B14F-4D97-AF65-F5344CB8AC3E}">
        <p14:creationId xmlns:p14="http://schemas.microsoft.com/office/powerpoint/2010/main" val="603965271"/>
      </p:ext>
    </p:extLst>
  </p:cSld>
  <p:clrMapOvr>
    <a:masterClrMapping/>
  </p:clrMapOvr>
  <p:timing>
    <p:tnLst>
      <p:par>
        <p:cTn id="1" dur="indefinite" restart="never" nodeType="tmRoot"/>
      </p:par>
    </p:tnLst>
  </p:timing>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p:cNvSpPr>
            <a:spLocks noGrp="1" noChangeArrowheads="1"/>
          </p:cNvSpPr>
          <p:nvPr>
            <p:ph type="title"/>
          </p:nvPr>
        </p:nvSpPr>
        <p:spPr>
          <a:xfrm>
            <a:off x="1992313" y="214313"/>
            <a:ext cx="8229600" cy="1143000"/>
          </a:xfrm>
        </p:spPr>
        <p:txBody>
          <a:bodyPr/>
          <a:lstStyle/>
          <a:p>
            <a:pPr eaLnBrk="1" hangingPunct="1"/>
            <a:r>
              <a:rPr lang="hu-HU" altLang="hu-HU" smtClean="0"/>
              <a:t>Állapotok leírása</a:t>
            </a:r>
            <a:endParaRPr lang="en-US" altLang="hu-HU" smtClean="0"/>
          </a:p>
        </p:txBody>
      </p:sp>
      <p:sp>
        <p:nvSpPr>
          <p:cNvPr id="29701" name="Rectangle 3"/>
          <p:cNvSpPr>
            <a:spLocks noGrp="1" noChangeArrowheads="1"/>
          </p:cNvSpPr>
          <p:nvPr>
            <p:ph idx="1"/>
          </p:nvPr>
        </p:nvSpPr>
        <p:spPr>
          <a:xfrm>
            <a:off x="1947863" y="1268413"/>
            <a:ext cx="8469312" cy="5732462"/>
          </a:xfrm>
        </p:spPr>
        <p:txBody>
          <a:bodyPr/>
          <a:lstStyle/>
          <a:p>
            <a:pPr eaLnBrk="1" hangingPunct="1">
              <a:lnSpc>
                <a:spcPct val="90000"/>
              </a:lnSpc>
            </a:pPr>
            <a:r>
              <a:rPr lang="hu-HU" altLang="hu-HU"/>
              <a:t>Az állapotok két esemény között írják le az objektumot. </a:t>
            </a:r>
          </a:p>
          <a:p>
            <a:pPr lvl="1" eaLnBrk="1" hangingPunct="1">
              <a:lnSpc>
                <a:spcPct val="90000"/>
              </a:lnSpc>
            </a:pPr>
            <a:r>
              <a:rPr lang="hu-HU" altLang="hu-HU"/>
              <a:t>Ha két egymást követő állapot között az objektum kívülről kap üzenetet, akkor ezt az eseményt kell megadni az állapot-átmenet eseményeként. </a:t>
            </a:r>
          </a:p>
          <a:p>
            <a:pPr lvl="1" eaLnBrk="1" hangingPunct="1">
              <a:lnSpc>
                <a:spcPct val="90000"/>
              </a:lnSpc>
            </a:pPr>
            <a:r>
              <a:rPr lang="hu-HU" altLang="hu-HU"/>
              <a:t>Amennyiben a két állapot között az objektum küld üzenetet, az üzenet elküldését az átmenet során elvégzendő akcióként kell megadni. </a:t>
            </a:r>
          </a:p>
          <a:p>
            <a:pPr lvl="1" eaLnBrk="1" hangingPunct="1">
              <a:lnSpc>
                <a:spcPct val="90000"/>
              </a:lnSpc>
            </a:pPr>
            <a:r>
              <a:rPr lang="hu-HU" altLang="hu-HU"/>
              <a:t>Ha eseménykövetési diagram ciklusokat tartalmaz, a bejárt állapotokat csak egyszer kell létrehozni, és az állapot-átmeneteket úgy kell kialakítani, hogy a ciklus végén az objektum újra a ciklus elején lévő állapotba kerüljön.</a:t>
            </a:r>
            <a:endParaRPr lang="en-US" altLang="hu-HU"/>
          </a:p>
        </p:txBody>
      </p:sp>
      <p:sp>
        <p:nvSpPr>
          <p:cNvPr id="5" name="Dátum helye 5"/>
          <p:cNvSpPr>
            <a:spLocks noGrp="1"/>
          </p:cNvSpPr>
          <p:nvPr>
            <p:ph type="dt" sz="half" idx="10"/>
          </p:nvPr>
        </p:nvSpPr>
        <p:spPr>
          <a:xfrm>
            <a:off x="8077200" y="6356351"/>
            <a:ext cx="2133600" cy="365125"/>
          </a:xfrm>
        </p:spPr>
        <p:txBody>
          <a:bodyPr/>
          <a:lstStyle/>
          <a:p>
            <a:pPr algn="r">
              <a:defRPr/>
            </a:pPr>
            <a:fld id="{1C77F25C-5D35-4A99-9955-E1717DE541D4}" type="datetime4">
              <a:rPr lang="hu-HU"/>
              <a:pPr algn="r">
                <a:defRPr/>
              </a:pPr>
              <a:t>2024. november 28.</a:t>
            </a:fld>
            <a:endParaRPr lang="hu-HU"/>
          </a:p>
        </p:txBody>
      </p:sp>
      <p:sp>
        <p:nvSpPr>
          <p:cNvPr id="29698"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552E8EFB-EDA9-4D31-9D91-547D30119D2E}" type="slidenum">
              <a:rPr lang="hu-HU" altLang="hu-HU" sz="1200">
                <a:solidFill>
                  <a:srgbClr val="898989"/>
                </a:solidFill>
              </a:rPr>
              <a:pPr algn="ctr">
                <a:spcBef>
                  <a:spcPct val="0"/>
                </a:spcBef>
                <a:buFontTx/>
                <a:buNone/>
              </a:pPr>
              <a:t>300</a:t>
            </a:fld>
            <a:endParaRPr lang="hu-HU" altLang="hu-HU" sz="1200">
              <a:solidFill>
                <a:srgbClr val="898989"/>
              </a:solidFill>
            </a:endParaRPr>
          </a:p>
        </p:txBody>
      </p:sp>
    </p:spTree>
    <p:extLst>
      <p:ext uri="{BB962C8B-B14F-4D97-AF65-F5344CB8AC3E}">
        <p14:creationId xmlns:p14="http://schemas.microsoft.com/office/powerpoint/2010/main" val="3341979915"/>
      </p:ext>
    </p:extLst>
  </p:cSld>
  <p:clrMapOvr>
    <a:masterClrMapping/>
  </p:clrMapOvr>
  <p:timing>
    <p:tnLst>
      <p:par>
        <p:cTn id="1" dur="indefinite" restart="never" nodeType="tmRoot"/>
      </p:par>
    </p:tnLst>
  </p:timing>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4386" name="Rectangle 2"/>
          <p:cNvSpPr>
            <a:spLocks noGrp="1" noChangeArrowheads="1"/>
          </p:cNvSpPr>
          <p:nvPr>
            <p:ph type="title"/>
          </p:nvPr>
        </p:nvSpPr>
        <p:spPr>
          <a:xfrm>
            <a:off x="1992313" y="346075"/>
            <a:ext cx="8229600" cy="1143000"/>
          </a:xfrm>
        </p:spPr>
        <p:txBody>
          <a:bodyPr rtlCol="0">
            <a:normAutofit fontScale="90000"/>
          </a:bodyPr>
          <a:lstStyle/>
          <a:p>
            <a:pPr>
              <a:defRPr/>
            </a:pPr>
            <a:r>
              <a:rPr lang="hu-HU" sz="3600"/>
              <a:t>Az order különböző állapotait bemutató állapotdiagram</a:t>
            </a:r>
          </a:p>
        </p:txBody>
      </p:sp>
      <p:pic>
        <p:nvPicPr>
          <p:cNvPr id="31749"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695450" y="1693864"/>
            <a:ext cx="8788400" cy="5335587"/>
          </a:xfrm>
          <a:solidFill>
            <a:schemeClr val="bg1"/>
          </a:solidFill>
        </p:spPr>
      </p:pic>
      <p:sp>
        <p:nvSpPr>
          <p:cNvPr id="15" name="Dátum helye 5"/>
          <p:cNvSpPr>
            <a:spLocks noGrp="1"/>
          </p:cNvSpPr>
          <p:nvPr>
            <p:ph type="dt" sz="half" idx="10"/>
          </p:nvPr>
        </p:nvSpPr>
        <p:spPr>
          <a:xfrm>
            <a:off x="8077200" y="6356351"/>
            <a:ext cx="2133600" cy="365125"/>
          </a:xfrm>
        </p:spPr>
        <p:txBody>
          <a:bodyPr/>
          <a:lstStyle/>
          <a:p>
            <a:pPr algn="r">
              <a:defRPr/>
            </a:pPr>
            <a:fld id="{3D42DFDF-BE85-4954-801E-D80E9EBA67F0}" type="datetime4">
              <a:rPr lang="hu-HU"/>
              <a:pPr algn="r">
                <a:defRPr/>
              </a:pPr>
              <a:t>2024. november 28.</a:t>
            </a:fld>
            <a:endParaRPr lang="hu-HU"/>
          </a:p>
        </p:txBody>
      </p:sp>
      <p:sp>
        <p:nvSpPr>
          <p:cNvPr id="31746"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E82F3B83-1FAA-4ADB-BF8F-B2C6F5300733}" type="slidenum">
              <a:rPr lang="hu-HU" altLang="hu-HU" sz="1200">
                <a:solidFill>
                  <a:srgbClr val="898989"/>
                </a:solidFill>
              </a:rPr>
              <a:pPr algn="ctr">
                <a:spcBef>
                  <a:spcPct val="0"/>
                </a:spcBef>
                <a:buFontTx/>
                <a:buNone/>
              </a:pPr>
              <a:t>301</a:t>
            </a:fld>
            <a:endParaRPr lang="hu-HU" altLang="hu-HU" sz="1200">
              <a:solidFill>
                <a:srgbClr val="898989"/>
              </a:solidFill>
            </a:endParaRPr>
          </a:p>
        </p:txBody>
      </p:sp>
      <p:sp>
        <p:nvSpPr>
          <p:cNvPr id="31750" name="Line 4"/>
          <p:cNvSpPr>
            <a:spLocks noChangeShapeType="1"/>
          </p:cNvSpPr>
          <p:nvPr/>
        </p:nvSpPr>
        <p:spPr bwMode="auto">
          <a:xfrm>
            <a:off x="3792539" y="1990725"/>
            <a:ext cx="719137" cy="0"/>
          </a:xfrm>
          <a:prstGeom prst="line">
            <a:avLst/>
          </a:prstGeom>
          <a:noFill/>
          <a:ln w="1905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hu-HU"/>
          </a:p>
        </p:txBody>
      </p:sp>
      <p:sp>
        <p:nvSpPr>
          <p:cNvPr id="31751" name="Text Box 5"/>
          <p:cNvSpPr txBox="1">
            <a:spLocks noChangeArrowheads="1"/>
          </p:cNvSpPr>
          <p:nvPr/>
        </p:nvSpPr>
        <p:spPr bwMode="auto">
          <a:xfrm>
            <a:off x="2144713" y="1835150"/>
            <a:ext cx="1587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hu-HU" altLang="hu-HU" sz="2400">
                <a:solidFill>
                  <a:srgbClr val="FF0000"/>
                </a:solidFill>
                <a:latin typeface="Arial Narrow" panose="020B0606020202030204" pitchFamily="34" charset="0"/>
              </a:rPr>
              <a:t>Initial state</a:t>
            </a:r>
          </a:p>
        </p:txBody>
      </p:sp>
      <p:sp>
        <p:nvSpPr>
          <p:cNvPr id="31752" name="Text Box 6"/>
          <p:cNvSpPr txBox="1">
            <a:spLocks noChangeArrowheads="1"/>
          </p:cNvSpPr>
          <p:nvPr/>
        </p:nvSpPr>
        <p:spPr bwMode="auto">
          <a:xfrm>
            <a:off x="2135188" y="4941889"/>
            <a:ext cx="2305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hu-HU" altLang="hu-HU" sz="2000" b="1">
                <a:solidFill>
                  <a:srgbClr val="FF0000"/>
                </a:solidFill>
                <a:latin typeface="Arial Narrow" panose="020B0606020202030204" pitchFamily="34" charset="0"/>
              </a:rPr>
              <a:t>self-transition</a:t>
            </a:r>
          </a:p>
        </p:txBody>
      </p:sp>
      <p:sp>
        <p:nvSpPr>
          <p:cNvPr id="31753" name="Line 7"/>
          <p:cNvSpPr>
            <a:spLocks noChangeShapeType="1"/>
          </p:cNvSpPr>
          <p:nvPr/>
        </p:nvSpPr>
        <p:spPr bwMode="auto">
          <a:xfrm>
            <a:off x="4008439" y="5229225"/>
            <a:ext cx="574675" cy="215900"/>
          </a:xfrm>
          <a:prstGeom prst="line">
            <a:avLst/>
          </a:prstGeom>
          <a:noFill/>
          <a:ln w="1905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hu-HU"/>
          </a:p>
        </p:txBody>
      </p:sp>
      <p:sp>
        <p:nvSpPr>
          <p:cNvPr id="31754" name="Text Box 8"/>
          <p:cNvSpPr txBox="1">
            <a:spLocks noChangeArrowheads="1"/>
          </p:cNvSpPr>
          <p:nvPr/>
        </p:nvSpPr>
        <p:spPr bwMode="auto">
          <a:xfrm>
            <a:off x="6383338" y="5084764"/>
            <a:ext cx="2305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hu-HU" altLang="hu-HU" sz="2000" b="1">
                <a:solidFill>
                  <a:srgbClr val="FF0000"/>
                </a:solidFill>
                <a:latin typeface="Arial Narrow" panose="020B0606020202030204" pitchFamily="34" charset="0"/>
              </a:rPr>
              <a:t>transition</a:t>
            </a:r>
          </a:p>
        </p:txBody>
      </p:sp>
      <p:sp>
        <p:nvSpPr>
          <p:cNvPr id="31755" name="Text Box 9"/>
          <p:cNvSpPr txBox="1">
            <a:spLocks noChangeArrowheads="1"/>
          </p:cNvSpPr>
          <p:nvPr/>
        </p:nvSpPr>
        <p:spPr bwMode="auto">
          <a:xfrm>
            <a:off x="8183563" y="2205039"/>
            <a:ext cx="2305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hu-HU" altLang="hu-HU" sz="2000" b="1">
                <a:solidFill>
                  <a:srgbClr val="FF0000"/>
                </a:solidFill>
                <a:latin typeface="Arial Narrow" panose="020B0606020202030204" pitchFamily="34" charset="0"/>
              </a:rPr>
              <a:t>activity</a:t>
            </a:r>
          </a:p>
        </p:txBody>
      </p:sp>
      <p:sp>
        <p:nvSpPr>
          <p:cNvPr id="31756" name="Text Box 10"/>
          <p:cNvSpPr txBox="1">
            <a:spLocks noChangeArrowheads="1"/>
          </p:cNvSpPr>
          <p:nvPr/>
        </p:nvSpPr>
        <p:spPr bwMode="auto">
          <a:xfrm>
            <a:off x="6527800" y="5876926"/>
            <a:ext cx="2305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hu-HU" altLang="hu-HU" sz="2000" b="1">
                <a:solidFill>
                  <a:srgbClr val="FF0000"/>
                </a:solidFill>
                <a:latin typeface="Arial Narrow" panose="020B0606020202030204" pitchFamily="34" charset="0"/>
              </a:rPr>
              <a:t>state</a:t>
            </a:r>
          </a:p>
        </p:txBody>
      </p:sp>
      <p:sp>
        <p:nvSpPr>
          <p:cNvPr id="31757" name="Line 11"/>
          <p:cNvSpPr>
            <a:spLocks noChangeShapeType="1"/>
          </p:cNvSpPr>
          <p:nvPr/>
        </p:nvSpPr>
        <p:spPr bwMode="auto">
          <a:xfrm flipH="1">
            <a:off x="8904288" y="2565401"/>
            <a:ext cx="431800" cy="792163"/>
          </a:xfrm>
          <a:prstGeom prst="line">
            <a:avLst/>
          </a:prstGeom>
          <a:noFill/>
          <a:ln w="1905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hu-HU"/>
          </a:p>
        </p:txBody>
      </p:sp>
      <p:sp>
        <p:nvSpPr>
          <p:cNvPr id="31758" name="Line 12"/>
          <p:cNvSpPr>
            <a:spLocks noChangeShapeType="1"/>
          </p:cNvSpPr>
          <p:nvPr/>
        </p:nvSpPr>
        <p:spPr bwMode="auto">
          <a:xfrm flipH="1" flipV="1">
            <a:off x="7175501" y="4724400"/>
            <a:ext cx="360363" cy="433388"/>
          </a:xfrm>
          <a:prstGeom prst="line">
            <a:avLst/>
          </a:prstGeom>
          <a:noFill/>
          <a:ln w="1905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hu-HU"/>
          </a:p>
        </p:txBody>
      </p:sp>
      <p:sp>
        <p:nvSpPr>
          <p:cNvPr id="31759" name="Line 13"/>
          <p:cNvSpPr>
            <a:spLocks noChangeShapeType="1"/>
          </p:cNvSpPr>
          <p:nvPr/>
        </p:nvSpPr>
        <p:spPr bwMode="auto">
          <a:xfrm>
            <a:off x="8040689" y="6092825"/>
            <a:ext cx="719137" cy="0"/>
          </a:xfrm>
          <a:prstGeom prst="line">
            <a:avLst/>
          </a:prstGeom>
          <a:noFill/>
          <a:ln w="1905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hu-HU"/>
          </a:p>
        </p:txBody>
      </p:sp>
    </p:spTree>
    <p:extLst>
      <p:ext uri="{BB962C8B-B14F-4D97-AF65-F5344CB8AC3E}">
        <p14:creationId xmlns:p14="http://schemas.microsoft.com/office/powerpoint/2010/main" val="3980064422"/>
      </p:ext>
    </p:extLst>
  </p:cSld>
  <p:clrMapOvr>
    <a:masterClrMapping/>
  </p:clrMapOvr>
  <p:timing>
    <p:tnLst>
      <p:par>
        <p:cTn id="1" dur="indefinite" restart="never" nodeType="tmRoot"/>
      </p:par>
    </p:tnLst>
  </p:timing>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6434" name="Rectangle 2"/>
          <p:cNvSpPr>
            <a:spLocks noGrp="1" noChangeArrowheads="1"/>
          </p:cNvSpPr>
          <p:nvPr>
            <p:ph type="title"/>
          </p:nvPr>
        </p:nvSpPr>
        <p:spPr/>
        <p:txBody>
          <a:bodyPr rtlCol="0">
            <a:normAutofit fontScale="90000"/>
          </a:bodyPr>
          <a:lstStyle/>
          <a:p>
            <a:pPr>
              <a:defRPr/>
            </a:pPr>
            <a:r>
              <a:rPr lang="hu-HU" sz="4000"/>
              <a:t>Az order különböző állapotait bemutató állapotdiagram</a:t>
            </a:r>
          </a:p>
        </p:txBody>
      </p:sp>
      <p:sp>
        <p:nvSpPr>
          <p:cNvPr id="33797" name="Rectangle 3"/>
          <p:cNvSpPr>
            <a:spLocks noGrp="1" noChangeArrowheads="1"/>
          </p:cNvSpPr>
          <p:nvPr>
            <p:ph type="body" sz="half" idx="1"/>
          </p:nvPr>
        </p:nvSpPr>
        <p:spPr>
          <a:xfrm>
            <a:off x="1992314" y="1658939"/>
            <a:ext cx="8135937" cy="4454525"/>
          </a:xfrm>
        </p:spPr>
        <p:txBody>
          <a:bodyPr/>
          <a:lstStyle/>
          <a:p>
            <a:pPr eaLnBrk="1" hangingPunct="1"/>
            <a:r>
              <a:rPr lang="hu-HU" altLang="hu-HU" smtClean="0"/>
              <a:t>Kiindulási/kezdő állapot (initial state): a diagram egy kiindulási ponttal indul (az objektum automatikusan a kezdő állapotba lép), és</a:t>
            </a:r>
          </a:p>
          <a:p>
            <a:pPr eaLnBrk="1" hangingPunct="1"/>
            <a:r>
              <a:rPr lang="hu-HU" altLang="hu-HU" smtClean="0"/>
              <a:t>megmutatja a kiindulási/kezdő átmenetet: </a:t>
            </a:r>
            <a:r>
              <a:rPr lang="hu-HU" altLang="hu-HU" i="1" smtClean="0"/>
              <a:t>„/ get first item”</a:t>
            </a:r>
            <a:r>
              <a:rPr lang="hu-HU" altLang="hu-HU" smtClean="0"/>
              <a:t> a </a:t>
            </a:r>
            <a:r>
              <a:rPr lang="hu-HU" altLang="hu-HU" i="1" smtClean="0"/>
              <a:t>checking</a:t>
            </a:r>
            <a:r>
              <a:rPr lang="hu-HU" altLang="hu-HU" smtClean="0"/>
              <a:t> állapotba</a:t>
            </a:r>
          </a:p>
        </p:txBody>
      </p:sp>
      <p:pic>
        <p:nvPicPr>
          <p:cNvPr id="33798"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a:xfrm>
            <a:off x="7564437" y="2859087"/>
            <a:ext cx="2657475" cy="1562100"/>
          </a:xfrm>
          <a:solidFill>
            <a:schemeClr val="bg1"/>
          </a:solidFill>
        </p:spPr>
      </p:pic>
      <p:sp>
        <p:nvSpPr>
          <p:cNvPr id="33794" name="Dia számának helye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FEA680D-4190-479D-9695-0DB5CDD033DB}" type="slidenum">
              <a:rPr lang="hu-HU" altLang="hu-HU" sz="1200">
                <a:solidFill>
                  <a:srgbClr val="898989"/>
                </a:solidFill>
              </a:rPr>
              <a:pPr>
                <a:spcBef>
                  <a:spcPct val="0"/>
                </a:spcBef>
                <a:buFontTx/>
                <a:buNone/>
              </a:pPr>
              <a:t>302</a:t>
            </a:fld>
            <a:endParaRPr lang="hu-HU" altLang="hu-HU" sz="1200">
              <a:solidFill>
                <a:srgbClr val="898989"/>
              </a:solidFill>
            </a:endParaRPr>
          </a:p>
        </p:txBody>
      </p:sp>
      <p:sp>
        <p:nvSpPr>
          <p:cNvPr id="6" name="Dátum helye 6"/>
          <p:cNvSpPr>
            <a:spLocks noGrp="1"/>
          </p:cNvSpPr>
          <p:nvPr>
            <p:ph type="dt" sz="half" idx="12"/>
          </p:nvPr>
        </p:nvSpPr>
        <p:spPr/>
        <p:txBody>
          <a:bodyPr/>
          <a:lstStyle/>
          <a:p>
            <a:pPr>
              <a:defRPr/>
            </a:pPr>
            <a:fld id="{04EDCFB0-20AB-4957-82D3-B1F6B327980A}" type="datetime4">
              <a:rPr lang="hu-HU"/>
              <a:pPr>
                <a:defRPr/>
              </a:pPr>
              <a:t>2024. november 28.</a:t>
            </a:fld>
            <a:endParaRPr lang="hu-HU"/>
          </a:p>
        </p:txBody>
      </p:sp>
    </p:spTree>
    <p:extLst>
      <p:ext uri="{BB962C8B-B14F-4D97-AF65-F5344CB8AC3E}">
        <p14:creationId xmlns:p14="http://schemas.microsoft.com/office/powerpoint/2010/main" val="3983838044"/>
      </p:ext>
    </p:extLst>
  </p:cSld>
  <p:clrMapOvr>
    <a:masterClrMapping/>
  </p:clrMapOvr>
  <p:timing>
    <p:tnLst>
      <p:par>
        <p:cTn id="1" dur="indefinite" restart="never" nodeType="tmRoot"/>
      </p:par>
    </p:tnLst>
  </p:timing>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2"/>
          <p:cNvSpPr>
            <a:spLocks noGrp="1" noChangeArrowheads="1"/>
          </p:cNvSpPr>
          <p:nvPr>
            <p:ph type="title"/>
          </p:nvPr>
        </p:nvSpPr>
        <p:spPr>
          <a:xfrm>
            <a:off x="1992313" y="333375"/>
            <a:ext cx="8229600" cy="1143000"/>
          </a:xfrm>
        </p:spPr>
        <p:txBody>
          <a:bodyPr/>
          <a:lstStyle/>
          <a:p>
            <a:pPr eaLnBrk="1" hangingPunct="1"/>
            <a:r>
              <a:rPr lang="hu-HU" altLang="hu-HU" smtClean="0"/>
              <a:t>Átmenet</a:t>
            </a:r>
          </a:p>
        </p:txBody>
      </p:sp>
      <p:sp>
        <p:nvSpPr>
          <p:cNvPr id="35845" name="Rectangle 3"/>
          <p:cNvSpPr>
            <a:spLocks noGrp="1" noChangeArrowheads="1"/>
          </p:cNvSpPr>
          <p:nvPr>
            <p:ph idx="1"/>
          </p:nvPr>
        </p:nvSpPr>
        <p:spPr>
          <a:xfrm>
            <a:off x="1919288" y="1268413"/>
            <a:ext cx="8507412" cy="5257800"/>
          </a:xfrm>
        </p:spPr>
        <p:txBody>
          <a:bodyPr>
            <a:normAutofit/>
          </a:bodyPr>
          <a:lstStyle/>
          <a:p>
            <a:pPr eaLnBrk="1" hangingPunct="1"/>
            <a:r>
              <a:rPr lang="hu-HU" altLang="hu-HU" sz="2400"/>
              <a:t>Az átmenetet egy esemény váltja ki, vagyis az átmenet az objektum válasza egy külső eseményre.</a:t>
            </a:r>
          </a:p>
          <a:p>
            <a:pPr eaLnBrk="1" hangingPunct="1"/>
            <a:r>
              <a:rPr lang="hu-HU" altLang="hu-HU" sz="2400"/>
              <a:t>Az átmenet során az objektum egy másik állapotba kerülhet.</a:t>
            </a:r>
          </a:p>
          <a:p>
            <a:pPr eaLnBrk="1" hangingPunct="1"/>
            <a:r>
              <a:rPr lang="hu-HU" altLang="hu-HU" sz="2400"/>
              <a:t>Általában eljáráshívással jár együtt, vagyis valamilyen tevékenység végrehajtásával.</a:t>
            </a:r>
          </a:p>
          <a:p>
            <a:pPr eaLnBrk="1" hangingPunct="1"/>
            <a:r>
              <a:rPr lang="hu-HU" altLang="hu-HU" sz="2400"/>
              <a:t>Az átmenet szintaxisa – három része van:</a:t>
            </a:r>
          </a:p>
          <a:p>
            <a:pPr lvl="1" eaLnBrk="1" hangingPunct="1"/>
            <a:r>
              <a:rPr lang="hu-HU" altLang="hu-HU" sz="2000"/>
              <a:t>esemény</a:t>
            </a:r>
          </a:p>
          <a:p>
            <a:pPr lvl="1" eaLnBrk="1" hangingPunct="1"/>
            <a:r>
              <a:rPr lang="hu-HU" altLang="hu-HU" sz="2000"/>
              <a:t>feltétel</a:t>
            </a:r>
          </a:p>
          <a:p>
            <a:pPr lvl="1" eaLnBrk="1" hangingPunct="1"/>
            <a:r>
              <a:rPr lang="hu-HU" altLang="hu-HU" sz="2000"/>
              <a:t>akció</a:t>
            </a:r>
          </a:p>
          <a:p>
            <a:pPr lvl="1" eaLnBrk="1" hangingPunct="1"/>
            <a:r>
              <a:rPr lang="hu-HU" altLang="hu-HU" sz="2000"/>
              <a:t>szintaxisa: esemény [feltétel] / akció - Event [guard] / action</a:t>
            </a:r>
          </a:p>
          <a:p>
            <a:pPr lvl="1" eaLnBrk="1" hangingPunct="1"/>
            <a:r>
              <a:rPr lang="hu-HU" altLang="hu-HU" sz="2000"/>
              <a:t>megadásuk opcionális.</a:t>
            </a:r>
          </a:p>
          <a:p>
            <a:pPr lvl="1" eaLnBrk="1" hangingPunct="1"/>
            <a:endParaRPr lang="hu-HU" altLang="hu-HU" sz="2000"/>
          </a:p>
        </p:txBody>
      </p:sp>
      <p:sp>
        <p:nvSpPr>
          <p:cNvPr id="5" name="Dátum helye 5"/>
          <p:cNvSpPr>
            <a:spLocks noGrp="1"/>
          </p:cNvSpPr>
          <p:nvPr>
            <p:ph type="dt" sz="half" idx="10"/>
          </p:nvPr>
        </p:nvSpPr>
        <p:spPr>
          <a:xfrm>
            <a:off x="8077200" y="6356351"/>
            <a:ext cx="2133600" cy="365125"/>
          </a:xfrm>
        </p:spPr>
        <p:txBody>
          <a:bodyPr/>
          <a:lstStyle/>
          <a:p>
            <a:pPr algn="r">
              <a:defRPr/>
            </a:pPr>
            <a:fld id="{823008D7-7D4E-47B7-87E5-AD633131523A}" type="datetime4">
              <a:rPr lang="hu-HU"/>
              <a:pPr algn="r">
                <a:defRPr/>
              </a:pPr>
              <a:t>2024. november 28.</a:t>
            </a:fld>
            <a:endParaRPr lang="hu-HU"/>
          </a:p>
        </p:txBody>
      </p:sp>
      <p:sp>
        <p:nvSpPr>
          <p:cNvPr id="35842"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370BC8F7-A7AC-4484-AFAE-69610FA02DF7}" type="slidenum">
              <a:rPr lang="hu-HU" altLang="hu-HU" sz="1200">
                <a:solidFill>
                  <a:srgbClr val="898989"/>
                </a:solidFill>
              </a:rPr>
              <a:pPr algn="ctr">
                <a:spcBef>
                  <a:spcPct val="0"/>
                </a:spcBef>
                <a:buFontTx/>
                <a:buNone/>
              </a:pPr>
              <a:t>303</a:t>
            </a:fld>
            <a:endParaRPr lang="hu-HU" altLang="hu-HU" sz="1200">
              <a:solidFill>
                <a:srgbClr val="898989"/>
              </a:solidFill>
            </a:endParaRPr>
          </a:p>
        </p:txBody>
      </p:sp>
    </p:spTree>
    <p:extLst>
      <p:ext uri="{BB962C8B-B14F-4D97-AF65-F5344CB8AC3E}">
        <p14:creationId xmlns:p14="http://schemas.microsoft.com/office/powerpoint/2010/main" val="497599299"/>
      </p:ext>
    </p:extLst>
  </p:cSld>
  <p:clrMapOvr>
    <a:masterClrMapping/>
  </p:clrMapOvr>
  <p:timing>
    <p:tnLst>
      <p:par>
        <p:cTn id="1" dur="indefinite" restart="never" nodeType="tmRoot"/>
      </p:par>
    </p:tnLst>
  </p:timing>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p:cNvSpPr>
            <a:spLocks noGrp="1" noChangeArrowheads="1"/>
          </p:cNvSpPr>
          <p:nvPr>
            <p:ph type="title"/>
          </p:nvPr>
        </p:nvSpPr>
        <p:spPr>
          <a:xfrm>
            <a:off x="1992313" y="185738"/>
            <a:ext cx="8229600" cy="1143000"/>
          </a:xfrm>
        </p:spPr>
        <p:txBody>
          <a:bodyPr/>
          <a:lstStyle/>
          <a:p>
            <a:pPr eaLnBrk="1" hangingPunct="1"/>
            <a:r>
              <a:rPr lang="hu-HU" altLang="hu-HU" smtClean="0"/>
              <a:t>Állapot-átmenet típusai</a:t>
            </a:r>
          </a:p>
        </p:txBody>
      </p:sp>
      <p:sp>
        <p:nvSpPr>
          <p:cNvPr id="37893" name="Rectangle 3"/>
          <p:cNvSpPr>
            <a:spLocks noGrp="1" noChangeArrowheads="1"/>
          </p:cNvSpPr>
          <p:nvPr>
            <p:ph idx="1"/>
          </p:nvPr>
        </p:nvSpPr>
        <p:spPr>
          <a:xfrm>
            <a:off x="1919288" y="1397000"/>
            <a:ext cx="8507412" cy="5257800"/>
          </a:xfrm>
        </p:spPr>
        <p:txBody>
          <a:bodyPr/>
          <a:lstStyle/>
          <a:p>
            <a:pPr eaLnBrk="1" hangingPunct="1"/>
            <a:r>
              <a:rPr lang="hu-HU" altLang="hu-HU"/>
              <a:t>Külső állapot-átmenet: </a:t>
            </a:r>
          </a:p>
          <a:p>
            <a:pPr lvl="1" eaLnBrk="1" hangingPunct="1"/>
            <a:r>
              <a:rPr lang="hu-HU" altLang="hu-HU"/>
              <a:t>Az objektum állapotai között értelmezzük, az állapotokat összekötő nyíllal jelöljük. </a:t>
            </a:r>
          </a:p>
          <a:p>
            <a:pPr lvl="1" eaLnBrk="1" hangingPunct="1"/>
            <a:r>
              <a:rPr lang="hu-HU" altLang="hu-HU"/>
              <a:t>Az aktuális állapotból másik állapotba vezet. </a:t>
            </a:r>
          </a:p>
          <a:p>
            <a:pPr lvl="1" eaLnBrk="1" hangingPunct="1"/>
            <a:r>
              <a:rPr lang="hu-HU" altLang="hu-HU"/>
              <a:t>Eljáráshívás vagy történik, vagy nem. </a:t>
            </a:r>
          </a:p>
          <a:p>
            <a:pPr eaLnBrk="1" hangingPunct="1"/>
            <a:r>
              <a:rPr lang="hu-HU" altLang="hu-HU"/>
              <a:t>Belső állapot-átmenet: </a:t>
            </a:r>
          </a:p>
          <a:p>
            <a:pPr lvl="1" eaLnBrk="1" hangingPunct="1"/>
            <a:r>
              <a:rPr lang="hu-HU" altLang="hu-HU"/>
              <a:t>Az objektum egy adott állapotában értelmezzük.</a:t>
            </a:r>
          </a:p>
          <a:p>
            <a:pPr lvl="1" eaLnBrk="1" hangingPunct="1"/>
            <a:r>
              <a:rPr lang="hu-HU" altLang="hu-HU"/>
              <a:t>Eljáráshívással jár együtt anélkül, hogy az objektum állapota megváltozna. A belső átmenetet az állapot alsó rekeszében adjuk meg.</a:t>
            </a:r>
          </a:p>
        </p:txBody>
      </p:sp>
      <p:sp>
        <p:nvSpPr>
          <p:cNvPr id="5" name="Dátum helye 5"/>
          <p:cNvSpPr>
            <a:spLocks noGrp="1"/>
          </p:cNvSpPr>
          <p:nvPr>
            <p:ph type="dt" sz="half" idx="10"/>
          </p:nvPr>
        </p:nvSpPr>
        <p:spPr>
          <a:xfrm>
            <a:off x="8077200" y="6356351"/>
            <a:ext cx="2133600" cy="365125"/>
          </a:xfrm>
        </p:spPr>
        <p:txBody>
          <a:bodyPr/>
          <a:lstStyle/>
          <a:p>
            <a:pPr algn="r">
              <a:defRPr/>
            </a:pPr>
            <a:fld id="{4036E3C8-7E9C-47B4-940C-31C91C8D7EBD}" type="datetime4">
              <a:rPr lang="hu-HU"/>
              <a:pPr algn="r">
                <a:defRPr/>
              </a:pPr>
              <a:t>2024. november 28.</a:t>
            </a:fld>
            <a:endParaRPr lang="hu-HU"/>
          </a:p>
        </p:txBody>
      </p:sp>
      <p:sp>
        <p:nvSpPr>
          <p:cNvPr id="37890"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7C04DBC1-2154-45C8-AFA1-C8839D504C30}" type="slidenum">
              <a:rPr lang="hu-HU" altLang="hu-HU" sz="1200">
                <a:solidFill>
                  <a:srgbClr val="898989"/>
                </a:solidFill>
              </a:rPr>
              <a:pPr algn="ctr">
                <a:spcBef>
                  <a:spcPct val="0"/>
                </a:spcBef>
                <a:buFontTx/>
                <a:buNone/>
              </a:pPr>
              <a:t>304</a:t>
            </a:fld>
            <a:endParaRPr lang="hu-HU" altLang="hu-HU" sz="1200">
              <a:solidFill>
                <a:srgbClr val="898989"/>
              </a:solidFill>
            </a:endParaRPr>
          </a:p>
        </p:txBody>
      </p:sp>
    </p:spTree>
    <p:extLst>
      <p:ext uri="{BB962C8B-B14F-4D97-AF65-F5344CB8AC3E}">
        <p14:creationId xmlns:p14="http://schemas.microsoft.com/office/powerpoint/2010/main" val="2128490739"/>
      </p:ext>
    </p:extLst>
  </p:cSld>
  <p:clrMapOvr>
    <a:masterClrMapping/>
  </p:clrMapOvr>
  <p:timing>
    <p:tnLst>
      <p:par>
        <p:cTn id="1" dur="indefinite" restart="never" nodeType="tmRoot"/>
      </p:par>
    </p:tnLst>
  </p:timing>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2578" name="Rectangle 2"/>
          <p:cNvSpPr>
            <a:spLocks noGrp="1" noChangeArrowheads="1"/>
          </p:cNvSpPr>
          <p:nvPr>
            <p:ph type="title"/>
          </p:nvPr>
        </p:nvSpPr>
        <p:spPr>
          <a:xfrm>
            <a:off x="1919288" y="463550"/>
            <a:ext cx="8229600" cy="1143000"/>
          </a:xfrm>
        </p:spPr>
        <p:txBody>
          <a:bodyPr rtlCol="0">
            <a:normAutofit fontScale="90000"/>
          </a:bodyPr>
          <a:lstStyle/>
          <a:p>
            <a:pPr>
              <a:defRPr/>
            </a:pPr>
            <a:r>
              <a:rPr lang="hu-HU"/>
              <a:t>Átmenet a rendelési rendszer példában</a:t>
            </a:r>
          </a:p>
        </p:txBody>
      </p:sp>
      <p:sp>
        <p:nvSpPr>
          <p:cNvPr id="39941" name="Rectangle 3"/>
          <p:cNvSpPr>
            <a:spLocks noGrp="1" noChangeArrowheads="1"/>
          </p:cNvSpPr>
          <p:nvPr>
            <p:ph type="body" sz="half" idx="1"/>
          </p:nvPr>
        </p:nvSpPr>
        <p:spPr>
          <a:xfrm>
            <a:off x="1717676" y="1719263"/>
            <a:ext cx="7840663" cy="4525962"/>
          </a:xfrm>
        </p:spPr>
        <p:txBody>
          <a:bodyPr/>
          <a:lstStyle/>
          <a:p>
            <a:pPr eaLnBrk="1" hangingPunct="1">
              <a:lnSpc>
                <a:spcPct val="90000"/>
              </a:lnSpc>
            </a:pPr>
            <a:r>
              <a:rPr lang="hu-HU" altLang="hu-HU"/>
              <a:t>az átmenet szintaxisa:</a:t>
            </a:r>
          </a:p>
          <a:p>
            <a:pPr lvl="1" eaLnBrk="1" hangingPunct="1">
              <a:lnSpc>
                <a:spcPct val="90000"/>
              </a:lnSpc>
              <a:buFont typeface="Wingdings" panose="05000000000000000000" pitchFamily="2" charset="2"/>
              <a:buNone/>
            </a:pPr>
            <a:r>
              <a:rPr lang="hu-HU" altLang="hu-HU" sz="3200"/>
              <a:t>esemény [feltétel] / akció - Event [guard] / action</a:t>
            </a:r>
            <a:endParaRPr lang="hu-HU" altLang="hu-HU" sz="4000"/>
          </a:p>
          <a:p>
            <a:pPr eaLnBrk="1" hangingPunct="1">
              <a:lnSpc>
                <a:spcPct val="90000"/>
              </a:lnSpc>
            </a:pPr>
            <a:r>
              <a:rPr lang="hu-HU" altLang="hu-HU" smtClean="0"/>
              <a:t>a példában az átmenet megadása:</a:t>
            </a:r>
          </a:p>
          <a:p>
            <a:pPr lvl="1" eaLnBrk="1" hangingPunct="1">
              <a:lnSpc>
                <a:spcPct val="90000"/>
              </a:lnSpc>
            </a:pPr>
            <a:r>
              <a:rPr lang="hu-HU" altLang="hu-HU" smtClean="0"/>
              <a:t>csak egy akció van: </a:t>
            </a:r>
            <a:r>
              <a:rPr lang="hu-HU" altLang="hu-HU" i="1" smtClean="0"/>
              <a:t>„/ get first item”</a:t>
            </a:r>
            <a:r>
              <a:rPr lang="hu-HU" altLang="hu-HU" smtClean="0"/>
              <a:t> , ez az átmenet esetén végrehajtandó akció</a:t>
            </a:r>
          </a:p>
          <a:p>
            <a:pPr lvl="1" eaLnBrk="1" hangingPunct="1">
              <a:lnSpc>
                <a:spcPct val="90000"/>
              </a:lnSpc>
            </a:pPr>
            <a:r>
              <a:rPr lang="hu-HU" altLang="hu-HU" smtClean="0"/>
              <a:t>elsőként ezt az akciót kell végrehajtani  a </a:t>
            </a:r>
            <a:r>
              <a:rPr lang="hu-HU" altLang="hu-HU" i="1" smtClean="0"/>
              <a:t>checking</a:t>
            </a:r>
            <a:r>
              <a:rPr lang="hu-HU" altLang="hu-HU" smtClean="0"/>
              <a:t> állapotba való belépéshez</a:t>
            </a:r>
          </a:p>
          <a:p>
            <a:pPr eaLnBrk="1" hangingPunct="1">
              <a:lnSpc>
                <a:spcPct val="90000"/>
              </a:lnSpc>
              <a:buFont typeface="Wingdings" panose="05000000000000000000" pitchFamily="2" charset="2"/>
              <a:buNone/>
            </a:pPr>
            <a:endParaRPr lang="hu-HU" altLang="hu-HU" sz="3600"/>
          </a:p>
          <a:p>
            <a:pPr eaLnBrk="1" hangingPunct="1">
              <a:lnSpc>
                <a:spcPct val="90000"/>
              </a:lnSpc>
            </a:pPr>
            <a:endParaRPr lang="hu-HU" altLang="hu-HU" smtClean="0"/>
          </a:p>
        </p:txBody>
      </p:sp>
      <p:pic>
        <p:nvPicPr>
          <p:cNvPr id="39942"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a:xfrm>
            <a:off x="7564437" y="2859087"/>
            <a:ext cx="2657475" cy="1562100"/>
          </a:xfrm>
          <a:solidFill>
            <a:schemeClr val="bg1"/>
          </a:solidFill>
        </p:spPr>
      </p:pic>
      <p:sp>
        <p:nvSpPr>
          <p:cNvPr id="39938" name="Dia számának helye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42CA1D4-2598-4D3C-9F40-D19B2F1CB428}" type="slidenum">
              <a:rPr lang="hu-HU" altLang="hu-HU" sz="1200">
                <a:solidFill>
                  <a:srgbClr val="898989"/>
                </a:solidFill>
              </a:rPr>
              <a:pPr>
                <a:spcBef>
                  <a:spcPct val="0"/>
                </a:spcBef>
                <a:buFontTx/>
                <a:buNone/>
              </a:pPr>
              <a:t>305</a:t>
            </a:fld>
            <a:endParaRPr lang="hu-HU" altLang="hu-HU" sz="1200">
              <a:solidFill>
                <a:srgbClr val="898989"/>
              </a:solidFill>
            </a:endParaRPr>
          </a:p>
        </p:txBody>
      </p:sp>
      <p:sp>
        <p:nvSpPr>
          <p:cNvPr id="6" name="Dátum helye 6"/>
          <p:cNvSpPr>
            <a:spLocks noGrp="1"/>
          </p:cNvSpPr>
          <p:nvPr>
            <p:ph type="dt" sz="half" idx="12"/>
          </p:nvPr>
        </p:nvSpPr>
        <p:spPr/>
        <p:txBody>
          <a:bodyPr/>
          <a:lstStyle/>
          <a:p>
            <a:pPr>
              <a:defRPr/>
            </a:pPr>
            <a:fld id="{C037608C-7F75-4A4F-B6E3-5F0096374DF9}" type="datetime4">
              <a:rPr lang="hu-HU"/>
              <a:pPr>
                <a:defRPr/>
              </a:pPr>
              <a:t>2024. november 28.</a:t>
            </a:fld>
            <a:endParaRPr lang="hu-HU"/>
          </a:p>
        </p:txBody>
      </p:sp>
    </p:spTree>
    <p:extLst>
      <p:ext uri="{BB962C8B-B14F-4D97-AF65-F5344CB8AC3E}">
        <p14:creationId xmlns:p14="http://schemas.microsoft.com/office/powerpoint/2010/main" val="3859615760"/>
      </p:ext>
    </p:extLst>
  </p:cSld>
  <p:clrMapOvr>
    <a:masterClrMapping/>
  </p:clrMapOvr>
  <p:timing>
    <p:tnLst>
      <p:par>
        <p:cTn id="1" dur="indefinite" restart="never" nodeType="tmRoot"/>
      </p:par>
    </p:tnLst>
  </p:timing>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a:xfrm>
            <a:off x="1992313" y="260350"/>
            <a:ext cx="8229600" cy="1143000"/>
          </a:xfrm>
        </p:spPr>
        <p:txBody>
          <a:bodyPr/>
          <a:lstStyle/>
          <a:p>
            <a:pPr eaLnBrk="1" hangingPunct="1"/>
            <a:r>
              <a:rPr lang="hu-HU" altLang="hu-HU" smtClean="0"/>
              <a:t>Esemény</a:t>
            </a:r>
          </a:p>
        </p:txBody>
      </p:sp>
      <p:sp>
        <p:nvSpPr>
          <p:cNvPr id="41989" name="Rectangle 3"/>
          <p:cNvSpPr>
            <a:spLocks noGrp="1" noChangeArrowheads="1"/>
          </p:cNvSpPr>
          <p:nvPr>
            <p:ph idx="1"/>
          </p:nvPr>
        </p:nvSpPr>
        <p:spPr>
          <a:xfrm>
            <a:off x="1992313" y="1412876"/>
            <a:ext cx="7732712" cy="5445125"/>
          </a:xfrm>
        </p:spPr>
        <p:txBody>
          <a:bodyPr/>
          <a:lstStyle/>
          <a:p>
            <a:pPr eaLnBrk="1" hangingPunct="1"/>
            <a:r>
              <a:rPr lang="hu-HU" altLang="hu-HU"/>
              <a:t>Esemény vagy üzenet: egy objektumnak egy másik objektumra történő hatása: az objektum az állapotából adott esemény hatására más állapotba kerülhet.</a:t>
            </a:r>
          </a:p>
          <a:p>
            <a:pPr eaLnBrk="1" hangingPunct="1"/>
            <a:r>
              <a:rPr lang="hu-HU" altLang="hu-HU"/>
              <a:t>Az átmenetet kiváltó események.</a:t>
            </a:r>
          </a:p>
        </p:txBody>
      </p:sp>
      <p:sp>
        <p:nvSpPr>
          <p:cNvPr id="5" name="Dátum helye 5"/>
          <p:cNvSpPr>
            <a:spLocks noGrp="1"/>
          </p:cNvSpPr>
          <p:nvPr>
            <p:ph type="dt" sz="half" idx="10"/>
          </p:nvPr>
        </p:nvSpPr>
        <p:spPr>
          <a:xfrm>
            <a:off x="8077200" y="6356351"/>
            <a:ext cx="2133600" cy="365125"/>
          </a:xfrm>
        </p:spPr>
        <p:txBody>
          <a:bodyPr/>
          <a:lstStyle/>
          <a:p>
            <a:pPr algn="r">
              <a:defRPr/>
            </a:pPr>
            <a:fld id="{632E6961-FD56-442D-996C-318DC1FC66B8}" type="datetime4">
              <a:rPr lang="hu-HU"/>
              <a:pPr algn="r">
                <a:defRPr/>
              </a:pPr>
              <a:t>2024. november 28.</a:t>
            </a:fld>
            <a:endParaRPr lang="hu-HU"/>
          </a:p>
        </p:txBody>
      </p:sp>
      <p:sp>
        <p:nvSpPr>
          <p:cNvPr id="41986"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DBC52B9F-938E-4969-BDBD-FAC9AF14D7ED}" type="slidenum">
              <a:rPr lang="hu-HU" altLang="hu-HU" sz="1200">
                <a:solidFill>
                  <a:srgbClr val="898989"/>
                </a:solidFill>
              </a:rPr>
              <a:pPr algn="ctr">
                <a:spcBef>
                  <a:spcPct val="0"/>
                </a:spcBef>
                <a:buFontTx/>
                <a:buNone/>
              </a:pPr>
              <a:t>306</a:t>
            </a:fld>
            <a:endParaRPr lang="hu-HU" altLang="hu-HU" sz="1200">
              <a:solidFill>
                <a:srgbClr val="898989"/>
              </a:solidFill>
            </a:endParaRPr>
          </a:p>
        </p:txBody>
      </p:sp>
    </p:spTree>
    <p:extLst>
      <p:ext uri="{BB962C8B-B14F-4D97-AF65-F5344CB8AC3E}">
        <p14:creationId xmlns:p14="http://schemas.microsoft.com/office/powerpoint/2010/main" val="3750395606"/>
      </p:ext>
    </p:extLst>
  </p:cSld>
  <p:clrMapOvr>
    <a:masterClrMapping/>
  </p:clrMapOvr>
  <p:timing>
    <p:tnLst>
      <p:par>
        <p:cTn id="1" dur="indefinite" restart="never" nodeType="tmRoot"/>
      </p:par>
    </p:tnLst>
  </p:timing>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p:cNvSpPr>
            <a:spLocks noGrp="1" noChangeArrowheads="1"/>
          </p:cNvSpPr>
          <p:nvPr>
            <p:ph type="title"/>
          </p:nvPr>
        </p:nvSpPr>
        <p:spPr>
          <a:xfrm>
            <a:off x="1992313" y="246063"/>
            <a:ext cx="8229600" cy="1143000"/>
          </a:xfrm>
        </p:spPr>
        <p:txBody>
          <a:bodyPr/>
          <a:lstStyle/>
          <a:p>
            <a:pPr eaLnBrk="1" hangingPunct="1"/>
            <a:r>
              <a:rPr lang="hu-HU" altLang="hu-HU" smtClean="0"/>
              <a:t>Esemény</a:t>
            </a:r>
          </a:p>
        </p:txBody>
      </p:sp>
      <p:sp>
        <p:nvSpPr>
          <p:cNvPr id="44037" name="Rectangle 3"/>
          <p:cNvSpPr>
            <a:spLocks noGrp="1" noChangeArrowheads="1"/>
          </p:cNvSpPr>
          <p:nvPr>
            <p:ph idx="1"/>
          </p:nvPr>
        </p:nvSpPr>
        <p:spPr>
          <a:xfrm>
            <a:off x="1992313" y="1412876"/>
            <a:ext cx="7993062" cy="5445125"/>
          </a:xfrm>
        </p:spPr>
        <p:txBody>
          <a:bodyPr/>
          <a:lstStyle/>
          <a:p>
            <a:pPr eaLnBrk="1" hangingPunct="1"/>
            <a:r>
              <a:rPr lang="hu-HU" altLang="hu-HU"/>
              <a:t>Az esemény egyetlen időpillanathoz kapcsolódik.</a:t>
            </a:r>
          </a:p>
          <a:p>
            <a:pPr lvl="1" eaLnBrk="1" hangingPunct="1"/>
            <a:r>
              <a:rPr lang="hu-HU" altLang="hu-HU"/>
              <a:t>Az állapot két esemény közötti időtartamot határoz meg.</a:t>
            </a:r>
          </a:p>
          <a:p>
            <a:pPr eaLnBrk="1" hangingPunct="1"/>
            <a:r>
              <a:rPr lang="hu-HU" altLang="hu-HU"/>
              <a:t>Ha egy átmenethez nincs esemény megadva</a:t>
            </a:r>
            <a:r>
              <a:rPr lang="hu-HU" altLang="hu-HU" smtClean="0"/>
              <a:t> </a:t>
            </a:r>
            <a:r>
              <a:rPr lang="hu-HU" altLang="hu-HU"/>
              <a:t>- az esemény nélküli állapotváltás esetén: </a:t>
            </a:r>
          </a:p>
          <a:p>
            <a:pPr lvl="1" eaLnBrk="1" hangingPunct="1"/>
            <a:r>
              <a:rPr lang="hu-HU" altLang="hu-HU"/>
              <a:t>az objektum az állapothoz rendelt tevékenységet végrehajtva automatikusan a következő állapotba kerül</a:t>
            </a:r>
          </a:p>
        </p:txBody>
      </p:sp>
      <p:sp>
        <p:nvSpPr>
          <p:cNvPr id="5" name="Dátum helye 5"/>
          <p:cNvSpPr>
            <a:spLocks noGrp="1"/>
          </p:cNvSpPr>
          <p:nvPr>
            <p:ph type="dt" sz="half" idx="10"/>
          </p:nvPr>
        </p:nvSpPr>
        <p:spPr>
          <a:xfrm>
            <a:off x="8077200" y="6356351"/>
            <a:ext cx="2133600" cy="365125"/>
          </a:xfrm>
        </p:spPr>
        <p:txBody>
          <a:bodyPr/>
          <a:lstStyle/>
          <a:p>
            <a:pPr algn="r">
              <a:defRPr/>
            </a:pPr>
            <a:fld id="{D425000D-D790-47F6-BC21-FF4EEBF13E93}" type="datetime4">
              <a:rPr lang="hu-HU"/>
              <a:pPr algn="r">
                <a:defRPr/>
              </a:pPr>
              <a:t>2024. november 28.</a:t>
            </a:fld>
            <a:endParaRPr lang="hu-HU"/>
          </a:p>
        </p:txBody>
      </p:sp>
      <p:sp>
        <p:nvSpPr>
          <p:cNvPr id="44034"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F59F309C-45DC-4DF1-BC3C-C5420DC4CD56}" type="slidenum">
              <a:rPr lang="hu-HU" altLang="hu-HU" sz="1200">
                <a:solidFill>
                  <a:srgbClr val="898989"/>
                </a:solidFill>
              </a:rPr>
              <a:pPr algn="ctr">
                <a:spcBef>
                  <a:spcPct val="0"/>
                </a:spcBef>
                <a:buFontTx/>
                <a:buNone/>
              </a:pPr>
              <a:t>307</a:t>
            </a:fld>
            <a:endParaRPr lang="hu-HU" altLang="hu-HU" sz="1200">
              <a:solidFill>
                <a:srgbClr val="898989"/>
              </a:solidFill>
            </a:endParaRPr>
          </a:p>
        </p:txBody>
      </p:sp>
    </p:spTree>
    <p:extLst>
      <p:ext uri="{BB962C8B-B14F-4D97-AF65-F5344CB8AC3E}">
        <p14:creationId xmlns:p14="http://schemas.microsoft.com/office/powerpoint/2010/main" val="629414997"/>
      </p:ext>
    </p:extLst>
  </p:cSld>
  <p:clrMapOvr>
    <a:masterClrMapping/>
  </p:clrMapOvr>
  <p:timing>
    <p:tnLst>
      <p:par>
        <p:cTn id="1" dur="indefinite" restart="never" nodeType="tmRoot"/>
      </p:par>
    </p:tnLst>
  </p:timing>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p:cNvSpPr>
            <a:spLocks noGrp="1" noChangeArrowheads="1"/>
          </p:cNvSpPr>
          <p:nvPr>
            <p:ph type="title"/>
          </p:nvPr>
        </p:nvSpPr>
        <p:spPr>
          <a:xfrm>
            <a:off x="2022475" y="304800"/>
            <a:ext cx="8229600" cy="908050"/>
          </a:xfrm>
        </p:spPr>
        <p:txBody>
          <a:bodyPr/>
          <a:lstStyle/>
          <a:p>
            <a:pPr eaLnBrk="1" hangingPunct="1"/>
            <a:r>
              <a:rPr lang="hu-HU" altLang="hu-HU" smtClean="0"/>
              <a:t>Feltétel</a:t>
            </a:r>
          </a:p>
        </p:txBody>
      </p:sp>
      <p:sp>
        <p:nvSpPr>
          <p:cNvPr id="46085" name="Rectangle 3"/>
          <p:cNvSpPr>
            <a:spLocks noGrp="1" noChangeArrowheads="1"/>
          </p:cNvSpPr>
          <p:nvPr>
            <p:ph idx="1"/>
          </p:nvPr>
        </p:nvSpPr>
        <p:spPr>
          <a:xfrm>
            <a:off x="2211388" y="1474789"/>
            <a:ext cx="7962900" cy="3627437"/>
          </a:xfrm>
        </p:spPr>
        <p:txBody>
          <a:bodyPr/>
          <a:lstStyle/>
          <a:p>
            <a:pPr eaLnBrk="1" hangingPunct="1">
              <a:lnSpc>
                <a:spcPct val="90000"/>
              </a:lnSpc>
            </a:pPr>
            <a:r>
              <a:rPr lang="hu-HU" altLang="hu-HU"/>
              <a:t>Az átmenet feltétele.</a:t>
            </a:r>
          </a:p>
          <a:p>
            <a:pPr eaLnBrk="1" hangingPunct="1">
              <a:lnSpc>
                <a:spcPct val="90000"/>
              </a:lnSpc>
            </a:pPr>
            <a:r>
              <a:rPr lang="hu-HU" altLang="hu-HU"/>
              <a:t>Más  néven: őrszem – guard.</a:t>
            </a:r>
          </a:p>
          <a:p>
            <a:pPr eaLnBrk="1" hangingPunct="1">
              <a:lnSpc>
                <a:spcPct val="90000"/>
              </a:lnSpc>
            </a:pPr>
            <a:r>
              <a:rPr lang="hu-HU" altLang="hu-HU"/>
              <a:t>A feltétel maga is az objektum állapotára utal, de ezt nem jelöljük külön névvel.</a:t>
            </a:r>
          </a:p>
          <a:p>
            <a:pPr eaLnBrk="1" hangingPunct="1">
              <a:lnSpc>
                <a:spcPct val="90000"/>
              </a:lnSpc>
            </a:pPr>
            <a:r>
              <a:rPr lang="hu-HU" altLang="hu-HU"/>
              <a:t>A feltétel megadása: </a:t>
            </a:r>
          </a:p>
          <a:p>
            <a:pPr lvl="1" eaLnBrk="1" hangingPunct="1">
              <a:lnSpc>
                <a:spcPct val="90000"/>
              </a:lnSpc>
            </a:pPr>
            <a:r>
              <a:rPr lang="hu-HU" altLang="hu-HU"/>
              <a:t>szögletes zárójelek [feltétel] között az esemény neve után.</a:t>
            </a:r>
          </a:p>
        </p:txBody>
      </p:sp>
      <p:sp>
        <p:nvSpPr>
          <p:cNvPr id="5" name="Dátum helye 5"/>
          <p:cNvSpPr>
            <a:spLocks noGrp="1"/>
          </p:cNvSpPr>
          <p:nvPr>
            <p:ph type="dt" sz="half" idx="10"/>
          </p:nvPr>
        </p:nvSpPr>
        <p:spPr>
          <a:xfrm>
            <a:off x="8077200" y="6356351"/>
            <a:ext cx="2133600" cy="365125"/>
          </a:xfrm>
        </p:spPr>
        <p:txBody>
          <a:bodyPr/>
          <a:lstStyle/>
          <a:p>
            <a:pPr algn="r">
              <a:defRPr/>
            </a:pPr>
            <a:fld id="{96BBD92A-9ECE-405C-9E44-84D6D6706F4B}" type="datetime4">
              <a:rPr lang="hu-HU"/>
              <a:pPr algn="r">
                <a:defRPr/>
              </a:pPr>
              <a:t>2024. november 28.</a:t>
            </a:fld>
            <a:endParaRPr lang="hu-HU"/>
          </a:p>
        </p:txBody>
      </p:sp>
      <p:sp>
        <p:nvSpPr>
          <p:cNvPr id="46082"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53ADB26C-226B-43BA-B7F3-21DD33296496}" type="slidenum">
              <a:rPr lang="hu-HU" altLang="hu-HU" sz="1200">
                <a:solidFill>
                  <a:srgbClr val="898989"/>
                </a:solidFill>
              </a:rPr>
              <a:pPr algn="ctr">
                <a:spcBef>
                  <a:spcPct val="0"/>
                </a:spcBef>
                <a:buFontTx/>
                <a:buNone/>
              </a:pPr>
              <a:t>308</a:t>
            </a:fld>
            <a:endParaRPr lang="hu-HU" altLang="hu-HU" sz="1200">
              <a:solidFill>
                <a:srgbClr val="898989"/>
              </a:solidFill>
            </a:endParaRPr>
          </a:p>
        </p:txBody>
      </p:sp>
    </p:spTree>
    <p:extLst>
      <p:ext uri="{BB962C8B-B14F-4D97-AF65-F5344CB8AC3E}">
        <p14:creationId xmlns:p14="http://schemas.microsoft.com/office/powerpoint/2010/main" val="292664446"/>
      </p:ext>
    </p:extLst>
  </p:cSld>
  <p:clrMapOvr>
    <a:masterClrMapping/>
  </p:clrMapOvr>
  <p:timing>
    <p:tnLst>
      <p:par>
        <p:cTn id="1" dur="indefinite" restart="never" nodeType="tmRoot"/>
      </p:par>
    </p:tnLst>
  </p:timing>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2"/>
          <p:cNvSpPr>
            <a:spLocks noGrp="1" noChangeArrowheads="1"/>
          </p:cNvSpPr>
          <p:nvPr>
            <p:ph type="title"/>
          </p:nvPr>
        </p:nvSpPr>
        <p:spPr>
          <a:xfrm>
            <a:off x="1978025" y="377825"/>
            <a:ext cx="8229600" cy="908050"/>
          </a:xfrm>
        </p:spPr>
        <p:txBody>
          <a:bodyPr/>
          <a:lstStyle/>
          <a:p>
            <a:pPr eaLnBrk="1" hangingPunct="1"/>
            <a:r>
              <a:rPr lang="hu-HU" altLang="hu-HU" smtClean="0"/>
              <a:t>Feltétel</a:t>
            </a:r>
          </a:p>
        </p:txBody>
      </p:sp>
      <p:sp>
        <p:nvSpPr>
          <p:cNvPr id="48133" name="Rectangle 3"/>
          <p:cNvSpPr>
            <a:spLocks noGrp="1" noChangeArrowheads="1"/>
          </p:cNvSpPr>
          <p:nvPr>
            <p:ph idx="1"/>
          </p:nvPr>
        </p:nvSpPr>
        <p:spPr>
          <a:xfrm>
            <a:off x="1890714" y="1403351"/>
            <a:ext cx="8269287" cy="4410075"/>
          </a:xfrm>
        </p:spPr>
        <p:txBody>
          <a:bodyPr/>
          <a:lstStyle/>
          <a:p>
            <a:pPr eaLnBrk="1" hangingPunct="1">
              <a:lnSpc>
                <a:spcPct val="90000"/>
              </a:lnSpc>
            </a:pPr>
            <a:r>
              <a:rPr lang="hu-HU" altLang="hu-HU"/>
              <a:t>Az objektum egy adott állapotából vagy egy esemény hatására vagy automatikus átmenettel csak akkor vált át az átmenet által meghatározott állapotba, ha teljesíti az őrszemként megadott feltételt, vagyis</a:t>
            </a:r>
          </a:p>
          <a:p>
            <a:pPr lvl="1" eaLnBrk="1" hangingPunct="1">
              <a:lnSpc>
                <a:spcPct val="90000"/>
              </a:lnSpc>
            </a:pPr>
            <a:r>
              <a:rPr lang="hu-HU" altLang="hu-HU"/>
              <a:t>ha az átmenet feltételhez van kötve, az állapotváltás csak az esemény bekövetkezése ÉS a feltétel igaz értékének bekövetkezése esetén történik meg.</a:t>
            </a:r>
          </a:p>
          <a:p>
            <a:pPr eaLnBrk="1" hangingPunct="1">
              <a:lnSpc>
                <a:spcPct val="90000"/>
              </a:lnSpc>
            </a:pPr>
            <a:r>
              <a:rPr lang="hu-HU" altLang="hu-HU"/>
              <a:t>A feltétel hamis értéke esetén az állapot nem változik.</a:t>
            </a:r>
          </a:p>
        </p:txBody>
      </p:sp>
      <p:sp>
        <p:nvSpPr>
          <p:cNvPr id="5" name="Dátum helye 5"/>
          <p:cNvSpPr>
            <a:spLocks noGrp="1"/>
          </p:cNvSpPr>
          <p:nvPr>
            <p:ph type="dt" sz="half" idx="10"/>
          </p:nvPr>
        </p:nvSpPr>
        <p:spPr>
          <a:xfrm>
            <a:off x="8077200" y="6356351"/>
            <a:ext cx="2133600" cy="365125"/>
          </a:xfrm>
        </p:spPr>
        <p:txBody>
          <a:bodyPr/>
          <a:lstStyle/>
          <a:p>
            <a:pPr algn="r">
              <a:defRPr/>
            </a:pPr>
            <a:fld id="{3B2E22C2-6D17-4228-AE32-8B6E7D6B1A7B}" type="datetime4">
              <a:rPr lang="hu-HU"/>
              <a:pPr algn="r">
                <a:defRPr/>
              </a:pPr>
              <a:t>2024. november 28.</a:t>
            </a:fld>
            <a:endParaRPr lang="hu-HU"/>
          </a:p>
        </p:txBody>
      </p:sp>
      <p:sp>
        <p:nvSpPr>
          <p:cNvPr id="48130"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8C2323BB-5B7D-4E06-9EF7-A821407188D1}" type="slidenum">
              <a:rPr lang="hu-HU" altLang="hu-HU" sz="1200">
                <a:solidFill>
                  <a:srgbClr val="898989"/>
                </a:solidFill>
              </a:rPr>
              <a:pPr algn="ctr">
                <a:spcBef>
                  <a:spcPct val="0"/>
                </a:spcBef>
                <a:buFontTx/>
                <a:buNone/>
              </a:pPr>
              <a:t>309</a:t>
            </a:fld>
            <a:endParaRPr lang="hu-HU" altLang="hu-HU" sz="1200">
              <a:solidFill>
                <a:srgbClr val="898989"/>
              </a:solidFill>
            </a:endParaRPr>
          </a:p>
        </p:txBody>
      </p:sp>
    </p:spTree>
    <p:extLst>
      <p:ext uri="{BB962C8B-B14F-4D97-AF65-F5344CB8AC3E}">
        <p14:creationId xmlns:p14="http://schemas.microsoft.com/office/powerpoint/2010/main" val="1471262251"/>
      </p:ext>
    </p:extLst>
  </p:cSld>
  <p:clrMapOvr>
    <a:masterClrMapping/>
  </p:clrMapOvr>
  <p:timing>
    <p:tnLst>
      <p:par>
        <p:cTn id="1" dur="indefinite" restart="never" nodeType="tmRoot"/>
      </p:par>
    </p:tnLst>
  </p:timing>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2"/>
          <p:cNvSpPr>
            <a:spLocks noGrp="1" noChangeArrowheads="1"/>
          </p:cNvSpPr>
          <p:nvPr>
            <p:ph type="title"/>
          </p:nvPr>
        </p:nvSpPr>
        <p:spPr/>
        <p:txBody>
          <a:bodyPr/>
          <a:lstStyle/>
          <a:p>
            <a:pPr eaLnBrk="1" hangingPunct="1"/>
            <a:r>
              <a:rPr lang="hu-HU" altLang="hu-HU" smtClean="0"/>
              <a:t>Tevékenységek/activities</a:t>
            </a:r>
          </a:p>
        </p:txBody>
      </p:sp>
      <p:sp>
        <p:nvSpPr>
          <p:cNvPr id="50181" name="Rectangle 3"/>
          <p:cNvSpPr>
            <a:spLocks noGrp="1" noChangeArrowheads="1"/>
          </p:cNvSpPr>
          <p:nvPr>
            <p:ph idx="1"/>
          </p:nvPr>
        </p:nvSpPr>
        <p:spPr>
          <a:xfrm>
            <a:off x="1992314" y="1543051"/>
            <a:ext cx="8218487" cy="4454525"/>
          </a:xfrm>
        </p:spPr>
        <p:txBody>
          <a:bodyPr/>
          <a:lstStyle/>
          <a:p>
            <a:pPr eaLnBrk="1" hangingPunct="1"/>
            <a:r>
              <a:rPr lang="hu-HU" altLang="hu-HU"/>
              <a:t>Az állapotokhoz megadhatók végrehajtandó tevékenységek</a:t>
            </a:r>
          </a:p>
          <a:p>
            <a:pPr lvl="1" eaLnBrk="1" hangingPunct="1"/>
            <a:r>
              <a:rPr lang="hu-HU" altLang="hu-HU"/>
              <a:t>az objektumok meghatározott ideig vannak egy adott állapotban, eközben különböző tevékenységeket végezhetnek.</a:t>
            </a:r>
          </a:p>
          <a:p>
            <a:pPr eaLnBrk="1" hangingPunct="1"/>
            <a:r>
              <a:rPr lang="hu-HU" altLang="hu-HU"/>
              <a:t>A tevékenységek végrehajtása időt vesz igénybe, tehát a tevékenységekhez időtartam tartozik.</a:t>
            </a:r>
          </a:p>
          <a:p>
            <a:pPr eaLnBrk="1" hangingPunct="1"/>
            <a:r>
              <a:rPr lang="hu-HU" altLang="hu-HU"/>
              <a:t>A tevékenyek végrehajtása alatt az állapot nem változik.</a:t>
            </a:r>
          </a:p>
          <a:p>
            <a:pPr eaLnBrk="1" hangingPunct="1"/>
            <a:endParaRPr lang="hu-HU" altLang="hu-HU"/>
          </a:p>
        </p:txBody>
      </p:sp>
      <p:sp>
        <p:nvSpPr>
          <p:cNvPr id="5" name="Dátum helye 5"/>
          <p:cNvSpPr>
            <a:spLocks noGrp="1"/>
          </p:cNvSpPr>
          <p:nvPr>
            <p:ph type="dt" sz="half" idx="10"/>
          </p:nvPr>
        </p:nvSpPr>
        <p:spPr>
          <a:xfrm>
            <a:off x="8077200" y="6356351"/>
            <a:ext cx="2133600" cy="365125"/>
          </a:xfrm>
        </p:spPr>
        <p:txBody>
          <a:bodyPr/>
          <a:lstStyle/>
          <a:p>
            <a:pPr algn="r">
              <a:defRPr/>
            </a:pPr>
            <a:fld id="{9FD2FB17-ACF8-4D01-99AF-59D41E12616B}" type="datetime4">
              <a:rPr lang="hu-HU"/>
              <a:pPr algn="r">
                <a:defRPr/>
              </a:pPr>
              <a:t>2024. november 28.</a:t>
            </a:fld>
            <a:endParaRPr lang="hu-HU"/>
          </a:p>
        </p:txBody>
      </p:sp>
      <p:sp>
        <p:nvSpPr>
          <p:cNvPr id="50178"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91E1FFD9-391F-486D-9C03-5C4DBB7A7FFD}" type="slidenum">
              <a:rPr lang="hu-HU" altLang="hu-HU" sz="1200">
                <a:solidFill>
                  <a:srgbClr val="898989"/>
                </a:solidFill>
              </a:rPr>
              <a:pPr algn="ctr">
                <a:spcBef>
                  <a:spcPct val="0"/>
                </a:spcBef>
                <a:buFontTx/>
                <a:buNone/>
              </a:pPr>
              <a:t>310</a:t>
            </a:fld>
            <a:endParaRPr lang="hu-HU" altLang="hu-HU" sz="1200">
              <a:solidFill>
                <a:srgbClr val="898989"/>
              </a:solidFill>
            </a:endParaRPr>
          </a:p>
        </p:txBody>
      </p:sp>
    </p:spTree>
    <p:extLst>
      <p:ext uri="{BB962C8B-B14F-4D97-AF65-F5344CB8AC3E}">
        <p14:creationId xmlns:p14="http://schemas.microsoft.com/office/powerpoint/2010/main" val="1891677942"/>
      </p:ext>
    </p:extLst>
  </p:cSld>
  <p:clrMapOvr>
    <a:masterClrMapping/>
  </p:clrMapOvr>
  <p:timing>
    <p:tnLst>
      <p:par>
        <p:cTn id="1" dur="indefinite" restart="never" nodeType="tmRoot"/>
      </p:par>
    </p:tnLst>
  </p:timing>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2"/>
          <p:cNvSpPr>
            <a:spLocks noGrp="1" noChangeArrowheads="1"/>
          </p:cNvSpPr>
          <p:nvPr>
            <p:ph type="title"/>
          </p:nvPr>
        </p:nvSpPr>
        <p:spPr/>
        <p:txBody>
          <a:bodyPr/>
          <a:lstStyle/>
          <a:p>
            <a:pPr eaLnBrk="1" hangingPunct="1"/>
            <a:r>
              <a:rPr lang="hu-HU" altLang="hu-HU" smtClean="0"/>
              <a:t>Tevékenységek, akciók</a:t>
            </a:r>
          </a:p>
        </p:txBody>
      </p:sp>
      <p:sp>
        <p:nvSpPr>
          <p:cNvPr id="52229" name="Rectangle 3"/>
          <p:cNvSpPr>
            <a:spLocks noGrp="1" noChangeArrowheads="1"/>
          </p:cNvSpPr>
          <p:nvPr>
            <p:ph idx="1"/>
          </p:nvPr>
        </p:nvSpPr>
        <p:spPr/>
        <p:txBody>
          <a:bodyPr/>
          <a:lstStyle/>
          <a:p>
            <a:pPr eaLnBrk="1" hangingPunct="1"/>
            <a:r>
              <a:rPr lang="hu-HU" altLang="hu-HU"/>
              <a:t>„akció” – az átmenettel kapcsolatban </a:t>
            </a:r>
          </a:p>
          <a:p>
            <a:pPr lvl="1" eaLnBrk="1" hangingPunct="1"/>
            <a:r>
              <a:rPr lang="hu-HU" altLang="hu-HU"/>
              <a:t>az objektum által végzett elemi műveletek</a:t>
            </a:r>
          </a:p>
          <a:p>
            <a:pPr eaLnBrk="1" hangingPunct="1"/>
            <a:r>
              <a:rPr lang="hu-HU" altLang="hu-HU"/>
              <a:t>„tevékenység/activity” – az állapottal kapcsolatban </a:t>
            </a:r>
          </a:p>
          <a:p>
            <a:pPr lvl="1" eaLnBrk="1" hangingPunct="1"/>
            <a:r>
              <a:rPr lang="hu-HU" altLang="hu-HU"/>
              <a:t>elemi műveletekből álló tevékenységek</a:t>
            </a:r>
          </a:p>
          <a:p>
            <a:pPr eaLnBrk="1" hangingPunct="1"/>
            <a:r>
              <a:rPr lang="hu-HU" altLang="hu-HU"/>
              <a:t>Mindkettő eljárás, művelet, amelyek az objektum metódusaként implementálhatók.</a:t>
            </a:r>
          </a:p>
        </p:txBody>
      </p:sp>
      <p:sp>
        <p:nvSpPr>
          <p:cNvPr id="5" name="Dátum helye 5"/>
          <p:cNvSpPr>
            <a:spLocks noGrp="1"/>
          </p:cNvSpPr>
          <p:nvPr>
            <p:ph type="dt" sz="half" idx="10"/>
          </p:nvPr>
        </p:nvSpPr>
        <p:spPr>
          <a:xfrm>
            <a:off x="8077200" y="6356351"/>
            <a:ext cx="2133600" cy="365125"/>
          </a:xfrm>
        </p:spPr>
        <p:txBody>
          <a:bodyPr/>
          <a:lstStyle/>
          <a:p>
            <a:pPr algn="r">
              <a:defRPr/>
            </a:pPr>
            <a:fld id="{03CB0B94-2F1A-4F71-B5E5-DF3C9F61560C}" type="datetime4">
              <a:rPr lang="hu-HU"/>
              <a:pPr algn="r">
                <a:defRPr/>
              </a:pPr>
              <a:t>2024. november 28.</a:t>
            </a:fld>
            <a:endParaRPr lang="hu-HU"/>
          </a:p>
        </p:txBody>
      </p:sp>
      <p:sp>
        <p:nvSpPr>
          <p:cNvPr id="52226"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AE5E9BBA-704F-4CBB-B2D1-25B8A6C8654B}" type="slidenum">
              <a:rPr lang="hu-HU" altLang="hu-HU" sz="1200">
                <a:solidFill>
                  <a:srgbClr val="898989"/>
                </a:solidFill>
              </a:rPr>
              <a:pPr algn="ctr">
                <a:spcBef>
                  <a:spcPct val="0"/>
                </a:spcBef>
                <a:buFontTx/>
                <a:buNone/>
              </a:pPr>
              <a:t>311</a:t>
            </a:fld>
            <a:endParaRPr lang="hu-HU" altLang="hu-HU" sz="1200">
              <a:solidFill>
                <a:srgbClr val="898989"/>
              </a:solidFill>
            </a:endParaRPr>
          </a:p>
        </p:txBody>
      </p:sp>
    </p:spTree>
    <p:extLst>
      <p:ext uri="{BB962C8B-B14F-4D97-AF65-F5344CB8AC3E}">
        <p14:creationId xmlns:p14="http://schemas.microsoft.com/office/powerpoint/2010/main" val="1961863701"/>
      </p:ext>
    </p:extLst>
  </p:cSld>
  <p:clrMapOvr>
    <a:masterClrMapping/>
  </p:clrMapOvr>
  <p:timing>
    <p:tnLst>
      <p:par>
        <p:cTn id="1" dur="indefinite" restart="never" nodeType="tmRoot"/>
      </p:par>
    </p:tnLst>
  </p:timing>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2"/>
          <p:cNvSpPr>
            <a:spLocks noGrp="1" noChangeArrowheads="1"/>
          </p:cNvSpPr>
          <p:nvPr>
            <p:ph type="title"/>
          </p:nvPr>
        </p:nvSpPr>
        <p:spPr>
          <a:xfrm>
            <a:off x="1992313" y="203200"/>
            <a:ext cx="8229600" cy="1143000"/>
          </a:xfrm>
        </p:spPr>
        <p:txBody>
          <a:bodyPr/>
          <a:lstStyle/>
          <a:p>
            <a:pPr eaLnBrk="1" hangingPunct="1"/>
            <a:r>
              <a:rPr lang="hu-HU" altLang="hu-HU" smtClean="0"/>
              <a:t>Tevékenységek, akciók</a:t>
            </a:r>
          </a:p>
        </p:txBody>
      </p:sp>
      <p:sp>
        <p:nvSpPr>
          <p:cNvPr id="54277" name="Rectangle 3"/>
          <p:cNvSpPr>
            <a:spLocks noGrp="1" noChangeArrowheads="1"/>
          </p:cNvSpPr>
          <p:nvPr>
            <p:ph idx="1"/>
          </p:nvPr>
        </p:nvSpPr>
        <p:spPr>
          <a:xfrm>
            <a:off x="1847850" y="1487489"/>
            <a:ext cx="8820150" cy="6021387"/>
          </a:xfrm>
        </p:spPr>
        <p:txBody>
          <a:bodyPr/>
          <a:lstStyle/>
          <a:p>
            <a:pPr eaLnBrk="1" hangingPunct="1">
              <a:lnSpc>
                <a:spcPct val="90000"/>
              </a:lnSpc>
            </a:pPr>
            <a:r>
              <a:rPr lang="hu-HU" altLang="hu-HU" sz="2400"/>
              <a:t>A tevékenységek olyan műveletek:</a:t>
            </a:r>
          </a:p>
          <a:p>
            <a:pPr lvl="1" eaLnBrk="1" hangingPunct="1">
              <a:lnSpc>
                <a:spcPct val="90000"/>
              </a:lnSpc>
            </a:pPr>
            <a:r>
              <a:rPr lang="hu-HU" altLang="hu-HU" sz="2000"/>
              <a:t>összetettebbek, további lépésekre bonthatók</a:t>
            </a:r>
          </a:p>
          <a:p>
            <a:pPr lvl="1" eaLnBrk="1" hangingPunct="1">
              <a:lnSpc>
                <a:spcPct val="90000"/>
              </a:lnSpc>
            </a:pPr>
            <a:r>
              <a:rPr lang="hu-HU" altLang="hu-HU" sz="2000"/>
              <a:t>események által megszakítható tevékenységek a végrehajtás folyamatában</a:t>
            </a:r>
          </a:p>
          <a:p>
            <a:pPr lvl="1" eaLnBrk="1" hangingPunct="1">
              <a:lnSpc>
                <a:spcPct val="90000"/>
              </a:lnSpc>
            </a:pPr>
            <a:r>
              <a:rPr lang="hu-HU" altLang="hu-HU" sz="2000"/>
              <a:t>az elemi műveletekből (akciók) álló tevékenységek elvégzéséhez meghatározott időre van szükség – ezért az állapotokhoz kapcsolhatók</a:t>
            </a:r>
          </a:p>
          <a:p>
            <a:pPr eaLnBrk="1" hangingPunct="1">
              <a:lnSpc>
                <a:spcPct val="90000"/>
              </a:lnSpc>
            </a:pPr>
            <a:r>
              <a:rPr lang="hu-HU" altLang="hu-HU" sz="2400"/>
              <a:t>Az akciók olyan pillanatnyi műveletek: </a:t>
            </a:r>
          </a:p>
          <a:p>
            <a:pPr lvl="1" eaLnBrk="1" hangingPunct="1">
              <a:lnSpc>
                <a:spcPct val="90000"/>
              </a:lnSpc>
            </a:pPr>
            <a:r>
              <a:rPr lang="hu-HU" altLang="hu-HU" sz="2000"/>
              <a:t>a funkció-hierarchia legalsó szintjén elhelyezkedő elemi műveletek un. atomi műveletek - további lépésekre nem bonthatók</a:t>
            </a:r>
          </a:p>
          <a:p>
            <a:pPr lvl="1" eaLnBrk="1" hangingPunct="1">
              <a:lnSpc>
                <a:spcPct val="90000"/>
              </a:lnSpc>
            </a:pPr>
            <a:r>
              <a:rPr lang="hu-HU" altLang="hu-HU" sz="2000"/>
              <a:t>nem szakíthatók meg, nem rendelünk hozzájuk időtartamot – ezért az átmenethez kapcsolhatók</a:t>
            </a:r>
          </a:p>
          <a:p>
            <a:pPr lvl="1" eaLnBrk="1" hangingPunct="1">
              <a:lnSpc>
                <a:spcPct val="90000"/>
              </a:lnSpc>
            </a:pPr>
            <a:r>
              <a:rPr lang="hu-HU" altLang="hu-HU" sz="2000"/>
              <a:t>pl. számítási műveletek, objektum manipulálására vonatkozó kérések stb.</a:t>
            </a:r>
          </a:p>
        </p:txBody>
      </p:sp>
      <p:sp>
        <p:nvSpPr>
          <p:cNvPr id="5" name="Dátum helye 5"/>
          <p:cNvSpPr>
            <a:spLocks noGrp="1"/>
          </p:cNvSpPr>
          <p:nvPr>
            <p:ph type="dt" sz="half" idx="10"/>
          </p:nvPr>
        </p:nvSpPr>
        <p:spPr>
          <a:xfrm>
            <a:off x="8077200" y="6356351"/>
            <a:ext cx="2133600" cy="365125"/>
          </a:xfrm>
        </p:spPr>
        <p:txBody>
          <a:bodyPr/>
          <a:lstStyle/>
          <a:p>
            <a:pPr algn="r">
              <a:defRPr/>
            </a:pPr>
            <a:fld id="{0FDB4632-BDB6-4AF7-A5BD-7D602262DAB5}" type="datetime4">
              <a:rPr lang="hu-HU"/>
              <a:pPr algn="r">
                <a:defRPr/>
              </a:pPr>
              <a:t>2024. november 28.</a:t>
            </a:fld>
            <a:endParaRPr lang="hu-HU"/>
          </a:p>
        </p:txBody>
      </p:sp>
      <p:sp>
        <p:nvSpPr>
          <p:cNvPr id="54274"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E5DC2BC2-A0A2-4420-BBD8-8CD3745691C6}" type="slidenum">
              <a:rPr lang="hu-HU" altLang="hu-HU" sz="1200">
                <a:solidFill>
                  <a:srgbClr val="898989"/>
                </a:solidFill>
              </a:rPr>
              <a:pPr algn="ctr">
                <a:spcBef>
                  <a:spcPct val="0"/>
                </a:spcBef>
                <a:buFontTx/>
                <a:buNone/>
              </a:pPr>
              <a:t>312</a:t>
            </a:fld>
            <a:endParaRPr lang="hu-HU" altLang="hu-HU" sz="1200">
              <a:solidFill>
                <a:srgbClr val="898989"/>
              </a:solidFill>
            </a:endParaRPr>
          </a:p>
        </p:txBody>
      </p:sp>
    </p:spTree>
    <p:extLst>
      <p:ext uri="{BB962C8B-B14F-4D97-AF65-F5344CB8AC3E}">
        <p14:creationId xmlns:p14="http://schemas.microsoft.com/office/powerpoint/2010/main" val="1070679872"/>
      </p:ext>
    </p:extLst>
  </p:cSld>
  <p:clrMapOvr>
    <a:masterClrMapping/>
  </p:clrMapOvr>
  <p:timing>
    <p:tnLst>
      <p:par>
        <p:cTn id="1" dur="indefinite" restart="never" nodeType="tmRoot"/>
      </p:par>
    </p:tnLst>
  </p:timing>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2"/>
          <p:cNvSpPr>
            <a:spLocks noGrp="1" noChangeArrowheads="1"/>
          </p:cNvSpPr>
          <p:nvPr>
            <p:ph type="title"/>
          </p:nvPr>
        </p:nvSpPr>
        <p:spPr/>
        <p:txBody>
          <a:bodyPr/>
          <a:lstStyle/>
          <a:p>
            <a:pPr eaLnBrk="1" hangingPunct="1"/>
            <a:r>
              <a:rPr lang="hu-HU" altLang="hu-HU" smtClean="0"/>
              <a:t>Akciók</a:t>
            </a:r>
          </a:p>
        </p:txBody>
      </p:sp>
      <p:sp>
        <p:nvSpPr>
          <p:cNvPr id="56325" name="Rectangle 3"/>
          <p:cNvSpPr>
            <a:spLocks noGrp="1" noChangeArrowheads="1"/>
          </p:cNvSpPr>
          <p:nvPr>
            <p:ph idx="1"/>
          </p:nvPr>
        </p:nvSpPr>
        <p:spPr/>
        <p:txBody>
          <a:bodyPr/>
          <a:lstStyle/>
          <a:p>
            <a:pPr eaLnBrk="1" hangingPunct="1"/>
            <a:r>
              <a:rPr lang="hu-HU" altLang="hu-HU" smtClean="0"/>
              <a:t>Az állapotokkal kapcsolatban többféle akció különböztethető meg, az állapothoz rendelhető:</a:t>
            </a:r>
          </a:p>
          <a:p>
            <a:pPr lvl="1" eaLnBrk="1" hangingPunct="1"/>
            <a:r>
              <a:rPr lang="hu-HU" altLang="hu-HU" smtClean="0"/>
              <a:t>bemeneti akció – entry action</a:t>
            </a:r>
          </a:p>
          <a:p>
            <a:pPr lvl="1" eaLnBrk="1" hangingPunct="1"/>
            <a:r>
              <a:rPr lang="hu-HU" altLang="hu-HU" smtClean="0"/>
              <a:t>kimeneti akció – exit action</a:t>
            </a:r>
          </a:p>
          <a:p>
            <a:pPr lvl="1" eaLnBrk="1" hangingPunct="1"/>
            <a:r>
              <a:rPr lang="hu-HU" altLang="hu-HU" smtClean="0"/>
              <a:t>belső akció – internal action.</a:t>
            </a:r>
          </a:p>
          <a:p>
            <a:pPr lvl="1" eaLnBrk="1" hangingPunct="1"/>
            <a:endParaRPr lang="hu-HU" altLang="hu-HU" smtClean="0"/>
          </a:p>
        </p:txBody>
      </p:sp>
      <p:sp>
        <p:nvSpPr>
          <p:cNvPr id="5" name="Dátum helye 5"/>
          <p:cNvSpPr>
            <a:spLocks noGrp="1"/>
          </p:cNvSpPr>
          <p:nvPr>
            <p:ph type="dt" sz="half" idx="10"/>
          </p:nvPr>
        </p:nvSpPr>
        <p:spPr>
          <a:xfrm>
            <a:off x="8077200" y="6356351"/>
            <a:ext cx="2133600" cy="365125"/>
          </a:xfrm>
        </p:spPr>
        <p:txBody>
          <a:bodyPr/>
          <a:lstStyle/>
          <a:p>
            <a:pPr algn="r">
              <a:defRPr/>
            </a:pPr>
            <a:fld id="{76AA41FC-F8C5-4D9B-B36C-EFCA84A1EFBD}" type="datetime4">
              <a:rPr lang="hu-HU"/>
              <a:pPr algn="r">
                <a:defRPr/>
              </a:pPr>
              <a:t>2024. november 28.</a:t>
            </a:fld>
            <a:endParaRPr lang="hu-HU"/>
          </a:p>
        </p:txBody>
      </p:sp>
      <p:sp>
        <p:nvSpPr>
          <p:cNvPr id="56322"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BDFC9C92-9C87-4110-B8F5-C04B0A317AAF}" type="slidenum">
              <a:rPr lang="hu-HU" altLang="hu-HU" sz="1200">
                <a:solidFill>
                  <a:srgbClr val="898989"/>
                </a:solidFill>
              </a:rPr>
              <a:pPr algn="ctr">
                <a:spcBef>
                  <a:spcPct val="0"/>
                </a:spcBef>
                <a:buFontTx/>
                <a:buNone/>
              </a:pPr>
              <a:t>313</a:t>
            </a:fld>
            <a:endParaRPr lang="hu-HU" altLang="hu-HU" sz="1200">
              <a:solidFill>
                <a:srgbClr val="898989"/>
              </a:solidFill>
            </a:endParaRPr>
          </a:p>
        </p:txBody>
      </p:sp>
    </p:spTree>
    <p:extLst>
      <p:ext uri="{BB962C8B-B14F-4D97-AF65-F5344CB8AC3E}">
        <p14:creationId xmlns:p14="http://schemas.microsoft.com/office/powerpoint/2010/main" val="2225775512"/>
      </p:ext>
    </p:extLst>
  </p:cSld>
  <p:clrMapOvr>
    <a:masterClrMapping/>
  </p:clrMapOvr>
  <p:timing>
    <p:tnLst>
      <p:par>
        <p:cTn id="1" dur="indefinite" restart="never" nodeType="tmRoot"/>
      </p:par>
    </p:tnLst>
  </p:timing>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2"/>
          <p:cNvSpPr>
            <a:spLocks noGrp="1" noChangeArrowheads="1"/>
          </p:cNvSpPr>
          <p:nvPr>
            <p:ph type="title"/>
          </p:nvPr>
        </p:nvSpPr>
        <p:spPr/>
        <p:txBody>
          <a:bodyPr/>
          <a:lstStyle/>
          <a:p>
            <a:pPr eaLnBrk="1" hangingPunct="1"/>
            <a:r>
              <a:rPr lang="hu-HU" altLang="hu-HU" sz="4000"/>
              <a:t>Bemeneti akció – entry action</a:t>
            </a:r>
          </a:p>
        </p:txBody>
      </p:sp>
      <p:sp>
        <p:nvSpPr>
          <p:cNvPr id="58373" name="Rectangle 3"/>
          <p:cNvSpPr>
            <a:spLocks noGrp="1" noChangeArrowheads="1"/>
          </p:cNvSpPr>
          <p:nvPr>
            <p:ph idx="1"/>
          </p:nvPr>
        </p:nvSpPr>
        <p:spPr>
          <a:xfrm>
            <a:off x="1992314" y="1676401"/>
            <a:ext cx="8218487" cy="4454525"/>
          </a:xfrm>
        </p:spPr>
        <p:txBody>
          <a:bodyPr/>
          <a:lstStyle/>
          <a:p>
            <a:pPr eaLnBrk="1" hangingPunct="1"/>
            <a:r>
              <a:rPr lang="hu-HU" altLang="hu-HU" smtClean="0"/>
              <a:t>Az entry/ jelölés után adható meg.</a:t>
            </a:r>
          </a:p>
          <a:p>
            <a:pPr eaLnBrk="1" hangingPunct="1"/>
            <a:r>
              <a:rPr lang="hu-HU" altLang="hu-HU" smtClean="0"/>
              <a:t>az állapotba történő átváltás (és így a tevékenység) előtt hajtódik végre.</a:t>
            </a:r>
          </a:p>
          <a:p>
            <a:pPr eaLnBrk="1" hangingPunct="1"/>
            <a:r>
              <a:rPr lang="hu-HU" altLang="hu-HU" smtClean="0"/>
              <a:t>Azt az esetet rövidíti, amikor az állapotba vezető minden átmenet esetén azonos tevékenységet akarunk végrehajtani.</a:t>
            </a:r>
          </a:p>
        </p:txBody>
      </p:sp>
      <p:sp>
        <p:nvSpPr>
          <p:cNvPr id="5" name="Dátum helye 5"/>
          <p:cNvSpPr>
            <a:spLocks noGrp="1"/>
          </p:cNvSpPr>
          <p:nvPr>
            <p:ph type="dt" sz="half" idx="10"/>
          </p:nvPr>
        </p:nvSpPr>
        <p:spPr>
          <a:xfrm>
            <a:off x="8077200" y="6356351"/>
            <a:ext cx="2133600" cy="365125"/>
          </a:xfrm>
        </p:spPr>
        <p:txBody>
          <a:bodyPr/>
          <a:lstStyle/>
          <a:p>
            <a:pPr algn="r">
              <a:defRPr/>
            </a:pPr>
            <a:fld id="{4D82F1CC-4B25-474F-8E82-161CC03F0F2B}" type="datetime4">
              <a:rPr lang="hu-HU"/>
              <a:pPr algn="r">
                <a:defRPr/>
              </a:pPr>
              <a:t>2024. november 28.</a:t>
            </a:fld>
            <a:endParaRPr lang="hu-HU"/>
          </a:p>
        </p:txBody>
      </p:sp>
      <p:sp>
        <p:nvSpPr>
          <p:cNvPr id="58370"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C6C975D5-3A69-4004-AD16-A40D9526E03F}" type="slidenum">
              <a:rPr lang="hu-HU" altLang="hu-HU" sz="1200">
                <a:solidFill>
                  <a:srgbClr val="898989"/>
                </a:solidFill>
              </a:rPr>
              <a:pPr algn="ctr">
                <a:spcBef>
                  <a:spcPct val="0"/>
                </a:spcBef>
                <a:buFontTx/>
                <a:buNone/>
              </a:pPr>
              <a:t>314</a:t>
            </a:fld>
            <a:endParaRPr lang="hu-HU" altLang="hu-HU" sz="1200">
              <a:solidFill>
                <a:srgbClr val="898989"/>
              </a:solidFill>
            </a:endParaRPr>
          </a:p>
        </p:txBody>
      </p:sp>
    </p:spTree>
    <p:extLst>
      <p:ext uri="{BB962C8B-B14F-4D97-AF65-F5344CB8AC3E}">
        <p14:creationId xmlns:p14="http://schemas.microsoft.com/office/powerpoint/2010/main" val="785479683"/>
      </p:ext>
    </p:extLst>
  </p:cSld>
  <p:clrMapOvr>
    <a:masterClrMapping/>
  </p:clrMapOvr>
  <p:timing>
    <p:tnLst>
      <p:par>
        <p:cTn id="1" dur="indefinite" restart="never" nodeType="tmRoot"/>
      </p:par>
    </p:tnLst>
  </p:timing>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2"/>
          <p:cNvSpPr>
            <a:spLocks noGrp="1" noChangeArrowheads="1"/>
          </p:cNvSpPr>
          <p:nvPr>
            <p:ph type="title"/>
          </p:nvPr>
        </p:nvSpPr>
        <p:spPr/>
        <p:txBody>
          <a:bodyPr/>
          <a:lstStyle/>
          <a:p>
            <a:pPr eaLnBrk="1" hangingPunct="1"/>
            <a:r>
              <a:rPr lang="hu-HU" altLang="hu-HU" smtClean="0"/>
              <a:t>Kimeneti akció – exit action</a:t>
            </a:r>
          </a:p>
        </p:txBody>
      </p:sp>
      <p:sp>
        <p:nvSpPr>
          <p:cNvPr id="60421" name="Rectangle 3"/>
          <p:cNvSpPr>
            <a:spLocks noGrp="1" noChangeArrowheads="1"/>
          </p:cNvSpPr>
          <p:nvPr>
            <p:ph idx="1"/>
          </p:nvPr>
        </p:nvSpPr>
        <p:spPr/>
        <p:txBody>
          <a:bodyPr/>
          <a:lstStyle/>
          <a:p>
            <a:pPr eaLnBrk="1" hangingPunct="1"/>
            <a:r>
              <a:rPr lang="hu-HU" altLang="hu-HU" smtClean="0"/>
              <a:t>Az exit/ jelölés után adható meg.</a:t>
            </a:r>
          </a:p>
          <a:p>
            <a:pPr eaLnBrk="1" hangingPunct="1"/>
            <a:r>
              <a:rPr lang="hu-HU" altLang="hu-HU" smtClean="0"/>
              <a:t>Az állapotból történő kilépés után hajtódik végre.</a:t>
            </a:r>
          </a:p>
          <a:p>
            <a:pPr eaLnBrk="1" hangingPunct="1"/>
            <a:r>
              <a:rPr lang="hu-HU" altLang="hu-HU" smtClean="0"/>
              <a:t>Azt az esetet rövidíti, amikor az állapotból kivezető minden átmenet esetén azonos tevékenységet akarunk végrehajtani.</a:t>
            </a:r>
          </a:p>
        </p:txBody>
      </p:sp>
      <p:sp>
        <p:nvSpPr>
          <p:cNvPr id="5" name="Dátum helye 5"/>
          <p:cNvSpPr>
            <a:spLocks noGrp="1"/>
          </p:cNvSpPr>
          <p:nvPr>
            <p:ph type="dt" sz="half" idx="10"/>
          </p:nvPr>
        </p:nvSpPr>
        <p:spPr>
          <a:xfrm>
            <a:off x="8077200" y="6356351"/>
            <a:ext cx="2133600" cy="365125"/>
          </a:xfrm>
        </p:spPr>
        <p:txBody>
          <a:bodyPr/>
          <a:lstStyle/>
          <a:p>
            <a:pPr algn="r">
              <a:defRPr/>
            </a:pPr>
            <a:fld id="{DD1B2A0D-D71A-4000-AC61-A198C1309FD3}" type="datetime4">
              <a:rPr lang="hu-HU"/>
              <a:pPr algn="r">
                <a:defRPr/>
              </a:pPr>
              <a:t>2024. november 28.</a:t>
            </a:fld>
            <a:endParaRPr lang="hu-HU"/>
          </a:p>
        </p:txBody>
      </p:sp>
      <p:sp>
        <p:nvSpPr>
          <p:cNvPr id="60418"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BE724A43-3FFE-4CEF-B2E2-51BD863462E3}" type="slidenum">
              <a:rPr lang="hu-HU" altLang="hu-HU" sz="1200">
                <a:solidFill>
                  <a:srgbClr val="898989"/>
                </a:solidFill>
              </a:rPr>
              <a:pPr algn="ctr">
                <a:spcBef>
                  <a:spcPct val="0"/>
                </a:spcBef>
                <a:buFontTx/>
                <a:buNone/>
              </a:pPr>
              <a:t>315</a:t>
            </a:fld>
            <a:endParaRPr lang="hu-HU" altLang="hu-HU" sz="1200">
              <a:solidFill>
                <a:srgbClr val="898989"/>
              </a:solidFill>
            </a:endParaRPr>
          </a:p>
        </p:txBody>
      </p:sp>
    </p:spTree>
    <p:extLst>
      <p:ext uri="{BB962C8B-B14F-4D97-AF65-F5344CB8AC3E}">
        <p14:creationId xmlns:p14="http://schemas.microsoft.com/office/powerpoint/2010/main" val="512841462"/>
      </p:ext>
    </p:extLst>
  </p:cSld>
  <p:clrMapOvr>
    <a:masterClrMapping/>
  </p:clrMapOvr>
  <p:timing>
    <p:tnLst>
      <p:par>
        <p:cTn id="1" dur="indefinite" restart="never" nodeType="tmRoot"/>
      </p:par>
    </p:tnLst>
  </p:timing>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Rectangle 2"/>
          <p:cNvSpPr>
            <a:spLocks noGrp="1" noChangeArrowheads="1"/>
          </p:cNvSpPr>
          <p:nvPr>
            <p:ph type="title"/>
          </p:nvPr>
        </p:nvSpPr>
        <p:spPr/>
        <p:txBody>
          <a:bodyPr/>
          <a:lstStyle/>
          <a:p>
            <a:pPr eaLnBrk="1" hangingPunct="1"/>
            <a:r>
              <a:rPr lang="hu-HU" altLang="hu-HU" smtClean="0"/>
              <a:t>Belső akció – internal action</a:t>
            </a:r>
          </a:p>
        </p:txBody>
      </p:sp>
      <p:sp>
        <p:nvSpPr>
          <p:cNvPr id="62469" name="Rectangle 3"/>
          <p:cNvSpPr>
            <a:spLocks noGrp="1" noChangeArrowheads="1"/>
          </p:cNvSpPr>
          <p:nvPr>
            <p:ph idx="1"/>
          </p:nvPr>
        </p:nvSpPr>
        <p:spPr>
          <a:xfrm>
            <a:off x="1981201" y="1600200"/>
            <a:ext cx="8291513" cy="4852988"/>
          </a:xfrm>
        </p:spPr>
        <p:txBody>
          <a:bodyPr/>
          <a:lstStyle/>
          <a:p>
            <a:pPr eaLnBrk="1" hangingPunct="1">
              <a:lnSpc>
                <a:spcPct val="90000"/>
              </a:lnSpc>
            </a:pPr>
            <a:r>
              <a:rPr lang="hu-HU" altLang="hu-HU"/>
              <a:t>esemény/művelet jelöléssel adható meg – az esemény nevét követő perjel után adjuk meg a végrehajtandó akció nevét.</a:t>
            </a:r>
          </a:p>
          <a:p>
            <a:pPr eaLnBrk="1" hangingPunct="1">
              <a:lnSpc>
                <a:spcPct val="90000"/>
              </a:lnSpc>
            </a:pPr>
            <a:r>
              <a:rPr lang="hu-HU" altLang="hu-HU"/>
              <a:t>Egy adott esemény egy akciót vált ki anélkül, hogy az állapot megváltozna.</a:t>
            </a:r>
          </a:p>
          <a:p>
            <a:pPr eaLnBrk="1" hangingPunct="1">
              <a:lnSpc>
                <a:spcPct val="90000"/>
              </a:lnSpc>
            </a:pPr>
            <a:r>
              <a:rPr lang="hu-HU" altLang="hu-HU"/>
              <a:t>Olyan átmenetek rövidítése, amikor az állapotból kiinduló, az eseménnyel címkézett él ugyanabba az állapotba tér vissza, de ekkor nem hajtódik végre sem kimeneti, sem bemeneti akció, mivel az objektum ugyanabban az állapotban maradt.</a:t>
            </a:r>
          </a:p>
        </p:txBody>
      </p:sp>
      <p:sp>
        <p:nvSpPr>
          <p:cNvPr id="5" name="Dátum helye 5"/>
          <p:cNvSpPr>
            <a:spLocks noGrp="1"/>
          </p:cNvSpPr>
          <p:nvPr>
            <p:ph type="dt" sz="half" idx="10"/>
          </p:nvPr>
        </p:nvSpPr>
        <p:spPr>
          <a:xfrm>
            <a:off x="8077200" y="6356351"/>
            <a:ext cx="2133600" cy="365125"/>
          </a:xfrm>
        </p:spPr>
        <p:txBody>
          <a:bodyPr/>
          <a:lstStyle/>
          <a:p>
            <a:pPr algn="r">
              <a:defRPr/>
            </a:pPr>
            <a:fld id="{B75B0B02-D5DD-491A-B338-A75E960D7F36}" type="datetime4">
              <a:rPr lang="hu-HU"/>
              <a:pPr algn="r">
                <a:defRPr/>
              </a:pPr>
              <a:t>2024. november 28.</a:t>
            </a:fld>
            <a:endParaRPr lang="hu-HU"/>
          </a:p>
        </p:txBody>
      </p:sp>
      <p:sp>
        <p:nvSpPr>
          <p:cNvPr id="62466"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BB82A3BA-DC63-4D8A-BEDE-272FB8D1CEE5}" type="slidenum">
              <a:rPr lang="hu-HU" altLang="hu-HU" sz="1200">
                <a:solidFill>
                  <a:srgbClr val="898989"/>
                </a:solidFill>
              </a:rPr>
              <a:pPr algn="ctr">
                <a:spcBef>
                  <a:spcPct val="0"/>
                </a:spcBef>
                <a:buFontTx/>
                <a:buNone/>
              </a:pPr>
              <a:t>316</a:t>
            </a:fld>
            <a:endParaRPr lang="hu-HU" altLang="hu-HU" sz="1200">
              <a:solidFill>
                <a:srgbClr val="898989"/>
              </a:solidFill>
            </a:endParaRPr>
          </a:p>
        </p:txBody>
      </p:sp>
    </p:spTree>
    <p:extLst>
      <p:ext uri="{BB962C8B-B14F-4D97-AF65-F5344CB8AC3E}">
        <p14:creationId xmlns:p14="http://schemas.microsoft.com/office/powerpoint/2010/main" val="629256562"/>
      </p:ext>
    </p:extLst>
  </p:cSld>
  <p:clrMapOvr>
    <a:masterClrMapping/>
  </p:clrMapOvr>
  <p:timing>
    <p:tnLst>
      <p:par>
        <p:cTn id="1" dur="indefinite" restart="never" nodeType="tmRoot"/>
      </p:par>
    </p:tnLst>
  </p:timing>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Cím 1"/>
          <p:cNvSpPr>
            <a:spLocks noGrp="1"/>
          </p:cNvSpPr>
          <p:nvPr>
            <p:ph type="title"/>
          </p:nvPr>
        </p:nvSpPr>
        <p:spPr/>
        <p:txBody>
          <a:bodyPr/>
          <a:lstStyle/>
          <a:p>
            <a:pPr eaLnBrk="1" hangingPunct="1"/>
            <a:r>
              <a:rPr lang="hu-HU" altLang="hu-HU" smtClean="0"/>
              <a:t>Belső állapot átmenet</a:t>
            </a:r>
          </a:p>
        </p:txBody>
      </p:sp>
      <p:sp>
        <p:nvSpPr>
          <p:cNvPr id="64515" name="Tartalom helye 2"/>
          <p:cNvSpPr>
            <a:spLocks noGrp="1"/>
          </p:cNvSpPr>
          <p:nvPr>
            <p:ph idx="1"/>
          </p:nvPr>
        </p:nvSpPr>
        <p:spPr/>
        <p:txBody>
          <a:bodyPr/>
          <a:lstStyle/>
          <a:p>
            <a:pPr eaLnBrk="1" hangingPunct="1"/>
            <a:endParaRPr lang="hu-HU" altLang="hu-HU" smtClean="0"/>
          </a:p>
        </p:txBody>
      </p:sp>
    </p:spTree>
    <p:extLst>
      <p:ext uri="{BB962C8B-B14F-4D97-AF65-F5344CB8AC3E}">
        <p14:creationId xmlns:p14="http://schemas.microsoft.com/office/powerpoint/2010/main" val="3638448473"/>
      </p:ext>
    </p:extLst>
  </p:cSld>
  <p:clrMapOvr>
    <a:masterClrMapping/>
  </p:clrMapOvr>
  <p:timing>
    <p:tnLst>
      <p:par>
        <p:cTn id="1" dur="indefinite" restart="never" nodeType="tmRoot"/>
      </p:par>
    </p:tnLst>
  </p:timing>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4386" name="Rectangle 2"/>
          <p:cNvSpPr>
            <a:spLocks noGrp="1" noChangeArrowheads="1"/>
          </p:cNvSpPr>
          <p:nvPr>
            <p:ph type="title"/>
          </p:nvPr>
        </p:nvSpPr>
        <p:spPr>
          <a:xfrm>
            <a:off x="1992313" y="346075"/>
            <a:ext cx="8229600" cy="1143000"/>
          </a:xfrm>
        </p:spPr>
        <p:txBody>
          <a:bodyPr rtlCol="0">
            <a:normAutofit fontScale="90000"/>
          </a:bodyPr>
          <a:lstStyle/>
          <a:p>
            <a:pPr>
              <a:defRPr/>
            </a:pPr>
            <a:r>
              <a:rPr lang="hu-HU" sz="3600"/>
              <a:t>Az order különböző állapotait bemutató állapotdiagram</a:t>
            </a:r>
          </a:p>
        </p:txBody>
      </p:sp>
      <p:pic>
        <p:nvPicPr>
          <p:cNvPr id="66565"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695450" y="1693864"/>
            <a:ext cx="8788400" cy="5335587"/>
          </a:xfrm>
          <a:solidFill>
            <a:schemeClr val="bg1"/>
          </a:solidFill>
        </p:spPr>
      </p:pic>
      <p:sp>
        <p:nvSpPr>
          <p:cNvPr id="15" name="Dátum helye 5"/>
          <p:cNvSpPr>
            <a:spLocks noGrp="1"/>
          </p:cNvSpPr>
          <p:nvPr>
            <p:ph type="dt" sz="half" idx="10"/>
          </p:nvPr>
        </p:nvSpPr>
        <p:spPr>
          <a:xfrm>
            <a:off x="8077200" y="6356351"/>
            <a:ext cx="2133600" cy="365125"/>
          </a:xfrm>
        </p:spPr>
        <p:txBody>
          <a:bodyPr/>
          <a:lstStyle/>
          <a:p>
            <a:pPr algn="r">
              <a:defRPr/>
            </a:pPr>
            <a:fld id="{3D42DFDF-BE85-4954-801E-D80E9EBA67F0}" type="datetime4">
              <a:rPr lang="hu-HU"/>
              <a:pPr algn="r">
                <a:defRPr/>
              </a:pPr>
              <a:t>2024. november 28.</a:t>
            </a:fld>
            <a:endParaRPr lang="hu-HU"/>
          </a:p>
        </p:txBody>
      </p:sp>
      <p:sp>
        <p:nvSpPr>
          <p:cNvPr id="66562"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CCEC4321-E4EC-4CA0-A9A1-C6720E62FE41}" type="slidenum">
              <a:rPr lang="hu-HU" altLang="hu-HU" sz="1200">
                <a:solidFill>
                  <a:srgbClr val="898989"/>
                </a:solidFill>
              </a:rPr>
              <a:pPr algn="ctr">
                <a:spcBef>
                  <a:spcPct val="0"/>
                </a:spcBef>
                <a:buFontTx/>
                <a:buNone/>
              </a:pPr>
              <a:t>318</a:t>
            </a:fld>
            <a:endParaRPr lang="hu-HU" altLang="hu-HU" sz="1200">
              <a:solidFill>
                <a:srgbClr val="898989"/>
              </a:solidFill>
            </a:endParaRPr>
          </a:p>
        </p:txBody>
      </p:sp>
      <p:sp>
        <p:nvSpPr>
          <p:cNvPr id="66566" name="Line 4"/>
          <p:cNvSpPr>
            <a:spLocks noChangeShapeType="1"/>
          </p:cNvSpPr>
          <p:nvPr/>
        </p:nvSpPr>
        <p:spPr bwMode="auto">
          <a:xfrm>
            <a:off x="3792539" y="1990725"/>
            <a:ext cx="719137" cy="0"/>
          </a:xfrm>
          <a:prstGeom prst="line">
            <a:avLst/>
          </a:prstGeom>
          <a:noFill/>
          <a:ln w="1905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hu-HU"/>
          </a:p>
        </p:txBody>
      </p:sp>
      <p:sp>
        <p:nvSpPr>
          <p:cNvPr id="66567" name="Text Box 5"/>
          <p:cNvSpPr txBox="1">
            <a:spLocks noChangeArrowheads="1"/>
          </p:cNvSpPr>
          <p:nvPr/>
        </p:nvSpPr>
        <p:spPr bwMode="auto">
          <a:xfrm>
            <a:off x="2144713" y="1835150"/>
            <a:ext cx="1587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hu-HU" altLang="hu-HU" sz="2400">
                <a:solidFill>
                  <a:srgbClr val="FF0000"/>
                </a:solidFill>
                <a:latin typeface="Arial Narrow" panose="020B0606020202030204" pitchFamily="34" charset="0"/>
              </a:rPr>
              <a:t>Initial state</a:t>
            </a:r>
          </a:p>
        </p:txBody>
      </p:sp>
      <p:sp>
        <p:nvSpPr>
          <p:cNvPr id="66568" name="Text Box 6"/>
          <p:cNvSpPr txBox="1">
            <a:spLocks noChangeArrowheads="1"/>
          </p:cNvSpPr>
          <p:nvPr/>
        </p:nvSpPr>
        <p:spPr bwMode="auto">
          <a:xfrm>
            <a:off x="2135188" y="4941889"/>
            <a:ext cx="2305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hu-HU" altLang="hu-HU" sz="2000" b="1">
                <a:solidFill>
                  <a:srgbClr val="FF0000"/>
                </a:solidFill>
                <a:latin typeface="Arial Narrow" panose="020B0606020202030204" pitchFamily="34" charset="0"/>
              </a:rPr>
              <a:t>self-transition</a:t>
            </a:r>
          </a:p>
        </p:txBody>
      </p:sp>
      <p:sp>
        <p:nvSpPr>
          <p:cNvPr id="66569" name="Line 7"/>
          <p:cNvSpPr>
            <a:spLocks noChangeShapeType="1"/>
          </p:cNvSpPr>
          <p:nvPr/>
        </p:nvSpPr>
        <p:spPr bwMode="auto">
          <a:xfrm>
            <a:off x="4008439" y="5229225"/>
            <a:ext cx="574675" cy="215900"/>
          </a:xfrm>
          <a:prstGeom prst="line">
            <a:avLst/>
          </a:prstGeom>
          <a:noFill/>
          <a:ln w="1905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hu-HU"/>
          </a:p>
        </p:txBody>
      </p:sp>
      <p:sp>
        <p:nvSpPr>
          <p:cNvPr id="66570" name="Text Box 8"/>
          <p:cNvSpPr txBox="1">
            <a:spLocks noChangeArrowheads="1"/>
          </p:cNvSpPr>
          <p:nvPr/>
        </p:nvSpPr>
        <p:spPr bwMode="auto">
          <a:xfrm>
            <a:off x="6383338" y="5084764"/>
            <a:ext cx="2305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hu-HU" altLang="hu-HU" sz="2000" b="1">
                <a:solidFill>
                  <a:srgbClr val="FF0000"/>
                </a:solidFill>
                <a:latin typeface="Arial Narrow" panose="020B0606020202030204" pitchFamily="34" charset="0"/>
              </a:rPr>
              <a:t>transition</a:t>
            </a:r>
          </a:p>
        </p:txBody>
      </p:sp>
      <p:sp>
        <p:nvSpPr>
          <p:cNvPr id="66571" name="Text Box 9"/>
          <p:cNvSpPr txBox="1">
            <a:spLocks noChangeArrowheads="1"/>
          </p:cNvSpPr>
          <p:nvPr/>
        </p:nvSpPr>
        <p:spPr bwMode="auto">
          <a:xfrm>
            <a:off x="8183563" y="2205039"/>
            <a:ext cx="2305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hu-HU" altLang="hu-HU" sz="2000" b="1">
                <a:solidFill>
                  <a:srgbClr val="FF0000"/>
                </a:solidFill>
                <a:latin typeface="Arial Narrow" panose="020B0606020202030204" pitchFamily="34" charset="0"/>
              </a:rPr>
              <a:t>activity</a:t>
            </a:r>
          </a:p>
        </p:txBody>
      </p:sp>
      <p:sp>
        <p:nvSpPr>
          <p:cNvPr id="66572" name="Text Box 10"/>
          <p:cNvSpPr txBox="1">
            <a:spLocks noChangeArrowheads="1"/>
          </p:cNvSpPr>
          <p:nvPr/>
        </p:nvSpPr>
        <p:spPr bwMode="auto">
          <a:xfrm>
            <a:off x="6527800" y="5876926"/>
            <a:ext cx="2305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hu-HU" altLang="hu-HU" sz="2000" b="1">
                <a:solidFill>
                  <a:srgbClr val="FF0000"/>
                </a:solidFill>
                <a:latin typeface="Arial Narrow" panose="020B0606020202030204" pitchFamily="34" charset="0"/>
              </a:rPr>
              <a:t>state</a:t>
            </a:r>
          </a:p>
        </p:txBody>
      </p:sp>
      <p:sp>
        <p:nvSpPr>
          <p:cNvPr id="66573" name="Line 11"/>
          <p:cNvSpPr>
            <a:spLocks noChangeShapeType="1"/>
          </p:cNvSpPr>
          <p:nvPr/>
        </p:nvSpPr>
        <p:spPr bwMode="auto">
          <a:xfrm flipH="1">
            <a:off x="8904288" y="2565401"/>
            <a:ext cx="431800" cy="792163"/>
          </a:xfrm>
          <a:prstGeom prst="line">
            <a:avLst/>
          </a:prstGeom>
          <a:noFill/>
          <a:ln w="1905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hu-HU"/>
          </a:p>
        </p:txBody>
      </p:sp>
      <p:sp>
        <p:nvSpPr>
          <p:cNvPr id="66574" name="Line 12"/>
          <p:cNvSpPr>
            <a:spLocks noChangeShapeType="1"/>
          </p:cNvSpPr>
          <p:nvPr/>
        </p:nvSpPr>
        <p:spPr bwMode="auto">
          <a:xfrm flipH="1" flipV="1">
            <a:off x="7175501" y="4724400"/>
            <a:ext cx="360363" cy="433388"/>
          </a:xfrm>
          <a:prstGeom prst="line">
            <a:avLst/>
          </a:prstGeom>
          <a:noFill/>
          <a:ln w="1905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hu-HU"/>
          </a:p>
        </p:txBody>
      </p:sp>
      <p:sp>
        <p:nvSpPr>
          <p:cNvPr id="66575" name="Line 13"/>
          <p:cNvSpPr>
            <a:spLocks noChangeShapeType="1"/>
          </p:cNvSpPr>
          <p:nvPr/>
        </p:nvSpPr>
        <p:spPr bwMode="auto">
          <a:xfrm>
            <a:off x="8040689" y="6092825"/>
            <a:ext cx="719137" cy="0"/>
          </a:xfrm>
          <a:prstGeom prst="line">
            <a:avLst/>
          </a:prstGeom>
          <a:noFill/>
          <a:ln w="1905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hu-HU"/>
          </a:p>
        </p:txBody>
      </p:sp>
    </p:spTree>
    <p:extLst>
      <p:ext uri="{BB962C8B-B14F-4D97-AF65-F5344CB8AC3E}">
        <p14:creationId xmlns:p14="http://schemas.microsoft.com/office/powerpoint/2010/main" val="3737784509"/>
      </p:ext>
    </p:extLst>
  </p:cSld>
  <p:clrMapOvr>
    <a:masterClrMapping/>
  </p:clrMapOvr>
  <p:timing>
    <p:tnLst>
      <p:par>
        <p:cTn id="1" dur="indefinite" restart="never" nodeType="tmRoot"/>
      </p:par>
    </p:tnLst>
  </p:timing>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6674" name="Rectangle 2"/>
          <p:cNvSpPr>
            <a:spLocks noGrp="1" noChangeArrowheads="1"/>
          </p:cNvSpPr>
          <p:nvPr>
            <p:ph type="title"/>
          </p:nvPr>
        </p:nvSpPr>
        <p:spPr>
          <a:xfrm>
            <a:off x="1992313" y="620714"/>
            <a:ext cx="8229600" cy="477837"/>
          </a:xfrm>
        </p:spPr>
        <p:txBody>
          <a:bodyPr rtlCol="0">
            <a:normAutofit fontScale="90000"/>
          </a:bodyPr>
          <a:lstStyle/>
          <a:p>
            <a:pPr>
              <a:defRPr/>
            </a:pPr>
            <a:r>
              <a:rPr lang="hu-HU" sz="4000"/>
              <a:t>A példa folytatása</a:t>
            </a:r>
          </a:p>
        </p:txBody>
      </p:sp>
      <p:sp>
        <p:nvSpPr>
          <p:cNvPr id="68613" name="Rectangle 3"/>
          <p:cNvSpPr>
            <a:spLocks noGrp="1" noChangeArrowheads="1"/>
          </p:cNvSpPr>
          <p:nvPr>
            <p:ph type="body" sz="half" idx="1"/>
          </p:nvPr>
        </p:nvSpPr>
        <p:spPr>
          <a:xfrm>
            <a:off x="1992313" y="1196976"/>
            <a:ext cx="8507412" cy="4525963"/>
          </a:xfrm>
        </p:spPr>
        <p:txBody>
          <a:bodyPr/>
          <a:lstStyle/>
          <a:p>
            <a:pPr eaLnBrk="1" hangingPunct="1"/>
            <a:r>
              <a:rPr lang="hu-HU" altLang="hu-HU" sz="2400"/>
              <a:t>A </a:t>
            </a:r>
            <a:r>
              <a:rPr lang="hu-HU" altLang="hu-HU" i="1"/>
              <a:t>checking</a:t>
            </a:r>
            <a:r>
              <a:rPr lang="hu-HU" altLang="hu-HU"/>
              <a:t> állapotból három átmenet.</a:t>
            </a:r>
          </a:p>
          <a:p>
            <a:pPr eaLnBrk="1" hangingPunct="1"/>
            <a:r>
              <a:rPr lang="hu-HU" altLang="hu-HU"/>
              <a:t>Mindhárom átmenethez feltétel, őrszem kapcsolható.</a:t>
            </a:r>
          </a:p>
        </p:txBody>
      </p:sp>
      <p:sp>
        <p:nvSpPr>
          <p:cNvPr id="68610" name="Dia számának helye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D3BFB35-1EFF-4939-8ADB-706577BE32C6}" type="slidenum">
              <a:rPr lang="hu-HU" altLang="hu-HU" sz="1200">
                <a:solidFill>
                  <a:srgbClr val="898989"/>
                </a:solidFill>
              </a:rPr>
              <a:pPr>
                <a:spcBef>
                  <a:spcPct val="0"/>
                </a:spcBef>
                <a:buFontTx/>
                <a:buNone/>
              </a:pPr>
              <a:t>319</a:t>
            </a:fld>
            <a:endParaRPr lang="hu-HU" altLang="hu-HU" sz="1200">
              <a:solidFill>
                <a:srgbClr val="898989"/>
              </a:solidFill>
            </a:endParaRPr>
          </a:p>
        </p:txBody>
      </p:sp>
      <p:sp>
        <p:nvSpPr>
          <p:cNvPr id="15" name="Dátum helye 6"/>
          <p:cNvSpPr>
            <a:spLocks noGrp="1"/>
          </p:cNvSpPr>
          <p:nvPr>
            <p:ph type="dt" sz="half" idx="12"/>
          </p:nvPr>
        </p:nvSpPr>
        <p:spPr/>
        <p:txBody>
          <a:bodyPr/>
          <a:lstStyle/>
          <a:p>
            <a:pPr>
              <a:defRPr/>
            </a:pPr>
            <a:fld id="{361A88C5-1108-471B-83D0-DC3D918CF542}" type="datetime4">
              <a:rPr lang="hu-HU"/>
              <a:pPr>
                <a:defRPr/>
              </a:pPr>
              <a:t>2024. november 28.</a:t>
            </a:fld>
            <a:endParaRPr lang="hu-HU"/>
          </a:p>
        </p:txBody>
      </p:sp>
      <p:grpSp>
        <p:nvGrpSpPr>
          <p:cNvPr id="68614" name="Group 13"/>
          <p:cNvGrpSpPr>
            <a:grpSpLocks/>
          </p:cNvGrpSpPr>
          <p:nvPr/>
        </p:nvGrpSpPr>
        <p:grpSpPr bwMode="auto">
          <a:xfrm>
            <a:off x="2463801" y="2616200"/>
            <a:ext cx="7993063" cy="4376738"/>
            <a:chOff x="340" y="1563"/>
            <a:chExt cx="5035" cy="2757"/>
          </a:xfrm>
        </p:grpSpPr>
        <p:pic>
          <p:nvPicPr>
            <p:cNvPr id="6861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 y="1563"/>
              <a:ext cx="5035" cy="275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68616" name="Text Box 5"/>
            <p:cNvSpPr txBox="1">
              <a:spLocks noChangeArrowheads="1"/>
            </p:cNvSpPr>
            <p:nvPr/>
          </p:nvSpPr>
          <p:spPr bwMode="auto">
            <a:xfrm>
              <a:off x="975" y="1933"/>
              <a:ext cx="5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hu-HU" altLang="hu-HU" sz="2400" b="1">
                  <a:solidFill>
                    <a:srgbClr val="FF0000"/>
                  </a:solidFill>
                  <a:latin typeface="Arial Narrow" panose="020B0606020202030204" pitchFamily="34" charset="0"/>
                </a:rPr>
                <a:t>guard</a:t>
              </a:r>
            </a:p>
          </p:txBody>
        </p:sp>
        <p:sp>
          <p:nvSpPr>
            <p:cNvPr id="68617" name="Line 6"/>
            <p:cNvSpPr>
              <a:spLocks noChangeShapeType="1"/>
            </p:cNvSpPr>
            <p:nvPr/>
          </p:nvSpPr>
          <p:spPr bwMode="auto">
            <a:xfrm flipH="1">
              <a:off x="884" y="2251"/>
              <a:ext cx="318" cy="272"/>
            </a:xfrm>
            <a:prstGeom prst="line">
              <a:avLst/>
            </a:prstGeom>
            <a:noFill/>
            <a:ln w="1905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hu-HU"/>
            </a:p>
          </p:txBody>
        </p:sp>
        <p:sp>
          <p:nvSpPr>
            <p:cNvPr id="68618" name="Line 7"/>
            <p:cNvSpPr>
              <a:spLocks noChangeShapeType="1"/>
            </p:cNvSpPr>
            <p:nvPr/>
          </p:nvSpPr>
          <p:spPr bwMode="auto">
            <a:xfrm>
              <a:off x="1292" y="2251"/>
              <a:ext cx="1769" cy="272"/>
            </a:xfrm>
            <a:prstGeom prst="line">
              <a:avLst/>
            </a:prstGeom>
            <a:noFill/>
            <a:ln w="1905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hu-HU"/>
            </a:p>
          </p:txBody>
        </p:sp>
        <p:sp>
          <p:nvSpPr>
            <p:cNvPr id="68619" name="Line 8"/>
            <p:cNvSpPr>
              <a:spLocks noChangeShapeType="1"/>
            </p:cNvSpPr>
            <p:nvPr/>
          </p:nvSpPr>
          <p:spPr bwMode="auto">
            <a:xfrm>
              <a:off x="1202" y="2251"/>
              <a:ext cx="408" cy="1134"/>
            </a:xfrm>
            <a:prstGeom prst="line">
              <a:avLst/>
            </a:prstGeom>
            <a:noFill/>
            <a:ln w="1905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hu-HU"/>
            </a:p>
          </p:txBody>
        </p:sp>
        <p:sp>
          <p:nvSpPr>
            <p:cNvPr id="68620" name="Text Box 9"/>
            <p:cNvSpPr txBox="1">
              <a:spLocks noChangeArrowheads="1"/>
            </p:cNvSpPr>
            <p:nvPr/>
          </p:nvSpPr>
          <p:spPr bwMode="auto">
            <a:xfrm>
              <a:off x="3606" y="3203"/>
              <a:ext cx="10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hu-HU" altLang="hu-HU" sz="2400" b="1">
                  <a:solidFill>
                    <a:schemeClr val="accent2"/>
                  </a:solidFill>
                  <a:latin typeface="Arial Narrow" panose="020B0606020202030204" pitchFamily="34" charset="0"/>
                </a:rPr>
                <a:t>transition</a:t>
              </a:r>
            </a:p>
          </p:txBody>
        </p:sp>
        <p:sp>
          <p:nvSpPr>
            <p:cNvPr id="68621" name="Line 10"/>
            <p:cNvSpPr>
              <a:spLocks noChangeShapeType="1"/>
            </p:cNvSpPr>
            <p:nvPr/>
          </p:nvSpPr>
          <p:spPr bwMode="auto">
            <a:xfrm flipH="1">
              <a:off x="2381" y="3430"/>
              <a:ext cx="1361" cy="363"/>
            </a:xfrm>
            <a:prstGeom prst="line">
              <a:avLst/>
            </a:prstGeom>
            <a:noFill/>
            <a:ln w="19050">
              <a:solidFill>
                <a:schemeClr val="accent2"/>
              </a:solidFill>
              <a:round/>
              <a:headEnd/>
              <a:tailEnd type="stealth" w="lg" len="lg"/>
            </a:ln>
            <a:extLst>
              <a:ext uri="{909E8E84-426E-40DD-AFC4-6F175D3DCCD1}">
                <a14:hiddenFill xmlns:a14="http://schemas.microsoft.com/office/drawing/2010/main">
                  <a:noFill/>
                </a14:hiddenFill>
              </a:ext>
            </a:extLst>
          </p:spPr>
          <p:txBody>
            <a:bodyPr/>
            <a:lstStyle/>
            <a:p>
              <a:endParaRPr lang="hu-HU"/>
            </a:p>
          </p:txBody>
        </p:sp>
        <p:sp>
          <p:nvSpPr>
            <p:cNvPr id="68622" name="Line 11"/>
            <p:cNvSpPr>
              <a:spLocks noChangeShapeType="1"/>
            </p:cNvSpPr>
            <p:nvPr/>
          </p:nvSpPr>
          <p:spPr bwMode="auto">
            <a:xfrm flipH="1" flipV="1">
              <a:off x="3515" y="2750"/>
              <a:ext cx="181" cy="589"/>
            </a:xfrm>
            <a:prstGeom prst="line">
              <a:avLst/>
            </a:prstGeom>
            <a:noFill/>
            <a:ln w="19050">
              <a:solidFill>
                <a:schemeClr val="accent2"/>
              </a:solidFill>
              <a:round/>
              <a:headEnd/>
              <a:tailEnd type="stealth" w="lg" len="lg"/>
            </a:ln>
            <a:extLst>
              <a:ext uri="{909E8E84-426E-40DD-AFC4-6F175D3DCCD1}">
                <a14:hiddenFill xmlns:a14="http://schemas.microsoft.com/office/drawing/2010/main">
                  <a:noFill/>
                </a14:hiddenFill>
              </a:ext>
            </a:extLst>
          </p:spPr>
          <p:txBody>
            <a:bodyPr/>
            <a:lstStyle/>
            <a:p>
              <a:endParaRPr lang="hu-HU"/>
            </a:p>
          </p:txBody>
        </p:sp>
        <p:sp>
          <p:nvSpPr>
            <p:cNvPr id="68623" name="Line 12"/>
            <p:cNvSpPr>
              <a:spLocks noChangeShapeType="1"/>
            </p:cNvSpPr>
            <p:nvPr/>
          </p:nvSpPr>
          <p:spPr bwMode="auto">
            <a:xfrm flipH="1" flipV="1">
              <a:off x="2517" y="2341"/>
              <a:ext cx="1179" cy="1044"/>
            </a:xfrm>
            <a:prstGeom prst="line">
              <a:avLst/>
            </a:prstGeom>
            <a:noFill/>
            <a:ln w="19050">
              <a:solidFill>
                <a:schemeClr val="accent2"/>
              </a:solidFill>
              <a:round/>
              <a:headEnd/>
              <a:tailEnd type="stealth" w="lg" len="lg"/>
            </a:ln>
            <a:extLst>
              <a:ext uri="{909E8E84-426E-40DD-AFC4-6F175D3DCCD1}">
                <a14:hiddenFill xmlns:a14="http://schemas.microsoft.com/office/drawing/2010/main">
                  <a:noFill/>
                </a14:hiddenFill>
              </a:ext>
            </a:extLst>
          </p:spPr>
          <p:txBody>
            <a:bodyPr/>
            <a:lstStyle/>
            <a:p>
              <a:endParaRPr lang="hu-HU"/>
            </a:p>
          </p:txBody>
        </p:sp>
      </p:grpSp>
    </p:spTree>
    <p:extLst>
      <p:ext uri="{BB962C8B-B14F-4D97-AF65-F5344CB8AC3E}">
        <p14:creationId xmlns:p14="http://schemas.microsoft.com/office/powerpoint/2010/main" val="598795830"/>
      </p:ext>
    </p:extLst>
  </p:cSld>
  <p:clrMapOvr>
    <a:masterClrMapping/>
  </p:clrMapOvr>
  <p:timing>
    <p:tnLst>
      <p:par>
        <p:cTn id="1" dur="indefinite" restart="never" nodeType="tmRoot"/>
      </p:par>
    </p:tnLst>
  </p:timing>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60"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703388" y="404814"/>
            <a:ext cx="8964612" cy="5989637"/>
          </a:xfrm>
          <a:solidFill>
            <a:schemeClr val="bg1"/>
          </a:solidFill>
        </p:spPr>
      </p:pic>
      <p:sp>
        <p:nvSpPr>
          <p:cNvPr id="4" name="Dátum helye 5"/>
          <p:cNvSpPr>
            <a:spLocks noGrp="1"/>
          </p:cNvSpPr>
          <p:nvPr>
            <p:ph type="dt" sz="half" idx="10"/>
          </p:nvPr>
        </p:nvSpPr>
        <p:spPr>
          <a:xfrm>
            <a:off x="8077200" y="6356351"/>
            <a:ext cx="2133600" cy="365125"/>
          </a:xfrm>
        </p:spPr>
        <p:txBody>
          <a:bodyPr/>
          <a:lstStyle/>
          <a:p>
            <a:pPr algn="r">
              <a:defRPr/>
            </a:pPr>
            <a:fld id="{2876CC33-558F-4D48-A6C0-F0C96AE5BCB4}" type="datetime4">
              <a:rPr lang="hu-HU"/>
              <a:pPr algn="r">
                <a:defRPr/>
              </a:pPr>
              <a:t>2024. november 28.</a:t>
            </a:fld>
            <a:endParaRPr lang="hu-HU"/>
          </a:p>
        </p:txBody>
      </p:sp>
      <p:sp>
        <p:nvSpPr>
          <p:cNvPr id="70658"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AF681487-26AC-4635-8A1F-814188CFD9E3}" type="slidenum">
              <a:rPr lang="hu-HU" altLang="hu-HU" sz="1200">
                <a:solidFill>
                  <a:srgbClr val="898989"/>
                </a:solidFill>
              </a:rPr>
              <a:pPr algn="ctr">
                <a:spcBef>
                  <a:spcPct val="0"/>
                </a:spcBef>
                <a:buFontTx/>
                <a:buNone/>
              </a:pPr>
              <a:t>320</a:t>
            </a:fld>
            <a:endParaRPr lang="hu-HU" altLang="hu-HU" sz="1200">
              <a:solidFill>
                <a:srgbClr val="898989"/>
              </a:solidFill>
            </a:endParaRPr>
          </a:p>
        </p:txBody>
      </p:sp>
    </p:spTree>
    <p:extLst>
      <p:ext uri="{BB962C8B-B14F-4D97-AF65-F5344CB8AC3E}">
        <p14:creationId xmlns:p14="http://schemas.microsoft.com/office/powerpoint/2010/main" val="3996744684"/>
      </p:ext>
    </p:extLst>
  </p:cSld>
  <p:clrMapOvr>
    <a:masterClrMapping/>
  </p:clrMapOvr>
  <p:timing>
    <p:tnLst>
      <p:par>
        <p:cTn id="1" dur="indefinite" restart="never" nodeType="tmRoot"/>
      </p:par>
    </p:tnLst>
  </p:timing>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4866" name="Rectangle 2"/>
          <p:cNvSpPr>
            <a:spLocks noGrp="1" noChangeArrowheads="1"/>
          </p:cNvSpPr>
          <p:nvPr>
            <p:ph type="title"/>
          </p:nvPr>
        </p:nvSpPr>
        <p:spPr/>
        <p:txBody>
          <a:bodyPr rtlCol="0">
            <a:normAutofit fontScale="90000"/>
          </a:bodyPr>
          <a:lstStyle/>
          <a:p>
            <a:pPr>
              <a:defRPr/>
            </a:pPr>
            <a:r>
              <a:rPr lang="hu-HU" sz="4000"/>
              <a:t>Az order különböző állapotait bemutató állapotdiagram</a:t>
            </a:r>
          </a:p>
        </p:txBody>
      </p:sp>
      <p:sp>
        <p:nvSpPr>
          <p:cNvPr id="72709" name="Rectangle 3"/>
          <p:cNvSpPr>
            <a:spLocks noGrp="1" noChangeArrowheads="1"/>
          </p:cNvSpPr>
          <p:nvPr>
            <p:ph type="body" sz="half" idx="1"/>
          </p:nvPr>
        </p:nvSpPr>
        <p:spPr>
          <a:xfrm>
            <a:off x="1981200" y="1933576"/>
            <a:ext cx="8686800" cy="4924425"/>
          </a:xfrm>
        </p:spPr>
        <p:txBody>
          <a:bodyPr/>
          <a:lstStyle/>
          <a:p>
            <a:pPr eaLnBrk="1" hangingPunct="1"/>
            <a:r>
              <a:rPr lang="hu-HU" altLang="hu-HU"/>
              <a:t>A példában csak egy akció van: </a:t>
            </a:r>
            <a:r>
              <a:rPr lang="hu-HU" altLang="hu-HU" i="1"/>
              <a:t>„/ get first item”</a:t>
            </a:r>
            <a:r>
              <a:rPr lang="hu-HU" altLang="hu-HU"/>
              <a:t> , elsőként ezt az akciót kell végrehajtani  a </a:t>
            </a:r>
            <a:r>
              <a:rPr lang="hu-HU" altLang="hu-HU" i="1"/>
              <a:t>checking</a:t>
            </a:r>
            <a:r>
              <a:rPr lang="hu-HU" altLang="hu-HU"/>
              <a:t> állapotba való belépéshez.</a:t>
            </a:r>
          </a:p>
          <a:p>
            <a:pPr eaLnBrk="1" hangingPunct="1"/>
            <a:r>
              <a:rPr lang="hu-HU" altLang="hu-HU"/>
              <a:t>A </a:t>
            </a:r>
            <a:r>
              <a:rPr lang="hu-HU" altLang="hu-HU" i="1"/>
              <a:t>checking</a:t>
            </a:r>
            <a:r>
              <a:rPr lang="hu-HU" altLang="hu-HU"/>
              <a:t> állapotban az objektum „check item” tevékenységet végez.</a:t>
            </a:r>
          </a:p>
          <a:p>
            <a:pPr eaLnBrk="1" hangingPunct="1"/>
            <a:r>
              <a:rPr lang="hu-HU" altLang="hu-HU"/>
              <a:t>Az állapottal kapcsolatban levő tevékenység szintaxisa:</a:t>
            </a:r>
          </a:p>
          <a:p>
            <a:pPr lvl="1" eaLnBrk="1" hangingPunct="1"/>
            <a:r>
              <a:rPr lang="hu-HU" altLang="hu-HU" smtClean="0"/>
              <a:t>do/activity – </a:t>
            </a:r>
            <a:r>
              <a:rPr lang="hu-HU" altLang="hu-HU" i="1" smtClean="0"/>
              <a:t>„do/check item”</a:t>
            </a:r>
          </a:p>
          <a:p>
            <a:pPr eaLnBrk="1" hangingPunct="1"/>
            <a:endParaRPr lang="hu-HU" altLang="hu-HU"/>
          </a:p>
        </p:txBody>
      </p:sp>
      <p:pic>
        <p:nvPicPr>
          <p:cNvPr id="72710"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tretch>
            <a:fillRect/>
          </a:stretch>
        </p:blipFill>
        <p:spPr>
          <a:xfrm>
            <a:off x="8388350" y="3416300"/>
            <a:ext cx="1009650" cy="447675"/>
          </a:xfrm>
        </p:spPr>
      </p:pic>
      <p:sp>
        <p:nvSpPr>
          <p:cNvPr id="72706" name="Dia számának helye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30D9A8B-7C69-4983-AE9E-810BFB5A7E2B}" type="slidenum">
              <a:rPr lang="hu-HU" altLang="hu-HU" sz="1200">
                <a:solidFill>
                  <a:srgbClr val="898989"/>
                </a:solidFill>
              </a:rPr>
              <a:pPr>
                <a:spcBef>
                  <a:spcPct val="0"/>
                </a:spcBef>
                <a:buFontTx/>
                <a:buNone/>
              </a:pPr>
              <a:t>321</a:t>
            </a:fld>
            <a:endParaRPr lang="hu-HU" altLang="hu-HU" sz="1200">
              <a:solidFill>
                <a:srgbClr val="898989"/>
              </a:solidFill>
            </a:endParaRPr>
          </a:p>
        </p:txBody>
      </p:sp>
      <p:sp>
        <p:nvSpPr>
          <p:cNvPr id="6" name="Dátum helye 6"/>
          <p:cNvSpPr>
            <a:spLocks noGrp="1"/>
          </p:cNvSpPr>
          <p:nvPr>
            <p:ph type="dt" sz="half" idx="12"/>
          </p:nvPr>
        </p:nvSpPr>
        <p:spPr/>
        <p:txBody>
          <a:bodyPr/>
          <a:lstStyle/>
          <a:p>
            <a:pPr>
              <a:defRPr/>
            </a:pPr>
            <a:fld id="{1C69BFE3-2271-4811-A6FA-4D2CB2D03799}" type="datetime4">
              <a:rPr lang="hu-HU"/>
              <a:pPr>
                <a:defRPr/>
              </a:pPr>
              <a:t>2024. november 28.</a:t>
            </a:fld>
            <a:endParaRPr lang="hu-HU"/>
          </a:p>
        </p:txBody>
      </p:sp>
    </p:spTree>
    <p:extLst>
      <p:ext uri="{BB962C8B-B14F-4D97-AF65-F5344CB8AC3E}">
        <p14:creationId xmlns:p14="http://schemas.microsoft.com/office/powerpoint/2010/main" val="2502432575"/>
      </p:ext>
    </p:extLst>
  </p:cSld>
  <p:clrMapOvr>
    <a:masterClrMapping/>
  </p:clrMapOvr>
  <p:timing>
    <p:tnLst>
      <p:par>
        <p:cTn id="1" dur="indefinite" restart="never" nodeType="tmRoot"/>
      </p:par>
    </p:tnLst>
  </p:timing>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Rectangle 2"/>
          <p:cNvSpPr>
            <a:spLocks noGrp="1" noChangeArrowheads="1"/>
          </p:cNvSpPr>
          <p:nvPr>
            <p:ph type="title"/>
          </p:nvPr>
        </p:nvSpPr>
        <p:spPr/>
        <p:txBody>
          <a:bodyPr/>
          <a:lstStyle/>
          <a:p>
            <a:pPr eaLnBrk="1" hangingPunct="1"/>
            <a:r>
              <a:rPr lang="hu-HU" altLang="hu-HU" smtClean="0"/>
              <a:t>A </a:t>
            </a:r>
            <a:r>
              <a:rPr lang="hu-HU" altLang="hu-HU" i="1" smtClean="0"/>
              <a:t>waiting</a:t>
            </a:r>
            <a:r>
              <a:rPr lang="hu-HU" altLang="hu-HU" smtClean="0"/>
              <a:t> állapot</a:t>
            </a:r>
          </a:p>
        </p:txBody>
      </p:sp>
      <p:pic>
        <p:nvPicPr>
          <p:cNvPr id="74757"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219325" y="1582739"/>
            <a:ext cx="7981950" cy="4111625"/>
          </a:xfrm>
          <a:solidFill>
            <a:schemeClr val="bg1"/>
          </a:solidFill>
        </p:spPr>
      </p:pic>
      <p:sp>
        <p:nvSpPr>
          <p:cNvPr id="5" name="Dátum helye 5"/>
          <p:cNvSpPr>
            <a:spLocks noGrp="1"/>
          </p:cNvSpPr>
          <p:nvPr>
            <p:ph type="dt" sz="half" idx="10"/>
          </p:nvPr>
        </p:nvSpPr>
        <p:spPr>
          <a:xfrm>
            <a:off x="8077200" y="6356351"/>
            <a:ext cx="2133600" cy="365125"/>
          </a:xfrm>
        </p:spPr>
        <p:txBody>
          <a:bodyPr/>
          <a:lstStyle/>
          <a:p>
            <a:pPr algn="r">
              <a:defRPr/>
            </a:pPr>
            <a:fld id="{40179223-2114-45ED-9335-93996DCDA65F}" type="datetime4">
              <a:rPr lang="hu-HU"/>
              <a:pPr algn="r">
                <a:defRPr/>
              </a:pPr>
              <a:t>2024. november 28.</a:t>
            </a:fld>
            <a:endParaRPr lang="hu-HU"/>
          </a:p>
        </p:txBody>
      </p:sp>
      <p:sp>
        <p:nvSpPr>
          <p:cNvPr id="74754"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51394915-5545-4320-AC30-03009DFD8862}" type="slidenum">
              <a:rPr lang="hu-HU" altLang="hu-HU" sz="1200">
                <a:solidFill>
                  <a:srgbClr val="898989"/>
                </a:solidFill>
              </a:rPr>
              <a:pPr algn="ctr">
                <a:spcBef>
                  <a:spcPct val="0"/>
                </a:spcBef>
                <a:buFontTx/>
                <a:buNone/>
              </a:pPr>
              <a:t>322</a:t>
            </a:fld>
            <a:endParaRPr lang="hu-HU" altLang="hu-HU" sz="1200">
              <a:solidFill>
                <a:srgbClr val="898989"/>
              </a:solidFill>
            </a:endParaRPr>
          </a:p>
        </p:txBody>
      </p:sp>
    </p:spTree>
    <p:extLst>
      <p:ext uri="{BB962C8B-B14F-4D97-AF65-F5344CB8AC3E}">
        <p14:creationId xmlns:p14="http://schemas.microsoft.com/office/powerpoint/2010/main" val="1948709728"/>
      </p:ext>
    </p:extLst>
  </p:cSld>
  <p:clrMapOvr>
    <a:masterClrMapping/>
  </p:clrMapOvr>
  <p:timing>
    <p:tnLst>
      <p:par>
        <p:cTn id="1" dur="indefinite" restart="never" nodeType="tmRoot"/>
      </p:par>
    </p:tnLst>
  </p:timing>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Rectangle 2"/>
          <p:cNvSpPr>
            <a:spLocks noGrp="1" noChangeArrowheads="1"/>
          </p:cNvSpPr>
          <p:nvPr>
            <p:ph type="title"/>
          </p:nvPr>
        </p:nvSpPr>
        <p:spPr/>
        <p:txBody>
          <a:bodyPr/>
          <a:lstStyle/>
          <a:p>
            <a:pPr eaLnBrk="1" hangingPunct="1"/>
            <a:r>
              <a:rPr lang="hu-HU" altLang="hu-HU" sz="4000"/>
              <a:t>A </a:t>
            </a:r>
            <a:r>
              <a:rPr lang="hu-HU" altLang="hu-HU" sz="4000" i="1"/>
              <a:t>dispatching</a:t>
            </a:r>
            <a:r>
              <a:rPr lang="hu-HU" altLang="hu-HU" sz="4000"/>
              <a:t> – foglalás állapot</a:t>
            </a:r>
          </a:p>
        </p:txBody>
      </p:sp>
      <p:sp>
        <p:nvSpPr>
          <p:cNvPr id="76805" name="Rectangle 3"/>
          <p:cNvSpPr>
            <a:spLocks noGrp="1" noChangeArrowheads="1"/>
          </p:cNvSpPr>
          <p:nvPr>
            <p:ph idx="1"/>
          </p:nvPr>
        </p:nvSpPr>
        <p:spPr>
          <a:xfrm>
            <a:off x="2160588" y="1716088"/>
            <a:ext cx="8507412" cy="5141912"/>
          </a:xfrm>
        </p:spPr>
        <p:txBody>
          <a:bodyPr/>
          <a:lstStyle/>
          <a:p>
            <a:pPr eaLnBrk="1" hangingPunct="1">
              <a:lnSpc>
                <a:spcPct val="90000"/>
              </a:lnSpc>
            </a:pPr>
            <a:r>
              <a:rPr lang="hu-HU" altLang="hu-HU" sz="2400"/>
              <a:t>Az állapotban meg van adva egy végrehajtandó tevékenység:</a:t>
            </a:r>
          </a:p>
          <a:p>
            <a:pPr lvl="1" eaLnBrk="1" hangingPunct="1">
              <a:lnSpc>
                <a:spcPct val="90000"/>
              </a:lnSpc>
            </a:pPr>
            <a:r>
              <a:rPr lang="hu-HU" altLang="hu-HU" sz="2000"/>
              <a:t>do/initiate delivery – szállítás elindítása.</a:t>
            </a:r>
          </a:p>
          <a:p>
            <a:pPr eaLnBrk="1" hangingPunct="1">
              <a:lnSpc>
                <a:spcPct val="90000"/>
              </a:lnSpc>
            </a:pPr>
            <a:r>
              <a:rPr lang="hu-HU" altLang="hu-HU" sz="2400"/>
              <a:t>Létezik továbbá egy feltétel nélküli átmenet – a </a:t>
            </a:r>
            <a:r>
              <a:rPr lang="hu-HU" altLang="hu-HU" sz="2400" i="1"/>
              <a:t>delivered</a:t>
            </a:r>
            <a:r>
              <a:rPr lang="hu-HU" altLang="hu-HU" sz="2400"/>
              <a:t> eseménnyel triggerelve.</a:t>
            </a:r>
          </a:p>
          <a:p>
            <a:pPr lvl="1" eaLnBrk="1" hangingPunct="1">
              <a:lnSpc>
                <a:spcPct val="90000"/>
              </a:lnSpc>
            </a:pPr>
            <a:r>
              <a:rPr lang="hu-HU" altLang="hu-HU" sz="2000"/>
              <a:t>Ez azt jelzi, hogy az átmenet mindig bekövetkezik, amikor ez az esemény bekövetkezik.</a:t>
            </a:r>
          </a:p>
          <a:p>
            <a:pPr lvl="1" eaLnBrk="1" hangingPunct="1">
              <a:lnSpc>
                <a:spcPct val="90000"/>
              </a:lnSpc>
            </a:pPr>
            <a:r>
              <a:rPr lang="hu-HU" altLang="hu-HU" sz="2000"/>
              <a:t>Azonban, az átmenet nem következik be, ha a tevékenység befejeződött.</a:t>
            </a:r>
          </a:p>
          <a:p>
            <a:pPr eaLnBrk="1" hangingPunct="1">
              <a:lnSpc>
                <a:spcPct val="90000"/>
              </a:lnSpc>
            </a:pPr>
            <a:r>
              <a:rPr lang="hu-HU" altLang="hu-HU" sz="2400"/>
              <a:t>Ha egyszer </a:t>
            </a:r>
            <a:r>
              <a:rPr lang="hu-HU" altLang="hu-HU" sz="2400" i="1"/>
              <a:t>initiate delivery</a:t>
            </a:r>
            <a:r>
              <a:rPr lang="hu-HU" altLang="hu-HU" sz="2400"/>
              <a:t> tevékenység kész, befejezett, az adott </a:t>
            </a:r>
            <a:r>
              <a:rPr lang="hu-HU" altLang="hu-HU" sz="2400" i="1"/>
              <a:t>order</a:t>
            </a:r>
            <a:r>
              <a:rPr lang="hu-HU" altLang="hu-HU" sz="2400"/>
              <a:t> egészen addig marad a </a:t>
            </a:r>
            <a:r>
              <a:rPr lang="hu-HU" altLang="hu-HU" sz="2400" i="1"/>
              <a:t>dispatching</a:t>
            </a:r>
            <a:r>
              <a:rPr lang="hu-HU" altLang="hu-HU" sz="2400"/>
              <a:t> állapotban, amíg a </a:t>
            </a:r>
            <a:r>
              <a:rPr lang="hu-HU" altLang="hu-HU" sz="2400" i="1"/>
              <a:t>delivered</a:t>
            </a:r>
            <a:r>
              <a:rPr lang="hu-HU" altLang="hu-HU" sz="2400"/>
              <a:t> esemény be nem következik.</a:t>
            </a:r>
          </a:p>
        </p:txBody>
      </p:sp>
      <p:sp>
        <p:nvSpPr>
          <p:cNvPr id="5" name="Dátum helye 5"/>
          <p:cNvSpPr>
            <a:spLocks noGrp="1"/>
          </p:cNvSpPr>
          <p:nvPr>
            <p:ph type="dt" sz="half" idx="10"/>
          </p:nvPr>
        </p:nvSpPr>
        <p:spPr>
          <a:xfrm>
            <a:off x="8077200" y="6356351"/>
            <a:ext cx="2133600" cy="365125"/>
          </a:xfrm>
        </p:spPr>
        <p:txBody>
          <a:bodyPr/>
          <a:lstStyle/>
          <a:p>
            <a:pPr algn="r">
              <a:defRPr/>
            </a:pPr>
            <a:fld id="{7665AE6D-8296-40C1-B4CD-092738B96E4A}" type="datetime4">
              <a:rPr lang="hu-HU"/>
              <a:pPr algn="r">
                <a:defRPr/>
              </a:pPr>
              <a:t>2024. november 28.</a:t>
            </a:fld>
            <a:endParaRPr lang="hu-HU"/>
          </a:p>
        </p:txBody>
      </p:sp>
      <p:sp>
        <p:nvSpPr>
          <p:cNvPr id="76802"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4934787C-55D4-46E4-8742-B8FEC336D513}" type="slidenum">
              <a:rPr lang="hu-HU" altLang="hu-HU" sz="1200">
                <a:solidFill>
                  <a:srgbClr val="898989"/>
                </a:solidFill>
              </a:rPr>
              <a:pPr algn="ctr">
                <a:spcBef>
                  <a:spcPct val="0"/>
                </a:spcBef>
                <a:buFontTx/>
                <a:buNone/>
              </a:pPr>
              <a:t>323</a:t>
            </a:fld>
            <a:endParaRPr lang="hu-HU" altLang="hu-HU" sz="1200">
              <a:solidFill>
                <a:srgbClr val="898989"/>
              </a:solidFill>
            </a:endParaRPr>
          </a:p>
        </p:txBody>
      </p:sp>
    </p:spTree>
    <p:extLst>
      <p:ext uri="{BB962C8B-B14F-4D97-AF65-F5344CB8AC3E}">
        <p14:creationId xmlns:p14="http://schemas.microsoft.com/office/powerpoint/2010/main" val="1336323421"/>
      </p:ext>
    </p:extLst>
  </p:cSld>
  <p:clrMapOvr>
    <a:masterClrMapping/>
  </p:clrMapOvr>
  <p:timing>
    <p:tnLst>
      <p:par>
        <p:cTn id="1" dur="indefinite" restart="never" nodeType="tmRoot"/>
      </p:par>
    </p:tnLst>
  </p:timing>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3" name="Rectangle 3"/>
          <p:cNvSpPr>
            <a:spLocks noGrp="1" noChangeArrowheads="1"/>
          </p:cNvSpPr>
          <p:nvPr>
            <p:ph type="title"/>
          </p:nvPr>
        </p:nvSpPr>
        <p:spPr/>
        <p:txBody>
          <a:bodyPr/>
          <a:lstStyle/>
          <a:p>
            <a:pPr eaLnBrk="1" hangingPunct="1"/>
            <a:r>
              <a:rPr lang="hu-HU" altLang="hu-HU" smtClean="0"/>
              <a:t>A </a:t>
            </a:r>
            <a:r>
              <a:rPr lang="hu-HU" altLang="hu-HU" sz="4000" i="1"/>
              <a:t>dispatching</a:t>
            </a:r>
            <a:r>
              <a:rPr lang="hu-HU" altLang="hu-HU" sz="4000"/>
              <a:t> </a:t>
            </a:r>
            <a:r>
              <a:rPr lang="hu-HU" altLang="hu-HU" smtClean="0"/>
              <a:t>állapot</a:t>
            </a:r>
          </a:p>
        </p:txBody>
      </p:sp>
      <p:pic>
        <p:nvPicPr>
          <p:cNvPr id="78852"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270375" y="1692276"/>
            <a:ext cx="3371850" cy="4752975"/>
          </a:xfrm>
          <a:solidFill>
            <a:schemeClr val="bg1"/>
          </a:solidFill>
        </p:spPr>
      </p:pic>
      <p:sp>
        <p:nvSpPr>
          <p:cNvPr id="5" name="Dátum helye 5"/>
          <p:cNvSpPr>
            <a:spLocks noGrp="1"/>
          </p:cNvSpPr>
          <p:nvPr>
            <p:ph type="dt" sz="half" idx="10"/>
          </p:nvPr>
        </p:nvSpPr>
        <p:spPr>
          <a:xfrm>
            <a:off x="8077200" y="6356351"/>
            <a:ext cx="2133600" cy="365125"/>
          </a:xfrm>
        </p:spPr>
        <p:txBody>
          <a:bodyPr/>
          <a:lstStyle/>
          <a:p>
            <a:pPr algn="r">
              <a:defRPr/>
            </a:pPr>
            <a:fld id="{9E92409F-1231-43AD-88D8-61482186F9CC}" type="datetime4">
              <a:rPr lang="hu-HU"/>
              <a:pPr algn="r">
                <a:defRPr/>
              </a:pPr>
              <a:t>2024. november 28.</a:t>
            </a:fld>
            <a:endParaRPr lang="hu-HU"/>
          </a:p>
        </p:txBody>
      </p:sp>
      <p:sp>
        <p:nvSpPr>
          <p:cNvPr id="78850"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B3F0DAB6-6E98-4A29-9BBC-82874C8AC50D}" type="slidenum">
              <a:rPr lang="hu-HU" altLang="hu-HU" sz="1200">
                <a:solidFill>
                  <a:srgbClr val="898989"/>
                </a:solidFill>
              </a:rPr>
              <a:pPr algn="ctr">
                <a:spcBef>
                  <a:spcPct val="0"/>
                </a:spcBef>
                <a:buFontTx/>
                <a:buNone/>
              </a:pPr>
              <a:t>324</a:t>
            </a:fld>
            <a:endParaRPr lang="hu-HU" altLang="hu-HU" sz="1200">
              <a:solidFill>
                <a:srgbClr val="898989"/>
              </a:solidFill>
            </a:endParaRPr>
          </a:p>
        </p:txBody>
      </p:sp>
    </p:spTree>
    <p:extLst>
      <p:ext uri="{BB962C8B-B14F-4D97-AF65-F5344CB8AC3E}">
        <p14:creationId xmlns:p14="http://schemas.microsoft.com/office/powerpoint/2010/main" val="3656120571"/>
      </p:ext>
    </p:extLst>
  </p:cSld>
  <p:clrMapOvr>
    <a:masterClrMapping/>
  </p:clrMapOvr>
  <p:timing>
    <p:tnLst>
      <p:par>
        <p:cTn id="1" dur="indefinite" restart="never" nodeType="tmRoot"/>
      </p:par>
    </p:tnLst>
  </p:timing>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2"/>
          <p:cNvSpPr>
            <a:spLocks noGrp="1" noChangeArrowheads="1"/>
          </p:cNvSpPr>
          <p:nvPr>
            <p:ph type="title"/>
          </p:nvPr>
        </p:nvSpPr>
        <p:spPr/>
        <p:txBody>
          <a:bodyPr/>
          <a:lstStyle/>
          <a:p>
            <a:pPr eaLnBrk="1" hangingPunct="1"/>
            <a:r>
              <a:rPr lang="hu-HU" altLang="hu-HU" smtClean="0"/>
              <a:t>A </a:t>
            </a:r>
            <a:r>
              <a:rPr lang="hu-HU" altLang="hu-HU" i="1" smtClean="0"/>
              <a:t>cancelled</a:t>
            </a:r>
            <a:r>
              <a:rPr lang="hu-HU" altLang="hu-HU" smtClean="0"/>
              <a:t> átmenet</a:t>
            </a:r>
          </a:p>
        </p:txBody>
      </p:sp>
      <p:sp>
        <p:nvSpPr>
          <p:cNvPr id="80901" name="Rectangle 3"/>
          <p:cNvSpPr>
            <a:spLocks noGrp="1" noChangeArrowheads="1"/>
          </p:cNvSpPr>
          <p:nvPr>
            <p:ph idx="1"/>
          </p:nvPr>
        </p:nvSpPr>
        <p:spPr/>
        <p:txBody>
          <a:bodyPr/>
          <a:lstStyle/>
          <a:p>
            <a:pPr eaLnBrk="1" hangingPunct="1"/>
            <a:r>
              <a:rPr lang="hu-HU" altLang="hu-HU" smtClean="0"/>
              <a:t>A rendszernek lehetőséget kell adni arra, hogy a rendelési folyamat bármely pontjában töröljük a megadott rendelést, mielőtt az szállításra kerülne.</a:t>
            </a:r>
          </a:p>
          <a:p>
            <a:pPr eaLnBrk="1" hangingPunct="1"/>
            <a:r>
              <a:rPr lang="hu-HU" altLang="hu-HU" smtClean="0"/>
              <a:t>Megoldás: mindegyik állapotból:</a:t>
            </a:r>
          </a:p>
          <a:p>
            <a:pPr lvl="1" eaLnBrk="1" hangingPunct="1"/>
            <a:r>
              <a:rPr lang="hu-HU" altLang="hu-HU" i="1" smtClean="0"/>
              <a:t>checking, waiting, dispatching </a:t>
            </a:r>
            <a:r>
              <a:rPr lang="hu-HU" altLang="hu-HU" smtClean="0"/>
              <a:t>biztosítunk egymástól elkülönített átmeneteket.</a:t>
            </a:r>
          </a:p>
        </p:txBody>
      </p:sp>
      <p:sp>
        <p:nvSpPr>
          <p:cNvPr id="5" name="Dátum helye 5"/>
          <p:cNvSpPr>
            <a:spLocks noGrp="1"/>
          </p:cNvSpPr>
          <p:nvPr>
            <p:ph type="dt" sz="half" idx="10"/>
          </p:nvPr>
        </p:nvSpPr>
        <p:spPr>
          <a:xfrm>
            <a:off x="8077200" y="6356351"/>
            <a:ext cx="2133600" cy="365125"/>
          </a:xfrm>
        </p:spPr>
        <p:txBody>
          <a:bodyPr/>
          <a:lstStyle/>
          <a:p>
            <a:pPr algn="r">
              <a:defRPr/>
            </a:pPr>
            <a:fld id="{4A1D11E8-4F08-4938-A6AD-3D3A02A6C66B}" type="datetime4">
              <a:rPr lang="hu-HU"/>
              <a:pPr algn="r">
                <a:defRPr/>
              </a:pPr>
              <a:t>2024. november 28.</a:t>
            </a:fld>
            <a:endParaRPr lang="hu-HU"/>
          </a:p>
        </p:txBody>
      </p:sp>
      <p:sp>
        <p:nvSpPr>
          <p:cNvPr id="80898"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DBCCD2B4-BD4E-4003-B621-A154EA508D01}" type="slidenum">
              <a:rPr lang="hu-HU" altLang="hu-HU" sz="1200">
                <a:solidFill>
                  <a:srgbClr val="898989"/>
                </a:solidFill>
              </a:rPr>
              <a:pPr algn="ctr">
                <a:spcBef>
                  <a:spcPct val="0"/>
                </a:spcBef>
                <a:buFontTx/>
                <a:buNone/>
              </a:pPr>
              <a:t>325</a:t>
            </a:fld>
            <a:endParaRPr lang="hu-HU" altLang="hu-HU" sz="1200">
              <a:solidFill>
                <a:srgbClr val="898989"/>
              </a:solidFill>
            </a:endParaRPr>
          </a:p>
        </p:txBody>
      </p:sp>
    </p:spTree>
    <p:extLst>
      <p:ext uri="{BB962C8B-B14F-4D97-AF65-F5344CB8AC3E}">
        <p14:creationId xmlns:p14="http://schemas.microsoft.com/office/powerpoint/2010/main" val="3717040972"/>
      </p:ext>
    </p:extLst>
  </p:cSld>
  <p:clrMapOvr>
    <a:masterClrMapping/>
  </p:clrMapOvr>
  <p:timing>
    <p:tnLst>
      <p:par>
        <p:cTn id="1" dur="indefinite" restart="never" nodeType="tmRoot"/>
      </p:par>
    </p:tnLst>
  </p:timing>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8" name="Picture 2"/>
          <p:cNvPicPr>
            <a:picLocks noGrp="1"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a:xfrm>
            <a:off x="1631951" y="230188"/>
            <a:ext cx="8856663" cy="6438900"/>
          </a:xfrm>
          <a:solidFill>
            <a:schemeClr val="bg1"/>
          </a:solidFill>
        </p:spPr>
      </p:pic>
      <p:sp>
        <p:nvSpPr>
          <p:cNvPr id="82946" name="Dia számának helye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2A8A76F-530C-4D06-875C-1E0580F674FF}" type="slidenum">
              <a:rPr lang="hu-HU" altLang="hu-HU" sz="1200">
                <a:solidFill>
                  <a:srgbClr val="898989"/>
                </a:solidFill>
              </a:rPr>
              <a:pPr>
                <a:spcBef>
                  <a:spcPct val="0"/>
                </a:spcBef>
                <a:buFontTx/>
                <a:buNone/>
              </a:pPr>
              <a:t>326</a:t>
            </a:fld>
            <a:endParaRPr lang="hu-HU" altLang="hu-HU" sz="1200">
              <a:solidFill>
                <a:srgbClr val="898989"/>
              </a:solidFill>
            </a:endParaRPr>
          </a:p>
        </p:txBody>
      </p:sp>
      <p:sp>
        <p:nvSpPr>
          <p:cNvPr id="4" name="Dátum helye 4"/>
          <p:cNvSpPr>
            <a:spLocks noGrp="1"/>
          </p:cNvSpPr>
          <p:nvPr>
            <p:ph type="dt" sz="half" idx="12"/>
          </p:nvPr>
        </p:nvSpPr>
        <p:spPr/>
        <p:txBody>
          <a:bodyPr/>
          <a:lstStyle/>
          <a:p>
            <a:pPr>
              <a:defRPr/>
            </a:pPr>
            <a:fld id="{6F460304-002D-4CE2-BA61-F9721A2A5373}" type="datetime4">
              <a:rPr lang="hu-HU"/>
              <a:pPr>
                <a:defRPr/>
              </a:pPr>
              <a:t>2024. november 28.</a:t>
            </a:fld>
            <a:endParaRPr lang="hu-HU"/>
          </a:p>
        </p:txBody>
      </p:sp>
    </p:spTree>
    <p:extLst>
      <p:ext uri="{BB962C8B-B14F-4D97-AF65-F5344CB8AC3E}">
        <p14:creationId xmlns:p14="http://schemas.microsoft.com/office/powerpoint/2010/main" val="3678038137"/>
      </p:ext>
    </p:extLst>
  </p:cSld>
  <p:clrMapOvr>
    <a:masterClrMapping/>
  </p:clrMapOvr>
  <p:timing>
    <p:tnLst>
      <p:par>
        <p:cTn id="1" dur="indefinite" restart="never" nodeType="tmRoot"/>
      </p:par>
    </p:tnLst>
  </p:timing>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2"/>
          <p:cNvSpPr>
            <a:spLocks noGrp="1" noChangeArrowheads="1"/>
          </p:cNvSpPr>
          <p:nvPr>
            <p:ph type="title"/>
          </p:nvPr>
        </p:nvSpPr>
        <p:spPr/>
        <p:txBody>
          <a:bodyPr/>
          <a:lstStyle/>
          <a:p>
            <a:pPr eaLnBrk="1" hangingPunct="1"/>
            <a:r>
              <a:rPr lang="hu-HU" altLang="hu-HU" smtClean="0"/>
              <a:t>Szuperállapot</a:t>
            </a:r>
          </a:p>
        </p:txBody>
      </p:sp>
      <p:sp>
        <p:nvSpPr>
          <p:cNvPr id="84997" name="Rectangle 3"/>
          <p:cNvSpPr>
            <a:spLocks noGrp="1" noChangeArrowheads="1"/>
          </p:cNvSpPr>
          <p:nvPr>
            <p:ph idx="1"/>
          </p:nvPr>
        </p:nvSpPr>
        <p:spPr/>
        <p:txBody>
          <a:bodyPr/>
          <a:lstStyle/>
          <a:p>
            <a:pPr eaLnBrk="1" hangingPunct="1">
              <a:lnSpc>
                <a:spcPct val="80000"/>
              </a:lnSpc>
            </a:pPr>
            <a:r>
              <a:rPr lang="hu-HU" altLang="hu-HU"/>
              <a:t>Az állapotok finomíthatók alállapotokkal – a logikailag összetartozó állapotokat érdemes egy nagyobb egységbe összefogni és ebben az egységben kezelni.</a:t>
            </a:r>
          </a:p>
          <a:p>
            <a:pPr lvl="1" eaLnBrk="1" hangingPunct="1">
              <a:lnSpc>
                <a:spcPct val="80000"/>
              </a:lnSpc>
            </a:pPr>
            <a:r>
              <a:rPr lang="hu-HU" altLang="hu-HU"/>
              <a:t>A példában hasznosabb lehet létrehozni a három állapotnak egy szuperállapotát, majd ebből megrajzolni egyetlen </a:t>
            </a:r>
            <a:r>
              <a:rPr lang="hu-HU" altLang="hu-HU" i="1"/>
              <a:t>cancelled</a:t>
            </a:r>
            <a:r>
              <a:rPr lang="hu-HU" altLang="hu-HU"/>
              <a:t> átmenetet.</a:t>
            </a:r>
          </a:p>
          <a:p>
            <a:pPr eaLnBrk="1" hangingPunct="1">
              <a:lnSpc>
                <a:spcPct val="80000"/>
              </a:lnSpc>
            </a:pPr>
            <a:r>
              <a:rPr lang="hu-HU" altLang="hu-HU"/>
              <a:t>Egyfajta öröklődési hierarchia, az alállapotok öröklik a szuperállapot átmeneteit (a példában a </a:t>
            </a:r>
            <a:r>
              <a:rPr lang="hu-HU" altLang="hu-HU" i="1"/>
              <a:t>cancelled</a:t>
            </a:r>
            <a:r>
              <a:rPr lang="hu-HU" altLang="hu-HU"/>
              <a:t> átmenetet), ha azt nem definiálják át.</a:t>
            </a:r>
          </a:p>
          <a:p>
            <a:pPr eaLnBrk="1" hangingPunct="1">
              <a:lnSpc>
                <a:spcPct val="80000"/>
              </a:lnSpc>
            </a:pPr>
            <a:r>
              <a:rPr lang="hu-HU" altLang="hu-HU"/>
              <a:t>Egy szuperállapotban levő objektum lehet a szubállapotok bármelyikében.</a:t>
            </a:r>
          </a:p>
        </p:txBody>
      </p:sp>
      <p:sp>
        <p:nvSpPr>
          <p:cNvPr id="5" name="Dátum helye 5"/>
          <p:cNvSpPr>
            <a:spLocks noGrp="1"/>
          </p:cNvSpPr>
          <p:nvPr>
            <p:ph type="dt" sz="half" idx="10"/>
          </p:nvPr>
        </p:nvSpPr>
        <p:spPr>
          <a:xfrm>
            <a:off x="8077200" y="6356351"/>
            <a:ext cx="2133600" cy="365125"/>
          </a:xfrm>
        </p:spPr>
        <p:txBody>
          <a:bodyPr/>
          <a:lstStyle/>
          <a:p>
            <a:pPr algn="r">
              <a:defRPr/>
            </a:pPr>
            <a:fld id="{CF20E70E-402D-428B-A89B-89CC073E85D9}" type="datetime4">
              <a:rPr lang="hu-HU"/>
              <a:pPr algn="r">
                <a:defRPr/>
              </a:pPr>
              <a:t>2024. november 28.</a:t>
            </a:fld>
            <a:endParaRPr lang="hu-HU"/>
          </a:p>
        </p:txBody>
      </p:sp>
      <p:sp>
        <p:nvSpPr>
          <p:cNvPr id="84994"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4A66FF49-7C94-43F2-846B-0A8B1534EDD9}" type="slidenum">
              <a:rPr lang="hu-HU" altLang="hu-HU" sz="1200">
                <a:solidFill>
                  <a:srgbClr val="898989"/>
                </a:solidFill>
              </a:rPr>
              <a:pPr algn="ctr">
                <a:spcBef>
                  <a:spcPct val="0"/>
                </a:spcBef>
                <a:buFontTx/>
                <a:buNone/>
              </a:pPr>
              <a:t>327</a:t>
            </a:fld>
            <a:endParaRPr lang="hu-HU" altLang="hu-HU" sz="1200">
              <a:solidFill>
                <a:srgbClr val="898989"/>
              </a:solidFill>
            </a:endParaRPr>
          </a:p>
        </p:txBody>
      </p:sp>
    </p:spTree>
    <p:extLst>
      <p:ext uri="{BB962C8B-B14F-4D97-AF65-F5344CB8AC3E}">
        <p14:creationId xmlns:p14="http://schemas.microsoft.com/office/powerpoint/2010/main" val="1239111301"/>
      </p:ext>
    </p:extLst>
  </p:cSld>
  <p:clrMapOvr>
    <a:masterClrMapping/>
  </p:clrMapOvr>
  <p:timing>
    <p:tnLst>
      <p:par>
        <p:cTn id="1" dur="indefinite" restart="never" nodeType="tmRoot"/>
      </p:par>
    </p:tnLst>
  </p:timing>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4" name="Picture 2"/>
          <p:cNvPicPr>
            <a:picLocks noGrp="1" noChangeAspect="1" noChangeArrowheads="1"/>
          </p:cNvPicPr>
          <p:nvPr>
            <p:ph type="title"/>
          </p:nvPr>
        </p:nvPicPr>
        <p:blipFill>
          <a:blip r:embed="rId3">
            <a:extLst>
              <a:ext uri="{28A0092B-C50C-407E-A947-70E740481C1C}">
                <a14:useLocalDpi xmlns:a14="http://schemas.microsoft.com/office/drawing/2010/main" val="0"/>
              </a:ext>
            </a:extLst>
          </a:blip>
          <a:stretch>
            <a:fillRect/>
          </a:stretch>
        </p:blipFill>
        <p:spPr>
          <a:xfrm>
            <a:off x="151181" y="0"/>
            <a:ext cx="9022080" cy="6444343"/>
          </a:xfrm>
          <a:solidFill>
            <a:schemeClr val="bg1"/>
          </a:solidFill>
        </p:spPr>
      </p:pic>
      <p:sp>
        <p:nvSpPr>
          <p:cNvPr id="4" name="Dátum helye 5"/>
          <p:cNvSpPr>
            <a:spLocks noGrp="1"/>
          </p:cNvSpPr>
          <p:nvPr>
            <p:ph type="dt" sz="half" idx="10"/>
          </p:nvPr>
        </p:nvSpPr>
        <p:spPr>
          <a:xfrm>
            <a:off x="8077200" y="6356351"/>
            <a:ext cx="2133600" cy="365125"/>
          </a:xfrm>
        </p:spPr>
        <p:txBody>
          <a:bodyPr/>
          <a:lstStyle/>
          <a:p>
            <a:pPr algn="r">
              <a:defRPr/>
            </a:pPr>
            <a:fld id="{4180A47E-7CD0-48D5-85D2-0336C432549C}" type="datetime4">
              <a:rPr lang="hu-HU"/>
              <a:pPr algn="r">
                <a:defRPr/>
              </a:pPr>
              <a:t>2024. november 28.</a:t>
            </a:fld>
            <a:endParaRPr lang="hu-HU"/>
          </a:p>
        </p:txBody>
      </p:sp>
      <p:sp>
        <p:nvSpPr>
          <p:cNvPr id="87042"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D8B21E3E-DB73-4B79-9D77-9B788B123365}" type="slidenum">
              <a:rPr lang="hu-HU" altLang="hu-HU" sz="1200">
                <a:solidFill>
                  <a:srgbClr val="898989"/>
                </a:solidFill>
              </a:rPr>
              <a:pPr algn="ctr">
                <a:spcBef>
                  <a:spcPct val="0"/>
                </a:spcBef>
                <a:buFontTx/>
                <a:buNone/>
              </a:pPr>
              <a:t>328</a:t>
            </a:fld>
            <a:endParaRPr lang="hu-HU" altLang="hu-HU" sz="1200">
              <a:solidFill>
                <a:srgbClr val="898989"/>
              </a:solidFill>
            </a:endParaRPr>
          </a:p>
        </p:txBody>
      </p:sp>
    </p:spTree>
    <p:extLst>
      <p:ext uri="{BB962C8B-B14F-4D97-AF65-F5344CB8AC3E}">
        <p14:creationId xmlns:p14="http://schemas.microsoft.com/office/powerpoint/2010/main" val="1328307559"/>
      </p:ext>
    </p:extLst>
  </p:cSld>
  <p:clrMapOvr>
    <a:masterClrMapping/>
  </p:clrMapOvr>
  <p:timing>
    <p:tnLst>
      <p:par>
        <p:cTn id="1" dur="indefinite" restart="never" nodeType="tmRoot"/>
      </p:par>
    </p:tnLst>
  </p:timing>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2"/>
          <p:cNvSpPr>
            <a:spLocks noGrp="1" noChangeArrowheads="1"/>
          </p:cNvSpPr>
          <p:nvPr>
            <p:ph type="title"/>
          </p:nvPr>
        </p:nvSpPr>
        <p:spPr/>
        <p:txBody>
          <a:bodyPr/>
          <a:lstStyle/>
          <a:p>
            <a:pPr eaLnBrk="1" hangingPunct="1"/>
            <a:r>
              <a:rPr lang="hu-HU" altLang="hu-HU" smtClean="0"/>
              <a:t>Szubállapotok</a:t>
            </a:r>
          </a:p>
        </p:txBody>
      </p:sp>
      <p:sp>
        <p:nvSpPr>
          <p:cNvPr id="89093" name="Rectangle 3"/>
          <p:cNvSpPr>
            <a:spLocks noGrp="1" noChangeArrowheads="1"/>
          </p:cNvSpPr>
          <p:nvPr>
            <p:ph idx="1"/>
          </p:nvPr>
        </p:nvSpPr>
        <p:spPr>
          <a:xfrm>
            <a:off x="1981201" y="1412875"/>
            <a:ext cx="8435975" cy="5329238"/>
          </a:xfrm>
        </p:spPr>
        <p:txBody>
          <a:bodyPr/>
          <a:lstStyle/>
          <a:p>
            <a:pPr eaLnBrk="1" hangingPunct="1"/>
            <a:r>
              <a:rPr lang="hu-HU" altLang="hu-HU" smtClean="0"/>
              <a:t>A szubállapotok egy meghatározott szuperállapoton belül:</a:t>
            </a:r>
          </a:p>
          <a:p>
            <a:pPr lvl="1" eaLnBrk="1" hangingPunct="1"/>
            <a:r>
              <a:rPr lang="hu-HU" altLang="hu-HU" smtClean="0"/>
              <a:t>szekvenciálisan követik egymást:</a:t>
            </a:r>
          </a:p>
          <a:p>
            <a:pPr lvl="2" eaLnBrk="1" hangingPunct="1"/>
            <a:r>
              <a:rPr lang="hu-HU" altLang="hu-HU" sz="2800"/>
              <a:t>diszjunkt állapotok</a:t>
            </a:r>
          </a:p>
          <a:p>
            <a:pPr lvl="2" eaLnBrk="1" hangingPunct="1"/>
            <a:r>
              <a:rPr lang="hu-HU" altLang="hu-HU" sz="2800"/>
              <a:t>a szuperállapotot egy adott időpontban az alállapotok közül mindig csak egy határozza meg, vagy</a:t>
            </a:r>
          </a:p>
          <a:p>
            <a:pPr lvl="1" eaLnBrk="1" hangingPunct="1"/>
            <a:r>
              <a:rPr lang="hu-HU" altLang="hu-HU" smtClean="0"/>
              <a:t>párhuzamos kapcsolatban lehetnek egymással – konkurens szub-állapotok.</a:t>
            </a:r>
          </a:p>
        </p:txBody>
      </p:sp>
      <p:sp>
        <p:nvSpPr>
          <p:cNvPr id="5" name="Dátum helye 5"/>
          <p:cNvSpPr>
            <a:spLocks noGrp="1"/>
          </p:cNvSpPr>
          <p:nvPr>
            <p:ph type="dt" sz="half" idx="10"/>
          </p:nvPr>
        </p:nvSpPr>
        <p:spPr>
          <a:xfrm>
            <a:off x="8077200" y="6356351"/>
            <a:ext cx="2133600" cy="365125"/>
          </a:xfrm>
        </p:spPr>
        <p:txBody>
          <a:bodyPr/>
          <a:lstStyle/>
          <a:p>
            <a:pPr algn="r">
              <a:defRPr/>
            </a:pPr>
            <a:fld id="{49D57940-1AE6-4C8F-98DB-E421BC400E82}" type="datetime4">
              <a:rPr lang="hu-HU"/>
              <a:pPr algn="r">
                <a:defRPr/>
              </a:pPr>
              <a:t>2024. november 28.</a:t>
            </a:fld>
            <a:endParaRPr lang="hu-HU"/>
          </a:p>
        </p:txBody>
      </p:sp>
      <p:sp>
        <p:nvSpPr>
          <p:cNvPr id="89090"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8333D4EB-6924-4F3B-91CA-30B061FC24C6}" type="slidenum">
              <a:rPr lang="hu-HU" altLang="hu-HU" sz="1200">
                <a:solidFill>
                  <a:srgbClr val="898989"/>
                </a:solidFill>
              </a:rPr>
              <a:pPr algn="ctr">
                <a:spcBef>
                  <a:spcPct val="0"/>
                </a:spcBef>
                <a:buFontTx/>
                <a:buNone/>
              </a:pPr>
              <a:t>329</a:t>
            </a:fld>
            <a:endParaRPr lang="hu-HU" altLang="hu-HU" sz="1200">
              <a:solidFill>
                <a:srgbClr val="898989"/>
              </a:solidFill>
            </a:endParaRPr>
          </a:p>
        </p:txBody>
      </p:sp>
    </p:spTree>
    <p:extLst>
      <p:ext uri="{BB962C8B-B14F-4D97-AF65-F5344CB8AC3E}">
        <p14:creationId xmlns:p14="http://schemas.microsoft.com/office/powerpoint/2010/main" val="3916894032"/>
      </p:ext>
    </p:extLst>
  </p:cSld>
  <p:clrMapOvr>
    <a:masterClrMapping/>
  </p:clrMapOvr>
  <p:timing>
    <p:tnLst>
      <p:par>
        <p:cTn id="1" dur="indefinite" restart="never" nodeType="tmRoot"/>
      </p:par>
    </p:tnLst>
  </p:timing>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40" name="Picture 2"/>
          <p:cNvPicPr>
            <a:picLocks noGrp="1" noChangeAspect="1" noChangeArrowheads="1"/>
          </p:cNvPicPr>
          <p:nvPr>
            <p:ph type="title"/>
          </p:nvPr>
        </p:nvPicPr>
        <p:blipFill>
          <a:blip r:embed="rId3" cstate="print">
            <a:extLst>
              <a:ext uri="{28A0092B-C50C-407E-A947-70E740481C1C}">
                <a14:useLocalDpi xmlns:a14="http://schemas.microsoft.com/office/drawing/2010/main" val="0"/>
              </a:ext>
            </a:extLst>
          </a:blip>
          <a:stretch>
            <a:fillRect/>
          </a:stretch>
        </p:blipFill>
        <p:spPr>
          <a:xfrm>
            <a:off x="4051459" y="609600"/>
            <a:ext cx="1849120" cy="1320800"/>
          </a:xfrm>
          <a:solidFill>
            <a:schemeClr val="bg1"/>
          </a:solidFill>
        </p:spPr>
      </p:pic>
      <p:sp>
        <p:nvSpPr>
          <p:cNvPr id="4" name="Dátum helye 5"/>
          <p:cNvSpPr>
            <a:spLocks noGrp="1"/>
          </p:cNvSpPr>
          <p:nvPr>
            <p:ph type="dt" sz="half" idx="10"/>
          </p:nvPr>
        </p:nvSpPr>
        <p:spPr>
          <a:xfrm>
            <a:off x="8077200" y="6356351"/>
            <a:ext cx="2133600" cy="365125"/>
          </a:xfrm>
        </p:spPr>
        <p:txBody>
          <a:bodyPr/>
          <a:lstStyle/>
          <a:p>
            <a:pPr algn="r">
              <a:defRPr/>
            </a:pPr>
            <a:fld id="{07BCDE10-3A85-4DE5-9736-A6657795ADFE}" type="datetime4">
              <a:rPr lang="hu-HU"/>
              <a:pPr algn="r">
                <a:defRPr/>
              </a:pPr>
              <a:t>2024. november 28.</a:t>
            </a:fld>
            <a:endParaRPr lang="hu-HU"/>
          </a:p>
        </p:txBody>
      </p:sp>
      <p:sp>
        <p:nvSpPr>
          <p:cNvPr id="91138"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65EA15C4-F41A-414B-B896-CB6D43A39C09}" type="slidenum">
              <a:rPr lang="hu-HU" altLang="hu-HU" sz="1200">
                <a:solidFill>
                  <a:srgbClr val="898989"/>
                </a:solidFill>
              </a:rPr>
              <a:pPr algn="ctr">
                <a:spcBef>
                  <a:spcPct val="0"/>
                </a:spcBef>
                <a:buFontTx/>
                <a:buNone/>
              </a:pPr>
              <a:t>330</a:t>
            </a:fld>
            <a:endParaRPr lang="hu-HU" altLang="hu-HU" sz="1200">
              <a:solidFill>
                <a:srgbClr val="898989"/>
              </a:solidFill>
            </a:endParaRPr>
          </a:p>
        </p:txBody>
      </p:sp>
    </p:spTree>
    <p:extLst>
      <p:ext uri="{BB962C8B-B14F-4D97-AF65-F5344CB8AC3E}">
        <p14:creationId xmlns:p14="http://schemas.microsoft.com/office/powerpoint/2010/main" val="3079996039"/>
      </p:ext>
    </p:extLst>
  </p:cSld>
  <p:clrMapOvr>
    <a:masterClrMapping/>
  </p:clrMapOvr>
  <p:timing>
    <p:tnLst>
      <p:par>
        <p:cTn id="1" dur="indefinite" restart="never" nodeType="tmRoot"/>
      </p:par>
    </p:tnLst>
  </p:timing>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8" name="Rectangle 2"/>
          <p:cNvSpPr>
            <a:spLocks noGrp="1" noChangeArrowheads="1"/>
          </p:cNvSpPr>
          <p:nvPr>
            <p:ph type="title"/>
          </p:nvPr>
        </p:nvSpPr>
        <p:spPr/>
        <p:txBody>
          <a:bodyPr/>
          <a:lstStyle/>
          <a:p>
            <a:pPr eaLnBrk="1" hangingPunct="1"/>
            <a:r>
              <a:rPr lang="hu-HU" altLang="hu-HU" smtClean="0"/>
              <a:t>Konkurrens állapot-diagram</a:t>
            </a:r>
          </a:p>
        </p:txBody>
      </p:sp>
      <p:sp>
        <p:nvSpPr>
          <p:cNvPr id="93189" name="Rectangle 3"/>
          <p:cNvSpPr>
            <a:spLocks noGrp="1" noChangeArrowheads="1"/>
          </p:cNvSpPr>
          <p:nvPr>
            <p:ph idx="1"/>
          </p:nvPr>
        </p:nvSpPr>
        <p:spPr>
          <a:xfrm>
            <a:off x="1774825" y="1484314"/>
            <a:ext cx="8642350" cy="5373687"/>
          </a:xfrm>
        </p:spPr>
        <p:txBody>
          <a:bodyPr/>
          <a:lstStyle/>
          <a:p>
            <a:pPr eaLnBrk="1" hangingPunct="1">
              <a:lnSpc>
                <a:spcPct val="90000"/>
              </a:lnSpc>
            </a:pPr>
            <a:r>
              <a:rPr lang="hu-HU" altLang="hu-HU"/>
              <a:t>Műveletsorok, amelyek párhuzamosan végezhetők egymással.</a:t>
            </a:r>
          </a:p>
          <a:p>
            <a:pPr eaLnBrk="1" hangingPunct="1">
              <a:lnSpc>
                <a:spcPct val="90000"/>
              </a:lnSpc>
            </a:pPr>
            <a:r>
              <a:rPr lang="hu-HU" altLang="hu-HU"/>
              <a:t>A párhuzamos állapotfolyamok mindegyikének külön állapota van</a:t>
            </a:r>
          </a:p>
          <a:p>
            <a:pPr lvl="1" eaLnBrk="1" hangingPunct="1">
              <a:lnSpc>
                <a:spcPct val="90000"/>
              </a:lnSpc>
            </a:pPr>
            <a:r>
              <a:rPr lang="hu-HU" altLang="hu-HU"/>
              <a:t>az egy szuperállapotba zárt, konkurens állapotgépeknek saját induló és végállapotaik vannak.</a:t>
            </a:r>
          </a:p>
          <a:p>
            <a:pPr eaLnBrk="1" hangingPunct="1">
              <a:lnSpc>
                <a:spcPct val="90000"/>
              </a:lnSpc>
            </a:pPr>
            <a:r>
              <a:rPr lang="hu-HU" altLang="hu-HU"/>
              <a:t>A szuperállapot akkor következik be, amikor a benne levő összes párhuzamos folyam befejeződik, vagyis eléri a végállapotot </a:t>
            </a:r>
          </a:p>
          <a:p>
            <a:pPr lvl="1" eaLnBrk="1" hangingPunct="1">
              <a:lnSpc>
                <a:spcPct val="90000"/>
              </a:lnSpc>
            </a:pPr>
            <a:r>
              <a:rPr lang="hu-HU" altLang="hu-HU"/>
              <a:t>ha valamelyik előbb fejeződik be, az vár.</a:t>
            </a:r>
          </a:p>
          <a:p>
            <a:pPr eaLnBrk="1" hangingPunct="1">
              <a:lnSpc>
                <a:spcPct val="90000"/>
              </a:lnSpc>
            </a:pPr>
            <a:r>
              <a:rPr lang="hu-HU" altLang="hu-HU"/>
              <a:t>Hasznos: ha egy objektumnak vannak egymástól független viselkedéscsoportjai.</a:t>
            </a:r>
          </a:p>
        </p:txBody>
      </p:sp>
      <p:sp>
        <p:nvSpPr>
          <p:cNvPr id="5" name="Dátum helye 5"/>
          <p:cNvSpPr>
            <a:spLocks noGrp="1"/>
          </p:cNvSpPr>
          <p:nvPr>
            <p:ph type="dt" sz="half" idx="10"/>
          </p:nvPr>
        </p:nvSpPr>
        <p:spPr>
          <a:xfrm>
            <a:off x="8077200" y="6356351"/>
            <a:ext cx="2133600" cy="365125"/>
          </a:xfrm>
        </p:spPr>
        <p:txBody>
          <a:bodyPr/>
          <a:lstStyle/>
          <a:p>
            <a:pPr algn="r">
              <a:defRPr/>
            </a:pPr>
            <a:fld id="{035E2DFA-6D5E-4DE4-9B46-5888BB229551}" type="datetime4">
              <a:rPr lang="hu-HU"/>
              <a:pPr algn="r">
                <a:defRPr/>
              </a:pPr>
              <a:t>2024. november 28.</a:t>
            </a:fld>
            <a:endParaRPr lang="hu-HU"/>
          </a:p>
        </p:txBody>
      </p:sp>
      <p:sp>
        <p:nvSpPr>
          <p:cNvPr id="93186"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36AF4292-49D7-407A-84F4-6DD9E51FCF16}" type="slidenum">
              <a:rPr lang="hu-HU" altLang="hu-HU" sz="1200">
                <a:solidFill>
                  <a:srgbClr val="898989"/>
                </a:solidFill>
              </a:rPr>
              <a:pPr algn="ctr">
                <a:spcBef>
                  <a:spcPct val="0"/>
                </a:spcBef>
                <a:buFontTx/>
                <a:buNone/>
              </a:pPr>
              <a:t>331</a:t>
            </a:fld>
            <a:endParaRPr lang="hu-HU" altLang="hu-HU" sz="1200">
              <a:solidFill>
                <a:srgbClr val="898989"/>
              </a:solidFill>
            </a:endParaRPr>
          </a:p>
        </p:txBody>
      </p:sp>
    </p:spTree>
    <p:extLst>
      <p:ext uri="{BB962C8B-B14F-4D97-AF65-F5344CB8AC3E}">
        <p14:creationId xmlns:p14="http://schemas.microsoft.com/office/powerpoint/2010/main" val="4181035057"/>
      </p:ext>
    </p:extLst>
  </p:cSld>
  <p:clrMapOvr>
    <a:masterClrMapping/>
  </p:clrMapOvr>
  <p:timing>
    <p:tnLst>
      <p:par>
        <p:cTn id="1" dur="indefinite" restart="never" nodeType="tmRoot"/>
      </p:par>
    </p:tnLst>
  </p:timing>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6" name="Rectangle 2"/>
          <p:cNvSpPr>
            <a:spLocks noGrp="1" noChangeArrowheads="1"/>
          </p:cNvSpPr>
          <p:nvPr>
            <p:ph type="title"/>
          </p:nvPr>
        </p:nvSpPr>
        <p:spPr/>
        <p:txBody>
          <a:bodyPr/>
          <a:lstStyle/>
          <a:p>
            <a:pPr eaLnBrk="1" hangingPunct="1"/>
            <a:r>
              <a:rPr lang="hu-HU" altLang="hu-HU" smtClean="0"/>
              <a:t>Konkurrens állapot-diagram</a:t>
            </a:r>
          </a:p>
        </p:txBody>
      </p:sp>
      <p:sp>
        <p:nvSpPr>
          <p:cNvPr id="95237" name="Rectangle 3"/>
          <p:cNvSpPr>
            <a:spLocks noGrp="1" noChangeArrowheads="1"/>
          </p:cNvSpPr>
          <p:nvPr>
            <p:ph idx="1"/>
          </p:nvPr>
        </p:nvSpPr>
        <p:spPr>
          <a:xfrm>
            <a:off x="1981200" y="1600201"/>
            <a:ext cx="8362950" cy="4924425"/>
          </a:xfrm>
        </p:spPr>
        <p:txBody>
          <a:bodyPr/>
          <a:lstStyle/>
          <a:p>
            <a:pPr eaLnBrk="1" hangingPunct="1"/>
            <a:r>
              <a:rPr lang="hu-HU" altLang="hu-HU"/>
              <a:t>A modellben minél kevesebb konkurens szubállapot kialakítása.</a:t>
            </a:r>
          </a:p>
          <a:p>
            <a:pPr eaLnBrk="1" hangingPunct="1"/>
            <a:r>
              <a:rPr lang="hu-HU" altLang="hu-HU"/>
              <a:t>Ha túl bonyolult egy objektumhoz tartozó konkurens állapot diagram, érdemes az objektumot további objektumokra szétszedni, szétválasztani.</a:t>
            </a:r>
          </a:p>
          <a:p>
            <a:pPr eaLnBrk="1" hangingPunct="1"/>
            <a:r>
              <a:rPr lang="hu-HU" altLang="hu-HU"/>
              <a:t>Példában az order állapotai:</a:t>
            </a:r>
          </a:p>
          <a:p>
            <a:pPr lvl="1" eaLnBrk="1" hangingPunct="1"/>
            <a:r>
              <a:rPr lang="hu-HU" altLang="hu-HU"/>
              <a:t>egyrészt a rendelési tételek elérhetőségén alapulnak, </a:t>
            </a:r>
          </a:p>
          <a:p>
            <a:pPr lvl="1" eaLnBrk="1" hangingPunct="1"/>
            <a:r>
              <a:rPr lang="hu-HU" altLang="hu-HU"/>
              <a:t>másrészt léteznek olyan állapotok is, amelyek viszont a fizetés engedélyezésén alapulnak.</a:t>
            </a:r>
          </a:p>
          <a:p>
            <a:pPr lvl="1" eaLnBrk="1" hangingPunct="1"/>
            <a:endParaRPr lang="hu-HU" altLang="hu-HU"/>
          </a:p>
        </p:txBody>
      </p:sp>
      <p:sp>
        <p:nvSpPr>
          <p:cNvPr id="5" name="Dátum helye 5"/>
          <p:cNvSpPr>
            <a:spLocks noGrp="1"/>
          </p:cNvSpPr>
          <p:nvPr>
            <p:ph type="dt" sz="half" idx="10"/>
          </p:nvPr>
        </p:nvSpPr>
        <p:spPr>
          <a:xfrm>
            <a:off x="8077200" y="6356351"/>
            <a:ext cx="2133600" cy="365125"/>
          </a:xfrm>
        </p:spPr>
        <p:txBody>
          <a:bodyPr/>
          <a:lstStyle/>
          <a:p>
            <a:pPr algn="r">
              <a:defRPr/>
            </a:pPr>
            <a:fld id="{91920636-B9D5-426C-AFED-C27AA5C8A0F9}" type="datetime4">
              <a:rPr lang="hu-HU"/>
              <a:pPr algn="r">
                <a:defRPr/>
              </a:pPr>
              <a:t>2024. november 28.</a:t>
            </a:fld>
            <a:endParaRPr lang="hu-HU"/>
          </a:p>
        </p:txBody>
      </p:sp>
      <p:sp>
        <p:nvSpPr>
          <p:cNvPr id="95234"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B83629FC-2F53-4B9C-80CB-4A65DA5BE1E1}" type="slidenum">
              <a:rPr lang="hu-HU" altLang="hu-HU" sz="1200">
                <a:solidFill>
                  <a:srgbClr val="898989"/>
                </a:solidFill>
              </a:rPr>
              <a:pPr algn="ctr">
                <a:spcBef>
                  <a:spcPct val="0"/>
                </a:spcBef>
                <a:buFontTx/>
                <a:buNone/>
              </a:pPr>
              <a:t>332</a:t>
            </a:fld>
            <a:endParaRPr lang="hu-HU" altLang="hu-HU" sz="1200">
              <a:solidFill>
                <a:srgbClr val="898989"/>
              </a:solidFill>
            </a:endParaRPr>
          </a:p>
        </p:txBody>
      </p:sp>
    </p:spTree>
    <p:extLst>
      <p:ext uri="{BB962C8B-B14F-4D97-AF65-F5344CB8AC3E}">
        <p14:creationId xmlns:p14="http://schemas.microsoft.com/office/powerpoint/2010/main" val="2818089136"/>
      </p:ext>
    </p:extLst>
  </p:cSld>
  <p:clrMapOvr>
    <a:masterClrMapping/>
  </p:clrMapOvr>
  <p:timing>
    <p:tnLst>
      <p:par>
        <p:cTn id="1" dur="indefinite" restart="never" nodeType="tmRoot"/>
      </p:par>
    </p:tnLst>
  </p:timing>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2"/>
          <p:cNvSpPr>
            <a:spLocks noGrp="1" noChangeArrowheads="1"/>
          </p:cNvSpPr>
          <p:nvPr>
            <p:ph type="title"/>
          </p:nvPr>
        </p:nvSpPr>
        <p:spPr/>
        <p:txBody>
          <a:bodyPr/>
          <a:lstStyle/>
          <a:p>
            <a:pPr eaLnBrk="1" hangingPunct="1"/>
            <a:r>
              <a:rPr lang="hu-HU" altLang="hu-HU" smtClean="0"/>
              <a:t>Példa</a:t>
            </a:r>
          </a:p>
        </p:txBody>
      </p:sp>
      <p:sp>
        <p:nvSpPr>
          <p:cNvPr id="97285" name="Rectangle 3"/>
          <p:cNvSpPr>
            <a:spLocks noGrp="1" noChangeArrowheads="1"/>
          </p:cNvSpPr>
          <p:nvPr>
            <p:ph idx="1"/>
          </p:nvPr>
        </p:nvSpPr>
        <p:spPr/>
        <p:txBody>
          <a:bodyPr/>
          <a:lstStyle/>
          <a:p>
            <a:pPr eaLnBrk="1" hangingPunct="1"/>
            <a:r>
              <a:rPr lang="hu-HU" altLang="hu-HU"/>
              <a:t>Az </a:t>
            </a:r>
            <a:r>
              <a:rPr lang="hu-HU" altLang="hu-HU" i="1"/>
              <a:t>authorzing</a:t>
            </a:r>
            <a:r>
              <a:rPr lang="hu-HU" altLang="hu-HU"/>
              <a:t> állapotban végrehajtásra kerül a </a:t>
            </a:r>
            <a:r>
              <a:rPr lang="hu-HU" altLang="hu-HU" i="1"/>
              <a:t>check payment</a:t>
            </a:r>
            <a:r>
              <a:rPr lang="hu-HU" altLang="hu-HU"/>
              <a:t> tevékenység.</a:t>
            </a:r>
          </a:p>
          <a:p>
            <a:pPr eaLnBrk="1" hangingPunct="1"/>
            <a:r>
              <a:rPr lang="hu-HU" altLang="hu-HU"/>
              <a:t>A tevékenység egy signal-lal fejeződik be, hogy a </a:t>
            </a:r>
            <a:r>
              <a:rPr lang="hu-HU" altLang="hu-HU" i="1"/>
              <a:t>payment</a:t>
            </a:r>
            <a:r>
              <a:rPr lang="hu-HU" altLang="hu-HU"/>
              <a:t> az helyes</a:t>
            </a:r>
          </a:p>
          <a:p>
            <a:pPr lvl="1" eaLnBrk="1" hangingPunct="1"/>
            <a:r>
              <a:rPr lang="hu-HU" altLang="hu-HU"/>
              <a:t>ha a </a:t>
            </a:r>
            <a:r>
              <a:rPr lang="hu-HU" altLang="hu-HU" i="1"/>
              <a:t>payment</a:t>
            </a:r>
            <a:r>
              <a:rPr lang="hu-HU" altLang="hu-HU"/>
              <a:t> OK, a feltétel igaz értékkel fejeződik be, akkor az adott </a:t>
            </a:r>
            <a:r>
              <a:rPr lang="hu-HU" altLang="hu-HU" i="1"/>
              <a:t>order</a:t>
            </a:r>
            <a:r>
              <a:rPr lang="hu-HU" altLang="hu-HU"/>
              <a:t> objektum addig vár az </a:t>
            </a:r>
            <a:r>
              <a:rPr lang="hu-HU" altLang="hu-HU" i="1"/>
              <a:t>authorized</a:t>
            </a:r>
            <a:r>
              <a:rPr lang="hu-HU" altLang="hu-HU"/>
              <a:t> állapotban, amíg a </a:t>
            </a:r>
            <a:r>
              <a:rPr lang="hu-HU" altLang="hu-HU" i="1"/>
              <a:t>delivered</a:t>
            </a:r>
            <a:r>
              <a:rPr lang="hu-HU" altLang="hu-HU"/>
              <a:t> esemény be nem következik.</a:t>
            </a:r>
          </a:p>
          <a:p>
            <a:pPr lvl="1" eaLnBrk="1" hangingPunct="1"/>
            <a:r>
              <a:rPr lang="hu-HU" altLang="hu-HU"/>
              <a:t>ha a feltétel nem igaz az </a:t>
            </a:r>
            <a:r>
              <a:rPr lang="hu-HU" altLang="hu-HU" i="1"/>
              <a:t>order</a:t>
            </a:r>
            <a:r>
              <a:rPr lang="hu-HU" altLang="hu-HU"/>
              <a:t> bekerül a </a:t>
            </a:r>
            <a:r>
              <a:rPr lang="hu-HU" altLang="hu-HU" i="1"/>
              <a:t>rejected</a:t>
            </a:r>
            <a:r>
              <a:rPr lang="hu-HU" altLang="hu-HU"/>
              <a:t> állapotba.</a:t>
            </a:r>
          </a:p>
        </p:txBody>
      </p:sp>
      <p:sp>
        <p:nvSpPr>
          <p:cNvPr id="5" name="Dátum helye 5"/>
          <p:cNvSpPr>
            <a:spLocks noGrp="1"/>
          </p:cNvSpPr>
          <p:nvPr>
            <p:ph type="dt" sz="half" idx="10"/>
          </p:nvPr>
        </p:nvSpPr>
        <p:spPr>
          <a:xfrm>
            <a:off x="8077200" y="6356351"/>
            <a:ext cx="2133600" cy="365125"/>
          </a:xfrm>
        </p:spPr>
        <p:txBody>
          <a:bodyPr/>
          <a:lstStyle/>
          <a:p>
            <a:pPr algn="r">
              <a:defRPr/>
            </a:pPr>
            <a:fld id="{CDC912B1-B6A3-432B-A9D8-05862E133793}" type="datetime4">
              <a:rPr lang="hu-HU"/>
              <a:pPr algn="r">
                <a:defRPr/>
              </a:pPr>
              <a:t>2024. november 28.</a:t>
            </a:fld>
            <a:endParaRPr lang="hu-HU"/>
          </a:p>
        </p:txBody>
      </p:sp>
      <p:sp>
        <p:nvSpPr>
          <p:cNvPr id="97282"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B7763810-253D-4C6D-A11D-9DA82E6BF919}" type="slidenum">
              <a:rPr lang="hu-HU" altLang="hu-HU" sz="1200">
                <a:solidFill>
                  <a:srgbClr val="898989"/>
                </a:solidFill>
              </a:rPr>
              <a:pPr algn="ctr">
                <a:spcBef>
                  <a:spcPct val="0"/>
                </a:spcBef>
                <a:buFontTx/>
                <a:buNone/>
              </a:pPr>
              <a:t>333</a:t>
            </a:fld>
            <a:endParaRPr lang="hu-HU" altLang="hu-HU" sz="1200">
              <a:solidFill>
                <a:srgbClr val="898989"/>
              </a:solidFill>
            </a:endParaRPr>
          </a:p>
        </p:txBody>
      </p:sp>
    </p:spTree>
    <p:extLst>
      <p:ext uri="{BB962C8B-B14F-4D97-AF65-F5344CB8AC3E}">
        <p14:creationId xmlns:p14="http://schemas.microsoft.com/office/powerpoint/2010/main" val="2978057388"/>
      </p:ext>
    </p:extLst>
  </p:cSld>
  <p:clrMapOvr>
    <a:masterClrMapping/>
  </p:clrMapOvr>
  <p:timing>
    <p:tnLst>
      <p:par>
        <p:cTn id="1" dur="indefinite" restart="never" nodeType="tmRoot"/>
      </p:par>
    </p:tnLst>
  </p:timing>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1970" name="Rectangle 2"/>
          <p:cNvSpPr>
            <a:spLocks noGrp="1" noChangeArrowheads="1"/>
          </p:cNvSpPr>
          <p:nvPr>
            <p:ph type="title"/>
          </p:nvPr>
        </p:nvSpPr>
        <p:spPr/>
        <p:txBody>
          <a:bodyPr rtlCol="0">
            <a:normAutofit/>
          </a:bodyPr>
          <a:lstStyle/>
          <a:p>
            <a:pPr>
              <a:defRPr/>
            </a:pPr>
            <a:r>
              <a:rPr lang="hu-HU" sz="4000"/>
              <a:t>Payment authorizing - fizetésengedélyezés</a:t>
            </a:r>
          </a:p>
        </p:txBody>
      </p:sp>
      <p:pic>
        <p:nvPicPr>
          <p:cNvPr id="99333"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303589" y="1536700"/>
            <a:ext cx="5329237" cy="5321300"/>
          </a:xfrm>
          <a:solidFill>
            <a:schemeClr val="bg1"/>
          </a:solidFill>
        </p:spPr>
      </p:pic>
      <p:sp>
        <p:nvSpPr>
          <p:cNvPr id="5" name="Dátum helye 5"/>
          <p:cNvSpPr>
            <a:spLocks noGrp="1"/>
          </p:cNvSpPr>
          <p:nvPr>
            <p:ph type="dt" sz="half" idx="10"/>
          </p:nvPr>
        </p:nvSpPr>
        <p:spPr>
          <a:xfrm>
            <a:off x="8077200" y="6356351"/>
            <a:ext cx="2133600" cy="365125"/>
          </a:xfrm>
        </p:spPr>
        <p:txBody>
          <a:bodyPr/>
          <a:lstStyle/>
          <a:p>
            <a:pPr algn="r">
              <a:defRPr/>
            </a:pPr>
            <a:fld id="{D8570E93-FF3E-49DC-924C-5821E29385E5}" type="datetime4">
              <a:rPr lang="hu-HU"/>
              <a:pPr algn="r">
                <a:defRPr/>
              </a:pPr>
              <a:t>2024. november 28.</a:t>
            </a:fld>
            <a:endParaRPr lang="hu-HU"/>
          </a:p>
        </p:txBody>
      </p:sp>
      <p:sp>
        <p:nvSpPr>
          <p:cNvPr id="99330"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60729F67-3EF3-4C2F-92B6-B377BE012D05}" type="slidenum">
              <a:rPr lang="hu-HU" altLang="hu-HU" sz="1200">
                <a:solidFill>
                  <a:srgbClr val="898989"/>
                </a:solidFill>
              </a:rPr>
              <a:pPr algn="ctr">
                <a:spcBef>
                  <a:spcPct val="0"/>
                </a:spcBef>
                <a:buFontTx/>
                <a:buNone/>
              </a:pPr>
              <a:t>334</a:t>
            </a:fld>
            <a:endParaRPr lang="hu-HU" altLang="hu-HU" sz="1200">
              <a:solidFill>
                <a:srgbClr val="898989"/>
              </a:solidFill>
            </a:endParaRPr>
          </a:p>
        </p:txBody>
      </p:sp>
    </p:spTree>
    <p:extLst>
      <p:ext uri="{BB962C8B-B14F-4D97-AF65-F5344CB8AC3E}">
        <p14:creationId xmlns:p14="http://schemas.microsoft.com/office/powerpoint/2010/main" val="3109088932"/>
      </p:ext>
    </p:extLst>
  </p:cSld>
  <p:clrMapOvr>
    <a:masterClrMapping/>
  </p:clrMapOvr>
  <p:timing>
    <p:tnLst>
      <p:par>
        <p:cTn id="1" dur="indefinite" restart="never" nodeType="tmRoot"/>
      </p:par>
    </p:tnLst>
  </p:timing>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4018" name="Rectangle 2"/>
          <p:cNvSpPr>
            <a:spLocks noGrp="1" noChangeArrowheads="1"/>
          </p:cNvSpPr>
          <p:nvPr>
            <p:ph type="title"/>
          </p:nvPr>
        </p:nvSpPr>
        <p:spPr>
          <a:xfrm>
            <a:off x="1992313" y="620714"/>
            <a:ext cx="8229600" cy="523875"/>
          </a:xfrm>
        </p:spPr>
        <p:txBody>
          <a:bodyPr rtlCol="0">
            <a:normAutofit fontScale="90000"/>
          </a:bodyPr>
          <a:lstStyle/>
          <a:p>
            <a:pPr>
              <a:defRPr/>
            </a:pPr>
            <a:r>
              <a:rPr lang="hu-HU"/>
              <a:t>Konkurrens állapot-diagram</a:t>
            </a:r>
          </a:p>
        </p:txBody>
      </p:sp>
      <p:sp>
        <p:nvSpPr>
          <p:cNvPr id="101381" name="Rectangle 3"/>
          <p:cNvSpPr>
            <a:spLocks noGrp="1" noChangeArrowheads="1"/>
          </p:cNvSpPr>
          <p:nvPr>
            <p:ph idx="1"/>
          </p:nvPr>
        </p:nvSpPr>
        <p:spPr>
          <a:xfrm>
            <a:off x="1774825" y="1589088"/>
            <a:ext cx="8642350" cy="5516562"/>
          </a:xfrm>
        </p:spPr>
        <p:txBody>
          <a:bodyPr/>
          <a:lstStyle/>
          <a:p>
            <a:pPr eaLnBrk="1" hangingPunct="1">
              <a:lnSpc>
                <a:spcPct val="90000"/>
              </a:lnSpc>
            </a:pPr>
            <a:r>
              <a:rPr lang="hu-HU" altLang="hu-HU" sz="2400"/>
              <a:t>Hasznos: ha egy objektumnak vannak egymástól független viselkedéscsoportjai</a:t>
            </a:r>
          </a:p>
          <a:p>
            <a:pPr eaLnBrk="1" hangingPunct="1">
              <a:lnSpc>
                <a:spcPct val="90000"/>
              </a:lnSpc>
            </a:pPr>
            <a:r>
              <a:rPr lang="hu-HU" altLang="hu-HU" sz="2400"/>
              <a:t>Példában az order állapotai:</a:t>
            </a:r>
          </a:p>
          <a:p>
            <a:pPr lvl="1" eaLnBrk="1" hangingPunct="1">
              <a:lnSpc>
                <a:spcPct val="90000"/>
              </a:lnSpc>
            </a:pPr>
            <a:r>
              <a:rPr lang="hu-HU" altLang="hu-HU" sz="2100"/>
              <a:t>egyrészt a rendelési tételek elérhetőségén alapulnak, </a:t>
            </a:r>
          </a:p>
          <a:p>
            <a:pPr lvl="1" eaLnBrk="1" hangingPunct="1">
              <a:lnSpc>
                <a:spcPct val="90000"/>
              </a:lnSpc>
            </a:pPr>
            <a:r>
              <a:rPr lang="hu-HU" altLang="hu-HU" sz="2100"/>
              <a:t>másrészt léteznek olyan állapotok is, amelyek viszont a fizetés engedélyezésén alapulnak</a:t>
            </a:r>
          </a:p>
          <a:p>
            <a:pPr lvl="1" eaLnBrk="1" hangingPunct="1">
              <a:lnSpc>
                <a:spcPct val="90000"/>
              </a:lnSpc>
            </a:pPr>
            <a:r>
              <a:rPr lang="hu-HU" altLang="hu-HU" sz="2100"/>
              <a:t>ha az </a:t>
            </a:r>
            <a:r>
              <a:rPr lang="hu-HU" altLang="hu-HU" sz="2100" i="1"/>
              <a:t>authorizing</a:t>
            </a:r>
            <a:r>
              <a:rPr lang="hu-HU" altLang="hu-HU" sz="2100"/>
              <a:t> állapot </a:t>
            </a:r>
            <a:r>
              <a:rPr lang="hu-HU" altLang="hu-HU" sz="2100" i="1"/>
              <a:t>check payment</a:t>
            </a:r>
            <a:r>
              <a:rPr lang="hu-HU" altLang="hu-HU" sz="2100"/>
              <a:t> tevékenysége sikeresen befejeződött, az adott </a:t>
            </a:r>
            <a:r>
              <a:rPr lang="hu-HU" altLang="hu-HU" sz="2100" i="1"/>
              <a:t>order</a:t>
            </a:r>
            <a:r>
              <a:rPr lang="hu-HU" altLang="hu-HU" sz="2100"/>
              <a:t> a </a:t>
            </a:r>
            <a:r>
              <a:rPr lang="hu-HU" altLang="hu-HU" sz="2100" i="1"/>
              <a:t>checking</a:t>
            </a:r>
            <a:r>
              <a:rPr lang="hu-HU" altLang="hu-HU" sz="2100"/>
              <a:t> és az </a:t>
            </a:r>
            <a:r>
              <a:rPr lang="hu-HU" altLang="hu-HU" sz="2100" i="1"/>
              <a:t>authorized</a:t>
            </a:r>
            <a:r>
              <a:rPr lang="hu-HU" altLang="hu-HU" sz="2100"/>
              <a:t> állapotba kerül</a:t>
            </a:r>
          </a:p>
          <a:p>
            <a:pPr lvl="1" eaLnBrk="1" hangingPunct="1">
              <a:lnSpc>
                <a:spcPct val="90000"/>
              </a:lnSpc>
            </a:pPr>
            <a:r>
              <a:rPr lang="hu-HU" altLang="hu-HU" sz="2100"/>
              <a:t>ha a </a:t>
            </a:r>
            <a:r>
              <a:rPr lang="hu-HU" altLang="hu-HU" sz="2100" i="1"/>
              <a:t>cancel</a:t>
            </a:r>
            <a:r>
              <a:rPr lang="hu-HU" altLang="hu-HU" sz="2100"/>
              <a:t> esemény bármikor bekövetkezik, az </a:t>
            </a:r>
            <a:r>
              <a:rPr lang="hu-HU" altLang="hu-HU" sz="2100" i="1"/>
              <a:t>order</a:t>
            </a:r>
            <a:r>
              <a:rPr lang="hu-HU" altLang="hu-HU" sz="2100"/>
              <a:t> csak a </a:t>
            </a:r>
            <a:r>
              <a:rPr lang="hu-HU" altLang="hu-HU" sz="2100" i="1"/>
              <a:t>cancelled</a:t>
            </a:r>
            <a:r>
              <a:rPr lang="hu-HU" altLang="hu-HU" sz="2100"/>
              <a:t> állapotban lesz</a:t>
            </a:r>
          </a:p>
          <a:p>
            <a:pPr lvl="1" eaLnBrk="1" hangingPunct="1">
              <a:lnSpc>
                <a:spcPct val="90000"/>
              </a:lnSpc>
            </a:pPr>
            <a:r>
              <a:rPr lang="hu-HU" altLang="hu-HU" sz="2100"/>
              <a:t>a párhuzamos folyamatok mindegyikének befejeződése után a műveletsor kilép a szuperállapotból és a végrehajtás ismét egy ágban fog folytatódni.</a:t>
            </a:r>
          </a:p>
        </p:txBody>
      </p:sp>
      <p:sp>
        <p:nvSpPr>
          <p:cNvPr id="5" name="Dátum helye 5"/>
          <p:cNvSpPr>
            <a:spLocks noGrp="1"/>
          </p:cNvSpPr>
          <p:nvPr>
            <p:ph type="dt" sz="half" idx="10"/>
          </p:nvPr>
        </p:nvSpPr>
        <p:spPr>
          <a:xfrm>
            <a:off x="8077200" y="6356351"/>
            <a:ext cx="2133600" cy="365125"/>
          </a:xfrm>
        </p:spPr>
        <p:txBody>
          <a:bodyPr/>
          <a:lstStyle/>
          <a:p>
            <a:pPr algn="r">
              <a:defRPr/>
            </a:pPr>
            <a:fld id="{F27A402A-C310-4ED3-8A0F-0244E731DD7F}" type="datetime4">
              <a:rPr lang="hu-HU"/>
              <a:pPr algn="r">
                <a:defRPr/>
              </a:pPr>
              <a:t>2024. november 28.</a:t>
            </a:fld>
            <a:endParaRPr lang="hu-HU"/>
          </a:p>
        </p:txBody>
      </p:sp>
      <p:sp>
        <p:nvSpPr>
          <p:cNvPr id="101378"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2F1111F1-139B-48FD-8599-A6A706B8FA52}" type="slidenum">
              <a:rPr lang="hu-HU" altLang="hu-HU" sz="1200">
                <a:solidFill>
                  <a:srgbClr val="898989"/>
                </a:solidFill>
              </a:rPr>
              <a:pPr algn="ctr">
                <a:spcBef>
                  <a:spcPct val="0"/>
                </a:spcBef>
                <a:buFontTx/>
                <a:buNone/>
              </a:pPr>
              <a:t>335</a:t>
            </a:fld>
            <a:endParaRPr lang="hu-HU" altLang="hu-HU" sz="1200">
              <a:solidFill>
                <a:srgbClr val="898989"/>
              </a:solidFill>
            </a:endParaRPr>
          </a:p>
        </p:txBody>
      </p:sp>
    </p:spTree>
    <p:extLst>
      <p:ext uri="{BB962C8B-B14F-4D97-AF65-F5344CB8AC3E}">
        <p14:creationId xmlns:p14="http://schemas.microsoft.com/office/powerpoint/2010/main" val="4052643845"/>
      </p:ext>
    </p:extLst>
  </p:cSld>
  <p:clrMapOvr>
    <a:masterClrMapping/>
  </p:clrMapOvr>
  <p:timing>
    <p:tnLst>
      <p:par>
        <p:cTn id="1" dur="indefinite" restart="never" nodeType="tmRoot"/>
      </p:par>
    </p:tnLst>
  </p:timing>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8" name="Picture 2"/>
          <p:cNvPicPr>
            <a:picLocks noGrp="1" noChangeAspect="1" noChangeArrowheads="1"/>
          </p:cNvPicPr>
          <p:nvPr>
            <p:ph/>
          </p:nvPr>
        </p:nvPicPr>
        <p:blipFill>
          <a:blip r:embed="rId3">
            <a:extLst>
              <a:ext uri="{28A0092B-C50C-407E-A947-70E740481C1C}">
                <a14:useLocalDpi xmlns:a14="http://schemas.microsoft.com/office/drawing/2010/main" val="0"/>
              </a:ext>
            </a:extLst>
          </a:blip>
          <a:stretch>
            <a:fillRect/>
          </a:stretch>
        </p:blipFill>
        <p:spPr>
          <a:xfrm>
            <a:off x="2938463" y="1548606"/>
            <a:ext cx="6343650" cy="3390900"/>
          </a:xfrm>
        </p:spPr>
      </p:pic>
      <p:sp>
        <p:nvSpPr>
          <p:cNvPr id="103426" name="Dia számának helye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2963014-3673-4C5B-820F-6F7B9D522989}" type="slidenum">
              <a:rPr lang="hu-HU" altLang="hu-HU" sz="1200">
                <a:solidFill>
                  <a:srgbClr val="898989"/>
                </a:solidFill>
              </a:rPr>
              <a:pPr>
                <a:spcBef>
                  <a:spcPct val="0"/>
                </a:spcBef>
                <a:buFontTx/>
                <a:buNone/>
              </a:pPr>
              <a:t>336</a:t>
            </a:fld>
            <a:endParaRPr lang="hu-HU" altLang="hu-HU" sz="1200">
              <a:solidFill>
                <a:srgbClr val="898989"/>
              </a:solidFill>
            </a:endParaRPr>
          </a:p>
        </p:txBody>
      </p:sp>
      <p:sp>
        <p:nvSpPr>
          <p:cNvPr id="11" name="Dátum helye 4"/>
          <p:cNvSpPr>
            <a:spLocks noGrp="1"/>
          </p:cNvSpPr>
          <p:nvPr>
            <p:ph type="dt" sz="half" idx="12"/>
          </p:nvPr>
        </p:nvSpPr>
        <p:spPr/>
        <p:txBody>
          <a:bodyPr/>
          <a:lstStyle/>
          <a:p>
            <a:pPr>
              <a:defRPr/>
            </a:pPr>
            <a:fld id="{4A8D7026-F3C5-475B-869D-FDAC6C26146E}" type="datetime4">
              <a:rPr lang="hu-HU"/>
              <a:pPr>
                <a:defRPr/>
              </a:pPr>
              <a:t>2024. november 28.</a:t>
            </a:fld>
            <a:endParaRPr lang="hu-HU"/>
          </a:p>
        </p:txBody>
      </p:sp>
      <p:sp>
        <p:nvSpPr>
          <p:cNvPr id="103429" name="AutoShape 3"/>
          <p:cNvSpPr>
            <a:spLocks noChangeArrowheads="1"/>
          </p:cNvSpPr>
          <p:nvPr/>
        </p:nvSpPr>
        <p:spPr bwMode="auto">
          <a:xfrm>
            <a:off x="1919289" y="3141664"/>
            <a:ext cx="358775" cy="358775"/>
          </a:xfrm>
          <a:prstGeom prst="flowChartConnector">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hu-HU" altLang="hu-HU" sz="1800"/>
          </a:p>
        </p:txBody>
      </p:sp>
      <p:sp>
        <p:nvSpPr>
          <p:cNvPr id="103430" name="Line 4"/>
          <p:cNvSpPr>
            <a:spLocks noChangeShapeType="1"/>
          </p:cNvSpPr>
          <p:nvPr/>
        </p:nvSpPr>
        <p:spPr bwMode="auto">
          <a:xfrm>
            <a:off x="2279651" y="3286125"/>
            <a:ext cx="576263" cy="0"/>
          </a:xfrm>
          <a:prstGeom prst="line">
            <a:avLst/>
          </a:prstGeom>
          <a:noFill/>
          <a:ln w="9525">
            <a:solidFill>
              <a:srgbClr val="800000"/>
            </a:solidFill>
            <a:round/>
            <a:headEnd/>
            <a:tailEnd type="arrow" w="lg" len="lg"/>
          </a:ln>
          <a:extLst>
            <a:ext uri="{909E8E84-426E-40DD-AFC4-6F175D3DCCD1}">
              <a14:hiddenFill xmlns:a14="http://schemas.microsoft.com/office/drawing/2010/main">
                <a:noFill/>
              </a14:hiddenFill>
            </a:ext>
          </a:extLst>
        </p:spPr>
        <p:txBody>
          <a:bodyPr/>
          <a:lstStyle/>
          <a:p>
            <a:endParaRPr lang="hu-HU"/>
          </a:p>
        </p:txBody>
      </p:sp>
      <p:sp>
        <p:nvSpPr>
          <p:cNvPr id="103431" name="Line 5"/>
          <p:cNvSpPr>
            <a:spLocks noChangeShapeType="1"/>
          </p:cNvSpPr>
          <p:nvPr/>
        </p:nvSpPr>
        <p:spPr bwMode="auto">
          <a:xfrm>
            <a:off x="2855914" y="3286125"/>
            <a:ext cx="5400675" cy="0"/>
          </a:xfrm>
          <a:prstGeom prst="line">
            <a:avLst/>
          </a:prstGeom>
          <a:noFill/>
          <a:ln w="9525">
            <a:solidFill>
              <a:srgbClr val="800000"/>
            </a:solidFill>
            <a:prstDash val="dash"/>
            <a:round/>
            <a:headEnd/>
            <a:tailEnd/>
          </a:ln>
          <a:extLst>
            <a:ext uri="{909E8E84-426E-40DD-AFC4-6F175D3DCCD1}">
              <a14:hiddenFill xmlns:a14="http://schemas.microsoft.com/office/drawing/2010/main">
                <a:noFill/>
              </a14:hiddenFill>
            </a:ext>
          </a:extLst>
        </p:spPr>
        <p:txBody>
          <a:bodyPr/>
          <a:lstStyle/>
          <a:p>
            <a:endParaRPr lang="hu-HU"/>
          </a:p>
        </p:txBody>
      </p:sp>
      <p:sp>
        <p:nvSpPr>
          <p:cNvPr id="103432" name="Line 6"/>
          <p:cNvSpPr>
            <a:spLocks noChangeShapeType="1"/>
          </p:cNvSpPr>
          <p:nvPr/>
        </p:nvSpPr>
        <p:spPr bwMode="auto">
          <a:xfrm>
            <a:off x="8183564" y="3286125"/>
            <a:ext cx="649287" cy="0"/>
          </a:xfrm>
          <a:prstGeom prst="line">
            <a:avLst/>
          </a:prstGeom>
          <a:noFill/>
          <a:ln w="9525">
            <a:solidFill>
              <a:srgbClr val="800000"/>
            </a:solidFill>
            <a:round/>
            <a:headEnd/>
            <a:tailEnd type="arrow" w="lg" len="lg"/>
          </a:ln>
          <a:extLst>
            <a:ext uri="{909E8E84-426E-40DD-AFC4-6F175D3DCCD1}">
              <a14:hiddenFill xmlns:a14="http://schemas.microsoft.com/office/drawing/2010/main">
                <a:noFill/>
              </a14:hiddenFill>
            </a:ext>
          </a:extLst>
        </p:spPr>
        <p:txBody>
          <a:bodyPr/>
          <a:lstStyle/>
          <a:p>
            <a:endParaRPr lang="hu-HU"/>
          </a:p>
        </p:txBody>
      </p:sp>
      <p:sp>
        <p:nvSpPr>
          <p:cNvPr id="103433" name="Line 7"/>
          <p:cNvSpPr>
            <a:spLocks noChangeShapeType="1"/>
          </p:cNvSpPr>
          <p:nvPr/>
        </p:nvSpPr>
        <p:spPr bwMode="auto">
          <a:xfrm>
            <a:off x="8256589" y="1774825"/>
            <a:ext cx="503237" cy="0"/>
          </a:xfrm>
          <a:prstGeom prst="line">
            <a:avLst/>
          </a:prstGeom>
          <a:noFill/>
          <a:ln w="9525">
            <a:solidFill>
              <a:srgbClr val="800000"/>
            </a:solidFill>
            <a:round/>
            <a:headEnd/>
            <a:tailEnd type="arrow" w="lg" len="lg"/>
          </a:ln>
          <a:extLst>
            <a:ext uri="{909E8E84-426E-40DD-AFC4-6F175D3DCCD1}">
              <a14:hiddenFill xmlns:a14="http://schemas.microsoft.com/office/drawing/2010/main">
                <a:noFill/>
              </a14:hiddenFill>
            </a:ext>
          </a:extLst>
        </p:spPr>
        <p:txBody>
          <a:bodyPr/>
          <a:lstStyle/>
          <a:p>
            <a:endParaRPr lang="hu-HU"/>
          </a:p>
        </p:txBody>
      </p:sp>
      <p:sp>
        <p:nvSpPr>
          <p:cNvPr id="103434" name="AutoShape 8"/>
          <p:cNvSpPr>
            <a:spLocks noChangeArrowheads="1"/>
          </p:cNvSpPr>
          <p:nvPr/>
        </p:nvSpPr>
        <p:spPr bwMode="auto">
          <a:xfrm>
            <a:off x="3071813" y="3862388"/>
            <a:ext cx="215900" cy="215900"/>
          </a:xfrm>
          <a:prstGeom prst="flowChartConnector">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hu-HU" altLang="hu-HU" sz="1800"/>
          </a:p>
        </p:txBody>
      </p:sp>
      <p:sp>
        <p:nvSpPr>
          <p:cNvPr id="103435" name="Line 9"/>
          <p:cNvSpPr>
            <a:spLocks noChangeShapeType="1"/>
          </p:cNvSpPr>
          <p:nvPr/>
        </p:nvSpPr>
        <p:spPr bwMode="auto">
          <a:xfrm>
            <a:off x="3216276" y="3933825"/>
            <a:ext cx="576263" cy="0"/>
          </a:xfrm>
          <a:prstGeom prst="line">
            <a:avLst/>
          </a:prstGeom>
          <a:noFill/>
          <a:ln w="9525">
            <a:solidFill>
              <a:srgbClr val="800000"/>
            </a:solidFill>
            <a:round/>
            <a:headEnd/>
            <a:tailEnd type="arrow" w="lg" len="lg"/>
          </a:ln>
          <a:extLst>
            <a:ext uri="{909E8E84-426E-40DD-AFC4-6F175D3DCCD1}">
              <a14:hiddenFill xmlns:a14="http://schemas.microsoft.com/office/drawing/2010/main">
                <a:noFill/>
              </a14:hiddenFill>
            </a:ext>
          </a:extLst>
        </p:spPr>
        <p:txBody>
          <a:bodyPr/>
          <a:lstStyle/>
          <a:p>
            <a:endParaRPr lang="hu-HU"/>
          </a:p>
        </p:txBody>
      </p:sp>
    </p:spTree>
    <p:extLst>
      <p:ext uri="{BB962C8B-B14F-4D97-AF65-F5344CB8AC3E}">
        <p14:creationId xmlns:p14="http://schemas.microsoft.com/office/powerpoint/2010/main" val="456957124"/>
      </p:ext>
    </p:extLst>
  </p:cSld>
  <p:clrMapOvr>
    <a:masterClrMapping/>
  </p:clrMapOvr>
  <p:timing>
    <p:tnLst>
      <p:par>
        <p:cTn id="1" dur="indefinite" restart="never" nodeType="tmRoot"/>
      </p:par>
    </p:tnLst>
  </p:timing>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6" name="Rectangle 2"/>
          <p:cNvSpPr>
            <a:spLocks noGrp="1" noChangeArrowheads="1"/>
          </p:cNvSpPr>
          <p:nvPr>
            <p:ph type="title"/>
          </p:nvPr>
        </p:nvSpPr>
        <p:spPr/>
        <p:txBody>
          <a:bodyPr/>
          <a:lstStyle/>
          <a:p>
            <a:pPr eaLnBrk="1" hangingPunct="1"/>
            <a:r>
              <a:rPr lang="hu-HU" altLang="hu-HU" sz="3600"/>
              <a:t>Az állapot-diagram alkalmazása</a:t>
            </a:r>
          </a:p>
        </p:txBody>
      </p:sp>
      <p:sp>
        <p:nvSpPr>
          <p:cNvPr id="105477" name="Rectangle 3"/>
          <p:cNvSpPr>
            <a:spLocks noGrp="1" noChangeArrowheads="1"/>
          </p:cNvSpPr>
          <p:nvPr>
            <p:ph idx="1"/>
          </p:nvPr>
        </p:nvSpPr>
        <p:spPr>
          <a:xfrm>
            <a:off x="1978025" y="1731964"/>
            <a:ext cx="8218488" cy="4454525"/>
          </a:xfrm>
        </p:spPr>
        <p:txBody>
          <a:bodyPr/>
          <a:lstStyle/>
          <a:p>
            <a:pPr eaLnBrk="1" hangingPunct="1"/>
            <a:r>
              <a:rPr lang="hu-HU" altLang="hu-HU"/>
              <a:t>Egyetlen objektum viselkedését akarjuk leírni több use case-en keresztül.</a:t>
            </a:r>
          </a:p>
          <a:p>
            <a:pPr eaLnBrk="1" hangingPunct="1"/>
            <a:r>
              <a:rPr lang="hu-HU" altLang="hu-HU"/>
              <a:t>A gyakorlatban legtöbb osztálynak nincs állapot diagramja, mert például egyszerű kisegítő un. utility osztályok.</a:t>
            </a:r>
          </a:p>
          <a:p>
            <a:pPr eaLnBrk="1" hangingPunct="1"/>
            <a:r>
              <a:rPr lang="hu-HU" altLang="hu-HU"/>
              <a:t>Csak a markánsan dinamikus osztályokhoz készítünk állapot diagramokat </a:t>
            </a:r>
          </a:p>
          <a:p>
            <a:pPr lvl="1" eaLnBrk="1" hangingPunct="1"/>
            <a:r>
              <a:rPr lang="hu-HU" altLang="hu-HU"/>
              <a:t>gyakorlatban a UI és control osztályokhoz érdemes.</a:t>
            </a:r>
          </a:p>
          <a:p>
            <a:pPr eaLnBrk="1" hangingPunct="1"/>
            <a:endParaRPr lang="hu-HU" altLang="hu-HU"/>
          </a:p>
        </p:txBody>
      </p:sp>
      <p:sp>
        <p:nvSpPr>
          <p:cNvPr id="5" name="Dátum helye 5"/>
          <p:cNvSpPr>
            <a:spLocks noGrp="1"/>
          </p:cNvSpPr>
          <p:nvPr>
            <p:ph type="dt" sz="half" idx="10"/>
          </p:nvPr>
        </p:nvSpPr>
        <p:spPr>
          <a:xfrm>
            <a:off x="8077200" y="6356351"/>
            <a:ext cx="2133600" cy="365125"/>
          </a:xfrm>
        </p:spPr>
        <p:txBody>
          <a:bodyPr/>
          <a:lstStyle/>
          <a:p>
            <a:pPr algn="r">
              <a:defRPr/>
            </a:pPr>
            <a:fld id="{745E1B40-0CBD-4451-8F85-D3E3D23E73ED}" type="datetime4">
              <a:rPr lang="hu-HU"/>
              <a:pPr algn="r">
                <a:defRPr/>
              </a:pPr>
              <a:t>2024. november 28.</a:t>
            </a:fld>
            <a:endParaRPr lang="hu-HU"/>
          </a:p>
        </p:txBody>
      </p:sp>
      <p:sp>
        <p:nvSpPr>
          <p:cNvPr id="105474"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59DDF3A4-AFC2-42D9-8D68-EBFF204CEF21}" type="slidenum">
              <a:rPr lang="hu-HU" altLang="hu-HU" sz="1200">
                <a:solidFill>
                  <a:srgbClr val="898989"/>
                </a:solidFill>
              </a:rPr>
              <a:pPr algn="ctr">
                <a:spcBef>
                  <a:spcPct val="0"/>
                </a:spcBef>
                <a:buFontTx/>
                <a:buNone/>
              </a:pPr>
              <a:t>337</a:t>
            </a:fld>
            <a:endParaRPr lang="hu-HU" altLang="hu-HU" sz="1200">
              <a:solidFill>
                <a:srgbClr val="898989"/>
              </a:solidFill>
            </a:endParaRPr>
          </a:p>
        </p:txBody>
      </p:sp>
    </p:spTree>
    <p:extLst>
      <p:ext uri="{BB962C8B-B14F-4D97-AF65-F5344CB8AC3E}">
        <p14:creationId xmlns:p14="http://schemas.microsoft.com/office/powerpoint/2010/main" val="7121847"/>
      </p:ext>
    </p:extLst>
  </p:cSld>
  <p:clrMapOvr>
    <a:masterClrMapping/>
  </p:clrMapOvr>
  <p:timing>
    <p:tnLst>
      <p:par>
        <p:cTn id="1" dur="indefinite" restart="never" nodeType="tmRoot"/>
      </p:par>
    </p:tnLst>
  </p:timing>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2210" name="Rectangle 2"/>
          <p:cNvSpPr>
            <a:spLocks noGrp="1" noChangeArrowheads="1"/>
          </p:cNvSpPr>
          <p:nvPr>
            <p:ph type="title"/>
          </p:nvPr>
        </p:nvSpPr>
        <p:spPr/>
        <p:txBody>
          <a:bodyPr rtlCol="0">
            <a:normAutofit/>
          </a:bodyPr>
          <a:lstStyle/>
          <a:p>
            <a:pPr>
              <a:defRPr/>
            </a:pPr>
            <a:r>
              <a:rPr lang="hu-HU"/>
              <a:t>Emlékező állapot</a:t>
            </a:r>
          </a:p>
        </p:txBody>
      </p:sp>
      <p:sp>
        <p:nvSpPr>
          <p:cNvPr id="107525" name="Rectangle 3"/>
          <p:cNvSpPr>
            <a:spLocks noGrp="1" noChangeArrowheads="1"/>
          </p:cNvSpPr>
          <p:nvPr>
            <p:ph type="body" sz="half" idx="1"/>
          </p:nvPr>
        </p:nvSpPr>
        <p:spPr>
          <a:xfrm>
            <a:off x="1981201" y="1600200"/>
            <a:ext cx="8291513" cy="2044700"/>
          </a:xfrm>
        </p:spPr>
        <p:txBody>
          <a:bodyPr/>
          <a:lstStyle/>
          <a:p>
            <a:pPr eaLnBrk="1" hangingPunct="1"/>
            <a:r>
              <a:rPr lang="hu-HU" altLang="hu-HU" smtClean="0"/>
              <a:t>Olyan állapot, amelyik emlékszik arra, hogy melyik alállapotból terminált, és képes arra, hogy az állapotba való újabb belépéskor ugyanabba az állapotba kerüljön.</a:t>
            </a:r>
          </a:p>
        </p:txBody>
      </p:sp>
      <p:pic>
        <p:nvPicPr>
          <p:cNvPr id="107526"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063751" y="4441826"/>
            <a:ext cx="8208963" cy="2074863"/>
          </a:xfrm>
          <a:solidFill>
            <a:schemeClr val="bg1"/>
          </a:solidFill>
        </p:spPr>
      </p:pic>
      <p:sp>
        <p:nvSpPr>
          <p:cNvPr id="107522" name="Dia számának helye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4A92BCD-A425-4FB8-8B66-F870EED760DD}" type="slidenum">
              <a:rPr lang="hu-HU" altLang="hu-HU" sz="1200">
                <a:solidFill>
                  <a:srgbClr val="898989"/>
                </a:solidFill>
              </a:rPr>
              <a:pPr>
                <a:spcBef>
                  <a:spcPct val="0"/>
                </a:spcBef>
                <a:buFontTx/>
                <a:buNone/>
              </a:pPr>
              <a:t>338</a:t>
            </a:fld>
            <a:endParaRPr lang="hu-HU" altLang="hu-HU" sz="1200">
              <a:solidFill>
                <a:srgbClr val="898989"/>
              </a:solidFill>
            </a:endParaRPr>
          </a:p>
        </p:txBody>
      </p:sp>
      <p:sp>
        <p:nvSpPr>
          <p:cNvPr id="8" name="Dátum helye 6"/>
          <p:cNvSpPr>
            <a:spLocks noGrp="1"/>
          </p:cNvSpPr>
          <p:nvPr>
            <p:ph type="dt" sz="half" idx="12"/>
          </p:nvPr>
        </p:nvSpPr>
        <p:spPr/>
        <p:txBody>
          <a:bodyPr/>
          <a:lstStyle/>
          <a:p>
            <a:pPr>
              <a:defRPr/>
            </a:pPr>
            <a:fld id="{FCFBE674-AF6C-452B-AF51-0AC6022BBB18}" type="datetime4">
              <a:rPr lang="hu-HU"/>
              <a:pPr>
                <a:defRPr/>
              </a:pPr>
              <a:t>2024. november 28.</a:t>
            </a:fld>
            <a:endParaRPr lang="hu-HU"/>
          </a:p>
        </p:txBody>
      </p:sp>
      <p:sp>
        <p:nvSpPr>
          <p:cNvPr id="107527" name="Text Box 5"/>
          <p:cNvSpPr txBox="1">
            <a:spLocks noChangeArrowheads="1"/>
          </p:cNvSpPr>
          <p:nvPr/>
        </p:nvSpPr>
        <p:spPr bwMode="auto">
          <a:xfrm>
            <a:off x="7608888" y="4365626"/>
            <a:ext cx="14398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hu-HU" altLang="hu-HU" sz="1800">
                <a:solidFill>
                  <a:srgbClr val="FF0000"/>
                </a:solidFill>
                <a:latin typeface="Arial Narrow" panose="020B0606020202030204" pitchFamily="34" charset="0"/>
              </a:rPr>
              <a:t>megszakitas</a:t>
            </a:r>
          </a:p>
        </p:txBody>
      </p:sp>
      <p:sp>
        <p:nvSpPr>
          <p:cNvPr id="107528" name="Text Box 6"/>
          <p:cNvSpPr txBox="1">
            <a:spLocks noChangeArrowheads="1"/>
          </p:cNvSpPr>
          <p:nvPr/>
        </p:nvSpPr>
        <p:spPr bwMode="auto">
          <a:xfrm>
            <a:off x="7608888" y="5445126"/>
            <a:ext cx="14398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hu-HU" altLang="hu-HU" sz="1800">
                <a:solidFill>
                  <a:srgbClr val="FF0000"/>
                </a:solidFill>
                <a:latin typeface="Arial Narrow" panose="020B0606020202030204" pitchFamily="34" charset="0"/>
              </a:rPr>
              <a:t>újrakezdés</a:t>
            </a:r>
          </a:p>
        </p:txBody>
      </p:sp>
    </p:spTree>
    <p:extLst>
      <p:ext uri="{BB962C8B-B14F-4D97-AF65-F5344CB8AC3E}">
        <p14:creationId xmlns:p14="http://schemas.microsoft.com/office/powerpoint/2010/main" val="3341311895"/>
      </p:ext>
    </p:extLst>
  </p:cSld>
  <p:clrMapOvr>
    <a:masterClrMapping/>
  </p:clrMapOvr>
  <p:timing>
    <p:tnLst>
      <p:par>
        <p:cTn id="1" dur="indefinite" restart="never" nodeType="tmRoot"/>
      </p:par>
    </p:tnLst>
  </p:timing>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8594" name="Rectangle 2"/>
          <p:cNvSpPr>
            <a:spLocks noGrp="1" noChangeArrowheads="1"/>
          </p:cNvSpPr>
          <p:nvPr>
            <p:ph type="title"/>
          </p:nvPr>
        </p:nvSpPr>
        <p:spPr>
          <a:xfrm>
            <a:off x="1992313" y="896938"/>
            <a:ext cx="8229600" cy="703262"/>
          </a:xfrm>
        </p:spPr>
        <p:txBody>
          <a:bodyPr rtlCol="0">
            <a:normAutofit fontScale="90000"/>
          </a:bodyPr>
          <a:lstStyle/>
          <a:p>
            <a:pPr>
              <a:defRPr/>
            </a:pPr>
            <a:r>
              <a:rPr lang="hu-HU" sz="4000"/>
              <a:t>Objektumok tesztelése állapot-diagram alapján</a:t>
            </a:r>
            <a:r>
              <a:rPr lang="hu-HU" sz="4000" b="1"/>
              <a:t/>
            </a:r>
            <a:br>
              <a:rPr lang="hu-HU" sz="4000" b="1"/>
            </a:br>
            <a:endParaRPr lang="en-US" sz="4000" b="1"/>
          </a:p>
        </p:txBody>
      </p:sp>
      <p:sp>
        <p:nvSpPr>
          <p:cNvPr id="109573" name="Rectangle 3"/>
          <p:cNvSpPr>
            <a:spLocks noGrp="1" noChangeArrowheads="1"/>
          </p:cNvSpPr>
          <p:nvPr>
            <p:ph idx="1"/>
          </p:nvPr>
        </p:nvSpPr>
        <p:spPr>
          <a:xfrm>
            <a:off x="2022475" y="1847851"/>
            <a:ext cx="8218488" cy="4454525"/>
          </a:xfrm>
        </p:spPr>
        <p:txBody>
          <a:bodyPr/>
          <a:lstStyle/>
          <a:p>
            <a:pPr eaLnBrk="1" hangingPunct="1"/>
            <a:r>
              <a:rPr lang="hu-HU" altLang="hu-HU" smtClean="0"/>
              <a:t>A tesztelés célja ilyen esetben az állapot-diagram összes állapotának a bejárása, másrészt pedig több lehetséges kombinációjú állapot-bejárás kivitelezése. </a:t>
            </a:r>
          </a:p>
          <a:p>
            <a:pPr eaLnBrk="1" hangingPunct="1"/>
            <a:r>
              <a:rPr lang="hu-HU" altLang="hu-HU" smtClean="0"/>
              <a:t>A különböző állapot-bejárások ugyanis különböző működési hibák felfedésére lehetnek alkalmasak.</a:t>
            </a:r>
            <a:r>
              <a:rPr lang="en-US" altLang="hu-HU" smtClean="0"/>
              <a:t> </a:t>
            </a:r>
          </a:p>
        </p:txBody>
      </p:sp>
      <p:sp>
        <p:nvSpPr>
          <p:cNvPr id="5" name="Dátum helye 5"/>
          <p:cNvSpPr>
            <a:spLocks noGrp="1"/>
          </p:cNvSpPr>
          <p:nvPr>
            <p:ph type="dt" sz="half" idx="10"/>
          </p:nvPr>
        </p:nvSpPr>
        <p:spPr>
          <a:xfrm>
            <a:off x="8077200" y="6356351"/>
            <a:ext cx="2133600" cy="365125"/>
          </a:xfrm>
        </p:spPr>
        <p:txBody>
          <a:bodyPr/>
          <a:lstStyle/>
          <a:p>
            <a:pPr algn="r">
              <a:defRPr/>
            </a:pPr>
            <a:fld id="{673CA0F3-D2B2-4668-8841-8C6A27FB9F2C}" type="datetime4">
              <a:rPr lang="hu-HU"/>
              <a:pPr algn="r">
                <a:defRPr/>
              </a:pPr>
              <a:t>2024. november 28.</a:t>
            </a:fld>
            <a:endParaRPr lang="hu-HU"/>
          </a:p>
        </p:txBody>
      </p:sp>
      <p:sp>
        <p:nvSpPr>
          <p:cNvPr id="109570"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E5215A89-5B3D-4276-BA45-38CA76A01946}" type="slidenum">
              <a:rPr lang="hu-HU" altLang="hu-HU" sz="1200">
                <a:solidFill>
                  <a:srgbClr val="898989"/>
                </a:solidFill>
              </a:rPr>
              <a:pPr algn="ctr">
                <a:spcBef>
                  <a:spcPct val="0"/>
                </a:spcBef>
                <a:buFontTx/>
                <a:buNone/>
              </a:pPr>
              <a:t>339</a:t>
            </a:fld>
            <a:endParaRPr lang="hu-HU" altLang="hu-HU" sz="1200">
              <a:solidFill>
                <a:srgbClr val="898989"/>
              </a:solidFill>
            </a:endParaRPr>
          </a:p>
        </p:txBody>
      </p:sp>
    </p:spTree>
    <p:extLst>
      <p:ext uri="{BB962C8B-B14F-4D97-AF65-F5344CB8AC3E}">
        <p14:creationId xmlns:p14="http://schemas.microsoft.com/office/powerpoint/2010/main" val="3038049434"/>
      </p:ext>
    </p:extLst>
  </p:cSld>
  <p:clrMapOvr>
    <a:masterClrMapping/>
  </p:clrMapOvr>
  <p:timing>
    <p:tnLst>
      <p:par>
        <p:cTn id="1" dur="indefinite" restart="never" nodeType="tmRoot"/>
      </p:par>
    </p:tnLst>
  </p:timing>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20" name="Rectangle 2"/>
          <p:cNvSpPr>
            <a:spLocks noGrp="1" noChangeArrowheads="1"/>
          </p:cNvSpPr>
          <p:nvPr>
            <p:ph type="title"/>
          </p:nvPr>
        </p:nvSpPr>
        <p:spPr/>
        <p:txBody>
          <a:bodyPr/>
          <a:lstStyle/>
          <a:p>
            <a:pPr eaLnBrk="1" hangingPunct="1"/>
            <a:r>
              <a:rPr lang="hu-HU" altLang="hu-HU" sz="4000"/>
              <a:t>Állapot-átmeneti diagram</a:t>
            </a:r>
            <a:r>
              <a:rPr lang="en-US" altLang="hu-HU" sz="4000"/>
              <a:t> </a:t>
            </a:r>
          </a:p>
        </p:txBody>
      </p:sp>
      <p:sp>
        <p:nvSpPr>
          <p:cNvPr id="6" name="Dátum helye 5"/>
          <p:cNvSpPr>
            <a:spLocks noGrp="1"/>
          </p:cNvSpPr>
          <p:nvPr>
            <p:ph type="dt" sz="half" idx="10"/>
          </p:nvPr>
        </p:nvSpPr>
        <p:spPr>
          <a:xfrm>
            <a:off x="8077200" y="6356351"/>
            <a:ext cx="2133600" cy="365125"/>
          </a:xfrm>
        </p:spPr>
        <p:txBody>
          <a:bodyPr/>
          <a:lstStyle/>
          <a:p>
            <a:pPr algn="r">
              <a:defRPr/>
            </a:pPr>
            <a:fld id="{90B803AE-816B-45F2-A04D-946F1FC7AD74}" type="datetime4">
              <a:rPr lang="hu-HU"/>
              <a:pPr algn="r">
                <a:defRPr/>
              </a:pPr>
              <a:t>2024. november 28.</a:t>
            </a:fld>
            <a:endParaRPr lang="hu-HU"/>
          </a:p>
        </p:txBody>
      </p:sp>
      <p:sp>
        <p:nvSpPr>
          <p:cNvPr id="111618"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6454B0E3-53F0-4854-B572-C75230CBFDAD}" type="slidenum">
              <a:rPr lang="hu-HU" altLang="hu-HU" sz="1200">
                <a:solidFill>
                  <a:srgbClr val="898989"/>
                </a:solidFill>
              </a:rPr>
              <a:pPr algn="ctr">
                <a:spcBef>
                  <a:spcPct val="0"/>
                </a:spcBef>
                <a:buFontTx/>
                <a:buNone/>
              </a:pPr>
              <a:t>340</a:t>
            </a:fld>
            <a:endParaRPr lang="hu-HU" altLang="hu-HU" sz="1200">
              <a:solidFill>
                <a:srgbClr val="898989"/>
              </a:solidFill>
            </a:endParaRPr>
          </a:p>
        </p:txBody>
      </p:sp>
      <p:sp>
        <p:nvSpPr>
          <p:cNvPr id="111621" name="Rectangle 5"/>
          <p:cNvSpPr>
            <a:spLocks noChangeArrowheads="1"/>
          </p:cNvSpPr>
          <p:nvPr/>
        </p:nvSpPr>
        <p:spPr bwMode="auto">
          <a:xfrm>
            <a:off x="1524001" y="114407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hu-HU" altLang="hu-HU" sz="1800"/>
          </a:p>
        </p:txBody>
      </p:sp>
      <p:graphicFrame>
        <p:nvGraphicFramePr>
          <p:cNvPr id="111622" name="Object 4"/>
          <p:cNvGraphicFramePr>
            <a:graphicFrameLocks noChangeAspect="1"/>
          </p:cNvGraphicFramePr>
          <p:nvPr/>
        </p:nvGraphicFramePr>
        <p:xfrm>
          <a:off x="2540001" y="1460500"/>
          <a:ext cx="6627813" cy="4954588"/>
        </p:xfrm>
        <a:graphic>
          <a:graphicData uri="http://schemas.openxmlformats.org/presentationml/2006/ole">
            <mc:AlternateContent xmlns:mc="http://schemas.openxmlformats.org/markup-compatibility/2006">
              <mc:Choice xmlns:v="urn:schemas-microsoft-com:vml" Requires="v">
                <p:oleObj spid="_x0000_s6146" name="ABC FlowCharter" r:id="rId4" imgW="6383655" imgH="4786313" progId="ABCFlow">
                  <p:embed/>
                </p:oleObj>
              </mc:Choice>
              <mc:Fallback>
                <p:oleObj name="ABC FlowCharter" r:id="rId4" imgW="6383655" imgH="4786313" progId="ABCFlow">
                  <p:embed/>
                  <p:pic>
                    <p:nvPicPr>
                      <p:cNvPr id="111622"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40001" y="1460500"/>
                        <a:ext cx="6627813" cy="495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248246405"/>
      </p:ext>
    </p:extLst>
  </p:cSld>
  <p:clrMapOvr>
    <a:masterClrMapping/>
  </p:clrMapOvr>
  <p:timing>
    <p:tnLst>
      <p:par>
        <p:cTn id="1" dur="indefinite" restart="never" nodeType="tmRoot"/>
      </p:par>
    </p:tnLst>
  </p:timing>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0642" name="Rectangle 2"/>
          <p:cNvSpPr>
            <a:spLocks noGrp="1" noChangeArrowheads="1"/>
          </p:cNvSpPr>
          <p:nvPr>
            <p:ph type="title"/>
          </p:nvPr>
        </p:nvSpPr>
        <p:spPr/>
        <p:txBody>
          <a:bodyPr rtlCol="0">
            <a:normAutofit/>
          </a:bodyPr>
          <a:lstStyle/>
          <a:p>
            <a:pPr>
              <a:defRPr/>
            </a:pPr>
            <a:r>
              <a:rPr lang="hu-HU" sz="4000"/>
              <a:t>Objektumok tesztelése állapot-diagram alapján</a:t>
            </a:r>
            <a:endParaRPr lang="en-US" sz="4000"/>
          </a:p>
        </p:txBody>
      </p:sp>
      <p:sp>
        <p:nvSpPr>
          <p:cNvPr id="113669" name="Rectangle 3"/>
          <p:cNvSpPr>
            <a:spLocks noGrp="1" noChangeArrowheads="1"/>
          </p:cNvSpPr>
          <p:nvPr>
            <p:ph idx="1"/>
          </p:nvPr>
        </p:nvSpPr>
        <p:spPr>
          <a:xfrm>
            <a:off x="1963739" y="1876426"/>
            <a:ext cx="8218487" cy="4454525"/>
          </a:xfrm>
        </p:spPr>
        <p:txBody>
          <a:bodyPr/>
          <a:lstStyle/>
          <a:p>
            <a:pPr eaLnBrk="1" hangingPunct="1">
              <a:lnSpc>
                <a:spcPct val="90000"/>
              </a:lnSpc>
            </a:pPr>
            <a:r>
              <a:rPr lang="hu-HU" altLang="hu-HU"/>
              <a:t>A bejárások által képviselt tesztek:</a:t>
            </a:r>
          </a:p>
          <a:p>
            <a:pPr lvl="1" eaLnBrk="1" hangingPunct="1">
              <a:lnSpc>
                <a:spcPct val="90000"/>
              </a:lnSpc>
            </a:pPr>
            <a:r>
              <a:rPr lang="hu-HU" altLang="hu-HU"/>
              <a:t>Feltételezve, hogy az </a:t>
            </a:r>
            <a:r>
              <a:rPr lang="hu-HU" altLang="hu-HU" b="1"/>
              <a:t>A</a:t>
            </a:r>
            <a:r>
              <a:rPr lang="hu-HU" altLang="hu-HU"/>
              <a:t> állapotból indulunk ki, a következő esemény­sorozatokat írjuk elő:</a:t>
            </a:r>
          </a:p>
          <a:p>
            <a:pPr lvl="2" eaLnBrk="1" hangingPunct="1">
              <a:lnSpc>
                <a:spcPct val="90000"/>
              </a:lnSpc>
            </a:pPr>
            <a:r>
              <a:rPr lang="hu-HU" altLang="hu-HU" b="1"/>
              <a:t>T1:	a – b – e – c – f – g – h – d – f – i </a:t>
            </a:r>
            <a:endParaRPr lang="hu-HU" altLang="hu-HU"/>
          </a:p>
          <a:p>
            <a:pPr lvl="3" eaLnBrk="1" hangingPunct="1">
              <a:lnSpc>
                <a:spcPct val="90000"/>
              </a:lnSpc>
            </a:pPr>
            <a:r>
              <a:rPr lang="hu-HU" altLang="hu-HU"/>
              <a:t>Ez egy teljes bejárás, ami az összes állapotot magában foglalja.</a:t>
            </a:r>
            <a:endParaRPr lang="hu-HU" altLang="hu-HU" b="1"/>
          </a:p>
          <a:p>
            <a:pPr lvl="2" eaLnBrk="1" hangingPunct="1">
              <a:lnSpc>
                <a:spcPct val="90000"/>
              </a:lnSpc>
            </a:pPr>
            <a:r>
              <a:rPr lang="hu-HU" altLang="hu-HU" b="1"/>
              <a:t>T2:	a – a – c –f – g – h – h – h – d – f – g – e – c – f – i </a:t>
            </a:r>
            <a:endParaRPr lang="hu-HU" altLang="hu-HU"/>
          </a:p>
          <a:p>
            <a:pPr lvl="3" eaLnBrk="1" hangingPunct="1">
              <a:lnSpc>
                <a:spcPct val="90000"/>
              </a:lnSpc>
            </a:pPr>
            <a:r>
              <a:rPr lang="hu-HU" altLang="hu-HU"/>
              <a:t>Ez egy másik teljes bejárás, ami ismétléseket is tartalmaz.</a:t>
            </a:r>
            <a:endParaRPr lang="hu-HU" altLang="hu-HU" b="1"/>
          </a:p>
          <a:p>
            <a:pPr lvl="2" eaLnBrk="1" hangingPunct="1">
              <a:lnSpc>
                <a:spcPct val="90000"/>
              </a:lnSpc>
            </a:pPr>
            <a:r>
              <a:rPr lang="hu-HU" altLang="hu-HU" b="1"/>
              <a:t>T3:	b – h – e – c – f – g – h – d – f – g – b – </a:t>
            </a:r>
            <a:br>
              <a:rPr lang="hu-HU" altLang="hu-HU" b="1"/>
            </a:br>
            <a:r>
              <a:rPr lang="hu-HU" altLang="hu-HU" b="1"/>
              <a:t>a – a </a:t>
            </a:r>
            <a:endParaRPr lang="hu-HU" altLang="hu-HU"/>
          </a:p>
          <a:p>
            <a:pPr lvl="3" eaLnBrk="1" hangingPunct="1">
              <a:lnSpc>
                <a:spcPct val="90000"/>
              </a:lnSpc>
            </a:pPr>
            <a:r>
              <a:rPr lang="hu-HU" altLang="hu-HU"/>
              <a:t>Ez egy nem teljes bejárás, ismétlésekkel.</a:t>
            </a:r>
            <a:r>
              <a:rPr lang="en-US" altLang="hu-HU"/>
              <a:t> </a:t>
            </a:r>
          </a:p>
        </p:txBody>
      </p:sp>
      <p:sp>
        <p:nvSpPr>
          <p:cNvPr id="5" name="Dátum helye 5"/>
          <p:cNvSpPr>
            <a:spLocks noGrp="1"/>
          </p:cNvSpPr>
          <p:nvPr>
            <p:ph type="dt" sz="half" idx="10"/>
          </p:nvPr>
        </p:nvSpPr>
        <p:spPr>
          <a:xfrm>
            <a:off x="8077200" y="6356351"/>
            <a:ext cx="2133600" cy="365125"/>
          </a:xfrm>
        </p:spPr>
        <p:txBody>
          <a:bodyPr/>
          <a:lstStyle/>
          <a:p>
            <a:pPr algn="r">
              <a:defRPr/>
            </a:pPr>
            <a:fld id="{BFED8E62-75F9-4100-A812-5B2D9706B944}" type="datetime4">
              <a:rPr lang="hu-HU"/>
              <a:pPr algn="r">
                <a:defRPr/>
              </a:pPr>
              <a:t>2024. november 28.</a:t>
            </a:fld>
            <a:endParaRPr lang="hu-HU"/>
          </a:p>
        </p:txBody>
      </p:sp>
      <p:sp>
        <p:nvSpPr>
          <p:cNvPr id="113666" name="Dia számának helye 4"/>
          <p:cNvSpPr>
            <a:spLocks noGrp="1"/>
          </p:cNvSpPr>
          <p:nvPr>
            <p:ph type="sldNum" sz="quarter" idx="12"/>
          </p:nvPr>
        </p:nvSpPr>
        <p:spPr bwMode="auto">
          <a:xfrm>
            <a:off x="4648200" y="6356351"/>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fld id="{EFF093E3-88E5-4950-A49D-E812FE067B61}" type="slidenum">
              <a:rPr lang="hu-HU" altLang="hu-HU" sz="1200">
                <a:solidFill>
                  <a:srgbClr val="898989"/>
                </a:solidFill>
              </a:rPr>
              <a:pPr algn="ctr">
                <a:spcBef>
                  <a:spcPct val="0"/>
                </a:spcBef>
                <a:buFontTx/>
                <a:buNone/>
              </a:pPr>
              <a:t>341</a:t>
            </a:fld>
            <a:endParaRPr lang="hu-HU" altLang="hu-HU" sz="1200">
              <a:solidFill>
                <a:srgbClr val="898989"/>
              </a:solidFill>
            </a:endParaRPr>
          </a:p>
        </p:txBody>
      </p:sp>
    </p:spTree>
    <p:extLst>
      <p:ext uri="{BB962C8B-B14F-4D97-AF65-F5344CB8AC3E}">
        <p14:creationId xmlns:p14="http://schemas.microsoft.com/office/powerpoint/2010/main" val="2134740567"/>
      </p:ext>
    </p:extLst>
  </p:cSld>
  <p:clrMapOvr>
    <a:masterClrMapping/>
  </p:clrMapOvr>
  <p:timing>
    <p:tnLst>
      <p:par>
        <p:cTn id="1" dur="indefinite" restart="never" nodeType="tmRoot"/>
      </p:par>
    </p:tnLst>
  </p:timing>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ctrTitle"/>
          </p:nvPr>
        </p:nvSpPr>
        <p:spPr>
          <a:xfrm>
            <a:off x="2063552" y="3200400"/>
            <a:ext cx="7766248" cy="1524000"/>
          </a:xfrm>
        </p:spPr>
        <p:txBody>
          <a:bodyPr>
            <a:normAutofit fontScale="90000"/>
          </a:bodyPr>
          <a:lstStyle/>
          <a:p>
            <a:r>
              <a:rPr lang="hu-HU" dirty="0" smtClean="0"/>
              <a:t>UML2 - </a:t>
            </a:r>
            <a:r>
              <a:rPr lang="hu-HU" dirty="0" err="1" smtClean="0"/>
              <a:t>Állapotautomaták</a:t>
            </a:r>
            <a:endParaRPr lang="hu-HU" dirty="0"/>
          </a:p>
        </p:txBody>
      </p:sp>
      <p:sp>
        <p:nvSpPr>
          <p:cNvPr id="3" name="Alcím 2"/>
          <p:cNvSpPr>
            <a:spLocks noGrp="1"/>
          </p:cNvSpPr>
          <p:nvPr>
            <p:ph type="subTitle" idx="1"/>
          </p:nvPr>
        </p:nvSpPr>
        <p:spPr/>
        <p:txBody>
          <a:bodyPr>
            <a:normAutofit/>
          </a:bodyPr>
          <a:lstStyle/>
          <a:p>
            <a:endParaRPr lang="hu-HU" dirty="0"/>
          </a:p>
        </p:txBody>
      </p:sp>
    </p:spTree>
    <p:extLst>
      <p:ext uri="{BB962C8B-B14F-4D97-AF65-F5344CB8AC3E}">
        <p14:creationId xmlns:p14="http://schemas.microsoft.com/office/powerpoint/2010/main" val="3080776386"/>
      </p:ext>
    </p:extLst>
  </p:cSld>
  <p:clrMapOvr>
    <a:masterClrMapping/>
  </p:clrMapOvr>
  <p:timing>
    <p:tnLst>
      <p:par>
        <p:cTn id="1" dur="indefinite" restart="never" nodeType="tmRoot"/>
      </p:par>
    </p:tnLst>
  </p:timing>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p:cNvSpPr>
            <a:spLocks noGrp="1"/>
          </p:cNvSpPr>
          <p:nvPr>
            <p:ph idx="1"/>
          </p:nvPr>
        </p:nvSpPr>
        <p:spPr>
          <a:xfrm>
            <a:off x="2286000" y="685800"/>
            <a:ext cx="7543800" cy="5263480"/>
          </a:xfrm>
        </p:spPr>
        <p:txBody>
          <a:bodyPr>
            <a:normAutofit/>
          </a:bodyPr>
          <a:lstStyle/>
          <a:p>
            <a:r>
              <a:rPr lang="hu-HU" dirty="0" smtClean="0"/>
              <a:t>Szöveges leírások precíz rögzítésére, egységes jelölésekkel</a:t>
            </a:r>
          </a:p>
          <a:p>
            <a:r>
              <a:rPr lang="hu-HU" dirty="0" smtClean="0"/>
              <a:t>ROOM, </a:t>
            </a:r>
            <a:r>
              <a:rPr lang="hu-HU" dirty="0" err="1" smtClean="0"/>
              <a:t>ObjectCharts</a:t>
            </a:r>
            <a:r>
              <a:rPr lang="hu-HU" dirty="0" smtClean="0"/>
              <a:t> </a:t>
            </a:r>
            <a:r>
              <a:rPr lang="hu-HU" dirty="0" smtClean="0">
                <a:sym typeface="Wingdings" pitchFamily="2" charset="2"/>
              </a:rPr>
              <a:t> UML</a:t>
            </a:r>
          </a:p>
          <a:p>
            <a:r>
              <a:rPr lang="hu-HU" dirty="0" smtClean="0">
                <a:sym typeface="Wingdings" pitchFamily="2" charset="2"/>
              </a:rPr>
              <a:t>Állapotautomata / </a:t>
            </a:r>
            <a:r>
              <a:rPr lang="hu-HU" dirty="0" err="1" smtClean="0">
                <a:sym typeface="Wingdings" pitchFamily="2" charset="2"/>
              </a:rPr>
              <a:t>state</a:t>
            </a:r>
            <a:r>
              <a:rPr lang="hu-HU" dirty="0" smtClean="0">
                <a:sym typeface="Wingdings" pitchFamily="2" charset="2"/>
              </a:rPr>
              <a:t> </a:t>
            </a:r>
            <a:r>
              <a:rPr lang="hu-HU" dirty="0" err="1" smtClean="0">
                <a:sym typeface="Wingdings" pitchFamily="2" charset="2"/>
              </a:rPr>
              <a:t>machine</a:t>
            </a:r>
            <a:endParaRPr lang="hu-HU" dirty="0" smtClean="0">
              <a:sym typeface="Wingdings" pitchFamily="2" charset="2"/>
            </a:endParaRPr>
          </a:p>
          <a:p>
            <a:r>
              <a:rPr lang="hu-HU" dirty="0" smtClean="0">
                <a:sym typeface="Wingdings" pitchFamily="2" charset="2"/>
              </a:rPr>
              <a:t>Véges automaták</a:t>
            </a:r>
          </a:p>
          <a:p>
            <a:endParaRPr lang="hu-HU" dirty="0">
              <a:sym typeface="Wingdings" pitchFamily="2" charset="2"/>
            </a:endParaRPr>
          </a:p>
          <a:p>
            <a:r>
              <a:rPr lang="hu-HU" dirty="0" smtClean="0">
                <a:sym typeface="Wingdings" pitchFamily="2" charset="2"/>
              </a:rPr>
              <a:t>Mihez használható:</a:t>
            </a:r>
          </a:p>
          <a:p>
            <a:pPr lvl="1"/>
            <a:r>
              <a:rPr lang="hu-HU" dirty="0" smtClean="0">
                <a:sym typeface="Wingdings" pitchFamily="2" charset="2"/>
              </a:rPr>
              <a:t>Objektumok életciklusának vizsgálata</a:t>
            </a:r>
          </a:p>
          <a:p>
            <a:pPr lvl="1"/>
            <a:r>
              <a:rPr lang="hu-HU" dirty="0" smtClean="0">
                <a:sym typeface="Wingdings" pitchFamily="2" charset="2"/>
              </a:rPr>
              <a:t>Használati esetek</a:t>
            </a:r>
          </a:p>
          <a:p>
            <a:pPr lvl="1"/>
            <a:r>
              <a:rPr lang="hu-HU" dirty="0" smtClean="0">
                <a:sym typeface="Wingdings" pitchFamily="2" charset="2"/>
              </a:rPr>
              <a:t>Eszközvezérlő elemek</a:t>
            </a:r>
          </a:p>
          <a:p>
            <a:pPr lvl="1"/>
            <a:r>
              <a:rPr lang="hu-HU" dirty="0" smtClean="0">
                <a:sym typeface="Wingdings" pitchFamily="2" charset="2"/>
              </a:rPr>
              <a:t>Protokollok lefutása</a:t>
            </a:r>
          </a:p>
          <a:p>
            <a:pPr lvl="1"/>
            <a:r>
              <a:rPr lang="hu-HU" dirty="0" smtClean="0">
                <a:sym typeface="Wingdings" pitchFamily="2" charset="2"/>
              </a:rPr>
              <a:t>Dialógusok lefutása</a:t>
            </a:r>
          </a:p>
          <a:p>
            <a:r>
              <a:rPr lang="hu-HU" dirty="0" smtClean="0">
                <a:sym typeface="Wingdings" pitchFamily="2" charset="2"/>
              </a:rPr>
              <a:t>Diagramos és táblázatos megjelenési forma</a:t>
            </a:r>
          </a:p>
          <a:p>
            <a:pPr lvl="1"/>
            <a:endParaRPr lang="hu-HU" dirty="0"/>
          </a:p>
        </p:txBody>
      </p:sp>
    </p:spTree>
    <p:extLst>
      <p:ext uri="{BB962C8B-B14F-4D97-AF65-F5344CB8AC3E}">
        <p14:creationId xmlns:p14="http://schemas.microsoft.com/office/powerpoint/2010/main" val="2735640612"/>
      </p:ext>
    </p:extLst>
  </p:cSld>
  <p:clrMapOvr>
    <a:masterClrMapping/>
  </p:clrMapOvr>
  <p:timing>
    <p:tnLst>
      <p:par>
        <p:cTn id="1" dur="indefinite" restart="never" nodeType="tmRoot"/>
      </p:par>
    </p:tnLst>
  </p:timing>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2286000" y="4572000"/>
            <a:ext cx="7842448" cy="1600200"/>
          </a:xfrm>
        </p:spPr>
        <p:txBody>
          <a:bodyPr>
            <a:normAutofit/>
          </a:bodyPr>
          <a:lstStyle/>
          <a:p>
            <a:r>
              <a:rPr lang="hu-HU" dirty="0" smtClean="0"/>
              <a:t>Szemantikai alapfogalmak</a:t>
            </a:r>
            <a:endParaRPr lang="hu-HU" dirty="0"/>
          </a:p>
        </p:txBody>
      </p:sp>
      <p:sp>
        <p:nvSpPr>
          <p:cNvPr id="3" name="Tartalom helye 2"/>
          <p:cNvSpPr>
            <a:spLocks noGrp="1"/>
          </p:cNvSpPr>
          <p:nvPr>
            <p:ph idx="1"/>
          </p:nvPr>
        </p:nvSpPr>
        <p:spPr>
          <a:xfrm>
            <a:off x="2286000" y="685800"/>
            <a:ext cx="7543800" cy="1663080"/>
          </a:xfrm>
        </p:spPr>
        <p:txBody>
          <a:bodyPr>
            <a:normAutofit/>
          </a:bodyPr>
          <a:lstStyle/>
          <a:p>
            <a:r>
              <a:rPr lang="hu-HU" dirty="0" smtClean="0"/>
              <a:t>Állapotok és </a:t>
            </a:r>
            <a:r>
              <a:rPr lang="hu-HU" dirty="0" err="1" smtClean="0"/>
              <a:t>alállapotok</a:t>
            </a:r>
            <a:r>
              <a:rPr lang="hu-HU" dirty="0" smtClean="0"/>
              <a:t> fája: állapotkonfiguráció</a:t>
            </a:r>
          </a:p>
          <a:p>
            <a:endParaRPr lang="hu-HU" dirty="0" smtClean="0"/>
          </a:p>
          <a:p>
            <a:endParaRPr lang="hu-HU" dirty="0"/>
          </a:p>
          <a:p>
            <a:r>
              <a:rPr lang="hu-HU" dirty="0" smtClean="0"/>
              <a:t>UML </a:t>
            </a:r>
            <a:r>
              <a:rPr lang="hu-HU" dirty="0" err="1" smtClean="0"/>
              <a:t>metamodell</a:t>
            </a:r>
            <a:r>
              <a:rPr lang="hu-HU" dirty="0" smtClean="0"/>
              <a:t> részlet:</a:t>
            </a:r>
            <a:endParaRPr lang="hu-HU"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641" y="2636913"/>
            <a:ext cx="6421437" cy="2138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34689995"/>
      </p:ext>
    </p:extLst>
  </p:cSld>
  <p:clrMapOvr>
    <a:masterClrMapping/>
  </p:clrMapOvr>
  <p:timing>
    <p:tnLst>
      <p:par>
        <p:cTn id="1" dur="indefinite" restart="never" nodeType="tmRoot"/>
      </p:par>
    </p:tnLst>
  </p:timing>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2286000" y="4572000"/>
            <a:ext cx="7842448" cy="1600200"/>
          </a:xfrm>
        </p:spPr>
        <p:txBody>
          <a:bodyPr>
            <a:normAutofit/>
          </a:bodyPr>
          <a:lstStyle/>
          <a:p>
            <a:r>
              <a:rPr lang="hu-HU" dirty="0" smtClean="0"/>
              <a:t>Szemantikai alapfogalmak</a:t>
            </a:r>
            <a:endParaRPr lang="hu-HU" dirty="0"/>
          </a:p>
        </p:txBody>
      </p:sp>
      <p:sp>
        <p:nvSpPr>
          <p:cNvPr id="3" name="Tartalom helye 2"/>
          <p:cNvSpPr>
            <a:spLocks noGrp="1"/>
          </p:cNvSpPr>
          <p:nvPr>
            <p:ph idx="1"/>
          </p:nvPr>
        </p:nvSpPr>
        <p:spPr>
          <a:xfrm>
            <a:off x="2286000" y="685800"/>
            <a:ext cx="7543800" cy="4831432"/>
          </a:xfrm>
        </p:spPr>
        <p:txBody>
          <a:bodyPr>
            <a:normAutofit/>
          </a:bodyPr>
          <a:lstStyle/>
          <a:p>
            <a:r>
              <a:rPr lang="hu-HU" dirty="0" smtClean="0"/>
              <a:t>Állapotok hierarchikusak</a:t>
            </a:r>
          </a:p>
          <a:p>
            <a:pPr lvl="1"/>
            <a:r>
              <a:rPr lang="hu-HU" dirty="0" smtClean="0"/>
              <a:t>További állapotokat </a:t>
            </a:r>
            <a:r>
              <a:rPr lang="hu-HU" dirty="0" err="1" smtClean="0"/>
              <a:t>tartalhazhatnak</a:t>
            </a:r>
            <a:endParaRPr lang="hu-HU" dirty="0" smtClean="0"/>
          </a:p>
          <a:p>
            <a:endParaRPr lang="hu-HU" dirty="0" smtClean="0"/>
          </a:p>
          <a:p>
            <a:r>
              <a:rPr lang="hu-HU" dirty="0" smtClean="0"/>
              <a:t>Régiók / </a:t>
            </a:r>
            <a:r>
              <a:rPr lang="hu-HU" dirty="0" err="1" smtClean="0"/>
              <a:t>Region</a:t>
            </a:r>
            <a:endParaRPr lang="hu-HU" dirty="0" smtClean="0"/>
          </a:p>
          <a:p>
            <a:r>
              <a:rPr lang="hu-HU" dirty="0" smtClean="0"/>
              <a:t>Csúcsok / </a:t>
            </a:r>
            <a:r>
              <a:rPr lang="hu-HU" dirty="0" err="1" smtClean="0"/>
              <a:t>Verticle</a:t>
            </a:r>
            <a:r>
              <a:rPr lang="hu-HU" dirty="0" smtClean="0"/>
              <a:t> (állapotok, melyek ismét régiókat tartalmazhatnak)</a:t>
            </a:r>
          </a:p>
          <a:p>
            <a:r>
              <a:rPr lang="hu-HU" dirty="0" smtClean="0"/>
              <a:t>Átmenetek / </a:t>
            </a:r>
            <a:r>
              <a:rPr lang="hu-HU" dirty="0" err="1" smtClean="0"/>
              <a:t>Transitions</a:t>
            </a:r>
            <a:endParaRPr lang="hu-HU" dirty="0" smtClean="0"/>
          </a:p>
          <a:p>
            <a:endParaRPr lang="hu-HU" dirty="0"/>
          </a:p>
          <a:p>
            <a:r>
              <a:rPr lang="hu-HU" dirty="0" smtClean="0"/>
              <a:t>Állapotok több régiót is tartalmazhatnak egymás mellett</a:t>
            </a:r>
          </a:p>
          <a:p>
            <a:pPr lvl="1"/>
            <a:r>
              <a:rPr lang="hu-HU" dirty="0" smtClean="0"/>
              <a:t>Z állapot régiójának neve: </a:t>
            </a:r>
            <a:r>
              <a:rPr lang="hu-HU" dirty="0" err="1" smtClean="0"/>
              <a:t>z.region</a:t>
            </a:r>
            <a:endParaRPr lang="hu-HU" dirty="0" smtClean="0"/>
          </a:p>
          <a:p>
            <a:pPr lvl="1"/>
            <a:r>
              <a:rPr lang="hu-HU" dirty="0" smtClean="0"/>
              <a:t>Z </a:t>
            </a:r>
            <a:r>
              <a:rPr lang="hu-HU" dirty="0" err="1" smtClean="0"/>
              <a:t>alállapotai</a:t>
            </a:r>
            <a:r>
              <a:rPr lang="hu-HU" dirty="0" smtClean="0"/>
              <a:t>: </a:t>
            </a:r>
            <a:r>
              <a:rPr lang="hu-HU" dirty="0" err="1" smtClean="0"/>
              <a:t>z.region.subvertex</a:t>
            </a:r>
            <a:endParaRPr lang="hu-HU" dirty="0"/>
          </a:p>
        </p:txBody>
      </p:sp>
    </p:spTree>
    <p:extLst>
      <p:ext uri="{BB962C8B-B14F-4D97-AF65-F5344CB8AC3E}">
        <p14:creationId xmlns:p14="http://schemas.microsoft.com/office/powerpoint/2010/main" val="1057703604"/>
      </p:ext>
    </p:extLst>
  </p:cSld>
  <p:clrMapOvr>
    <a:masterClrMapping/>
  </p:clrMapOvr>
  <p:timing>
    <p:tnLst>
      <p:par>
        <p:cTn id="1" dur="indefinite" restart="never" nodeType="tmRoot"/>
      </p:par>
    </p:tnLst>
  </p:timing>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a:bodyPr>
          <a:lstStyle/>
          <a:p>
            <a:r>
              <a:rPr lang="hu-HU" dirty="0" smtClean="0"/>
              <a:t>Objektumok életciklusa</a:t>
            </a:r>
            <a:endParaRPr lang="hu-HU" dirty="0"/>
          </a:p>
        </p:txBody>
      </p:sp>
      <p:sp>
        <p:nvSpPr>
          <p:cNvPr id="3" name="Tartalom helye 2"/>
          <p:cNvSpPr>
            <a:spLocks noGrp="1"/>
          </p:cNvSpPr>
          <p:nvPr>
            <p:ph idx="1"/>
          </p:nvPr>
        </p:nvSpPr>
        <p:spPr>
          <a:xfrm>
            <a:off x="2286000" y="685800"/>
            <a:ext cx="8130480" cy="4687416"/>
          </a:xfrm>
        </p:spPr>
        <p:txBody>
          <a:bodyPr>
            <a:normAutofit/>
          </a:bodyPr>
          <a:lstStyle/>
          <a:p>
            <a:r>
              <a:rPr lang="hu-HU" dirty="0" err="1" smtClean="0"/>
              <a:t>Állapováltozások</a:t>
            </a:r>
            <a:r>
              <a:rPr lang="hu-HU" dirty="0" smtClean="0"/>
              <a:t>: átmenetek: nyitott hegyű nyilak</a:t>
            </a:r>
          </a:p>
          <a:p>
            <a:r>
              <a:rPr lang="hu-HU" dirty="0" smtClean="0"/>
              <a:t>Kezdőállapot: fekete pont</a:t>
            </a:r>
          </a:p>
          <a:p>
            <a:r>
              <a:rPr lang="hu-HU" dirty="0" smtClean="0"/>
              <a:t>Végállapot: bekarikázott fekete pont</a:t>
            </a:r>
          </a:p>
          <a:p>
            <a:endParaRPr lang="hu-HU" dirty="0"/>
          </a:p>
          <a:p>
            <a:r>
              <a:rPr lang="hu-HU" dirty="0" smtClean="0"/>
              <a:t>Átmenet ::=[Kiváltó ok][[feltétel]]/[tevékenység]</a:t>
            </a:r>
          </a:p>
          <a:p>
            <a:r>
              <a:rPr lang="hu-HU" dirty="0" smtClean="0"/>
              <a:t>Kiváltó ok::=Események[(Értékadások)]</a:t>
            </a:r>
          </a:p>
          <a:p>
            <a:r>
              <a:rPr lang="hu-HU" dirty="0" smtClean="0"/>
              <a:t>Események::=Esemény(,</a:t>
            </a:r>
            <a:r>
              <a:rPr lang="hu-HU" dirty="0" err="1" smtClean="0"/>
              <a:t>Esemény</a:t>
            </a:r>
            <a:r>
              <a:rPr lang="hu-HU" dirty="0" smtClean="0"/>
              <a:t>)*</a:t>
            </a:r>
          </a:p>
          <a:p>
            <a:r>
              <a:rPr lang="hu-HU" dirty="0" smtClean="0"/>
              <a:t>Értékadások::=Értékadás(,Értékadás)*</a:t>
            </a:r>
          </a:p>
          <a:p>
            <a:r>
              <a:rPr lang="hu-HU" dirty="0" smtClean="0"/>
              <a:t>Értékadás::=Attribútum | </a:t>
            </a:r>
            <a:r>
              <a:rPr lang="hu-HU" dirty="0" err="1" smtClean="0"/>
              <a:t>Attribútum</a:t>
            </a:r>
            <a:r>
              <a:rPr lang="hu-HU" dirty="0" smtClean="0"/>
              <a:t>:Típus</a:t>
            </a:r>
          </a:p>
          <a:p>
            <a:r>
              <a:rPr lang="hu-HU" dirty="0" smtClean="0"/>
              <a:t>Protokollátmenet::=[[Előfeltétel]] Metódushívás / [[Utófeltétel]]</a:t>
            </a:r>
          </a:p>
          <a:p>
            <a:r>
              <a:rPr lang="hu-HU" dirty="0" smtClean="0"/>
              <a:t>Átmenetszakasz::=Feltétel</a:t>
            </a:r>
          </a:p>
          <a:p>
            <a:endParaRPr lang="hu-HU" dirty="0"/>
          </a:p>
        </p:txBody>
      </p:sp>
    </p:spTree>
    <p:extLst>
      <p:ext uri="{BB962C8B-B14F-4D97-AF65-F5344CB8AC3E}">
        <p14:creationId xmlns:p14="http://schemas.microsoft.com/office/powerpoint/2010/main" val="3198818179"/>
      </p:ext>
    </p:extLst>
  </p:cSld>
  <p:clrMapOvr>
    <a:masterClrMapping/>
  </p:clrMapOvr>
  <p:timing>
    <p:tnLst>
      <p:par>
        <p:cTn id="1" dur="indefinite" restart="never" nodeType="tmRoot"/>
      </p:par>
    </p:tnLst>
  </p:timing>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640" y="70682"/>
            <a:ext cx="6552728" cy="6598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78917253"/>
      </p:ext>
    </p:extLst>
  </p:cSld>
  <p:clrMapOvr>
    <a:masterClrMapping/>
  </p:clrMapOvr>
  <p:timing>
    <p:tnLst>
      <p:par>
        <p:cTn id="1" dur="indefinite" restart="never" nodeType="tmRoot"/>
      </p:par>
    </p:tnLst>
  </p:timing>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3592" y="1268760"/>
            <a:ext cx="7431680" cy="4032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88905781"/>
      </p:ext>
    </p:extLst>
  </p:cSld>
  <p:clrMapOvr>
    <a:masterClrMapping/>
  </p:clrMapOvr>
  <p:timing>
    <p:tnLst>
      <p:par>
        <p:cTn id="1" dur="indefinite" restart="never" nodeType="tmRoot"/>
      </p:par>
    </p:tnLst>
  </p:timing>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Összetett állapotok</a:t>
            </a:r>
            <a:endParaRPr lang="hu-HU" dirty="0"/>
          </a:p>
        </p:txBody>
      </p:sp>
      <p:sp>
        <p:nvSpPr>
          <p:cNvPr id="3" name="Tartalom helye 2"/>
          <p:cNvSpPr>
            <a:spLocks noGrp="1"/>
          </p:cNvSpPr>
          <p:nvPr>
            <p:ph idx="1"/>
          </p:nvPr>
        </p:nvSpPr>
        <p:spPr>
          <a:xfrm>
            <a:off x="2351584" y="1196752"/>
            <a:ext cx="7543800" cy="3886200"/>
          </a:xfrm>
        </p:spPr>
        <p:txBody>
          <a:bodyPr>
            <a:normAutofit/>
          </a:bodyPr>
          <a:lstStyle/>
          <a:p>
            <a:r>
              <a:rPr lang="hu-HU" dirty="0" smtClean="0"/>
              <a:t>Összetett állapot: önmagában több régiót tartalmaz, melyek állapotokat és átmeneteket tartalmazhatnak.</a:t>
            </a:r>
          </a:p>
          <a:p>
            <a:r>
              <a:rPr lang="hu-HU" dirty="0" smtClean="0"/>
              <a:t>Kibontható</a:t>
            </a:r>
          </a:p>
          <a:p>
            <a:endParaRPr lang="hu-HU" dirty="0"/>
          </a:p>
          <a:p>
            <a:r>
              <a:rPr lang="hu-HU" dirty="0" smtClean="0"/>
              <a:t>Példában: 1 régió, szekvenciális összetett állapot</a:t>
            </a:r>
          </a:p>
          <a:p>
            <a:r>
              <a:rPr lang="hu-HU" dirty="0" smtClean="0"/>
              <a:t>Kibontva: két részben ábrázolva</a:t>
            </a:r>
          </a:p>
          <a:p>
            <a:pPr lvl="1"/>
            <a:r>
              <a:rPr lang="hu-HU" dirty="0" smtClean="0"/>
              <a:t>Fent: név</a:t>
            </a:r>
          </a:p>
          <a:p>
            <a:pPr lvl="1"/>
            <a:r>
              <a:rPr lang="hu-HU" dirty="0" smtClean="0"/>
              <a:t>Lent: tevékenység / </a:t>
            </a:r>
            <a:r>
              <a:rPr lang="hu-HU" dirty="0" err="1" smtClean="0"/>
              <a:t>activity</a:t>
            </a:r>
            <a:endParaRPr lang="hu-HU"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7848" y="228909"/>
            <a:ext cx="2162150" cy="1071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0296" y="2420889"/>
            <a:ext cx="1512168" cy="2538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75508914"/>
      </p:ext>
    </p:extLst>
  </p:cSld>
  <p:clrMapOvr>
    <a:masterClrMapping/>
  </p:clrMapOvr>
  <p:timing>
    <p:tnLst>
      <p:par>
        <p:cTn id="1" dur="indefinite" restart="never" nodeType="tmRoot"/>
      </p:par>
    </p:tnLst>
  </p:timing>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5600" y="44625"/>
            <a:ext cx="7128792" cy="6595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23288622"/>
      </p:ext>
    </p:extLst>
  </p:cSld>
  <p:clrMapOvr>
    <a:masterClrMapping/>
  </p:clrMapOvr>
  <p:timing>
    <p:tnLst>
      <p:par>
        <p:cTn id="1" dur="indefinite" restart="never" nodeType="tmRoot"/>
      </p:par>
    </p:tnLst>
  </p:timing>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Több eset</a:t>
            </a:r>
            <a:endParaRPr lang="hu-HU" dirty="0"/>
          </a:p>
        </p:txBody>
      </p:sp>
      <p:sp>
        <p:nvSpPr>
          <p:cNvPr id="3" name="Tartalom helye 2"/>
          <p:cNvSpPr>
            <a:spLocks noGrp="1"/>
          </p:cNvSpPr>
          <p:nvPr>
            <p:ph idx="1"/>
          </p:nvPr>
        </p:nvSpPr>
        <p:spPr>
          <a:xfrm>
            <a:off x="2279576" y="1484784"/>
            <a:ext cx="7543800" cy="3886200"/>
          </a:xfrm>
        </p:spPr>
        <p:txBody>
          <a:bodyPr/>
          <a:lstStyle/>
          <a:p>
            <a:r>
              <a:rPr lang="hu-HU" dirty="0" smtClean="0"/>
              <a:t>Esetválasztó csúcs</a:t>
            </a:r>
          </a:p>
          <a:p>
            <a:r>
              <a:rPr lang="hu-HU" dirty="0" smtClean="0"/>
              <a:t>Egymást kizáró kimenetek esetén:</a:t>
            </a:r>
          </a:p>
          <a:p>
            <a:pPr lvl="1"/>
            <a:r>
              <a:rPr lang="hu-HU" dirty="0" smtClean="0"/>
              <a:t>Feltétel a csúcsban</a:t>
            </a:r>
          </a:p>
          <a:p>
            <a:r>
              <a:rPr lang="hu-HU" dirty="0" smtClean="0"/>
              <a:t>Rombusz, jelölés:</a:t>
            </a:r>
          </a:p>
          <a:p>
            <a:pPr lvl="1"/>
            <a:r>
              <a:rPr lang="hu-HU" dirty="0" smtClean="0"/>
              <a:t>Vagy benne feltétel és [] zárójelekben a kimenetek</a:t>
            </a:r>
          </a:p>
          <a:p>
            <a:pPr lvl="1"/>
            <a:r>
              <a:rPr lang="hu-HU" dirty="0" smtClean="0"/>
              <a:t>Vagy [] a kimenetek</a:t>
            </a:r>
            <a:endParaRPr lang="hu-HU"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2105" y="836713"/>
            <a:ext cx="3071813" cy="270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0590794"/>
      </p:ext>
    </p:extLst>
  </p:cSld>
  <p:clrMapOvr>
    <a:masterClrMapping/>
  </p:clrMapOvr>
  <p:timing>
    <p:tnLst>
      <p:par>
        <p:cTn id="1" dur="indefinite" restart="never" nodeType="tmRoot"/>
      </p:par>
    </p:tnLst>
  </p:timing>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1504" y="1484784"/>
            <a:ext cx="8923914" cy="3096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43280832"/>
      </p:ext>
    </p:extLst>
  </p:cSld>
  <p:clrMapOvr>
    <a:masterClrMapping/>
  </p:clrMapOvr>
  <p:timing>
    <p:tnLst>
      <p:par>
        <p:cTn id="1" dur="indefinite" restart="never" nodeType="tmRoot"/>
      </p:par>
    </p:tnLst>
  </p:timing>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2286000" y="4572000"/>
            <a:ext cx="7554416" cy="1600200"/>
          </a:xfrm>
        </p:spPr>
        <p:txBody>
          <a:bodyPr>
            <a:normAutofit/>
          </a:bodyPr>
          <a:lstStyle/>
          <a:p>
            <a:r>
              <a:rPr lang="hu-HU" dirty="0" smtClean="0"/>
              <a:t>Használati eset életciklusa</a:t>
            </a:r>
            <a:endParaRPr lang="hu-HU" dirty="0"/>
          </a:p>
        </p:txBody>
      </p:sp>
      <p:sp>
        <p:nvSpPr>
          <p:cNvPr id="3" name="Tartalom helye 2"/>
          <p:cNvSpPr>
            <a:spLocks noGrp="1"/>
          </p:cNvSpPr>
          <p:nvPr>
            <p:ph idx="1"/>
          </p:nvPr>
        </p:nvSpPr>
        <p:spPr/>
        <p:txBody>
          <a:bodyPr/>
          <a:lstStyle/>
          <a:p>
            <a:r>
              <a:rPr lang="hu-HU" dirty="0" smtClean="0"/>
              <a:t>Standard és alternatív lefutások:</a:t>
            </a:r>
          </a:p>
          <a:p>
            <a:pPr lvl="1"/>
            <a:r>
              <a:rPr lang="hu-HU" dirty="0" smtClean="0"/>
              <a:t>Tevékenységi diagramokon (gyakoribb)</a:t>
            </a:r>
          </a:p>
          <a:p>
            <a:pPr lvl="1"/>
            <a:r>
              <a:rPr lang="hu-HU" dirty="0" err="1" smtClean="0"/>
              <a:t>Állapotautomaták</a:t>
            </a:r>
            <a:r>
              <a:rPr lang="hu-HU" dirty="0" smtClean="0"/>
              <a:t> (használati eset életciklusok)</a:t>
            </a:r>
            <a:endParaRPr lang="hu-HU" dirty="0"/>
          </a:p>
        </p:txBody>
      </p:sp>
    </p:spTree>
    <p:extLst>
      <p:ext uri="{BB962C8B-B14F-4D97-AF65-F5344CB8AC3E}">
        <p14:creationId xmlns:p14="http://schemas.microsoft.com/office/powerpoint/2010/main" val="2164520308"/>
      </p:ext>
    </p:extLst>
  </p:cSld>
  <p:clrMapOvr>
    <a:masterClrMapping/>
  </p:clrMapOvr>
  <p:timing>
    <p:tnLst>
      <p:par>
        <p:cTn id="1" dur="indefinite" restart="never" nodeType="tmRoot"/>
      </p:par>
    </p:tnLst>
  </p:timing>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7529" y="692696"/>
            <a:ext cx="8325105" cy="5040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07474337"/>
      </p:ext>
    </p:extLst>
  </p:cSld>
  <p:clrMapOvr>
    <a:masterClrMapping/>
  </p:clrMapOvr>
  <p:timing>
    <p:tnLst>
      <p:par>
        <p:cTn id="1" dur="indefinite" restart="never" nodeType="tmRoot"/>
      </p:par>
    </p:tnLst>
  </p:timing>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7608" y="1052736"/>
            <a:ext cx="6888660" cy="439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897044"/>
      </p:ext>
    </p:extLst>
  </p:cSld>
  <p:clrMapOvr>
    <a:masterClrMapping/>
  </p:clrMapOvr>
  <p:timing>
    <p:tnLst>
      <p:par>
        <p:cTn id="1" dur="indefinite" restart="never" nodeType="tmRoot"/>
      </p:par>
    </p:tnLst>
  </p:timing>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7528" y="692696"/>
            <a:ext cx="8467940" cy="5184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177781"/>
      </p:ext>
    </p:extLst>
  </p:cSld>
  <p:clrMapOvr>
    <a:masterClrMapping/>
  </p:clrMapOvr>
  <p:timing>
    <p:tnLst>
      <p:par>
        <p:cTn id="1" dur="indefinite" restart="never" nodeType="tmRoot"/>
      </p:par>
    </p:tnLst>
  </p:timing>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176" y="692696"/>
            <a:ext cx="9704824" cy="3240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42522414"/>
      </p:ext>
    </p:extLst>
  </p:cSld>
  <p:clrMapOvr>
    <a:masterClrMapping/>
  </p:clrMapOvr>
  <p:timing>
    <p:tnLst>
      <p:par>
        <p:cTn id="1" dur="indefinite" restart="never" nodeType="tmRoot"/>
      </p:par>
    </p:tnLst>
  </p:timing>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3513" y="764704"/>
            <a:ext cx="8792925" cy="3816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6532712"/>
      </p:ext>
    </p:extLst>
  </p:cSld>
  <p:clrMapOvr>
    <a:masterClrMapping/>
  </p:clrMapOvr>
  <p:timing>
    <p:tnLst>
      <p:par>
        <p:cTn id="1" dur="indefinite" restart="never" nodeType="tmRoot"/>
      </p:par>
    </p:tnLst>
  </p:timing>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a:bodyPr>
          <a:lstStyle/>
          <a:p>
            <a:r>
              <a:rPr lang="hu-HU" dirty="0" smtClean="0"/>
              <a:t>Protokollszerep és protokoll</a:t>
            </a:r>
            <a:endParaRPr lang="hu-HU" dirty="0"/>
          </a:p>
        </p:txBody>
      </p:sp>
      <p:sp>
        <p:nvSpPr>
          <p:cNvPr id="3" name="Tartalom helye 2"/>
          <p:cNvSpPr>
            <a:spLocks noGrp="1"/>
          </p:cNvSpPr>
          <p:nvPr>
            <p:ph idx="1"/>
          </p:nvPr>
        </p:nvSpPr>
        <p:spPr/>
        <p:txBody>
          <a:bodyPr/>
          <a:lstStyle/>
          <a:p>
            <a:r>
              <a:rPr lang="hu-HU" dirty="0" smtClean="0"/>
              <a:t>Objektum életciklus segítségével „fehér dobozos” nézet, ismerhető felépítése, belső állapotai</a:t>
            </a:r>
          </a:p>
          <a:p>
            <a:r>
              <a:rPr lang="hu-HU" dirty="0" smtClean="0"/>
              <a:t>Ha titkos: „fekete doboz” nézet szükséges</a:t>
            </a:r>
          </a:p>
          <a:p>
            <a:pPr lvl="1"/>
            <a:r>
              <a:rPr lang="hu-HU" dirty="0" smtClean="0"/>
              <a:t>Protokollszerep / </a:t>
            </a:r>
            <a:r>
              <a:rPr lang="hu-HU" dirty="0" err="1" smtClean="0"/>
              <a:t>Protocol</a:t>
            </a:r>
            <a:r>
              <a:rPr lang="hu-HU" dirty="0" smtClean="0"/>
              <a:t> </a:t>
            </a:r>
            <a:r>
              <a:rPr lang="hu-HU" dirty="0" err="1" smtClean="0"/>
              <a:t>Role</a:t>
            </a:r>
            <a:endParaRPr lang="hu-HU" dirty="0" smtClean="0"/>
          </a:p>
          <a:p>
            <a:pPr lvl="1"/>
            <a:r>
              <a:rPr lang="hu-HU" dirty="0" smtClean="0"/>
              <a:t>Lehetővé teszi objektumok viselkedésének absztrakt specifikálását, „külső” rálátást biztosít, </a:t>
            </a:r>
            <a:r>
              <a:rPr lang="hu-HU" dirty="0" smtClean="0">
                <a:sym typeface="Wingdings" pitchFamily="2" charset="2"/>
              </a:rPr>
              <a:t>egységbezárás</a:t>
            </a:r>
          </a:p>
          <a:p>
            <a:r>
              <a:rPr lang="hu-HU" dirty="0" smtClean="0">
                <a:sym typeface="Wingdings" pitchFamily="2" charset="2"/>
              </a:rPr>
              <a:t>Csatlakozók és összekötők specifikálásának eszköze</a:t>
            </a:r>
          </a:p>
          <a:p>
            <a:r>
              <a:rPr lang="hu-HU" dirty="0" err="1" smtClean="0">
                <a:sym typeface="Wingdings" pitchFamily="2" charset="2"/>
              </a:rPr>
              <a:t>Protokollautomaták</a:t>
            </a:r>
            <a:endParaRPr lang="hu-HU" dirty="0"/>
          </a:p>
        </p:txBody>
      </p:sp>
    </p:spTree>
    <p:extLst>
      <p:ext uri="{BB962C8B-B14F-4D97-AF65-F5344CB8AC3E}">
        <p14:creationId xmlns:p14="http://schemas.microsoft.com/office/powerpoint/2010/main" val="2406551832"/>
      </p:ext>
    </p:extLst>
  </p:cSld>
  <p:clrMapOvr>
    <a:masterClrMapping/>
  </p:clrMapOvr>
  <p:timing>
    <p:tnLst>
      <p:par>
        <p:cTn id="1" dur="indefinite" restart="never" nodeType="tmRoot"/>
      </p:par>
    </p:tnLst>
  </p:timing>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rtalom helye 3"/>
          <p:cNvGraphicFramePr>
            <a:graphicFrameLocks noGrp="1"/>
          </p:cNvGraphicFramePr>
          <p:nvPr>
            <p:ph idx="1"/>
            <p:extLst/>
          </p:nvPr>
        </p:nvGraphicFramePr>
        <p:xfrm>
          <a:off x="2286000" y="685800"/>
          <a:ext cx="7543800" cy="111252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370840">
                <a:tc>
                  <a:txBody>
                    <a:bodyPr/>
                    <a:lstStyle/>
                    <a:p>
                      <a:endParaRPr lang="hu-HU" dirty="0"/>
                    </a:p>
                  </a:txBody>
                  <a:tcPr/>
                </a:tc>
                <a:tc>
                  <a:txBody>
                    <a:bodyPr/>
                    <a:lstStyle/>
                    <a:p>
                      <a:r>
                        <a:rPr lang="hu-HU" dirty="0" smtClean="0"/>
                        <a:t>Önálló viselkedés</a:t>
                      </a:r>
                      <a:endParaRPr lang="hu-HU" dirty="0"/>
                    </a:p>
                  </a:txBody>
                  <a:tcPr/>
                </a:tc>
                <a:tc>
                  <a:txBody>
                    <a:bodyPr/>
                    <a:lstStyle/>
                    <a:p>
                      <a:r>
                        <a:rPr lang="hu-HU" dirty="0" smtClean="0"/>
                        <a:t>Együttműködés</a:t>
                      </a:r>
                      <a:endParaRPr lang="hu-HU" dirty="0"/>
                    </a:p>
                  </a:txBody>
                  <a:tcPr/>
                </a:tc>
                <a:extLst>
                  <a:ext uri="{0D108BD9-81ED-4DB2-BD59-A6C34878D82A}">
                    <a16:rowId xmlns:a16="http://schemas.microsoft.com/office/drawing/2014/main" val="10000"/>
                  </a:ext>
                </a:extLst>
              </a:tr>
              <a:tr h="370840">
                <a:tc>
                  <a:txBody>
                    <a:bodyPr/>
                    <a:lstStyle/>
                    <a:p>
                      <a:r>
                        <a:rPr lang="hu-HU" dirty="0" smtClean="0"/>
                        <a:t>Fekete doboz</a:t>
                      </a:r>
                      <a:r>
                        <a:rPr lang="hu-HU" baseline="0" dirty="0" smtClean="0"/>
                        <a:t> nézet</a:t>
                      </a:r>
                      <a:endParaRPr lang="hu-HU" dirty="0"/>
                    </a:p>
                  </a:txBody>
                  <a:tcPr/>
                </a:tc>
                <a:tc>
                  <a:txBody>
                    <a:bodyPr/>
                    <a:lstStyle/>
                    <a:p>
                      <a:r>
                        <a:rPr lang="hu-HU" dirty="0" smtClean="0"/>
                        <a:t>Protokollszerep</a:t>
                      </a:r>
                      <a:endParaRPr lang="hu-HU" dirty="0"/>
                    </a:p>
                  </a:txBody>
                  <a:tcPr/>
                </a:tc>
                <a:tc>
                  <a:txBody>
                    <a:bodyPr/>
                    <a:lstStyle/>
                    <a:p>
                      <a:r>
                        <a:rPr lang="hu-HU" dirty="0" smtClean="0"/>
                        <a:t>Protokoll</a:t>
                      </a:r>
                      <a:endParaRPr lang="hu-HU" dirty="0"/>
                    </a:p>
                  </a:txBody>
                  <a:tcPr/>
                </a:tc>
                <a:extLst>
                  <a:ext uri="{0D108BD9-81ED-4DB2-BD59-A6C34878D82A}">
                    <a16:rowId xmlns:a16="http://schemas.microsoft.com/office/drawing/2014/main" val="10001"/>
                  </a:ext>
                </a:extLst>
              </a:tr>
              <a:tr h="370840">
                <a:tc>
                  <a:txBody>
                    <a:bodyPr/>
                    <a:lstStyle/>
                    <a:p>
                      <a:r>
                        <a:rPr lang="hu-HU" dirty="0" smtClean="0"/>
                        <a:t>Fehér doboz nézet</a:t>
                      </a:r>
                      <a:endParaRPr lang="hu-HU" dirty="0"/>
                    </a:p>
                  </a:txBody>
                  <a:tcPr/>
                </a:tc>
                <a:tc>
                  <a:txBody>
                    <a:bodyPr/>
                    <a:lstStyle/>
                    <a:p>
                      <a:r>
                        <a:rPr lang="hu-HU" dirty="0" smtClean="0"/>
                        <a:t>Csatlakozó (Port)</a:t>
                      </a:r>
                      <a:endParaRPr lang="hu-HU" dirty="0"/>
                    </a:p>
                  </a:txBody>
                  <a:tcPr/>
                </a:tc>
                <a:tc>
                  <a:txBody>
                    <a:bodyPr/>
                    <a:lstStyle/>
                    <a:p>
                      <a:r>
                        <a:rPr lang="hu-HU" dirty="0" smtClean="0"/>
                        <a:t>Összekötő (</a:t>
                      </a:r>
                      <a:r>
                        <a:rPr lang="hu-HU" dirty="0" err="1" smtClean="0"/>
                        <a:t>Connector</a:t>
                      </a:r>
                      <a:r>
                        <a:rPr lang="hu-HU" dirty="0" smtClean="0"/>
                        <a:t>)</a:t>
                      </a:r>
                      <a:endParaRPr lang="hu-HU" dirty="0"/>
                    </a:p>
                  </a:txBody>
                  <a:tcPr/>
                </a:tc>
                <a:extLst>
                  <a:ext uri="{0D108BD9-81ED-4DB2-BD59-A6C34878D82A}">
                    <a16:rowId xmlns:a16="http://schemas.microsoft.com/office/drawing/2014/main" val="10002"/>
                  </a:ext>
                </a:extLst>
              </a:tr>
            </a:tbl>
          </a:graphicData>
        </a:graphic>
      </p:graphicFrame>
      <p:sp>
        <p:nvSpPr>
          <p:cNvPr id="5" name="Téglalap 4"/>
          <p:cNvSpPr/>
          <p:nvPr/>
        </p:nvSpPr>
        <p:spPr>
          <a:xfrm>
            <a:off x="2855640" y="2132856"/>
            <a:ext cx="6365910" cy="369332"/>
          </a:xfrm>
          <a:prstGeom prst="rect">
            <a:avLst/>
          </a:prstGeom>
        </p:spPr>
        <p:txBody>
          <a:bodyPr wrap="none">
            <a:spAutoFit/>
          </a:bodyPr>
          <a:lstStyle/>
          <a:p>
            <a:r>
              <a:rPr lang="hu-HU" dirty="0"/>
              <a:t>A protokoll nem más, mint protokollszerepek közti együttműködés</a:t>
            </a:r>
          </a:p>
        </p:txBody>
      </p:sp>
      <p:pic>
        <p:nvPicPr>
          <p:cNvPr id="122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7568" y="2780929"/>
            <a:ext cx="8064896" cy="1950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6825" y="5157192"/>
            <a:ext cx="6163541" cy="72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27354202"/>
      </p:ext>
    </p:extLst>
  </p:cSld>
  <p:clrMapOvr>
    <a:masterClrMapping/>
  </p:clrMapOvr>
  <p:timing>
    <p:tnLst>
      <p:par>
        <p:cTn id="1" dur="indefinite" restart="never" nodeType="tmRoot"/>
      </p:par>
    </p:tnLst>
  </p:timing>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2728" y="116632"/>
            <a:ext cx="7223673" cy="6624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27133759"/>
      </p:ext>
    </p:extLst>
  </p:cSld>
  <p:clrMapOvr>
    <a:masterClrMapping/>
  </p:clrMapOvr>
  <p:timing>
    <p:tnLst>
      <p:par>
        <p:cTn id="1" dur="indefinite" restart="never" nodeType="tmRoot"/>
      </p:par>
    </p:tnLst>
  </p:timing>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5600" y="33144"/>
            <a:ext cx="6726097" cy="6636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064963"/>
      </p:ext>
    </p:extLst>
  </p:cSld>
  <p:clrMapOvr>
    <a:masterClrMapping/>
  </p:clrMapOvr>
  <p:timing>
    <p:tnLst>
      <p:par>
        <p:cTn id="1" dur="indefinite" restart="never" nodeType="tmRoot"/>
      </p:par>
    </p:tnLst>
  </p:timing>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endParaRPr lang="hu-HU"/>
          </a:p>
        </p:txBody>
      </p:sp>
      <p:sp>
        <p:nvSpPr>
          <p:cNvPr id="3" name="Tartalom helye 2"/>
          <p:cNvSpPr>
            <a:spLocks noGrp="1"/>
          </p:cNvSpPr>
          <p:nvPr>
            <p:ph idx="1"/>
          </p:nvPr>
        </p:nvSpPr>
        <p:spPr/>
        <p:txBody>
          <a:bodyPr/>
          <a:lstStyle/>
          <a:p>
            <a:endParaRPr lang="hu-HU"/>
          </a:p>
        </p:txBody>
      </p:sp>
    </p:spTree>
    <p:extLst>
      <p:ext uri="{BB962C8B-B14F-4D97-AF65-F5344CB8AC3E}">
        <p14:creationId xmlns:p14="http://schemas.microsoft.com/office/powerpoint/2010/main" val="2000386518"/>
      </p:ext>
    </p:extLst>
  </p:cSld>
  <p:clrMapOvr>
    <a:masterClrMapping/>
  </p:clrMapOvr>
  <p:timing>
    <p:tnLst>
      <p:par>
        <p:cTn id="1" dur="indefinite" restart="never" nodeType="tmRoot"/>
      </p:par>
    </p:tnLst>
  </p:timing>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Történeti állapotok</a:t>
            </a:r>
            <a:endParaRPr lang="hu-HU" dirty="0"/>
          </a:p>
        </p:txBody>
      </p:sp>
      <p:sp>
        <p:nvSpPr>
          <p:cNvPr id="3" name="Tartalom helye 2"/>
          <p:cNvSpPr>
            <a:spLocks noGrp="1"/>
          </p:cNvSpPr>
          <p:nvPr>
            <p:ph idx="1"/>
          </p:nvPr>
        </p:nvSpPr>
        <p:spPr/>
        <p:txBody>
          <a:bodyPr/>
          <a:lstStyle/>
          <a:p>
            <a:r>
              <a:rPr lang="hu-HU" dirty="0" err="1" smtClean="0"/>
              <a:t>Shallow</a:t>
            </a:r>
            <a:r>
              <a:rPr lang="hu-HU" dirty="0" smtClean="0"/>
              <a:t> </a:t>
            </a:r>
            <a:r>
              <a:rPr lang="hu-HU" dirty="0" err="1" smtClean="0"/>
              <a:t>history</a:t>
            </a:r>
            <a:r>
              <a:rPr lang="hu-HU" dirty="0" smtClean="0"/>
              <a:t> </a:t>
            </a:r>
            <a:r>
              <a:rPr lang="hu-HU" dirty="0" err="1" smtClean="0"/>
              <a:t>state</a:t>
            </a:r>
            <a:endParaRPr lang="hu-HU" dirty="0" smtClean="0"/>
          </a:p>
          <a:p>
            <a:r>
              <a:rPr lang="hu-HU" dirty="0" smtClean="0"/>
              <a:t>Deep </a:t>
            </a:r>
            <a:r>
              <a:rPr lang="hu-HU" dirty="0" err="1" smtClean="0"/>
              <a:t>history</a:t>
            </a:r>
            <a:r>
              <a:rPr lang="hu-HU" dirty="0" smtClean="0"/>
              <a:t> </a:t>
            </a:r>
            <a:r>
              <a:rPr lang="hu-HU" dirty="0" err="1" smtClean="0"/>
              <a:t>state</a:t>
            </a:r>
            <a:r>
              <a:rPr lang="hu-HU" dirty="0" smtClean="0"/>
              <a:t> (</a:t>
            </a:r>
            <a:r>
              <a:rPr lang="hu-HU" dirty="0" err="1" smtClean="0"/>
              <a:t>alállapotok</a:t>
            </a:r>
            <a:r>
              <a:rPr lang="hu-HU" dirty="0" smtClean="0"/>
              <a:t> is)</a:t>
            </a:r>
            <a:endParaRPr lang="hu-HU" dirty="0"/>
          </a:p>
        </p:txBody>
      </p:sp>
    </p:spTree>
    <p:extLst>
      <p:ext uri="{BB962C8B-B14F-4D97-AF65-F5344CB8AC3E}">
        <p14:creationId xmlns:p14="http://schemas.microsoft.com/office/powerpoint/2010/main" val="1943286682"/>
      </p:ext>
    </p:extLst>
  </p:cSld>
  <p:clrMapOvr>
    <a:masterClrMapping/>
  </p:clrMapOvr>
  <p:timing>
    <p:tnLst>
      <p:par>
        <p:cTn id="1" dur="indefinite" restart="never" nodeType="tmRoot"/>
      </p:par>
    </p:tnLst>
  </p:timing>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3512" y="1438440"/>
            <a:ext cx="8776046" cy="2500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34237532"/>
      </p:ext>
    </p:extLst>
  </p:cSld>
  <p:clrMapOvr>
    <a:masterClrMapping/>
  </p:clrMapOvr>
  <p:timing>
    <p:tnLst>
      <p:par>
        <p:cTn id="1" dur="indefinite" restart="never" nodeType="tmRoot"/>
      </p:par>
    </p:tnLst>
  </p:timing>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rtalom helye 3"/>
          <p:cNvGraphicFramePr>
            <a:graphicFrameLocks noGrp="1"/>
          </p:cNvGraphicFramePr>
          <p:nvPr>
            <p:ph idx="1"/>
            <p:extLst/>
          </p:nvPr>
        </p:nvGraphicFramePr>
        <p:xfrm>
          <a:off x="2286000" y="685800"/>
          <a:ext cx="7543800" cy="4759960"/>
        </p:xfrm>
        <a:graphic>
          <a:graphicData uri="http://schemas.openxmlformats.org/drawingml/2006/table">
            <a:tbl>
              <a:tblPr firstRow="1" bandRow="1">
                <a:tableStyleId>{5C22544A-7EE6-4342-B048-85BDC9FD1C3A}</a:tableStyleId>
              </a:tblPr>
              <a:tblGrid>
                <a:gridCol w="2585864">
                  <a:extLst>
                    <a:ext uri="{9D8B030D-6E8A-4147-A177-3AD203B41FA5}">
                      <a16:colId xmlns:a16="http://schemas.microsoft.com/office/drawing/2014/main" val="20000"/>
                    </a:ext>
                  </a:extLst>
                </a:gridCol>
                <a:gridCol w="4957936">
                  <a:extLst>
                    <a:ext uri="{9D8B030D-6E8A-4147-A177-3AD203B41FA5}">
                      <a16:colId xmlns:a16="http://schemas.microsoft.com/office/drawing/2014/main" val="20001"/>
                    </a:ext>
                  </a:extLst>
                </a:gridCol>
              </a:tblGrid>
              <a:tr h="370840">
                <a:tc>
                  <a:txBody>
                    <a:bodyPr/>
                    <a:lstStyle/>
                    <a:p>
                      <a:r>
                        <a:rPr lang="hu-HU" dirty="0" smtClean="0"/>
                        <a:t>Állapotnév</a:t>
                      </a:r>
                      <a:endParaRPr lang="hu-HU" dirty="0"/>
                    </a:p>
                  </a:txBody>
                  <a:tcPr/>
                </a:tc>
                <a:tc>
                  <a:txBody>
                    <a:bodyPr/>
                    <a:lstStyle/>
                    <a:p>
                      <a:r>
                        <a:rPr lang="hu-HU" dirty="0" smtClean="0"/>
                        <a:t>Jelentés</a:t>
                      </a:r>
                      <a:endParaRPr lang="hu-HU" dirty="0"/>
                    </a:p>
                  </a:txBody>
                  <a:tcPr/>
                </a:tc>
                <a:extLst>
                  <a:ext uri="{0D108BD9-81ED-4DB2-BD59-A6C34878D82A}">
                    <a16:rowId xmlns:a16="http://schemas.microsoft.com/office/drawing/2014/main" val="10000"/>
                  </a:ext>
                </a:extLst>
              </a:tr>
              <a:tr h="370840">
                <a:tc>
                  <a:txBody>
                    <a:bodyPr/>
                    <a:lstStyle/>
                    <a:p>
                      <a:r>
                        <a:rPr lang="hu-HU" dirty="0" smtClean="0"/>
                        <a:t>Egyszerű kezdő állapot</a:t>
                      </a:r>
                      <a:endParaRPr lang="hu-HU" dirty="0"/>
                    </a:p>
                  </a:txBody>
                  <a:tcPr/>
                </a:tc>
                <a:tc>
                  <a:txBody>
                    <a:bodyPr/>
                    <a:lstStyle/>
                    <a:p>
                      <a:r>
                        <a:rPr lang="hu-HU" dirty="0" smtClean="0"/>
                        <a:t>(Közvetlen</a:t>
                      </a:r>
                      <a:r>
                        <a:rPr lang="hu-HU" baseline="0" dirty="0" smtClean="0"/>
                        <a:t> tartalmazó állapotba érkezéskor a közvetlen tartalmazott régióban</a:t>
                      </a:r>
                      <a:r>
                        <a:rPr lang="hu-HU" dirty="0" smtClean="0"/>
                        <a:t>) Elsőként az egyszerű kezdő állapot</a:t>
                      </a:r>
                      <a:r>
                        <a:rPr lang="hu-HU" baseline="0" dirty="0" smtClean="0"/>
                        <a:t> utáni állapotba kerül a vezérlés.</a:t>
                      </a:r>
                      <a:endParaRPr lang="hu-HU" dirty="0"/>
                    </a:p>
                  </a:txBody>
                  <a:tcPr/>
                </a:tc>
                <a:extLst>
                  <a:ext uri="{0D108BD9-81ED-4DB2-BD59-A6C34878D82A}">
                    <a16:rowId xmlns:a16="http://schemas.microsoft.com/office/drawing/2014/main" val="10001"/>
                  </a:ext>
                </a:extLst>
              </a:tr>
              <a:tr h="370840">
                <a:tc>
                  <a:txBody>
                    <a:bodyPr/>
                    <a:lstStyle/>
                    <a:p>
                      <a:r>
                        <a:rPr lang="hu-HU" dirty="0" smtClean="0"/>
                        <a:t>Egyszerű történeti állapot</a:t>
                      </a:r>
                      <a:endParaRPr lang="hu-HU" dirty="0"/>
                    </a:p>
                  </a:txBody>
                  <a:tcPr/>
                </a:tc>
                <a:tc>
                  <a:txBody>
                    <a:bodyPr/>
                    <a:lstStyle/>
                    <a:p>
                      <a:r>
                        <a:rPr lang="hu-HU" dirty="0" smtClean="0"/>
                        <a:t>(Közvetlen</a:t>
                      </a:r>
                      <a:r>
                        <a:rPr lang="hu-HU" baseline="0" dirty="0" smtClean="0"/>
                        <a:t> tartalmazó állapotba érkezéskor a közvetlen tartalmazott régióban elsőként) a történeti állapot rákövetkező állapotába kerül a vezérlés, a</a:t>
                      </a:r>
                      <a:r>
                        <a:rPr lang="hu-HU" u="sng" baseline="0" dirty="0" smtClean="0"/>
                        <a:t>mennyiben a történeti állapot üres</a:t>
                      </a:r>
                      <a:r>
                        <a:rPr lang="hu-HU" baseline="0" dirty="0" smtClean="0"/>
                        <a:t>.</a:t>
                      </a:r>
                    </a:p>
                    <a:p>
                      <a:r>
                        <a:rPr lang="hu-HU" u="sng" baseline="0" dirty="0" smtClean="0"/>
                        <a:t>Ha nem üres, akkor </a:t>
                      </a:r>
                      <a:r>
                        <a:rPr lang="hu-HU" baseline="0" dirty="0" smtClean="0"/>
                        <a:t>azt az állapotot veszi fel újra az automata, melyben akkor volt, amikor a közvetlen tartalmazó állapot elhagyásra került.</a:t>
                      </a:r>
                      <a:endParaRPr lang="hu-HU" dirty="0"/>
                    </a:p>
                  </a:txBody>
                  <a:tcPr/>
                </a:tc>
                <a:extLst>
                  <a:ext uri="{0D108BD9-81ED-4DB2-BD59-A6C34878D82A}">
                    <a16:rowId xmlns:a16="http://schemas.microsoft.com/office/drawing/2014/main" val="10002"/>
                  </a:ext>
                </a:extLst>
              </a:tr>
              <a:tr h="370840">
                <a:tc>
                  <a:txBody>
                    <a:bodyPr/>
                    <a:lstStyle/>
                    <a:p>
                      <a:r>
                        <a:rPr lang="hu-HU" dirty="0" smtClean="0"/>
                        <a:t>Mély történeti állapot</a:t>
                      </a:r>
                      <a:endParaRPr lang="hu-HU" dirty="0"/>
                    </a:p>
                  </a:txBody>
                  <a:tcPr/>
                </a:tc>
                <a:tc>
                  <a:txBody>
                    <a:bodyPr/>
                    <a:lstStyle/>
                    <a:p>
                      <a:r>
                        <a:rPr lang="hu-HU" dirty="0" smtClean="0"/>
                        <a:t>-””- ,</a:t>
                      </a:r>
                      <a:r>
                        <a:rPr lang="hu-HU" baseline="0" dirty="0" smtClean="0"/>
                        <a:t> de nem csak az állapot, hanem az állapotkonfiguráció kerül visszaállításra.</a:t>
                      </a:r>
                      <a:endParaRPr lang="hu-HU"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73637700"/>
      </p:ext>
    </p:extLst>
  </p:cSld>
  <p:clrMapOvr>
    <a:masterClrMapping/>
  </p:clrMapOvr>
  <p:timing>
    <p:tnLst>
      <p:par>
        <p:cTn id="1" dur="indefinite" restart="never" nodeType="tmRoot"/>
      </p:par>
    </p:tnLst>
  </p:timing>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1505" y="1556792"/>
            <a:ext cx="8698659" cy="295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12721810"/>
      </p:ext>
    </p:extLst>
  </p:cSld>
  <p:clrMapOvr>
    <a:masterClrMapping/>
  </p:clrMapOvr>
  <p:timing>
    <p:tnLst>
      <p:par>
        <p:cTn id="1" dur="indefinite" restart="never" nodeType="tmRoot"/>
      </p:par>
    </p:tnLst>
  </p:timing>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37900125"/>
      </p:ext>
    </p:extLst>
  </p:cSld>
  <p:clrMapOvr>
    <a:masterClrMapping/>
  </p:clrMapOvr>
  <p:timing>
    <p:tnLst>
      <p:par>
        <p:cTn id="1" dur="indefinite" restart="never" nodeType="tmRoot"/>
      </p:par>
    </p:tnLst>
  </p:timing>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a:bodyPr>
          <a:lstStyle/>
          <a:p>
            <a:r>
              <a:rPr lang="hu-HU" dirty="0" smtClean="0"/>
              <a:t>Elágazó és szinkronizáló pontok</a:t>
            </a:r>
            <a:endParaRPr lang="hu-HU" dirty="0"/>
          </a:p>
        </p:txBody>
      </p:sp>
      <p:sp>
        <p:nvSpPr>
          <p:cNvPr id="3" name="Tartalom helye 2"/>
          <p:cNvSpPr>
            <a:spLocks noGrp="1"/>
          </p:cNvSpPr>
          <p:nvPr>
            <p:ph idx="1"/>
          </p:nvPr>
        </p:nvSpPr>
        <p:spPr/>
        <p:txBody>
          <a:bodyPr/>
          <a:lstStyle/>
          <a:p>
            <a:r>
              <a:rPr lang="hu-HU" dirty="0" smtClean="0"/>
              <a:t>Párhuzamos állapotok speciális állapotkonfigurációinak be- és kiléptetéséhez használhatunk be- és kilépési pontokat.</a:t>
            </a:r>
          </a:p>
          <a:p>
            <a:r>
              <a:rPr lang="hu-HU" dirty="0" smtClean="0"/>
              <a:t>Be- és kilépés összehangolásához</a:t>
            </a:r>
          </a:p>
          <a:p>
            <a:r>
              <a:rPr lang="hu-HU" dirty="0" err="1" smtClean="0"/>
              <a:t>Szinkronizációs</a:t>
            </a:r>
            <a:r>
              <a:rPr lang="hu-HU" dirty="0" smtClean="0"/>
              <a:t> csúcs: </a:t>
            </a:r>
            <a:r>
              <a:rPr lang="hu-HU" dirty="0" err="1" smtClean="0"/>
              <a:t>join</a:t>
            </a:r>
            <a:r>
              <a:rPr lang="hu-HU" dirty="0" smtClean="0"/>
              <a:t> </a:t>
            </a:r>
            <a:r>
              <a:rPr lang="hu-HU" dirty="0" err="1" smtClean="0"/>
              <a:t>pseudostate</a:t>
            </a:r>
            <a:endParaRPr lang="hu-HU" dirty="0" smtClean="0"/>
          </a:p>
          <a:p>
            <a:r>
              <a:rPr lang="hu-HU" dirty="0" smtClean="0"/>
              <a:t>Elágaztató csúcs: </a:t>
            </a:r>
            <a:r>
              <a:rPr lang="hu-HU" dirty="0" err="1" smtClean="0"/>
              <a:t>fork</a:t>
            </a:r>
            <a:r>
              <a:rPr lang="hu-HU" dirty="0" smtClean="0"/>
              <a:t> </a:t>
            </a:r>
            <a:r>
              <a:rPr lang="hu-HU" dirty="0" err="1" smtClean="0"/>
              <a:t>pseudostate</a:t>
            </a:r>
            <a:endParaRPr lang="hu-HU" dirty="0" smtClean="0"/>
          </a:p>
          <a:p>
            <a:endParaRPr lang="hu-HU" dirty="0"/>
          </a:p>
          <a:p>
            <a:r>
              <a:rPr lang="hu-HU" dirty="0" smtClean="0"/>
              <a:t>Nem szabhatnak feltételeket sem be, sem kilépéshez!</a:t>
            </a:r>
            <a:endParaRPr lang="hu-HU" dirty="0"/>
          </a:p>
        </p:txBody>
      </p:sp>
    </p:spTree>
    <p:extLst>
      <p:ext uri="{BB962C8B-B14F-4D97-AF65-F5344CB8AC3E}">
        <p14:creationId xmlns:p14="http://schemas.microsoft.com/office/powerpoint/2010/main" val="4099701559"/>
      </p:ext>
    </p:extLst>
  </p:cSld>
  <p:clrMapOvr>
    <a:masterClrMapping/>
  </p:clrMapOvr>
  <p:timing>
    <p:tnLst>
      <p:par>
        <p:cTn id="1" dur="indefinite" restart="never" nodeType="tmRoot"/>
      </p:par>
    </p:tnLst>
  </p:timing>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5520" y="980728"/>
            <a:ext cx="8496944" cy="4562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160021"/>
      </p:ext>
    </p:extLst>
  </p:cSld>
  <p:clrMapOvr>
    <a:masterClrMapping/>
  </p:clrMapOvr>
  <p:timing>
    <p:tnLst>
      <p:par>
        <p:cTn id="1" dur="indefinite" restart="never" nodeType="tmRoot"/>
      </p:par>
    </p:tnLst>
  </p:timing>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a:bodyPr>
          <a:lstStyle/>
          <a:p>
            <a:r>
              <a:rPr lang="hu-HU" dirty="0" smtClean="0"/>
              <a:t>Rendszerviselkedés és vezérlőautomata</a:t>
            </a:r>
            <a:endParaRPr lang="hu-HU" dirty="0"/>
          </a:p>
        </p:txBody>
      </p:sp>
      <p:sp>
        <p:nvSpPr>
          <p:cNvPr id="3" name="Tartalom helye 2"/>
          <p:cNvSpPr>
            <a:spLocks noGrp="1"/>
          </p:cNvSpPr>
          <p:nvPr>
            <p:ph idx="1"/>
          </p:nvPr>
        </p:nvSpPr>
        <p:spPr/>
        <p:txBody>
          <a:bodyPr/>
          <a:lstStyle/>
          <a:p>
            <a:r>
              <a:rPr lang="hu-HU" dirty="0" smtClean="0"/>
              <a:t>A vezérlőautomata olyan állapotautomata, mely műszaki eszközt, rendszert vezérel, vagy ír le.</a:t>
            </a:r>
          </a:p>
          <a:p>
            <a:r>
              <a:rPr lang="hu-HU" dirty="0" smtClean="0"/>
              <a:t>Montázsdiagram…</a:t>
            </a:r>
          </a:p>
          <a:p>
            <a:endParaRPr lang="hu-HU" dirty="0"/>
          </a:p>
        </p:txBody>
      </p:sp>
    </p:spTree>
    <p:extLst>
      <p:ext uri="{BB962C8B-B14F-4D97-AF65-F5344CB8AC3E}">
        <p14:creationId xmlns:p14="http://schemas.microsoft.com/office/powerpoint/2010/main" val="3007803417"/>
      </p:ext>
    </p:extLst>
  </p:cSld>
  <p:clrMapOvr>
    <a:masterClrMapping/>
  </p:clrMapOvr>
  <p:timing>
    <p:tnLst>
      <p:par>
        <p:cTn id="1" dur="indefinite" restart="never" nodeType="tmRoot"/>
      </p:par>
    </p:tnLst>
  </p:timing>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rtalom helye 3"/>
          <p:cNvGraphicFramePr>
            <a:graphicFrameLocks noGrp="1"/>
          </p:cNvGraphicFramePr>
          <p:nvPr>
            <p:ph idx="1"/>
            <p:extLst/>
          </p:nvPr>
        </p:nvGraphicFramePr>
        <p:xfrm>
          <a:off x="1991544" y="620688"/>
          <a:ext cx="8058472" cy="4536400"/>
        </p:xfrm>
        <a:graphic>
          <a:graphicData uri="http://schemas.openxmlformats.org/drawingml/2006/table">
            <a:tbl>
              <a:tblPr firstRow="1" bandRow="1">
                <a:tableStyleId>{5C22544A-7EE6-4342-B048-85BDC9FD1C3A}</a:tableStyleId>
              </a:tblPr>
              <a:tblGrid>
                <a:gridCol w="2014618">
                  <a:extLst>
                    <a:ext uri="{9D8B030D-6E8A-4147-A177-3AD203B41FA5}">
                      <a16:colId xmlns:a16="http://schemas.microsoft.com/office/drawing/2014/main" val="20000"/>
                    </a:ext>
                  </a:extLst>
                </a:gridCol>
                <a:gridCol w="2014618">
                  <a:extLst>
                    <a:ext uri="{9D8B030D-6E8A-4147-A177-3AD203B41FA5}">
                      <a16:colId xmlns:a16="http://schemas.microsoft.com/office/drawing/2014/main" val="20001"/>
                    </a:ext>
                  </a:extLst>
                </a:gridCol>
                <a:gridCol w="2014618">
                  <a:extLst>
                    <a:ext uri="{9D8B030D-6E8A-4147-A177-3AD203B41FA5}">
                      <a16:colId xmlns:a16="http://schemas.microsoft.com/office/drawing/2014/main" val="20002"/>
                    </a:ext>
                  </a:extLst>
                </a:gridCol>
                <a:gridCol w="2014618">
                  <a:extLst>
                    <a:ext uri="{9D8B030D-6E8A-4147-A177-3AD203B41FA5}">
                      <a16:colId xmlns:a16="http://schemas.microsoft.com/office/drawing/2014/main" val="20003"/>
                    </a:ext>
                  </a:extLst>
                </a:gridCol>
              </a:tblGrid>
              <a:tr h="507960">
                <a:tc>
                  <a:txBody>
                    <a:bodyPr/>
                    <a:lstStyle/>
                    <a:p>
                      <a:r>
                        <a:rPr lang="hu-HU" dirty="0" smtClean="0"/>
                        <a:t>Részegység</a:t>
                      </a:r>
                      <a:endParaRPr lang="hu-HU" dirty="0"/>
                    </a:p>
                  </a:txBody>
                  <a:tcPr/>
                </a:tc>
                <a:tc>
                  <a:txBody>
                    <a:bodyPr/>
                    <a:lstStyle/>
                    <a:p>
                      <a:r>
                        <a:rPr lang="hu-HU" dirty="0" smtClean="0"/>
                        <a:t>Regiszter neve</a:t>
                      </a:r>
                      <a:endParaRPr lang="hu-HU" dirty="0"/>
                    </a:p>
                  </a:txBody>
                  <a:tcPr/>
                </a:tc>
                <a:tc>
                  <a:txBody>
                    <a:bodyPr/>
                    <a:lstStyle/>
                    <a:p>
                      <a:r>
                        <a:rPr lang="hu-HU" dirty="0" smtClean="0"/>
                        <a:t>Típus</a:t>
                      </a:r>
                      <a:endParaRPr lang="hu-HU" dirty="0"/>
                    </a:p>
                  </a:txBody>
                  <a:tcPr/>
                </a:tc>
                <a:tc>
                  <a:txBody>
                    <a:bodyPr/>
                    <a:lstStyle/>
                    <a:p>
                      <a:r>
                        <a:rPr lang="hu-HU" dirty="0" smtClean="0"/>
                        <a:t>Érték: jelentés</a:t>
                      </a:r>
                      <a:endParaRPr lang="hu-HU" dirty="0"/>
                    </a:p>
                  </a:txBody>
                  <a:tcPr/>
                </a:tc>
                <a:extLst>
                  <a:ext uri="{0D108BD9-81ED-4DB2-BD59-A6C34878D82A}">
                    <a16:rowId xmlns:a16="http://schemas.microsoft.com/office/drawing/2014/main" val="10000"/>
                  </a:ext>
                </a:extLst>
              </a:tr>
              <a:tr h="370840">
                <a:tc>
                  <a:txBody>
                    <a:bodyPr/>
                    <a:lstStyle/>
                    <a:p>
                      <a:r>
                        <a:rPr lang="hu-HU" dirty="0" smtClean="0"/>
                        <a:t>Kártyaolvasó</a:t>
                      </a:r>
                      <a:endParaRPr lang="hu-HU" dirty="0"/>
                    </a:p>
                  </a:txBody>
                  <a:tcPr/>
                </a:tc>
                <a:tc>
                  <a:txBody>
                    <a:bodyPr/>
                    <a:lstStyle/>
                    <a:p>
                      <a:r>
                        <a:rPr lang="hu-HU" u="sng" dirty="0" smtClean="0"/>
                        <a:t>M</a:t>
                      </a:r>
                      <a:r>
                        <a:rPr lang="hu-HU" dirty="0" smtClean="0"/>
                        <a:t>otorikus egység</a:t>
                      </a:r>
                      <a:endParaRPr lang="hu-HU" dirty="0"/>
                    </a:p>
                  </a:txBody>
                  <a:tcPr/>
                </a:tc>
                <a:tc>
                  <a:txBody>
                    <a:bodyPr/>
                    <a:lstStyle/>
                    <a:p>
                      <a:r>
                        <a:rPr lang="hu-HU" dirty="0" err="1" smtClean="0"/>
                        <a:t>Aktuátor</a:t>
                      </a:r>
                      <a:endParaRPr lang="hu-HU" dirty="0"/>
                    </a:p>
                  </a:txBody>
                  <a:tcPr/>
                </a:tc>
                <a:tc>
                  <a:txBody>
                    <a:bodyPr/>
                    <a:lstStyle/>
                    <a:p>
                      <a:r>
                        <a:rPr lang="hu-HU" dirty="0" smtClean="0"/>
                        <a:t>0: kártya fix</a:t>
                      </a:r>
                    </a:p>
                    <a:p>
                      <a:r>
                        <a:rPr lang="hu-HU" dirty="0" smtClean="0"/>
                        <a:t>1: kártya be</a:t>
                      </a:r>
                    </a:p>
                    <a:p>
                      <a:r>
                        <a:rPr lang="hu-HU" dirty="0" smtClean="0"/>
                        <a:t>2: kártya ki</a:t>
                      </a:r>
                    </a:p>
                    <a:p>
                      <a:r>
                        <a:rPr lang="hu-HU" dirty="0" smtClean="0"/>
                        <a:t>-1: kártya vissza</a:t>
                      </a:r>
                      <a:endParaRPr lang="hu-HU" dirty="0"/>
                    </a:p>
                  </a:txBody>
                  <a:tcPr/>
                </a:tc>
                <a:extLst>
                  <a:ext uri="{0D108BD9-81ED-4DB2-BD59-A6C34878D82A}">
                    <a16:rowId xmlns:a16="http://schemas.microsoft.com/office/drawing/2014/main" val="10001"/>
                  </a:ext>
                </a:extLst>
              </a:tr>
              <a:tr h="370840">
                <a:tc>
                  <a:txBody>
                    <a:bodyPr/>
                    <a:lstStyle/>
                    <a:p>
                      <a:endParaRPr lang="hu-HU"/>
                    </a:p>
                  </a:txBody>
                  <a:tcPr/>
                </a:tc>
                <a:tc>
                  <a:txBody>
                    <a:bodyPr/>
                    <a:lstStyle/>
                    <a:p>
                      <a:r>
                        <a:rPr lang="hu-HU" u="sng" dirty="0" smtClean="0"/>
                        <a:t>K</a:t>
                      </a:r>
                      <a:r>
                        <a:rPr lang="hu-HU" dirty="0" smtClean="0"/>
                        <a:t>ártya</a:t>
                      </a:r>
                      <a:endParaRPr lang="hu-HU" dirty="0"/>
                    </a:p>
                  </a:txBody>
                  <a:tcPr/>
                </a:tc>
                <a:tc>
                  <a:txBody>
                    <a:bodyPr/>
                    <a:lstStyle/>
                    <a:p>
                      <a:r>
                        <a:rPr lang="hu-HU" dirty="0" smtClean="0"/>
                        <a:t>Szenzor</a:t>
                      </a:r>
                      <a:endParaRPr lang="hu-HU" dirty="0"/>
                    </a:p>
                  </a:txBody>
                  <a:tcPr/>
                </a:tc>
                <a:tc>
                  <a:txBody>
                    <a:bodyPr/>
                    <a:lstStyle/>
                    <a:p>
                      <a:r>
                        <a:rPr lang="hu-HU" dirty="0" smtClean="0"/>
                        <a:t>0: nincs kártya</a:t>
                      </a:r>
                    </a:p>
                    <a:p>
                      <a:r>
                        <a:rPr lang="hu-HU" dirty="0" smtClean="0"/>
                        <a:t>1: kártya bent</a:t>
                      </a:r>
                    </a:p>
                  </a:txBody>
                  <a:tcPr/>
                </a:tc>
                <a:extLst>
                  <a:ext uri="{0D108BD9-81ED-4DB2-BD59-A6C34878D82A}">
                    <a16:rowId xmlns:a16="http://schemas.microsoft.com/office/drawing/2014/main" val="10002"/>
                  </a:ext>
                </a:extLst>
              </a:tr>
              <a:tr h="370840">
                <a:tc>
                  <a:txBody>
                    <a:bodyPr/>
                    <a:lstStyle/>
                    <a:p>
                      <a:endParaRPr lang="hu-HU"/>
                    </a:p>
                  </a:txBody>
                  <a:tcPr/>
                </a:tc>
                <a:tc>
                  <a:txBody>
                    <a:bodyPr/>
                    <a:lstStyle/>
                    <a:p>
                      <a:r>
                        <a:rPr lang="hu-HU" u="sng" dirty="0" smtClean="0"/>
                        <a:t>T</a:t>
                      </a:r>
                      <a:r>
                        <a:rPr lang="hu-HU" dirty="0" smtClean="0"/>
                        <a:t>artalom</a:t>
                      </a:r>
                      <a:endParaRPr lang="hu-HU" dirty="0"/>
                    </a:p>
                  </a:txBody>
                  <a:tcPr/>
                </a:tc>
                <a:tc>
                  <a:txBody>
                    <a:bodyPr/>
                    <a:lstStyle/>
                    <a:p>
                      <a:r>
                        <a:rPr lang="hu-HU" dirty="0" smtClean="0"/>
                        <a:t>Szenzor</a:t>
                      </a:r>
                      <a:endParaRPr lang="hu-HU" dirty="0"/>
                    </a:p>
                  </a:txBody>
                  <a:tcPr/>
                </a:tc>
                <a:tc>
                  <a:txBody>
                    <a:bodyPr/>
                    <a:lstStyle/>
                    <a:p>
                      <a:r>
                        <a:rPr lang="hu-HU" dirty="0" err="1" smtClean="0"/>
                        <a:t>String</a:t>
                      </a:r>
                      <a:endParaRPr lang="hu-HU" dirty="0"/>
                    </a:p>
                  </a:txBody>
                  <a:tcPr/>
                </a:tc>
                <a:extLst>
                  <a:ext uri="{0D108BD9-81ED-4DB2-BD59-A6C34878D82A}">
                    <a16:rowId xmlns:a16="http://schemas.microsoft.com/office/drawing/2014/main" val="10003"/>
                  </a:ext>
                </a:extLst>
              </a:tr>
              <a:tr h="370840">
                <a:tc>
                  <a:txBody>
                    <a:bodyPr/>
                    <a:lstStyle/>
                    <a:p>
                      <a:r>
                        <a:rPr lang="hu-HU" dirty="0" smtClean="0"/>
                        <a:t>Forgókapu</a:t>
                      </a:r>
                      <a:endParaRPr lang="hu-HU" dirty="0"/>
                    </a:p>
                  </a:txBody>
                  <a:tcPr/>
                </a:tc>
                <a:tc>
                  <a:txBody>
                    <a:bodyPr/>
                    <a:lstStyle/>
                    <a:p>
                      <a:r>
                        <a:rPr lang="hu-HU" u="sng" dirty="0" smtClean="0"/>
                        <a:t>B</a:t>
                      </a:r>
                      <a:r>
                        <a:rPr lang="hu-HU" dirty="0" smtClean="0"/>
                        <a:t>lokkolás</a:t>
                      </a:r>
                      <a:endParaRPr lang="hu-HU" dirty="0"/>
                    </a:p>
                  </a:txBody>
                  <a:tcPr/>
                </a:tc>
                <a:tc>
                  <a:txBody>
                    <a:bodyPr/>
                    <a:lstStyle/>
                    <a:p>
                      <a:r>
                        <a:rPr lang="hu-HU" dirty="0" err="1" smtClean="0"/>
                        <a:t>Aktuátor</a:t>
                      </a:r>
                      <a:endParaRPr lang="hu-HU" dirty="0"/>
                    </a:p>
                  </a:txBody>
                  <a:tcPr/>
                </a:tc>
                <a:tc>
                  <a:txBody>
                    <a:bodyPr/>
                    <a:lstStyle/>
                    <a:p>
                      <a:r>
                        <a:rPr lang="hu-HU" dirty="0" smtClean="0"/>
                        <a:t>0: blokkolás felold</a:t>
                      </a:r>
                    </a:p>
                    <a:p>
                      <a:r>
                        <a:rPr lang="hu-HU" dirty="0" smtClean="0"/>
                        <a:t>1: blokkolás</a:t>
                      </a:r>
                      <a:endParaRPr lang="hu-HU" dirty="0"/>
                    </a:p>
                  </a:txBody>
                  <a:tcPr/>
                </a:tc>
                <a:extLst>
                  <a:ext uri="{0D108BD9-81ED-4DB2-BD59-A6C34878D82A}">
                    <a16:rowId xmlns:a16="http://schemas.microsoft.com/office/drawing/2014/main" val="10004"/>
                  </a:ext>
                </a:extLst>
              </a:tr>
              <a:tr h="370840">
                <a:tc>
                  <a:txBody>
                    <a:bodyPr/>
                    <a:lstStyle/>
                    <a:p>
                      <a:endParaRPr lang="hu-HU" dirty="0"/>
                    </a:p>
                  </a:txBody>
                  <a:tcPr/>
                </a:tc>
                <a:tc>
                  <a:txBody>
                    <a:bodyPr/>
                    <a:lstStyle/>
                    <a:p>
                      <a:r>
                        <a:rPr lang="hu-HU" u="sng" dirty="0" smtClean="0"/>
                        <a:t>E</a:t>
                      </a:r>
                      <a:r>
                        <a:rPr lang="hu-HU" dirty="0" smtClean="0"/>
                        <a:t>lfordítás</a:t>
                      </a:r>
                      <a:endParaRPr lang="hu-HU" dirty="0"/>
                    </a:p>
                  </a:txBody>
                  <a:tcPr/>
                </a:tc>
                <a:tc>
                  <a:txBody>
                    <a:bodyPr/>
                    <a:lstStyle/>
                    <a:p>
                      <a:r>
                        <a:rPr lang="hu-HU" dirty="0" smtClean="0"/>
                        <a:t>Szenzor</a:t>
                      </a:r>
                      <a:endParaRPr lang="hu-HU" dirty="0"/>
                    </a:p>
                  </a:txBody>
                  <a:tcPr/>
                </a:tc>
                <a:tc>
                  <a:txBody>
                    <a:bodyPr/>
                    <a:lstStyle/>
                    <a:p>
                      <a:r>
                        <a:rPr lang="hu-HU" dirty="0" smtClean="0"/>
                        <a:t>0: nincs</a:t>
                      </a:r>
                      <a:r>
                        <a:rPr lang="hu-HU" baseline="0" dirty="0" smtClean="0"/>
                        <a:t> mozgatás</a:t>
                      </a:r>
                      <a:endParaRPr lang="hu-HU" dirty="0" smtClean="0"/>
                    </a:p>
                    <a:p>
                      <a:r>
                        <a:rPr lang="hu-HU" dirty="0" smtClean="0"/>
                        <a:t>1: előre</a:t>
                      </a:r>
                    </a:p>
                    <a:p>
                      <a:r>
                        <a:rPr lang="hu-HU" dirty="0" smtClean="0"/>
                        <a:t>-1: hátra</a:t>
                      </a:r>
                      <a:endParaRPr lang="hu-HU" dirty="0"/>
                    </a:p>
                  </a:txBody>
                  <a:tcPr/>
                </a:tc>
                <a:extLst>
                  <a:ext uri="{0D108BD9-81ED-4DB2-BD59-A6C34878D82A}">
                    <a16:rowId xmlns:a16="http://schemas.microsoft.com/office/drawing/2014/main" val="10005"/>
                  </a:ext>
                </a:extLst>
              </a:tr>
            </a:tbl>
          </a:graphicData>
        </a:graphic>
      </p:graphicFrame>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5600" y="4941168"/>
            <a:ext cx="7041198" cy="1600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369590"/>
      </p:ext>
    </p:extLst>
  </p:cSld>
  <p:clrMapOvr>
    <a:masterClrMapping/>
  </p:clrMapOvr>
  <p:timing>
    <p:tnLst>
      <p:par>
        <p:cTn id="1" dur="indefinite" restart="never" nodeType="tmRoot"/>
      </p:par>
    </p:tnLst>
  </p:timing>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9536" y="548680"/>
            <a:ext cx="8575234" cy="5256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2815440"/>
      </p:ext>
    </p:extLst>
  </p:cSld>
  <p:clrMapOvr>
    <a:masterClrMapping/>
  </p:clrMapOvr>
  <p:timing>
    <p:tnLst>
      <p:par>
        <p:cTn id="1" dur="indefinite" restart="never" nodeType="tmRoot"/>
      </p:par>
    </p:tnLst>
  </p:timing>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9536" y="908720"/>
            <a:ext cx="8131882" cy="4578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7574358"/>
      </p:ext>
    </p:extLst>
  </p:cSld>
  <p:clrMapOvr>
    <a:masterClrMapping/>
  </p:clrMapOvr>
  <p:timing>
    <p:tnLst>
      <p:par>
        <p:cTn id="1" dur="indefinite" restart="never" nodeType="tmRoot"/>
      </p:par>
    </p:tnLst>
  </p:timing>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5520" y="764705"/>
            <a:ext cx="8661572" cy="502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15494560"/>
      </p:ext>
    </p:extLst>
  </p:cSld>
  <p:clrMapOvr>
    <a:masterClrMapping/>
  </p:clrMapOvr>
  <p:timing>
    <p:tnLst>
      <p:par>
        <p:cTn id="1" dur="indefinite" restart="never" nodeType="tmRoot"/>
      </p:par>
    </p:tnLst>
  </p:timing>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a:bodyPr>
          <a:lstStyle/>
          <a:p>
            <a:r>
              <a:rPr lang="hu-HU" dirty="0" err="1" smtClean="0"/>
              <a:t>Állapotautomaták</a:t>
            </a:r>
            <a:r>
              <a:rPr lang="hu-HU" dirty="0" smtClean="0"/>
              <a:t> meghívása</a:t>
            </a:r>
            <a:endParaRPr lang="hu-HU" dirty="0"/>
          </a:p>
        </p:txBody>
      </p:sp>
      <p:sp>
        <p:nvSpPr>
          <p:cNvPr id="3" name="Tartalom helye 2"/>
          <p:cNvSpPr>
            <a:spLocks noGrp="1"/>
          </p:cNvSpPr>
          <p:nvPr>
            <p:ph idx="1"/>
          </p:nvPr>
        </p:nvSpPr>
        <p:spPr/>
        <p:txBody>
          <a:bodyPr/>
          <a:lstStyle/>
          <a:p>
            <a:r>
              <a:rPr lang="hu-HU" dirty="0" smtClean="0"/>
              <a:t>Közös részek, hasonló folyamatok modellezéséhez</a:t>
            </a:r>
          </a:p>
          <a:p>
            <a:r>
              <a:rPr lang="hu-HU" dirty="0" err="1" smtClean="0"/>
              <a:t>Kiterjesztéd</a:t>
            </a:r>
            <a:r>
              <a:rPr lang="hu-HU" dirty="0" smtClean="0"/>
              <a:t> általánosítást jelent </a:t>
            </a:r>
            <a:r>
              <a:rPr lang="hu-HU" dirty="0" err="1" smtClean="0"/>
              <a:t>állapotautomaták</a:t>
            </a:r>
            <a:r>
              <a:rPr lang="hu-HU" dirty="0" smtClean="0"/>
              <a:t> estén</a:t>
            </a:r>
          </a:p>
          <a:p>
            <a:r>
              <a:rPr lang="hu-HU" dirty="0" err="1" smtClean="0"/>
              <a:t>Kiterjeszéskor</a:t>
            </a:r>
            <a:r>
              <a:rPr lang="hu-HU" dirty="0" smtClean="0"/>
              <a:t> érintetlen: szaggatott</a:t>
            </a:r>
          </a:p>
          <a:p>
            <a:r>
              <a:rPr lang="hu-HU" dirty="0" err="1" smtClean="0"/>
              <a:t>Álatlánosítás</a:t>
            </a:r>
            <a:r>
              <a:rPr lang="hu-HU" dirty="0" smtClean="0"/>
              <a:t>: {</a:t>
            </a:r>
            <a:r>
              <a:rPr lang="hu-HU" dirty="0" err="1" smtClean="0"/>
              <a:t>extended</a:t>
            </a:r>
            <a:r>
              <a:rPr lang="hu-HU" dirty="0" smtClean="0"/>
              <a:t>}</a:t>
            </a:r>
          </a:p>
          <a:p>
            <a:r>
              <a:rPr lang="hu-HU" dirty="0" smtClean="0"/>
              <a:t>Ki nem terjeszthető állapot: {</a:t>
            </a:r>
            <a:r>
              <a:rPr lang="hu-HU" dirty="0" err="1" smtClean="0"/>
              <a:t>final</a:t>
            </a:r>
            <a:r>
              <a:rPr lang="hu-HU" dirty="0" smtClean="0"/>
              <a:t>}</a:t>
            </a:r>
            <a:endParaRPr lang="hu-HU" dirty="0"/>
          </a:p>
        </p:txBody>
      </p:sp>
    </p:spTree>
    <p:extLst>
      <p:ext uri="{BB962C8B-B14F-4D97-AF65-F5344CB8AC3E}">
        <p14:creationId xmlns:p14="http://schemas.microsoft.com/office/powerpoint/2010/main" val="2535202743"/>
      </p:ext>
    </p:extLst>
  </p:cSld>
  <p:clrMapOvr>
    <a:masterClrMapping/>
  </p:clrMapOvr>
  <p:timing>
    <p:tnLst>
      <p:par>
        <p:cTn id="1" dur="indefinite" restart="never" nodeType="tmRoot"/>
      </p:par>
    </p:tnLst>
  </p:timing>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1624" y="260647"/>
            <a:ext cx="6624736" cy="3961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9697" y="5085185"/>
            <a:ext cx="5798201" cy="790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2235521"/>
      </p:ext>
    </p:extLst>
  </p:cSld>
  <p:clrMapOvr>
    <a:masterClrMapping/>
  </p:clrMapOvr>
  <p:timing>
    <p:tnLst>
      <p:par>
        <p:cTn id="1" dur="indefinite" restart="never" nodeType="tmRoot"/>
      </p:par>
    </p:tnLst>
  </p:timing>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1505" y="1484784"/>
            <a:ext cx="8942299" cy="3312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7321332"/>
      </p:ext>
    </p:extLst>
  </p:cSld>
  <p:clrMapOvr>
    <a:masterClrMapping/>
  </p:clrMapOvr>
  <p:timing>
    <p:tnLst>
      <p:par>
        <p:cTn id="1" dur="indefinite" restart="never" nodeType="tmRoot"/>
      </p:par>
    </p:tnLst>
  </p:timing>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Dialógusok lefutása</a:t>
            </a:r>
            <a:endParaRPr lang="hu-HU" dirty="0"/>
          </a:p>
        </p:txBody>
      </p:sp>
      <p:sp>
        <p:nvSpPr>
          <p:cNvPr id="3" name="Tartalom helye 2"/>
          <p:cNvSpPr>
            <a:spLocks noGrp="1"/>
          </p:cNvSpPr>
          <p:nvPr>
            <p:ph idx="1"/>
          </p:nvPr>
        </p:nvSpPr>
        <p:spPr/>
        <p:txBody>
          <a:bodyPr/>
          <a:lstStyle/>
          <a:p>
            <a:r>
              <a:rPr lang="hu-HU" dirty="0" err="1" smtClean="0"/>
              <a:t>Állapotautomaták</a:t>
            </a:r>
            <a:r>
              <a:rPr lang="hu-HU" dirty="0" smtClean="0"/>
              <a:t> másik felhasználása</a:t>
            </a:r>
          </a:p>
          <a:p>
            <a:r>
              <a:rPr lang="hu-HU" dirty="0" smtClean="0"/>
              <a:t>Ekkor </a:t>
            </a:r>
            <a:r>
              <a:rPr lang="hu-HU" dirty="0" err="1" smtClean="0"/>
              <a:t>dialóguokat</a:t>
            </a:r>
            <a:r>
              <a:rPr lang="hu-HU" dirty="0" smtClean="0"/>
              <a:t> / menüket állapotként kell feltüntetni</a:t>
            </a:r>
            <a:endParaRPr lang="hu-HU" dirty="0"/>
          </a:p>
        </p:txBody>
      </p:sp>
    </p:spTree>
    <p:extLst>
      <p:ext uri="{BB962C8B-B14F-4D97-AF65-F5344CB8AC3E}">
        <p14:creationId xmlns:p14="http://schemas.microsoft.com/office/powerpoint/2010/main" val="2470148958"/>
      </p:ext>
    </p:extLst>
  </p:cSld>
  <p:clrMapOvr>
    <a:masterClrMapping/>
  </p:clrMapOvr>
  <p:timing>
    <p:tnLst>
      <p:par>
        <p:cTn id="1" dur="indefinite" restart="never" nodeType="tmRoot"/>
      </p:par>
    </p:tnLst>
  </p:timing>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9284" y="714408"/>
            <a:ext cx="9096684" cy="3744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88524584"/>
      </p:ext>
    </p:extLst>
  </p:cSld>
  <p:clrMapOvr>
    <a:masterClrMapping/>
  </p:clrMapOvr>
  <p:timing>
    <p:tnLst>
      <p:par>
        <p:cTn id="1" dur="indefinite" restart="never" nodeType="tmRoot"/>
      </p:par>
    </p:tnLst>
  </p:timing>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7529" y="44624"/>
            <a:ext cx="8390741" cy="6552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15888769"/>
      </p:ext>
    </p:extLst>
  </p:cSld>
  <p:clrMapOvr>
    <a:masterClrMapping/>
  </p:clrMapOvr>
  <p:timing>
    <p:tnLst>
      <p:par>
        <p:cTn id="1" dur="indefinite" restart="never" nodeType="tmRoot"/>
      </p:par>
    </p:tnLst>
  </p:timing>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Állapottáblázatok</a:t>
            </a:r>
            <a:endParaRPr lang="hu-HU" dirty="0"/>
          </a:p>
        </p:txBody>
      </p:sp>
      <p:graphicFrame>
        <p:nvGraphicFramePr>
          <p:cNvPr id="4" name="Tartalom helye 3"/>
          <p:cNvGraphicFramePr>
            <a:graphicFrameLocks noGrp="1"/>
          </p:cNvGraphicFramePr>
          <p:nvPr>
            <p:ph idx="1"/>
            <p:extLst/>
          </p:nvPr>
        </p:nvGraphicFramePr>
        <p:xfrm>
          <a:off x="2286000" y="685800"/>
          <a:ext cx="7543800" cy="3261360"/>
        </p:xfrm>
        <a:graphic>
          <a:graphicData uri="http://schemas.openxmlformats.org/drawingml/2006/table">
            <a:tbl>
              <a:tblPr firstRow="1" bandRow="1">
                <a:tableStyleId>{5C22544A-7EE6-4342-B048-85BDC9FD1C3A}</a:tableStyleId>
              </a:tblPr>
              <a:tblGrid>
                <a:gridCol w="569640">
                  <a:extLst>
                    <a:ext uri="{9D8B030D-6E8A-4147-A177-3AD203B41FA5}">
                      <a16:colId xmlns:a16="http://schemas.microsoft.com/office/drawing/2014/main" val="20000"/>
                    </a:ext>
                  </a:extLst>
                </a:gridCol>
                <a:gridCol w="1440160">
                  <a:extLst>
                    <a:ext uri="{9D8B030D-6E8A-4147-A177-3AD203B41FA5}">
                      <a16:colId xmlns:a16="http://schemas.microsoft.com/office/drawing/2014/main" val="20001"/>
                    </a:ext>
                  </a:extLst>
                </a:gridCol>
                <a:gridCol w="1296144">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1296144">
                  <a:extLst>
                    <a:ext uri="{9D8B030D-6E8A-4147-A177-3AD203B41FA5}">
                      <a16:colId xmlns:a16="http://schemas.microsoft.com/office/drawing/2014/main" val="20004"/>
                    </a:ext>
                  </a:extLst>
                </a:gridCol>
                <a:gridCol w="781472">
                  <a:extLst>
                    <a:ext uri="{9D8B030D-6E8A-4147-A177-3AD203B41FA5}">
                      <a16:colId xmlns:a16="http://schemas.microsoft.com/office/drawing/2014/main" val="20005"/>
                    </a:ext>
                  </a:extLst>
                </a:gridCol>
              </a:tblGrid>
              <a:tr h="370840">
                <a:tc gridSpan="6">
                  <a:txBody>
                    <a:bodyPr/>
                    <a:lstStyle/>
                    <a:p>
                      <a:r>
                        <a:rPr lang="hu-HU" dirty="0" smtClean="0"/>
                        <a:t>Átmenetek</a:t>
                      </a:r>
                      <a:endParaRPr lang="hu-HU" dirty="0"/>
                    </a:p>
                  </a:txBody>
                  <a:tcPr/>
                </a:tc>
                <a:tc hMerge="1">
                  <a:txBody>
                    <a:bodyPr/>
                    <a:lstStyle/>
                    <a:p>
                      <a:endParaRPr lang="hu-HU" dirty="0"/>
                    </a:p>
                  </a:txBody>
                  <a:tcPr/>
                </a:tc>
                <a:tc hMerge="1">
                  <a:txBody>
                    <a:bodyPr/>
                    <a:lstStyle/>
                    <a:p>
                      <a:endParaRPr lang="hu-HU" dirty="0"/>
                    </a:p>
                  </a:txBody>
                  <a:tcPr/>
                </a:tc>
                <a:tc hMerge="1">
                  <a:txBody>
                    <a:bodyPr/>
                    <a:lstStyle/>
                    <a:p>
                      <a:endParaRPr lang="hu-HU" dirty="0"/>
                    </a:p>
                  </a:txBody>
                  <a:tcPr/>
                </a:tc>
                <a:tc hMerge="1">
                  <a:txBody>
                    <a:bodyPr/>
                    <a:lstStyle/>
                    <a:p>
                      <a:endParaRPr lang="hu-HU" dirty="0"/>
                    </a:p>
                  </a:txBody>
                  <a:tcPr/>
                </a:tc>
                <a:tc hMerge="1">
                  <a:txBody>
                    <a:bodyPr/>
                    <a:lstStyle/>
                    <a:p>
                      <a:endParaRPr lang="hu-HU" dirty="0"/>
                    </a:p>
                  </a:txBody>
                  <a:tcPr/>
                </a:tc>
                <a:extLst>
                  <a:ext uri="{0D108BD9-81ED-4DB2-BD59-A6C34878D82A}">
                    <a16:rowId xmlns:a16="http://schemas.microsoft.com/office/drawing/2014/main" val="10000"/>
                  </a:ext>
                </a:extLst>
              </a:tr>
              <a:tr h="370840">
                <a:tc>
                  <a:txBody>
                    <a:bodyPr/>
                    <a:lstStyle/>
                    <a:p>
                      <a:r>
                        <a:rPr lang="hu-HU" dirty="0" smtClean="0"/>
                        <a:t>Név</a:t>
                      </a:r>
                      <a:endParaRPr lang="hu-HU" dirty="0"/>
                    </a:p>
                  </a:txBody>
                  <a:tcPr/>
                </a:tc>
                <a:tc>
                  <a:txBody>
                    <a:bodyPr/>
                    <a:lstStyle/>
                    <a:p>
                      <a:r>
                        <a:rPr lang="hu-HU" dirty="0" smtClean="0"/>
                        <a:t>Kiváltó</a:t>
                      </a:r>
                      <a:endParaRPr lang="hu-HU" dirty="0"/>
                    </a:p>
                  </a:txBody>
                  <a:tcPr/>
                </a:tc>
                <a:tc>
                  <a:txBody>
                    <a:bodyPr/>
                    <a:lstStyle/>
                    <a:p>
                      <a:r>
                        <a:rPr lang="hu-HU" dirty="0" err="1" smtClean="0"/>
                        <a:t>Előfelétel</a:t>
                      </a:r>
                      <a:endParaRPr lang="hu-HU" dirty="0"/>
                    </a:p>
                  </a:txBody>
                  <a:tcPr/>
                </a:tc>
                <a:tc>
                  <a:txBody>
                    <a:bodyPr/>
                    <a:lstStyle/>
                    <a:p>
                      <a:r>
                        <a:rPr lang="hu-HU" dirty="0" smtClean="0"/>
                        <a:t>Tevékenység</a:t>
                      </a:r>
                      <a:endParaRPr lang="hu-HU" dirty="0"/>
                    </a:p>
                  </a:txBody>
                  <a:tcPr/>
                </a:tc>
                <a:tc>
                  <a:txBody>
                    <a:bodyPr/>
                    <a:lstStyle/>
                    <a:p>
                      <a:r>
                        <a:rPr lang="hu-HU" dirty="0" smtClean="0"/>
                        <a:t>Utófeltétel</a:t>
                      </a:r>
                      <a:endParaRPr lang="hu-HU" dirty="0"/>
                    </a:p>
                  </a:txBody>
                  <a:tcPr/>
                </a:tc>
                <a:tc>
                  <a:txBody>
                    <a:bodyPr/>
                    <a:lstStyle/>
                    <a:p>
                      <a:r>
                        <a:rPr lang="hu-HU" dirty="0" smtClean="0"/>
                        <a:t>Megj.</a:t>
                      </a:r>
                      <a:endParaRPr lang="hu-HU" dirty="0"/>
                    </a:p>
                  </a:txBody>
                  <a:tcPr/>
                </a:tc>
                <a:extLst>
                  <a:ext uri="{0D108BD9-81ED-4DB2-BD59-A6C34878D82A}">
                    <a16:rowId xmlns:a16="http://schemas.microsoft.com/office/drawing/2014/main" val="10001"/>
                  </a:ext>
                </a:extLst>
              </a:tr>
              <a:tr h="370840">
                <a:tc>
                  <a:txBody>
                    <a:bodyPr/>
                    <a:lstStyle/>
                    <a:p>
                      <a:r>
                        <a:rPr lang="hu-HU" dirty="0" smtClean="0"/>
                        <a:t>1.</a:t>
                      </a:r>
                      <a:endParaRPr lang="hu-HU" dirty="0"/>
                    </a:p>
                  </a:txBody>
                  <a:tcPr/>
                </a:tc>
                <a:tc>
                  <a:txBody>
                    <a:bodyPr/>
                    <a:lstStyle/>
                    <a:p>
                      <a:r>
                        <a:rPr lang="hu-HU" dirty="0" smtClean="0"/>
                        <a:t>Lebonyolít()</a:t>
                      </a:r>
                      <a:endParaRPr lang="hu-HU" dirty="0"/>
                    </a:p>
                  </a:txBody>
                  <a:tcPr/>
                </a:tc>
                <a:tc>
                  <a:txBody>
                    <a:bodyPr/>
                    <a:lstStyle/>
                    <a:p>
                      <a:r>
                        <a:rPr lang="hu-HU" dirty="0" smtClean="0"/>
                        <a:t>-</a:t>
                      </a:r>
                      <a:endParaRPr lang="hu-HU" dirty="0"/>
                    </a:p>
                  </a:txBody>
                  <a:tcPr/>
                </a:tc>
                <a:tc>
                  <a:txBody>
                    <a:bodyPr/>
                    <a:lstStyle/>
                    <a:p>
                      <a:r>
                        <a:rPr lang="hu-HU" dirty="0" smtClean="0"/>
                        <a:t>-</a:t>
                      </a:r>
                      <a:endParaRPr lang="hu-HU" dirty="0"/>
                    </a:p>
                  </a:txBody>
                  <a:tcPr/>
                </a:tc>
                <a:tc>
                  <a:txBody>
                    <a:bodyPr/>
                    <a:lstStyle/>
                    <a:p>
                      <a:r>
                        <a:rPr lang="hu-HU" dirty="0" smtClean="0"/>
                        <a:t>-</a:t>
                      </a:r>
                      <a:endParaRPr lang="hu-HU" dirty="0"/>
                    </a:p>
                  </a:txBody>
                  <a:tcPr/>
                </a:tc>
                <a:tc>
                  <a:txBody>
                    <a:bodyPr/>
                    <a:lstStyle/>
                    <a:p>
                      <a:r>
                        <a:rPr lang="hu-HU" dirty="0" smtClean="0"/>
                        <a:t>-</a:t>
                      </a:r>
                      <a:endParaRPr lang="hu-HU" dirty="0"/>
                    </a:p>
                  </a:txBody>
                  <a:tcPr/>
                </a:tc>
                <a:extLst>
                  <a:ext uri="{0D108BD9-81ED-4DB2-BD59-A6C34878D82A}">
                    <a16:rowId xmlns:a16="http://schemas.microsoft.com/office/drawing/2014/main" val="10002"/>
                  </a:ext>
                </a:extLst>
              </a:tr>
              <a:tr h="370840">
                <a:tc>
                  <a:txBody>
                    <a:bodyPr/>
                    <a:lstStyle/>
                    <a:p>
                      <a:r>
                        <a:rPr lang="hu-HU" dirty="0" smtClean="0"/>
                        <a:t>2.</a:t>
                      </a:r>
                      <a:endParaRPr lang="hu-HU" dirty="0"/>
                    </a:p>
                  </a:txBody>
                  <a:tcPr/>
                </a:tc>
                <a:tc>
                  <a:txBody>
                    <a:bodyPr/>
                    <a:lstStyle/>
                    <a:p>
                      <a:r>
                        <a:rPr lang="hu-HU" dirty="0" smtClean="0"/>
                        <a:t>Fizet()</a:t>
                      </a:r>
                      <a:endParaRPr lang="hu-HU" dirty="0"/>
                    </a:p>
                  </a:txBody>
                  <a:tcPr/>
                </a:tc>
                <a:tc>
                  <a:txBody>
                    <a:bodyPr/>
                    <a:lstStyle/>
                    <a:p>
                      <a:r>
                        <a:rPr lang="hu-HU" dirty="0" smtClean="0"/>
                        <a:t>-</a:t>
                      </a:r>
                      <a:endParaRPr lang="hu-HU" dirty="0"/>
                    </a:p>
                  </a:txBody>
                  <a:tcPr/>
                </a:tc>
                <a:tc>
                  <a:txBody>
                    <a:bodyPr/>
                    <a:lstStyle/>
                    <a:p>
                      <a:r>
                        <a:rPr lang="hu-HU" dirty="0" smtClean="0"/>
                        <a:t>-</a:t>
                      </a:r>
                      <a:endParaRPr lang="hu-HU" dirty="0"/>
                    </a:p>
                  </a:txBody>
                  <a:tcPr/>
                </a:tc>
                <a:tc>
                  <a:txBody>
                    <a:bodyPr/>
                    <a:lstStyle/>
                    <a:p>
                      <a:r>
                        <a:rPr lang="hu-HU" dirty="0" smtClean="0"/>
                        <a:t>-</a:t>
                      </a:r>
                      <a:endParaRPr lang="hu-HU" dirty="0"/>
                    </a:p>
                  </a:txBody>
                  <a:tcPr/>
                </a:tc>
                <a:tc>
                  <a:txBody>
                    <a:bodyPr/>
                    <a:lstStyle/>
                    <a:p>
                      <a:r>
                        <a:rPr lang="hu-HU" dirty="0" smtClean="0"/>
                        <a:t>-</a:t>
                      </a:r>
                      <a:endParaRPr lang="hu-HU" dirty="0"/>
                    </a:p>
                  </a:txBody>
                  <a:tcPr/>
                </a:tc>
                <a:extLst>
                  <a:ext uri="{0D108BD9-81ED-4DB2-BD59-A6C34878D82A}">
                    <a16:rowId xmlns:a16="http://schemas.microsoft.com/office/drawing/2014/main" val="10003"/>
                  </a:ext>
                </a:extLst>
              </a:tr>
              <a:tr h="370840">
                <a:tc>
                  <a:txBody>
                    <a:bodyPr/>
                    <a:lstStyle/>
                    <a:p>
                      <a:r>
                        <a:rPr lang="hu-HU" dirty="0" smtClean="0"/>
                        <a:t>3.</a:t>
                      </a:r>
                      <a:endParaRPr lang="hu-HU" dirty="0"/>
                    </a:p>
                  </a:txBody>
                  <a:tcPr/>
                </a:tc>
                <a:tc>
                  <a:txBody>
                    <a:bodyPr/>
                    <a:lstStyle/>
                    <a:p>
                      <a:r>
                        <a:rPr lang="hu-HU" dirty="0" smtClean="0"/>
                        <a:t>Sztornóz()</a:t>
                      </a:r>
                      <a:endParaRPr lang="hu-HU" dirty="0"/>
                    </a:p>
                  </a:txBody>
                  <a:tcPr/>
                </a:tc>
                <a:tc>
                  <a:txBody>
                    <a:bodyPr/>
                    <a:lstStyle/>
                    <a:p>
                      <a:r>
                        <a:rPr lang="hu-HU" dirty="0" smtClean="0"/>
                        <a:t>-</a:t>
                      </a:r>
                      <a:endParaRPr lang="hu-HU" dirty="0"/>
                    </a:p>
                  </a:txBody>
                  <a:tcPr/>
                </a:tc>
                <a:tc>
                  <a:txBody>
                    <a:bodyPr/>
                    <a:lstStyle/>
                    <a:p>
                      <a:r>
                        <a:rPr lang="hu-HU" dirty="0" smtClean="0"/>
                        <a:t>-</a:t>
                      </a:r>
                      <a:endParaRPr lang="hu-HU" dirty="0"/>
                    </a:p>
                  </a:txBody>
                  <a:tcPr/>
                </a:tc>
                <a:tc>
                  <a:txBody>
                    <a:bodyPr/>
                    <a:lstStyle/>
                    <a:p>
                      <a:r>
                        <a:rPr lang="hu-HU" dirty="0" smtClean="0"/>
                        <a:t>-</a:t>
                      </a:r>
                      <a:endParaRPr lang="hu-HU" dirty="0"/>
                    </a:p>
                  </a:txBody>
                  <a:tcPr/>
                </a:tc>
                <a:tc>
                  <a:txBody>
                    <a:bodyPr/>
                    <a:lstStyle/>
                    <a:p>
                      <a:r>
                        <a:rPr lang="hu-HU" dirty="0" smtClean="0"/>
                        <a:t>-</a:t>
                      </a:r>
                      <a:endParaRPr lang="hu-HU" dirty="0"/>
                    </a:p>
                  </a:txBody>
                  <a:tcPr/>
                </a:tc>
                <a:extLst>
                  <a:ext uri="{0D108BD9-81ED-4DB2-BD59-A6C34878D82A}">
                    <a16:rowId xmlns:a16="http://schemas.microsoft.com/office/drawing/2014/main" val="10004"/>
                  </a:ext>
                </a:extLst>
              </a:tr>
              <a:tr h="370840">
                <a:tc>
                  <a:txBody>
                    <a:bodyPr/>
                    <a:lstStyle/>
                    <a:p>
                      <a:r>
                        <a:rPr lang="hu-HU" dirty="0" smtClean="0"/>
                        <a:t>4.</a:t>
                      </a:r>
                      <a:endParaRPr lang="hu-HU" dirty="0"/>
                    </a:p>
                  </a:txBody>
                  <a:tcPr/>
                </a:tc>
                <a:tc>
                  <a:txBody>
                    <a:bodyPr/>
                    <a:lstStyle/>
                    <a:p>
                      <a:r>
                        <a:rPr lang="hu-HU" dirty="0" smtClean="0"/>
                        <a:t>Átfoglal()</a:t>
                      </a:r>
                      <a:endParaRPr lang="hu-HU" dirty="0"/>
                    </a:p>
                  </a:txBody>
                  <a:tcPr/>
                </a:tc>
                <a:tc>
                  <a:txBody>
                    <a:bodyPr/>
                    <a:lstStyle/>
                    <a:p>
                      <a:r>
                        <a:rPr lang="hu-HU" sz="1000" dirty="0" smtClean="0"/>
                        <a:t>Jegytípus&lt;&gt;fapados</a:t>
                      </a:r>
                      <a:endParaRPr lang="hu-HU" sz="1000" dirty="0"/>
                    </a:p>
                  </a:txBody>
                  <a:tcPr/>
                </a:tc>
                <a:tc>
                  <a:txBody>
                    <a:bodyPr/>
                    <a:lstStyle/>
                    <a:p>
                      <a:r>
                        <a:rPr lang="hu-HU" dirty="0" smtClean="0"/>
                        <a:t>-</a:t>
                      </a:r>
                      <a:endParaRPr lang="hu-HU" dirty="0"/>
                    </a:p>
                  </a:txBody>
                  <a:tcPr/>
                </a:tc>
                <a:tc>
                  <a:txBody>
                    <a:bodyPr/>
                    <a:lstStyle/>
                    <a:p>
                      <a:r>
                        <a:rPr lang="hu-HU" dirty="0" smtClean="0"/>
                        <a:t>-</a:t>
                      </a:r>
                      <a:endParaRPr lang="hu-HU" dirty="0"/>
                    </a:p>
                  </a:txBody>
                  <a:tcPr/>
                </a:tc>
                <a:tc>
                  <a:txBody>
                    <a:bodyPr/>
                    <a:lstStyle/>
                    <a:p>
                      <a:r>
                        <a:rPr lang="hu-HU" dirty="0" smtClean="0"/>
                        <a:t>-</a:t>
                      </a:r>
                      <a:endParaRPr lang="hu-HU" dirty="0"/>
                    </a:p>
                  </a:txBody>
                  <a:tcPr/>
                </a:tc>
                <a:extLst>
                  <a:ext uri="{0D108BD9-81ED-4DB2-BD59-A6C34878D82A}">
                    <a16:rowId xmlns:a16="http://schemas.microsoft.com/office/drawing/2014/main" val="10005"/>
                  </a:ext>
                </a:extLst>
              </a:tr>
              <a:tr h="370840">
                <a:tc>
                  <a:txBody>
                    <a:bodyPr/>
                    <a:lstStyle/>
                    <a:p>
                      <a:r>
                        <a:rPr lang="hu-HU" dirty="0" smtClean="0"/>
                        <a:t>5.</a:t>
                      </a:r>
                      <a:endParaRPr lang="hu-HU" dirty="0"/>
                    </a:p>
                  </a:txBody>
                  <a:tcPr/>
                </a:tc>
                <a:tc>
                  <a:txBody>
                    <a:bodyPr/>
                    <a:lstStyle/>
                    <a:p>
                      <a:r>
                        <a:rPr lang="hu-HU" dirty="0" smtClean="0"/>
                        <a:t>Lebonyolít()</a:t>
                      </a:r>
                      <a:endParaRPr lang="hu-HU" dirty="0"/>
                    </a:p>
                  </a:txBody>
                  <a:tcPr/>
                </a:tc>
                <a:tc>
                  <a:txBody>
                    <a:bodyPr/>
                    <a:lstStyle/>
                    <a:p>
                      <a:r>
                        <a:rPr lang="hu-HU" dirty="0" smtClean="0"/>
                        <a:t>-</a:t>
                      </a:r>
                      <a:endParaRPr lang="hu-HU" dirty="0"/>
                    </a:p>
                  </a:txBody>
                  <a:tcPr/>
                </a:tc>
                <a:tc>
                  <a:txBody>
                    <a:bodyPr/>
                    <a:lstStyle/>
                    <a:p>
                      <a:r>
                        <a:rPr lang="hu-HU" sz="1000" dirty="0" err="1" smtClean="0"/>
                        <a:t>Utas.kilométerek</a:t>
                      </a:r>
                      <a:r>
                        <a:rPr lang="hu-HU" sz="1000" dirty="0" smtClean="0"/>
                        <a:t>_</a:t>
                      </a:r>
                      <a:r>
                        <a:rPr lang="hu-HU" sz="1000" dirty="0" err="1" smtClean="0"/>
                        <a:t>jóváítása</a:t>
                      </a:r>
                      <a:r>
                        <a:rPr lang="hu-HU" sz="1000" dirty="0" smtClean="0"/>
                        <a:t>(</a:t>
                      </a:r>
                      <a:r>
                        <a:rPr lang="hu-HU" sz="1000" dirty="0" err="1" smtClean="0"/>
                        <a:t>járat.táv</a:t>
                      </a:r>
                      <a:r>
                        <a:rPr lang="hu-HU" sz="1000" dirty="0" smtClean="0"/>
                        <a:t>)</a:t>
                      </a:r>
                      <a:endParaRPr lang="hu-HU" sz="1000" dirty="0"/>
                    </a:p>
                  </a:txBody>
                  <a:tcPr/>
                </a:tc>
                <a:tc>
                  <a:txBody>
                    <a:bodyPr/>
                    <a:lstStyle/>
                    <a:p>
                      <a:r>
                        <a:rPr lang="hu-HU" dirty="0" smtClean="0"/>
                        <a:t>-</a:t>
                      </a:r>
                      <a:endParaRPr lang="hu-HU" dirty="0"/>
                    </a:p>
                  </a:txBody>
                  <a:tcPr/>
                </a:tc>
                <a:tc>
                  <a:txBody>
                    <a:bodyPr/>
                    <a:lstStyle/>
                    <a:p>
                      <a:r>
                        <a:rPr lang="hu-HU" dirty="0" smtClean="0"/>
                        <a:t>-</a:t>
                      </a:r>
                      <a:endParaRPr lang="hu-HU" dirty="0"/>
                    </a:p>
                  </a:txBody>
                  <a:tcPr/>
                </a:tc>
                <a:extLst>
                  <a:ext uri="{0D108BD9-81ED-4DB2-BD59-A6C34878D82A}">
                    <a16:rowId xmlns:a16="http://schemas.microsoft.com/office/drawing/2014/main" val="10006"/>
                  </a:ext>
                </a:extLst>
              </a:tr>
              <a:tr h="370840">
                <a:tc>
                  <a:txBody>
                    <a:bodyPr/>
                    <a:lstStyle/>
                    <a:p>
                      <a:r>
                        <a:rPr lang="hu-HU" dirty="0" smtClean="0"/>
                        <a:t>6.</a:t>
                      </a:r>
                      <a:endParaRPr lang="hu-HU" dirty="0"/>
                    </a:p>
                  </a:txBody>
                  <a:tcPr/>
                </a:tc>
                <a:tc>
                  <a:txBody>
                    <a:bodyPr/>
                    <a:lstStyle/>
                    <a:p>
                      <a:endParaRPr lang="hu-HU"/>
                    </a:p>
                  </a:txBody>
                  <a:tcPr/>
                </a:tc>
                <a:tc>
                  <a:txBody>
                    <a:bodyPr/>
                    <a:lstStyle/>
                    <a:p>
                      <a:r>
                        <a:rPr lang="hu-HU" dirty="0" smtClean="0"/>
                        <a:t>-</a:t>
                      </a:r>
                      <a:endParaRPr lang="hu-HU" dirty="0"/>
                    </a:p>
                  </a:txBody>
                  <a:tcPr/>
                </a:tc>
                <a:tc>
                  <a:txBody>
                    <a:bodyPr/>
                    <a:lstStyle/>
                    <a:p>
                      <a:r>
                        <a:rPr lang="hu-HU" dirty="0" smtClean="0"/>
                        <a:t>-</a:t>
                      </a:r>
                      <a:endParaRPr lang="hu-HU" dirty="0"/>
                    </a:p>
                  </a:txBody>
                  <a:tcPr/>
                </a:tc>
                <a:tc>
                  <a:txBody>
                    <a:bodyPr/>
                    <a:lstStyle/>
                    <a:p>
                      <a:r>
                        <a:rPr lang="hu-HU" dirty="0" smtClean="0"/>
                        <a:t>-</a:t>
                      </a:r>
                      <a:endParaRPr lang="hu-HU" dirty="0"/>
                    </a:p>
                  </a:txBody>
                  <a:tcPr/>
                </a:tc>
                <a:tc>
                  <a:txBody>
                    <a:bodyPr/>
                    <a:lstStyle/>
                    <a:p>
                      <a:r>
                        <a:rPr lang="hu-HU" dirty="0" smtClean="0"/>
                        <a:t>-</a:t>
                      </a:r>
                      <a:endParaRPr lang="hu-HU" dirty="0"/>
                    </a:p>
                  </a:txBody>
                  <a:tcPr/>
                </a:tc>
                <a:extLst>
                  <a:ext uri="{0D108BD9-81ED-4DB2-BD59-A6C34878D82A}">
                    <a16:rowId xmlns:a16="http://schemas.microsoft.com/office/drawing/2014/main" val="10007"/>
                  </a:ext>
                </a:extLst>
              </a:tr>
            </a:tbl>
          </a:graphicData>
        </a:graphic>
      </p:graphicFrame>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3952" y="3717033"/>
            <a:ext cx="4752528" cy="1669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91861080"/>
      </p:ext>
    </p:extLst>
  </p:cSld>
  <p:clrMapOvr>
    <a:masterClrMapping/>
  </p:clrMapOvr>
  <p:timing>
    <p:tnLst>
      <p:par>
        <p:cTn id="1" dur="indefinite" restart="never" nodeType="tmRoot"/>
      </p:par>
    </p:tnLst>
  </p:timing>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Állapottáblázatok</a:t>
            </a:r>
            <a:endParaRPr lang="hu-HU" dirty="0"/>
          </a:p>
        </p:txBody>
      </p:sp>
      <p:graphicFrame>
        <p:nvGraphicFramePr>
          <p:cNvPr id="4" name="Tartalom helye 3"/>
          <p:cNvGraphicFramePr>
            <a:graphicFrameLocks noGrp="1"/>
          </p:cNvGraphicFramePr>
          <p:nvPr>
            <p:ph idx="1"/>
            <p:extLst/>
          </p:nvPr>
        </p:nvGraphicFramePr>
        <p:xfrm>
          <a:off x="2286000" y="685800"/>
          <a:ext cx="7543800" cy="4211320"/>
        </p:xfrm>
        <a:graphic>
          <a:graphicData uri="http://schemas.openxmlformats.org/drawingml/2006/table">
            <a:tbl>
              <a:tblPr firstRow="1" bandRow="1">
                <a:tableStyleId>{5C22544A-7EE6-4342-B048-85BDC9FD1C3A}</a:tableStyleId>
              </a:tblPr>
              <a:tblGrid>
                <a:gridCol w="1433736">
                  <a:extLst>
                    <a:ext uri="{9D8B030D-6E8A-4147-A177-3AD203B41FA5}">
                      <a16:colId xmlns:a16="http://schemas.microsoft.com/office/drawing/2014/main" val="20000"/>
                    </a:ext>
                  </a:extLst>
                </a:gridCol>
                <a:gridCol w="1080864">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296144">
                  <a:extLst>
                    <a:ext uri="{9D8B030D-6E8A-4147-A177-3AD203B41FA5}">
                      <a16:colId xmlns:a16="http://schemas.microsoft.com/office/drawing/2014/main" val="20003"/>
                    </a:ext>
                  </a:extLst>
                </a:gridCol>
                <a:gridCol w="1440160">
                  <a:extLst>
                    <a:ext uri="{9D8B030D-6E8A-4147-A177-3AD203B41FA5}">
                      <a16:colId xmlns:a16="http://schemas.microsoft.com/office/drawing/2014/main" val="20004"/>
                    </a:ext>
                  </a:extLst>
                </a:gridCol>
                <a:gridCol w="997496">
                  <a:extLst>
                    <a:ext uri="{9D8B030D-6E8A-4147-A177-3AD203B41FA5}">
                      <a16:colId xmlns:a16="http://schemas.microsoft.com/office/drawing/2014/main" val="20005"/>
                    </a:ext>
                  </a:extLst>
                </a:gridCol>
              </a:tblGrid>
              <a:tr h="370840">
                <a:tc gridSpan="6">
                  <a:txBody>
                    <a:bodyPr/>
                    <a:lstStyle/>
                    <a:p>
                      <a:r>
                        <a:rPr lang="hu-HU" dirty="0" smtClean="0"/>
                        <a:t>Állapotok</a:t>
                      </a:r>
                      <a:endParaRPr lang="hu-HU" dirty="0"/>
                    </a:p>
                  </a:txBody>
                  <a:tcPr/>
                </a:tc>
                <a:tc hMerge="1">
                  <a:txBody>
                    <a:bodyPr/>
                    <a:lstStyle/>
                    <a:p>
                      <a:endParaRPr lang="hu-HU" dirty="0"/>
                    </a:p>
                  </a:txBody>
                  <a:tcPr/>
                </a:tc>
                <a:tc hMerge="1">
                  <a:txBody>
                    <a:bodyPr/>
                    <a:lstStyle/>
                    <a:p>
                      <a:endParaRPr lang="hu-HU" dirty="0"/>
                    </a:p>
                  </a:txBody>
                  <a:tcPr/>
                </a:tc>
                <a:tc hMerge="1">
                  <a:txBody>
                    <a:bodyPr/>
                    <a:lstStyle/>
                    <a:p>
                      <a:endParaRPr lang="hu-HU" dirty="0"/>
                    </a:p>
                  </a:txBody>
                  <a:tcPr/>
                </a:tc>
                <a:tc hMerge="1">
                  <a:txBody>
                    <a:bodyPr/>
                    <a:lstStyle/>
                    <a:p>
                      <a:endParaRPr lang="hu-HU" dirty="0"/>
                    </a:p>
                  </a:txBody>
                  <a:tcPr/>
                </a:tc>
                <a:tc hMerge="1">
                  <a:txBody>
                    <a:bodyPr/>
                    <a:lstStyle/>
                    <a:p>
                      <a:endParaRPr lang="hu-HU" dirty="0"/>
                    </a:p>
                  </a:txBody>
                  <a:tcPr/>
                </a:tc>
                <a:extLst>
                  <a:ext uri="{0D108BD9-81ED-4DB2-BD59-A6C34878D82A}">
                    <a16:rowId xmlns:a16="http://schemas.microsoft.com/office/drawing/2014/main" val="10000"/>
                  </a:ext>
                </a:extLst>
              </a:tr>
              <a:tr h="370840">
                <a:tc>
                  <a:txBody>
                    <a:bodyPr/>
                    <a:lstStyle/>
                    <a:p>
                      <a:r>
                        <a:rPr lang="hu-HU" dirty="0" smtClean="0"/>
                        <a:t>Név</a:t>
                      </a:r>
                      <a:endParaRPr lang="hu-HU" dirty="0"/>
                    </a:p>
                  </a:txBody>
                  <a:tcPr/>
                </a:tc>
                <a:tc>
                  <a:txBody>
                    <a:bodyPr/>
                    <a:lstStyle/>
                    <a:p>
                      <a:r>
                        <a:rPr lang="hu-HU" dirty="0" smtClean="0"/>
                        <a:t>Típus</a:t>
                      </a:r>
                      <a:endParaRPr lang="hu-HU" dirty="0"/>
                    </a:p>
                  </a:txBody>
                  <a:tcPr/>
                </a:tc>
                <a:tc>
                  <a:txBody>
                    <a:bodyPr/>
                    <a:lstStyle/>
                    <a:p>
                      <a:r>
                        <a:rPr lang="hu-HU" dirty="0" err="1" smtClean="0"/>
                        <a:t>Alállapotok</a:t>
                      </a:r>
                      <a:endParaRPr lang="hu-HU" dirty="0"/>
                    </a:p>
                  </a:txBody>
                  <a:tcPr/>
                </a:tc>
                <a:tc>
                  <a:txBody>
                    <a:bodyPr/>
                    <a:lstStyle/>
                    <a:p>
                      <a:r>
                        <a:rPr lang="hu-HU" dirty="0" smtClean="0"/>
                        <a:t>Invariánsok</a:t>
                      </a:r>
                      <a:endParaRPr lang="hu-HU" dirty="0"/>
                    </a:p>
                  </a:txBody>
                  <a:tcPr/>
                </a:tc>
                <a:tc>
                  <a:txBody>
                    <a:bodyPr/>
                    <a:lstStyle/>
                    <a:p>
                      <a:r>
                        <a:rPr lang="hu-HU" dirty="0" smtClean="0"/>
                        <a:t>Tevékenység</a:t>
                      </a:r>
                      <a:endParaRPr lang="hu-HU" dirty="0"/>
                    </a:p>
                  </a:txBody>
                  <a:tcPr/>
                </a:tc>
                <a:tc>
                  <a:txBody>
                    <a:bodyPr/>
                    <a:lstStyle/>
                    <a:p>
                      <a:r>
                        <a:rPr lang="hu-HU" dirty="0" smtClean="0"/>
                        <a:t>Megj.</a:t>
                      </a:r>
                      <a:endParaRPr lang="hu-HU" dirty="0"/>
                    </a:p>
                  </a:txBody>
                  <a:tcPr/>
                </a:tc>
                <a:extLst>
                  <a:ext uri="{0D108BD9-81ED-4DB2-BD59-A6C34878D82A}">
                    <a16:rowId xmlns:a16="http://schemas.microsoft.com/office/drawing/2014/main" val="10001"/>
                  </a:ext>
                </a:extLst>
              </a:tr>
              <a:tr h="370840">
                <a:tc>
                  <a:txBody>
                    <a:bodyPr/>
                    <a:lstStyle/>
                    <a:p>
                      <a:r>
                        <a:rPr lang="hu-HU" dirty="0" smtClean="0"/>
                        <a:t>Indulóállapot</a:t>
                      </a:r>
                      <a:endParaRPr lang="hu-HU" dirty="0"/>
                    </a:p>
                  </a:txBody>
                  <a:tcPr/>
                </a:tc>
                <a:tc>
                  <a:txBody>
                    <a:bodyPr/>
                    <a:lstStyle/>
                    <a:p>
                      <a:r>
                        <a:rPr lang="hu-HU" dirty="0" smtClean="0"/>
                        <a:t>Belépési szint</a:t>
                      </a:r>
                      <a:endParaRPr lang="hu-HU" dirty="0"/>
                    </a:p>
                  </a:txBody>
                  <a:tcPr/>
                </a:tc>
                <a:tc>
                  <a:txBody>
                    <a:bodyPr/>
                    <a:lstStyle/>
                    <a:p>
                      <a:r>
                        <a:rPr lang="hu-HU" dirty="0" smtClean="0"/>
                        <a:t>-</a:t>
                      </a:r>
                      <a:endParaRPr lang="hu-HU" dirty="0"/>
                    </a:p>
                  </a:txBody>
                  <a:tcPr/>
                </a:tc>
                <a:tc>
                  <a:txBody>
                    <a:bodyPr/>
                    <a:lstStyle/>
                    <a:p>
                      <a:r>
                        <a:rPr lang="hu-HU" dirty="0" smtClean="0"/>
                        <a:t>-</a:t>
                      </a:r>
                      <a:endParaRPr lang="hu-HU" dirty="0"/>
                    </a:p>
                  </a:txBody>
                  <a:tcPr/>
                </a:tc>
                <a:tc>
                  <a:txBody>
                    <a:bodyPr/>
                    <a:lstStyle/>
                    <a:p>
                      <a:r>
                        <a:rPr lang="hu-HU" dirty="0" smtClean="0"/>
                        <a:t>-</a:t>
                      </a:r>
                      <a:endParaRPr lang="hu-HU" dirty="0"/>
                    </a:p>
                  </a:txBody>
                  <a:tcPr/>
                </a:tc>
                <a:tc>
                  <a:txBody>
                    <a:bodyPr/>
                    <a:lstStyle/>
                    <a:p>
                      <a:r>
                        <a:rPr lang="hu-HU" dirty="0" smtClean="0"/>
                        <a:t>-</a:t>
                      </a:r>
                      <a:endParaRPr lang="hu-HU" dirty="0"/>
                    </a:p>
                  </a:txBody>
                  <a:tcPr/>
                </a:tc>
                <a:extLst>
                  <a:ext uri="{0D108BD9-81ED-4DB2-BD59-A6C34878D82A}">
                    <a16:rowId xmlns:a16="http://schemas.microsoft.com/office/drawing/2014/main" val="10002"/>
                  </a:ext>
                </a:extLst>
              </a:tr>
              <a:tr h="370840">
                <a:tc>
                  <a:txBody>
                    <a:bodyPr/>
                    <a:lstStyle/>
                    <a:p>
                      <a:r>
                        <a:rPr lang="hu-HU" dirty="0" smtClean="0"/>
                        <a:t>Fenntartott</a:t>
                      </a:r>
                      <a:endParaRPr lang="hu-HU" dirty="0"/>
                    </a:p>
                  </a:txBody>
                  <a:tcPr/>
                </a:tc>
                <a:tc>
                  <a:txBody>
                    <a:bodyPr/>
                    <a:lstStyle/>
                    <a:p>
                      <a:r>
                        <a:rPr lang="hu-HU" dirty="0" smtClean="0"/>
                        <a:t>Egyszerű áll.</a:t>
                      </a:r>
                      <a:endParaRPr lang="hu-HU" dirty="0"/>
                    </a:p>
                  </a:txBody>
                  <a:tcPr/>
                </a:tc>
                <a:tc>
                  <a:txBody>
                    <a:bodyPr/>
                    <a:lstStyle/>
                    <a:p>
                      <a:r>
                        <a:rPr lang="hu-HU" dirty="0" smtClean="0"/>
                        <a:t>-</a:t>
                      </a:r>
                      <a:endParaRPr lang="hu-HU" dirty="0"/>
                    </a:p>
                  </a:txBody>
                  <a:tcPr/>
                </a:tc>
                <a:tc>
                  <a:txBody>
                    <a:bodyPr/>
                    <a:lstStyle/>
                    <a:p>
                      <a:r>
                        <a:rPr lang="hu-HU" dirty="0" smtClean="0"/>
                        <a:t>-</a:t>
                      </a:r>
                      <a:endParaRPr lang="hu-HU" dirty="0"/>
                    </a:p>
                  </a:txBody>
                  <a:tcPr/>
                </a:tc>
                <a:tc>
                  <a:txBody>
                    <a:bodyPr/>
                    <a:lstStyle/>
                    <a:p>
                      <a:r>
                        <a:rPr lang="hu-HU" dirty="0" smtClean="0"/>
                        <a:t>-</a:t>
                      </a:r>
                      <a:endParaRPr lang="hu-HU" dirty="0"/>
                    </a:p>
                  </a:txBody>
                  <a:tcPr/>
                </a:tc>
                <a:tc>
                  <a:txBody>
                    <a:bodyPr/>
                    <a:lstStyle/>
                    <a:p>
                      <a:r>
                        <a:rPr lang="hu-HU" dirty="0" smtClean="0"/>
                        <a:t>-</a:t>
                      </a:r>
                      <a:endParaRPr lang="hu-HU" dirty="0"/>
                    </a:p>
                  </a:txBody>
                  <a:tcPr/>
                </a:tc>
                <a:extLst>
                  <a:ext uri="{0D108BD9-81ED-4DB2-BD59-A6C34878D82A}">
                    <a16:rowId xmlns:a16="http://schemas.microsoft.com/office/drawing/2014/main" val="10003"/>
                  </a:ext>
                </a:extLst>
              </a:tr>
              <a:tr h="370840">
                <a:tc>
                  <a:txBody>
                    <a:bodyPr/>
                    <a:lstStyle/>
                    <a:p>
                      <a:r>
                        <a:rPr lang="hu-HU" dirty="0" smtClean="0"/>
                        <a:t>Befoglalt</a:t>
                      </a:r>
                      <a:endParaRPr lang="hu-H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hu-HU" dirty="0" smtClean="0"/>
                        <a:t>Egyszerű áll.</a:t>
                      </a:r>
                    </a:p>
                  </a:txBody>
                  <a:tcPr/>
                </a:tc>
                <a:tc>
                  <a:txBody>
                    <a:bodyPr/>
                    <a:lstStyle/>
                    <a:p>
                      <a:r>
                        <a:rPr lang="hu-HU" dirty="0" smtClean="0"/>
                        <a:t>-</a:t>
                      </a:r>
                      <a:endParaRPr lang="hu-HU" dirty="0"/>
                    </a:p>
                  </a:txBody>
                  <a:tcPr/>
                </a:tc>
                <a:tc>
                  <a:txBody>
                    <a:bodyPr/>
                    <a:lstStyle/>
                    <a:p>
                      <a:r>
                        <a:rPr lang="hu-HU" dirty="0" smtClean="0"/>
                        <a:t>-</a:t>
                      </a:r>
                      <a:endParaRPr lang="hu-HU" dirty="0"/>
                    </a:p>
                  </a:txBody>
                  <a:tcPr/>
                </a:tc>
                <a:tc>
                  <a:txBody>
                    <a:bodyPr/>
                    <a:lstStyle/>
                    <a:p>
                      <a:r>
                        <a:rPr lang="hu-HU" dirty="0" smtClean="0"/>
                        <a:t>-</a:t>
                      </a:r>
                      <a:endParaRPr lang="hu-HU" dirty="0"/>
                    </a:p>
                  </a:txBody>
                  <a:tcPr/>
                </a:tc>
                <a:tc>
                  <a:txBody>
                    <a:bodyPr/>
                    <a:lstStyle/>
                    <a:p>
                      <a:r>
                        <a:rPr lang="hu-HU" dirty="0" smtClean="0"/>
                        <a:t>-</a:t>
                      </a:r>
                      <a:endParaRPr lang="hu-HU" dirty="0"/>
                    </a:p>
                  </a:txBody>
                  <a:tcPr/>
                </a:tc>
                <a:extLst>
                  <a:ext uri="{0D108BD9-81ED-4DB2-BD59-A6C34878D82A}">
                    <a16:rowId xmlns:a16="http://schemas.microsoft.com/office/drawing/2014/main" val="10004"/>
                  </a:ext>
                </a:extLst>
              </a:tr>
              <a:tr h="370840">
                <a:tc>
                  <a:txBody>
                    <a:bodyPr/>
                    <a:lstStyle/>
                    <a:p>
                      <a:r>
                        <a:rPr lang="hu-HU" dirty="0" smtClean="0"/>
                        <a:t>Bekövetkezett</a:t>
                      </a:r>
                      <a:endParaRPr lang="hu-HU"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hu-HU" dirty="0" smtClean="0"/>
                        <a:t>Egyszerű áll.</a:t>
                      </a:r>
                    </a:p>
                  </a:txBody>
                  <a:tcPr/>
                </a:tc>
                <a:tc>
                  <a:txBody>
                    <a:bodyPr/>
                    <a:lstStyle/>
                    <a:p>
                      <a:r>
                        <a:rPr lang="hu-HU" dirty="0" smtClean="0"/>
                        <a:t>-</a:t>
                      </a:r>
                      <a:endParaRPr lang="hu-HU" dirty="0"/>
                    </a:p>
                  </a:txBody>
                  <a:tcPr/>
                </a:tc>
                <a:tc>
                  <a:txBody>
                    <a:bodyPr/>
                    <a:lstStyle/>
                    <a:p>
                      <a:r>
                        <a:rPr lang="hu-HU" dirty="0" smtClean="0"/>
                        <a:t>-</a:t>
                      </a:r>
                      <a:endParaRPr lang="hu-HU" dirty="0"/>
                    </a:p>
                  </a:txBody>
                  <a:tcPr/>
                </a:tc>
                <a:tc>
                  <a:txBody>
                    <a:bodyPr/>
                    <a:lstStyle/>
                    <a:p>
                      <a:r>
                        <a:rPr lang="hu-HU" dirty="0" smtClean="0"/>
                        <a:t>-</a:t>
                      </a:r>
                      <a:endParaRPr lang="hu-HU" dirty="0"/>
                    </a:p>
                  </a:txBody>
                  <a:tcPr/>
                </a:tc>
                <a:tc>
                  <a:txBody>
                    <a:bodyPr/>
                    <a:lstStyle/>
                    <a:p>
                      <a:r>
                        <a:rPr lang="hu-HU" dirty="0" smtClean="0"/>
                        <a:t>-</a:t>
                      </a:r>
                      <a:endParaRPr lang="hu-HU" dirty="0"/>
                    </a:p>
                  </a:txBody>
                  <a:tcPr/>
                </a:tc>
                <a:extLst>
                  <a:ext uri="{0D108BD9-81ED-4DB2-BD59-A6C34878D82A}">
                    <a16:rowId xmlns:a16="http://schemas.microsoft.com/office/drawing/2014/main" val="10005"/>
                  </a:ext>
                </a:extLst>
              </a:tr>
              <a:tr h="370840">
                <a:tc>
                  <a:txBody>
                    <a:bodyPr/>
                    <a:lstStyle/>
                    <a:p>
                      <a:r>
                        <a:rPr lang="hu-HU" dirty="0" smtClean="0"/>
                        <a:t>Végállapot</a:t>
                      </a:r>
                    </a:p>
                  </a:txBody>
                  <a:tcPr/>
                </a:tc>
                <a:tc>
                  <a:txBody>
                    <a:bodyPr/>
                    <a:lstStyle/>
                    <a:p>
                      <a:r>
                        <a:rPr lang="hu-HU" dirty="0" smtClean="0"/>
                        <a:t>Kilépési szint</a:t>
                      </a:r>
                      <a:endParaRPr lang="hu-HU" dirty="0"/>
                    </a:p>
                  </a:txBody>
                  <a:tcPr/>
                </a:tc>
                <a:tc>
                  <a:txBody>
                    <a:bodyPr/>
                    <a:lstStyle/>
                    <a:p>
                      <a:r>
                        <a:rPr lang="hu-HU" dirty="0" smtClean="0"/>
                        <a:t>-</a:t>
                      </a:r>
                      <a:endParaRPr lang="hu-HU" dirty="0"/>
                    </a:p>
                  </a:txBody>
                  <a:tcPr/>
                </a:tc>
                <a:tc>
                  <a:txBody>
                    <a:bodyPr/>
                    <a:lstStyle/>
                    <a:p>
                      <a:r>
                        <a:rPr lang="hu-HU" dirty="0" smtClean="0"/>
                        <a:t>-</a:t>
                      </a:r>
                      <a:endParaRPr lang="hu-HU" dirty="0"/>
                    </a:p>
                  </a:txBody>
                  <a:tcPr/>
                </a:tc>
                <a:tc>
                  <a:txBody>
                    <a:bodyPr/>
                    <a:lstStyle/>
                    <a:p>
                      <a:r>
                        <a:rPr lang="hu-HU" dirty="0" smtClean="0"/>
                        <a:t>-</a:t>
                      </a:r>
                      <a:endParaRPr lang="hu-HU" dirty="0"/>
                    </a:p>
                  </a:txBody>
                  <a:tcPr/>
                </a:tc>
                <a:tc>
                  <a:txBody>
                    <a:bodyPr/>
                    <a:lstStyle/>
                    <a:p>
                      <a:r>
                        <a:rPr lang="hu-HU" dirty="0" smtClean="0"/>
                        <a:t>-</a:t>
                      </a:r>
                      <a:endParaRPr lang="hu-HU" dirty="0"/>
                    </a:p>
                  </a:txBody>
                  <a:tcPr/>
                </a:tc>
                <a:extLst>
                  <a:ext uri="{0D108BD9-81ED-4DB2-BD59-A6C34878D82A}">
                    <a16:rowId xmlns:a16="http://schemas.microsoft.com/office/drawing/2014/main" val="10006"/>
                  </a:ext>
                </a:extLst>
              </a:tr>
            </a:tbl>
          </a:graphicData>
        </a:graphic>
      </p:graphicFrame>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4494" y="4869160"/>
            <a:ext cx="3453507" cy="1213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3587447"/>
      </p:ext>
    </p:extLst>
  </p:cSld>
  <p:clrMapOvr>
    <a:masterClrMapping/>
  </p:clrMapOvr>
  <p:timing>
    <p:tnLst>
      <p:par>
        <p:cTn id="1" dur="indefinite" restart="never" nodeType="tmRoot"/>
      </p:par>
    </p:tnLst>
  </p:timing>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Állapottáblázatok</a:t>
            </a:r>
            <a:endParaRPr lang="hu-HU" dirty="0"/>
          </a:p>
        </p:txBody>
      </p:sp>
      <p:graphicFrame>
        <p:nvGraphicFramePr>
          <p:cNvPr id="4" name="Tartalom helye 3"/>
          <p:cNvGraphicFramePr>
            <a:graphicFrameLocks noGrp="1"/>
          </p:cNvGraphicFramePr>
          <p:nvPr>
            <p:ph idx="1"/>
            <p:extLst/>
          </p:nvPr>
        </p:nvGraphicFramePr>
        <p:xfrm>
          <a:off x="2286000" y="685800"/>
          <a:ext cx="7543800" cy="2743200"/>
        </p:xfrm>
        <a:graphic>
          <a:graphicData uri="http://schemas.openxmlformats.org/drawingml/2006/table">
            <a:tbl>
              <a:tblPr firstRow="1" bandRow="1">
                <a:tableStyleId>{5C22544A-7EE6-4342-B048-85BDC9FD1C3A}</a:tableStyleId>
              </a:tblPr>
              <a:tblGrid>
                <a:gridCol w="1505744">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gridCol w="1042020">
                  <a:extLst>
                    <a:ext uri="{9D8B030D-6E8A-4147-A177-3AD203B41FA5}">
                      <a16:colId xmlns:a16="http://schemas.microsoft.com/office/drawing/2014/main" val="20002"/>
                    </a:ext>
                  </a:extLst>
                </a:gridCol>
                <a:gridCol w="1257300">
                  <a:extLst>
                    <a:ext uri="{9D8B030D-6E8A-4147-A177-3AD203B41FA5}">
                      <a16:colId xmlns:a16="http://schemas.microsoft.com/office/drawing/2014/main" val="20003"/>
                    </a:ext>
                  </a:extLst>
                </a:gridCol>
                <a:gridCol w="1257300">
                  <a:extLst>
                    <a:ext uri="{9D8B030D-6E8A-4147-A177-3AD203B41FA5}">
                      <a16:colId xmlns:a16="http://schemas.microsoft.com/office/drawing/2014/main" val="20004"/>
                    </a:ext>
                  </a:extLst>
                </a:gridCol>
                <a:gridCol w="1257300">
                  <a:extLst>
                    <a:ext uri="{9D8B030D-6E8A-4147-A177-3AD203B41FA5}">
                      <a16:colId xmlns:a16="http://schemas.microsoft.com/office/drawing/2014/main" val="20005"/>
                    </a:ext>
                  </a:extLst>
                </a:gridCol>
              </a:tblGrid>
              <a:tr h="370840">
                <a:tc gridSpan="6">
                  <a:txBody>
                    <a:bodyPr/>
                    <a:lstStyle/>
                    <a:p>
                      <a:r>
                        <a:rPr lang="hu-HU" dirty="0" smtClean="0"/>
                        <a:t>Állapotátmenetek</a:t>
                      </a:r>
                      <a:endParaRPr lang="hu-HU" dirty="0"/>
                    </a:p>
                  </a:txBody>
                  <a:tcPr/>
                </a:tc>
                <a:tc hMerge="1">
                  <a:txBody>
                    <a:bodyPr/>
                    <a:lstStyle/>
                    <a:p>
                      <a:endParaRPr lang="hu-HU" dirty="0"/>
                    </a:p>
                  </a:txBody>
                  <a:tcPr/>
                </a:tc>
                <a:tc hMerge="1">
                  <a:txBody>
                    <a:bodyPr/>
                    <a:lstStyle/>
                    <a:p>
                      <a:endParaRPr lang="hu-HU" dirty="0"/>
                    </a:p>
                  </a:txBody>
                  <a:tcPr/>
                </a:tc>
                <a:tc hMerge="1">
                  <a:txBody>
                    <a:bodyPr/>
                    <a:lstStyle/>
                    <a:p>
                      <a:endParaRPr lang="hu-HU" dirty="0"/>
                    </a:p>
                  </a:txBody>
                  <a:tcPr/>
                </a:tc>
                <a:tc hMerge="1">
                  <a:txBody>
                    <a:bodyPr/>
                    <a:lstStyle/>
                    <a:p>
                      <a:endParaRPr lang="hu-HU" dirty="0"/>
                    </a:p>
                  </a:txBody>
                  <a:tcPr/>
                </a:tc>
                <a:tc hMerge="1">
                  <a:txBody>
                    <a:bodyPr/>
                    <a:lstStyle/>
                    <a:p>
                      <a:endParaRPr lang="hu-HU" dirty="0"/>
                    </a:p>
                  </a:txBody>
                  <a:tcPr/>
                </a:tc>
                <a:extLst>
                  <a:ext uri="{0D108BD9-81ED-4DB2-BD59-A6C34878D82A}">
                    <a16:rowId xmlns:a16="http://schemas.microsoft.com/office/drawing/2014/main" val="10000"/>
                  </a:ext>
                </a:extLst>
              </a:tr>
              <a:tr h="370840">
                <a:tc>
                  <a:txBody>
                    <a:bodyPr/>
                    <a:lstStyle/>
                    <a:p>
                      <a:r>
                        <a:rPr lang="hu-HU" sz="1400" dirty="0" smtClean="0"/>
                        <a:t>Induló - Cél</a:t>
                      </a:r>
                      <a:endParaRPr lang="hu-HU" sz="1400" dirty="0"/>
                    </a:p>
                  </a:txBody>
                  <a:tcPr/>
                </a:tc>
                <a:tc>
                  <a:txBody>
                    <a:bodyPr/>
                    <a:lstStyle/>
                    <a:p>
                      <a:r>
                        <a:rPr lang="hu-HU" sz="1400" dirty="0" smtClean="0"/>
                        <a:t>Indulóállapot</a:t>
                      </a:r>
                      <a:endParaRPr lang="hu-HU" sz="1400" dirty="0"/>
                    </a:p>
                  </a:txBody>
                  <a:tcPr/>
                </a:tc>
                <a:tc>
                  <a:txBody>
                    <a:bodyPr/>
                    <a:lstStyle/>
                    <a:p>
                      <a:r>
                        <a:rPr lang="hu-HU" sz="1400" dirty="0" smtClean="0"/>
                        <a:t>Fenntartott</a:t>
                      </a:r>
                      <a:endParaRPr lang="hu-HU" sz="1400" dirty="0"/>
                    </a:p>
                  </a:txBody>
                  <a:tcPr/>
                </a:tc>
                <a:tc>
                  <a:txBody>
                    <a:bodyPr/>
                    <a:lstStyle/>
                    <a:p>
                      <a:r>
                        <a:rPr lang="hu-HU" sz="1400" dirty="0" smtClean="0"/>
                        <a:t>Befoglalt</a:t>
                      </a:r>
                      <a:endParaRPr lang="hu-HU" sz="1400" dirty="0"/>
                    </a:p>
                  </a:txBody>
                  <a:tcPr/>
                </a:tc>
                <a:tc>
                  <a:txBody>
                    <a:bodyPr/>
                    <a:lstStyle/>
                    <a:p>
                      <a:r>
                        <a:rPr lang="hu-HU" sz="1400" dirty="0" smtClean="0"/>
                        <a:t>Bekövetkezett</a:t>
                      </a:r>
                      <a:endParaRPr lang="hu-HU" sz="1400" dirty="0"/>
                    </a:p>
                  </a:txBody>
                  <a:tcPr/>
                </a:tc>
                <a:tc>
                  <a:txBody>
                    <a:bodyPr/>
                    <a:lstStyle/>
                    <a:p>
                      <a:r>
                        <a:rPr lang="hu-HU" sz="1400" dirty="0" smtClean="0"/>
                        <a:t>Végállapot</a:t>
                      </a:r>
                      <a:endParaRPr lang="hu-HU" sz="1400" dirty="0"/>
                    </a:p>
                  </a:txBody>
                  <a:tcPr/>
                </a:tc>
                <a:extLst>
                  <a:ext uri="{0D108BD9-81ED-4DB2-BD59-A6C34878D82A}">
                    <a16:rowId xmlns:a16="http://schemas.microsoft.com/office/drawing/2014/main" val="10001"/>
                  </a:ext>
                </a:extLst>
              </a:tr>
              <a:tr h="370840">
                <a:tc>
                  <a:txBody>
                    <a:bodyPr/>
                    <a:lstStyle/>
                    <a:p>
                      <a:r>
                        <a:rPr lang="hu-HU" sz="1400" dirty="0" smtClean="0"/>
                        <a:t>Indulóállapot</a:t>
                      </a:r>
                      <a:endParaRPr lang="hu-HU" sz="1400" dirty="0"/>
                    </a:p>
                  </a:txBody>
                  <a:tcPr/>
                </a:tc>
                <a:tc>
                  <a:txBody>
                    <a:bodyPr/>
                    <a:lstStyle/>
                    <a:p>
                      <a:r>
                        <a:rPr lang="hu-HU" sz="1400" dirty="0" smtClean="0"/>
                        <a:t>-</a:t>
                      </a:r>
                      <a:endParaRPr lang="hu-HU" sz="1400" dirty="0"/>
                    </a:p>
                  </a:txBody>
                  <a:tcPr/>
                </a:tc>
                <a:tc>
                  <a:txBody>
                    <a:bodyPr/>
                    <a:lstStyle/>
                    <a:p>
                      <a:r>
                        <a:rPr lang="hu-HU" sz="1400" dirty="0" smtClean="0"/>
                        <a:t>1</a:t>
                      </a:r>
                      <a:endParaRPr lang="hu-HU" sz="1400" dirty="0"/>
                    </a:p>
                  </a:txBody>
                  <a:tcPr/>
                </a:tc>
                <a:tc>
                  <a:txBody>
                    <a:bodyPr/>
                    <a:lstStyle/>
                    <a:p>
                      <a:r>
                        <a:rPr lang="hu-HU" sz="1400" dirty="0" smtClean="0"/>
                        <a:t>-</a:t>
                      </a:r>
                      <a:endParaRPr lang="hu-HU" sz="1400" dirty="0"/>
                    </a:p>
                  </a:txBody>
                  <a:tcPr/>
                </a:tc>
                <a:tc>
                  <a:txBody>
                    <a:bodyPr/>
                    <a:lstStyle/>
                    <a:p>
                      <a:r>
                        <a:rPr lang="hu-HU" sz="1400" dirty="0" smtClean="0"/>
                        <a:t>-</a:t>
                      </a:r>
                      <a:endParaRPr lang="hu-HU" sz="1400" dirty="0"/>
                    </a:p>
                  </a:txBody>
                  <a:tcPr/>
                </a:tc>
                <a:tc>
                  <a:txBody>
                    <a:bodyPr/>
                    <a:lstStyle/>
                    <a:p>
                      <a:r>
                        <a:rPr lang="hu-HU" sz="1400" dirty="0" smtClean="0"/>
                        <a:t>-</a:t>
                      </a:r>
                      <a:endParaRPr lang="hu-HU" sz="1400" dirty="0"/>
                    </a:p>
                  </a:txBody>
                  <a:tcPr/>
                </a:tc>
                <a:extLst>
                  <a:ext uri="{0D108BD9-81ED-4DB2-BD59-A6C34878D82A}">
                    <a16:rowId xmlns:a16="http://schemas.microsoft.com/office/drawing/2014/main" val="10002"/>
                  </a:ext>
                </a:extLst>
              </a:tr>
              <a:tr h="370840">
                <a:tc>
                  <a:txBody>
                    <a:bodyPr/>
                    <a:lstStyle/>
                    <a:p>
                      <a:r>
                        <a:rPr lang="hu-HU" sz="1400" dirty="0" smtClean="0"/>
                        <a:t>Fenntartott</a:t>
                      </a:r>
                      <a:endParaRPr lang="hu-HU" sz="1400" dirty="0"/>
                    </a:p>
                  </a:txBody>
                  <a:tcPr/>
                </a:tc>
                <a:tc>
                  <a:txBody>
                    <a:bodyPr/>
                    <a:lstStyle/>
                    <a:p>
                      <a:r>
                        <a:rPr lang="hu-HU" sz="1400" dirty="0" smtClean="0"/>
                        <a:t>-</a:t>
                      </a:r>
                      <a:endParaRPr lang="hu-HU" sz="1400" dirty="0"/>
                    </a:p>
                  </a:txBody>
                  <a:tcPr/>
                </a:tc>
                <a:tc>
                  <a:txBody>
                    <a:bodyPr/>
                    <a:lstStyle/>
                    <a:p>
                      <a:r>
                        <a:rPr lang="hu-HU" sz="1400" dirty="0" smtClean="0"/>
                        <a:t>-</a:t>
                      </a:r>
                      <a:endParaRPr lang="hu-HU" sz="1400" dirty="0"/>
                    </a:p>
                  </a:txBody>
                  <a:tcPr/>
                </a:tc>
                <a:tc>
                  <a:txBody>
                    <a:bodyPr/>
                    <a:lstStyle/>
                    <a:p>
                      <a:r>
                        <a:rPr lang="hu-HU" sz="1400" dirty="0" smtClean="0"/>
                        <a:t>2</a:t>
                      </a:r>
                      <a:endParaRPr lang="hu-HU" sz="1400" dirty="0"/>
                    </a:p>
                  </a:txBody>
                  <a:tcPr/>
                </a:tc>
                <a:tc>
                  <a:txBody>
                    <a:bodyPr/>
                    <a:lstStyle/>
                    <a:p>
                      <a:r>
                        <a:rPr lang="hu-HU" sz="1400" dirty="0" smtClean="0"/>
                        <a:t>-</a:t>
                      </a:r>
                      <a:endParaRPr lang="hu-HU" sz="1400" dirty="0"/>
                    </a:p>
                  </a:txBody>
                  <a:tcPr/>
                </a:tc>
                <a:tc>
                  <a:txBody>
                    <a:bodyPr/>
                    <a:lstStyle/>
                    <a:p>
                      <a:r>
                        <a:rPr lang="hu-HU" sz="1400" dirty="0" smtClean="0"/>
                        <a:t>6</a:t>
                      </a:r>
                      <a:endParaRPr lang="hu-HU" sz="1400" dirty="0"/>
                    </a:p>
                  </a:txBody>
                  <a:tcPr/>
                </a:tc>
                <a:extLst>
                  <a:ext uri="{0D108BD9-81ED-4DB2-BD59-A6C34878D82A}">
                    <a16:rowId xmlns:a16="http://schemas.microsoft.com/office/drawing/2014/main" val="10003"/>
                  </a:ext>
                </a:extLst>
              </a:tr>
              <a:tr h="370840">
                <a:tc>
                  <a:txBody>
                    <a:bodyPr/>
                    <a:lstStyle/>
                    <a:p>
                      <a:r>
                        <a:rPr lang="hu-HU" sz="1400" dirty="0" smtClean="0"/>
                        <a:t>Befoglalt</a:t>
                      </a:r>
                      <a:endParaRPr lang="hu-HU" sz="1400" dirty="0"/>
                    </a:p>
                  </a:txBody>
                  <a:tcPr/>
                </a:tc>
                <a:tc>
                  <a:txBody>
                    <a:bodyPr/>
                    <a:lstStyle/>
                    <a:p>
                      <a:r>
                        <a:rPr lang="hu-HU" sz="1400" dirty="0" smtClean="0"/>
                        <a:t>-</a:t>
                      </a:r>
                      <a:endParaRPr lang="hu-HU" sz="1400" dirty="0"/>
                    </a:p>
                  </a:txBody>
                  <a:tcPr/>
                </a:tc>
                <a:tc>
                  <a:txBody>
                    <a:bodyPr/>
                    <a:lstStyle/>
                    <a:p>
                      <a:r>
                        <a:rPr lang="hu-HU" sz="1400" dirty="0" smtClean="0"/>
                        <a:t>-</a:t>
                      </a:r>
                      <a:endParaRPr lang="hu-HU" sz="1400" dirty="0"/>
                    </a:p>
                  </a:txBody>
                  <a:tcPr/>
                </a:tc>
                <a:tc>
                  <a:txBody>
                    <a:bodyPr/>
                    <a:lstStyle/>
                    <a:p>
                      <a:r>
                        <a:rPr lang="hu-HU" sz="1400" dirty="0" smtClean="0"/>
                        <a:t>3</a:t>
                      </a:r>
                      <a:endParaRPr lang="hu-HU" sz="1400" dirty="0"/>
                    </a:p>
                  </a:txBody>
                  <a:tcPr/>
                </a:tc>
                <a:tc>
                  <a:txBody>
                    <a:bodyPr/>
                    <a:lstStyle/>
                    <a:p>
                      <a:r>
                        <a:rPr lang="hu-HU" sz="1400" dirty="0" smtClean="0"/>
                        <a:t>4</a:t>
                      </a:r>
                      <a:endParaRPr lang="hu-HU" sz="1400" dirty="0"/>
                    </a:p>
                  </a:txBody>
                  <a:tcPr/>
                </a:tc>
                <a:tc>
                  <a:txBody>
                    <a:bodyPr/>
                    <a:lstStyle/>
                    <a:p>
                      <a:r>
                        <a:rPr lang="hu-HU" sz="1400" dirty="0" smtClean="0"/>
                        <a:t>6</a:t>
                      </a:r>
                      <a:endParaRPr lang="hu-HU" sz="1400" dirty="0"/>
                    </a:p>
                  </a:txBody>
                  <a:tcPr/>
                </a:tc>
                <a:extLst>
                  <a:ext uri="{0D108BD9-81ED-4DB2-BD59-A6C34878D82A}">
                    <a16:rowId xmlns:a16="http://schemas.microsoft.com/office/drawing/2014/main" val="10004"/>
                  </a:ext>
                </a:extLst>
              </a:tr>
              <a:tr h="370840">
                <a:tc>
                  <a:txBody>
                    <a:bodyPr/>
                    <a:lstStyle/>
                    <a:p>
                      <a:r>
                        <a:rPr lang="hu-HU" sz="1400" dirty="0" smtClean="0"/>
                        <a:t>Bekövetkezett</a:t>
                      </a:r>
                      <a:endParaRPr lang="hu-HU" sz="1400" dirty="0"/>
                    </a:p>
                  </a:txBody>
                  <a:tcPr/>
                </a:tc>
                <a:tc>
                  <a:txBody>
                    <a:bodyPr/>
                    <a:lstStyle/>
                    <a:p>
                      <a:r>
                        <a:rPr lang="hu-HU" sz="1400" dirty="0" smtClean="0"/>
                        <a:t>-</a:t>
                      </a:r>
                      <a:endParaRPr lang="hu-HU" sz="1400" dirty="0"/>
                    </a:p>
                  </a:txBody>
                  <a:tcPr/>
                </a:tc>
                <a:tc>
                  <a:txBody>
                    <a:bodyPr/>
                    <a:lstStyle/>
                    <a:p>
                      <a:r>
                        <a:rPr lang="hu-HU" sz="1400" dirty="0" smtClean="0"/>
                        <a:t>-</a:t>
                      </a:r>
                      <a:endParaRPr lang="hu-HU" sz="1400" dirty="0"/>
                    </a:p>
                  </a:txBody>
                  <a:tcPr/>
                </a:tc>
                <a:tc>
                  <a:txBody>
                    <a:bodyPr/>
                    <a:lstStyle/>
                    <a:p>
                      <a:r>
                        <a:rPr lang="hu-HU" sz="1400" dirty="0" smtClean="0"/>
                        <a:t>-</a:t>
                      </a:r>
                      <a:endParaRPr lang="hu-HU" sz="1400" dirty="0"/>
                    </a:p>
                  </a:txBody>
                  <a:tcPr/>
                </a:tc>
                <a:tc>
                  <a:txBody>
                    <a:bodyPr/>
                    <a:lstStyle/>
                    <a:p>
                      <a:r>
                        <a:rPr lang="hu-HU" sz="1400" dirty="0" smtClean="0"/>
                        <a:t>-</a:t>
                      </a:r>
                      <a:endParaRPr lang="hu-HU" sz="1400" dirty="0"/>
                    </a:p>
                  </a:txBody>
                  <a:tcPr/>
                </a:tc>
                <a:tc>
                  <a:txBody>
                    <a:bodyPr/>
                    <a:lstStyle/>
                    <a:p>
                      <a:r>
                        <a:rPr lang="hu-HU" sz="1400" dirty="0" smtClean="0"/>
                        <a:t>5</a:t>
                      </a:r>
                      <a:endParaRPr lang="hu-HU" sz="1400" dirty="0"/>
                    </a:p>
                  </a:txBody>
                  <a:tcPr/>
                </a:tc>
                <a:extLst>
                  <a:ext uri="{0D108BD9-81ED-4DB2-BD59-A6C34878D82A}">
                    <a16:rowId xmlns:a16="http://schemas.microsoft.com/office/drawing/2014/main" val="10005"/>
                  </a:ext>
                </a:extLst>
              </a:tr>
              <a:tr h="370840">
                <a:tc>
                  <a:txBody>
                    <a:bodyPr/>
                    <a:lstStyle/>
                    <a:p>
                      <a:r>
                        <a:rPr lang="hu-HU" sz="1400" dirty="0" smtClean="0"/>
                        <a:t>Végállapot</a:t>
                      </a:r>
                      <a:endParaRPr lang="hu-HU" sz="1400" dirty="0"/>
                    </a:p>
                  </a:txBody>
                  <a:tcPr/>
                </a:tc>
                <a:tc>
                  <a:txBody>
                    <a:bodyPr/>
                    <a:lstStyle/>
                    <a:p>
                      <a:r>
                        <a:rPr lang="hu-HU" sz="1400" dirty="0" smtClean="0"/>
                        <a:t>-</a:t>
                      </a:r>
                      <a:endParaRPr lang="hu-HU" sz="1400" dirty="0"/>
                    </a:p>
                  </a:txBody>
                  <a:tcPr/>
                </a:tc>
                <a:tc>
                  <a:txBody>
                    <a:bodyPr/>
                    <a:lstStyle/>
                    <a:p>
                      <a:r>
                        <a:rPr lang="hu-HU" sz="1400" dirty="0" smtClean="0"/>
                        <a:t>-</a:t>
                      </a:r>
                      <a:endParaRPr lang="hu-HU" sz="1400" dirty="0"/>
                    </a:p>
                  </a:txBody>
                  <a:tcPr/>
                </a:tc>
                <a:tc>
                  <a:txBody>
                    <a:bodyPr/>
                    <a:lstStyle/>
                    <a:p>
                      <a:r>
                        <a:rPr lang="hu-HU" sz="1400" dirty="0" smtClean="0"/>
                        <a:t>-</a:t>
                      </a:r>
                      <a:endParaRPr lang="hu-HU" sz="1400" dirty="0"/>
                    </a:p>
                  </a:txBody>
                  <a:tcPr/>
                </a:tc>
                <a:tc>
                  <a:txBody>
                    <a:bodyPr/>
                    <a:lstStyle/>
                    <a:p>
                      <a:r>
                        <a:rPr lang="hu-HU" sz="1400" dirty="0" smtClean="0"/>
                        <a:t>-</a:t>
                      </a:r>
                      <a:endParaRPr lang="hu-HU" sz="1400" dirty="0"/>
                    </a:p>
                  </a:txBody>
                  <a:tcPr/>
                </a:tc>
                <a:tc>
                  <a:txBody>
                    <a:bodyPr/>
                    <a:lstStyle/>
                    <a:p>
                      <a:r>
                        <a:rPr lang="hu-HU" sz="1400" dirty="0" smtClean="0"/>
                        <a:t>-</a:t>
                      </a:r>
                      <a:endParaRPr lang="hu-HU" sz="1400" dirty="0"/>
                    </a:p>
                  </a:txBody>
                  <a:tcPr/>
                </a:tc>
                <a:extLst>
                  <a:ext uri="{0D108BD9-81ED-4DB2-BD59-A6C34878D82A}">
                    <a16:rowId xmlns:a16="http://schemas.microsoft.com/office/drawing/2014/main" val="10006"/>
                  </a:ext>
                </a:extLst>
              </a:tr>
            </a:tbl>
          </a:graphicData>
        </a:graphic>
      </p:graphicFrame>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9737" y="3356992"/>
            <a:ext cx="5325715" cy="1870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0437508"/>
      </p:ext>
    </p:extLst>
  </p:cSld>
  <p:clrMapOvr>
    <a:masterClrMapping/>
  </p:clrMapOvr>
  <p:timing>
    <p:tnLst>
      <p:par>
        <p:cTn id="1" dur="indefinite" restart="never" nodeType="tmRoot"/>
      </p:par>
    </p:tnLst>
  </p:timing>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7540" name="Rectangle 4"/>
          <p:cNvSpPr>
            <a:spLocks noGrp="1" noChangeArrowheads="1"/>
          </p:cNvSpPr>
          <p:nvPr>
            <p:ph type="title"/>
          </p:nvPr>
        </p:nvSpPr>
        <p:spPr/>
        <p:txBody>
          <a:bodyPr rtlCol="0">
            <a:normAutofit/>
          </a:bodyPr>
          <a:lstStyle/>
          <a:p>
            <a:pPr>
              <a:defRPr/>
            </a:pPr>
            <a:r>
              <a:rPr lang="hu-HU" sz="4000"/>
              <a:t>Komponens-diagramok és telepítési diagramok</a:t>
            </a:r>
            <a:endParaRPr lang="en-US" sz="4000"/>
          </a:p>
        </p:txBody>
      </p:sp>
      <p:sp>
        <p:nvSpPr>
          <p:cNvPr id="4" name="Dátum helye 4"/>
          <p:cNvSpPr>
            <a:spLocks noGrp="1"/>
          </p:cNvSpPr>
          <p:nvPr>
            <p:ph type="dt" sz="half" idx="10"/>
          </p:nvPr>
        </p:nvSpPr>
        <p:spPr>
          <a:xfrm>
            <a:off x="8077200" y="6356351"/>
            <a:ext cx="2133600" cy="365125"/>
          </a:xfrm>
        </p:spPr>
        <p:txBody>
          <a:bodyPr/>
          <a:lstStyle/>
          <a:p>
            <a:pPr algn="r">
              <a:defRPr/>
            </a:pPr>
            <a:fld id="{5F9CDE7B-EAA9-48ED-A302-15825B8DDACC}" type="datetime4">
              <a:rPr lang="hu-HU"/>
              <a:pPr algn="r">
                <a:defRPr/>
              </a:pPr>
              <a:t>2024. november 28.</a:t>
            </a:fld>
            <a:endParaRPr lang="hu-HU"/>
          </a:p>
        </p:txBody>
      </p:sp>
      <p:sp>
        <p:nvSpPr>
          <p:cNvPr id="3" name="Dia számának helye 3"/>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DB6B306B-4F91-4183-91DD-660B6295A52D}" type="slidenum">
              <a:rPr lang="hu-HU" altLang="hu-HU">
                <a:solidFill>
                  <a:srgbClr val="898989"/>
                </a:solidFill>
              </a:rPr>
              <a:pPr algn="ctr"/>
              <a:t>385</a:t>
            </a:fld>
            <a:endParaRPr lang="hu-HU" altLang="hu-HU">
              <a:solidFill>
                <a:srgbClr val="898989"/>
              </a:solidFill>
            </a:endParaRPr>
          </a:p>
        </p:txBody>
      </p:sp>
    </p:spTree>
    <p:extLst>
      <p:ext uri="{BB962C8B-B14F-4D97-AF65-F5344CB8AC3E}">
        <p14:creationId xmlns:p14="http://schemas.microsoft.com/office/powerpoint/2010/main" val="103591319"/>
      </p:ext>
    </p:extLst>
  </p:cSld>
  <p:clrMapOvr>
    <a:masterClrMapping/>
  </p:clrMapOvr>
  <p:timing>
    <p:tnLst>
      <p:par>
        <p:cTn id="1" dur="indefinite" restart="never" nodeType="tmRoot"/>
      </p:par>
    </p:tnLst>
  </p:timing>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4"/>
          <p:cNvSpPr>
            <a:spLocks noGrp="1" noChangeArrowheads="1"/>
          </p:cNvSpPr>
          <p:nvPr>
            <p:ph type="title"/>
          </p:nvPr>
        </p:nvSpPr>
        <p:spPr/>
        <p:txBody>
          <a:bodyPr/>
          <a:lstStyle/>
          <a:p>
            <a:r>
              <a:rPr lang="hu-HU" altLang="hu-HU" sz="4000"/>
              <a:t>Telepítési diagram </a:t>
            </a:r>
            <a:endParaRPr lang="en-US" altLang="hu-HU" sz="4000"/>
          </a:p>
        </p:txBody>
      </p:sp>
      <p:sp>
        <p:nvSpPr>
          <p:cNvPr id="4" name="Dátum helye 4"/>
          <p:cNvSpPr>
            <a:spLocks noGrp="1"/>
          </p:cNvSpPr>
          <p:nvPr>
            <p:ph type="dt" sz="half" idx="10"/>
          </p:nvPr>
        </p:nvSpPr>
        <p:spPr>
          <a:xfrm>
            <a:off x="8077200" y="6356351"/>
            <a:ext cx="2133600" cy="365125"/>
          </a:xfrm>
        </p:spPr>
        <p:txBody>
          <a:bodyPr/>
          <a:lstStyle/>
          <a:p>
            <a:pPr algn="r">
              <a:defRPr/>
            </a:pPr>
            <a:fld id="{DA09D9CC-9372-4896-BFDA-A34AC9AD2006}" type="datetime4">
              <a:rPr lang="hu-HU"/>
              <a:pPr algn="r">
                <a:defRPr/>
              </a:pPr>
              <a:t>2024. november 28.</a:t>
            </a:fld>
            <a:endParaRPr lang="hu-HU"/>
          </a:p>
        </p:txBody>
      </p:sp>
      <p:sp>
        <p:nvSpPr>
          <p:cNvPr id="3" name="Dia számának helye 3"/>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DBED39F2-3553-4EA2-AEA7-FCB78E680ABC}" type="slidenum">
              <a:rPr lang="hu-HU" altLang="hu-HU">
                <a:solidFill>
                  <a:srgbClr val="898989"/>
                </a:solidFill>
              </a:rPr>
              <a:pPr algn="ctr"/>
              <a:t>386</a:t>
            </a:fld>
            <a:endParaRPr lang="hu-HU" altLang="hu-HU">
              <a:solidFill>
                <a:srgbClr val="898989"/>
              </a:solidFill>
            </a:endParaRPr>
          </a:p>
        </p:txBody>
      </p:sp>
    </p:spTree>
    <p:extLst>
      <p:ext uri="{BB962C8B-B14F-4D97-AF65-F5344CB8AC3E}">
        <p14:creationId xmlns:p14="http://schemas.microsoft.com/office/powerpoint/2010/main" val="2437190375"/>
      </p:ext>
    </p:extLst>
  </p:cSld>
  <p:clrMapOvr>
    <a:masterClrMapping/>
  </p:clrMapOvr>
  <p:timing>
    <p:tnLst>
      <p:par>
        <p:cTn id="1" dur="indefinite" restart="never" nodeType="tmRoot"/>
      </p:par>
    </p:tnLst>
  </p:timing>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normAutofit fontScale="90000"/>
          </a:bodyPr>
          <a:lstStyle/>
          <a:p>
            <a:r>
              <a:rPr lang="nb-NO" altLang="hu-HU" dirty="0" smtClean="0"/>
              <a:t>Az UML nyelv használati eleme: </a:t>
            </a:r>
            <a:r>
              <a:rPr lang="hu-HU" altLang="hu-HU" dirty="0" smtClean="0"/>
              <a:t>Komponens- és telepítési diagramok</a:t>
            </a:r>
            <a:r>
              <a:rPr lang="nb-NO" altLang="hu-HU" dirty="0" smtClean="0"/>
              <a:t>.</a:t>
            </a:r>
            <a:endParaRPr lang="hu-HU" altLang="hu-HU" dirty="0"/>
          </a:p>
        </p:txBody>
      </p:sp>
      <p:sp>
        <p:nvSpPr>
          <p:cNvPr id="2051" name="Rectangle 3"/>
          <p:cNvSpPr>
            <a:spLocks noGrp="1" noChangeArrowheads="1"/>
          </p:cNvSpPr>
          <p:nvPr>
            <p:ph type="subTitle" idx="1"/>
          </p:nvPr>
        </p:nvSpPr>
        <p:spPr/>
        <p:txBody>
          <a:bodyPr/>
          <a:lstStyle/>
          <a:p>
            <a:endParaRPr lang="hu-HU" altLang="hu-HU" dirty="0"/>
          </a:p>
        </p:txBody>
      </p:sp>
    </p:spTree>
    <p:extLst>
      <p:ext uri="{BB962C8B-B14F-4D97-AF65-F5344CB8AC3E}">
        <p14:creationId xmlns:p14="http://schemas.microsoft.com/office/powerpoint/2010/main" val="166240544"/>
      </p:ext>
    </p:extLst>
  </p:cSld>
  <p:clrMapOvr>
    <a:masterClrMapping/>
  </p:clrMapOvr>
  <p:transition/>
  <p:timing>
    <p:tnLst>
      <p:par>
        <p:cTn id="1" dur="indefinite" restart="never" nodeType="tmRoot"/>
      </p:par>
    </p:tnLst>
  </p:timing>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6" name="Rectangle 4"/>
          <p:cNvSpPr>
            <a:spLocks noGrp="1" noChangeArrowheads="1"/>
          </p:cNvSpPr>
          <p:nvPr>
            <p:ph type="ctrTitle"/>
          </p:nvPr>
        </p:nvSpPr>
        <p:spPr/>
        <p:txBody>
          <a:bodyPr/>
          <a:lstStyle/>
          <a:p>
            <a:endParaRPr lang="hu-HU" altLang="hu-HU"/>
          </a:p>
        </p:txBody>
      </p:sp>
      <p:sp>
        <p:nvSpPr>
          <p:cNvPr id="248837" name="Rectangle 5"/>
          <p:cNvSpPr>
            <a:spLocks noGrp="1" noChangeArrowheads="1"/>
          </p:cNvSpPr>
          <p:nvPr>
            <p:ph type="subTitle" idx="1"/>
          </p:nvPr>
        </p:nvSpPr>
        <p:spPr/>
        <p:txBody>
          <a:bodyPr/>
          <a:lstStyle/>
          <a:p>
            <a:r>
              <a:rPr lang="hu-HU" altLang="hu-HU"/>
              <a:t>Komponens-diagram</a:t>
            </a:r>
          </a:p>
        </p:txBody>
      </p:sp>
    </p:spTree>
    <p:extLst>
      <p:ext uri="{BB962C8B-B14F-4D97-AF65-F5344CB8AC3E}">
        <p14:creationId xmlns:p14="http://schemas.microsoft.com/office/powerpoint/2010/main" val="397682321"/>
      </p:ext>
    </p:extLst>
  </p:cSld>
  <p:clrMapOvr>
    <a:masterClrMapping/>
  </p:clrMapOvr>
  <p:timing>
    <p:tnLst>
      <p:par>
        <p:cTn id="1" dur="indefinite" restart="never" nodeType="tmRoot"/>
      </p:par>
    </p:tnLst>
  </p:timing>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p:cNvSpPr>
            <a:spLocks noGrp="1" noChangeArrowheads="1"/>
          </p:cNvSpPr>
          <p:nvPr>
            <p:ph type="title"/>
          </p:nvPr>
        </p:nvSpPr>
        <p:spPr/>
        <p:txBody>
          <a:bodyPr/>
          <a:lstStyle/>
          <a:p>
            <a:r>
              <a:rPr lang="hu-HU" altLang="hu-HU" sz="4000"/>
              <a:t>A szoftverkomponensek közötti kapcsolat, kommunikáció</a:t>
            </a:r>
            <a:endParaRPr lang="en-US" altLang="hu-HU" sz="4000"/>
          </a:p>
        </p:txBody>
      </p:sp>
      <p:sp>
        <p:nvSpPr>
          <p:cNvPr id="10245" name="Rectangle 3"/>
          <p:cNvSpPr>
            <a:spLocks noGrp="1" noChangeArrowheads="1"/>
          </p:cNvSpPr>
          <p:nvPr>
            <p:ph idx="1"/>
          </p:nvPr>
        </p:nvSpPr>
        <p:spPr>
          <a:xfrm>
            <a:off x="1992314" y="1855789"/>
            <a:ext cx="8218487" cy="4454525"/>
          </a:xfrm>
        </p:spPr>
        <p:txBody>
          <a:bodyPr/>
          <a:lstStyle/>
          <a:p>
            <a:r>
              <a:rPr lang="hu-HU" altLang="hu-HU" smtClean="0"/>
              <a:t>Függőségi viszonnyal írjuk le: </a:t>
            </a:r>
          </a:p>
          <a:p>
            <a:pPr lvl="1"/>
            <a:r>
              <a:rPr lang="hu-HU" altLang="hu-HU" smtClean="0"/>
              <a:t>A függőségi viszonnyal jól tudjuk modellezni, hogy  mely komponens melyiknek szolgáltat valamilyen információt, eljárást stb. </a:t>
            </a:r>
          </a:p>
          <a:p>
            <a:pPr lvl="1"/>
            <a:r>
              <a:rPr lang="hu-HU" altLang="hu-HU" smtClean="0"/>
              <a:t>A modellben a komponensek közötti függőségi kapcsolatot szaggatott nyíllal prezentáljuk.</a:t>
            </a:r>
            <a:r>
              <a:rPr lang="en-US" altLang="hu-HU" smtClean="0"/>
              <a:t> </a:t>
            </a:r>
          </a:p>
        </p:txBody>
      </p:sp>
      <p:sp>
        <p:nvSpPr>
          <p:cNvPr id="5" name="Dátum helye 5"/>
          <p:cNvSpPr>
            <a:spLocks noGrp="1"/>
          </p:cNvSpPr>
          <p:nvPr>
            <p:ph type="dt" sz="half" idx="10"/>
          </p:nvPr>
        </p:nvSpPr>
        <p:spPr>
          <a:xfrm>
            <a:off x="8077200" y="6356351"/>
            <a:ext cx="2133600" cy="365125"/>
          </a:xfrm>
        </p:spPr>
        <p:txBody>
          <a:bodyPr/>
          <a:lstStyle/>
          <a:p>
            <a:pPr algn="r">
              <a:defRPr/>
            </a:pPr>
            <a:fld id="{1EE4AF2A-DBB2-43CC-9CA7-C04D05689246}" type="datetime4">
              <a:rPr lang="hu-HU"/>
              <a:pPr algn="r">
                <a:defRPr/>
              </a:pPr>
              <a:t>2024. november 28.</a:t>
            </a:fld>
            <a:endParaRPr lang="hu-HU"/>
          </a:p>
        </p:txBody>
      </p:sp>
      <p:sp>
        <p:nvSpPr>
          <p:cNvPr id="4" name="Dia számának helye 4"/>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F7FD92E4-F9A7-412D-89F6-9B39B66DC011}" type="slidenum">
              <a:rPr lang="hu-HU" altLang="hu-HU">
                <a:solidFill>
                  <a:srgbClr val="898989"/>
                </a:solidFill>
              </a:rPr>
              <a:pPr algn="ctr"/>
              <a:t>389</a:t>
            </a:fld>
            <a:endParaRPr lang="hu-HU" altLang="hu-HU">
              <a:solidFill>
                <a:srgbClr val="898989"/>
              </a:solidFill>
            </a:endParaRPr>
          </a:p>
        </p:txBody>
      </p:sp>
    </p:spTree>
    <p:extLst>
      <p:ext uri="{BB962C8B-B14F-4D97-AF65-F5344CB8AC3E}">
        <p14:creationId xmlns:p14="http://schemas.microsoft.com/office/powerpoint/2010/main" val="61665262"/>
      </p:ext>
    </p:extLst>
  </p:cSld>
  <p:clrMapOvr>
    <a:masterClrMapping/>
  </p:clrMapOvr>
  <p:timing>
    <p:tnLst>
      <p:par>
        <p:cTn id="1" dur="indefinite" restart="never" nodeType="tmRoot"/>
      </p:par>
    </p:tnLst>
  </p:timing>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p:txBody>
          <a:bodyPr/>
          <a:lstStyle/>
          <a:p>
            <a:r>
              <a:rPr lang="hu-HU" altLang="hu-HU" sz="4000"/>
              <a:t>Komponens szintű modell-terv</a:t>
            </a:r>
            <a:endParaRPr lang="en-US" altLang="hu-HU" sz="4000"/>
          </a:p>
        </p:txBody>
      </p:sp>
      <p:sp>
        <p:nvSpPr>
          <p:cNvPr id="11269" name="Rectangle 3"/>
          <p:cNvSpPr>
            <a:spLocks noGrp="1" noChangeArrowheads="1"/>
          </p:cNvSpPr>
          <p:nvPr>
            <p:ph idx="1"/>
          </p:nvPr>
        </p:nvSpPr>
        <p:spPr/>
        <p:txBody>
          <a:bodyPr/>
          <a:lstStyle/>
          <a:p>
            <a:r>
              <a:rPr lang="hu-HU" altLang="hu-HU" smtClean="0"/>
              <a:t>A komponens szintű modell-terv a tervezési munkaszakasz végére áll elő. </a:t>
            </a:r>
          </a:p>
          <a:p>
            <a:r>
              <a:rPr lang="hu-HU" altLang="hu-HU" smtClean="0"/>
              <a:t>A tervezés leírásai szerint meghatározott szoftverkomponenseket az implementáció munkaszakaszban fejlesztjük ki. </a:t>
            </a:r>
            <a:endParaRPr lang="en-US" altLang="hu-HU" smtClean="0"/>
          </a:p>
        </p:txBody>
      </p:sp>
      <p:sp>
        <p:nvSpPr>
          <p:cNvPr id="5" name="Dátum helye 5"/>
          <p:cNvSpPr>
            <a:spLocks noGrp="1"/>
          </p:cNvSpPr>
          <p:nvPr>
            <p:ph type="dt" sz="half" idx="10"/>
          </p:nvPr>
        </p:nvSpPr>
        <p:spPr>
          <a:xfrm>
            <a:off x="8077200" y="6356351"/>
            <a:ext cx="2133600" cy="365125"/>
          </a:xfrm>
        </p:spPr>
        <p:txBody>
          <a:bodyPr/>
          <a:lstStyle/>
          <a:p>
            <a:pPr algn="r">
              <a:defRPr/>
            </a:pPr>
            <a:fld id="{01B3E8A6-58D2-455A-B77D-BFE6A8648640}" type="datetime4">
              <a:rPr lang="hu-HU"/>
              <a:pPr algn="r">
                <a:defRPr/>
              </a:pPr>
              <a:t>2024. november 28.</a:t>
            </a:fld>
            <a:endParaRPr lang="hu-HU"/>
          </a:p>
        </p:txBody>
      </p:sp>
      <p:sp>
        <p:nvSpPr>
          <p:cNvPr id="4" name="Dia számának helye 4"/>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94F2408B-8842-4AE9-99CD-EDDD87B2A392}" type="slidenum">
              <a:rPr lang="hu-HU" altLang="hu-HU">
                <a:solidFill>
                  <a:srgbClr val="898989"/>
                </a:solidFill>
              </a:rPr>
              <a:pPr algn="ctr"/>
              <a:t>390</a:t>
            </a:fld>
            <a:endParaRPr lang="hu-HU" altLang="hu-HU">
              <a:solidFill>
                <a:srgbClr val="898989"/>
              </a:solidFill>
            </a:endParaRPr>
          </a:p>
        </p:txBody>
      </p:sp>
    </p:spTree>
    <p:extLst>
      <p:ext uri="{BB962C8B-B14F-4D97-AF65-F5344CB8AC3E}">
        <p14:creationId xmlns:p14="http://schemas.microsoft.com/office/powerpoint/2010/main" val="1617808800"/>
      </p:ext>
    </p:extLst>
  </p:cSld>
  <p:clrMapOvr>
    <a:masterClrMapping/>
  </p:clrMapOvr>
  <p:timing>
    <p:tnLst>
      <p:par>
        <p:cTn id="1" dur="indefinite" restart="never" nodeType="tmRoot"/>
      </p:par>
    </p:tnLst>
  </p:timing>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ChangeArrowheads="1"/>
          </p:cNvSpPr>
          <p:nvPr>
            <p:ph type="title"/>
          </p:nvPr>
        </p:nvSpPr>
        <p:spPr/>
        <p:txBody>
          <a:bodyPr/>
          <a:lstStyle/>
          <a:p>
            <a:r>
              <a:rPr lang="hu-HU" altLang="hu-HU"/>
              <a:t>Komponens-diagram</a:t>
            </a:r>
          </a:p>
        </p:txBody>
      </p:sp>
      <p:sp>
        <p:nvSpPr>
          <p:cNvPr id="250883" name="Rectangle 3"/>
          <p:cNvSpPr>
            <a:spLocks noGrp="1" noChangeArrowheads="1"/>
          </p:cNvSpPr>
          <p:nvPr>
            <p:ph idx="1"/>
          </p:nvPr>
        </p:nvSpPr>
        <p:spPr/>
        <p:txBody>
          <a:bodyPr/>
          <a:lstStyle/>
          <a:p>
            <a:r>
              <a:rPr lang="hu-HU" altLang="hu-HU" sz="2600"/>
              <a:t>A komponensekből felépülő szoftver-rendszer struktúráját vázolja fel.</a:t>
            </a:r>
          </a:p>
          <a:p>
            <a:r>
              <a:rPr lang="hu-HU" altLang="hu-HU" sz="2600"/>
              <a:t>Segítségével a rendszer szoftver elemeit rendszerezhetjük, csoportosíthatjuk, valamint az egyes komponenseket egymáshoz rendelhetjük, egymásba leképezhetjük. </a:t>
            </a:r>
          </a:p>
          <a:p>
            <a:r>
              <a:rPr lang="hu-HU" altLang="hu-HU" sz="2600"/>
              <a:t>Jól modellezi a szoftver-komponensek egymáshoz való viszonyát, kommunikációját.</a:t>
            </a:r>
          </a:p>
        </p:txBody>
      </p:sp>
      <p:sp>
        <p:nvSpPr>
          <p:cNvPr id="4" name="Dátum helye 3"/>
          <p:cNvSpPr>
            <a:spLocks noGrp="1"/>
          </p:cNvSpPr>
          <p:nvPr>
            <p:ph type="dt" sz="half" idx="10"/>
          </p:nvPr>
        </p:nvSpPr>
        <p:spPr/>
        <p:txBody>
          <a:bodyPr/>
          <a:lstStyle/>
          <a:p>
            <a:fld id="{E6ABB8EB-D701-47FF-9BEA-0919FE7FDEB4}"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DE7F0FFF-8C52-4C17-A702-388D437A32D2}" type="slidenum">
              <a:rPr lang="hu-HU" altLang="hu-HU"/>
              <a:pPr/>
              <a:t>391</a:t>
            </a:fld>
            <a:endParaRPr lang="hu-HU" altLang="hu-HU"/>
          </a:p>
        </p:txBody>
      </p:sp>
    </p:spTree>
    <p:extLst>
      <p:ext uri="{BB962C8B-B14F-4D97-AF65-F5344CB8AC3E}">
        <p14:creationId xmlns:p14="http://schemas.microsoft.com/office/powerpoint/2010/main" val="2474720991"/>
      </p:ext>
    </p:extLst>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p:txBody>
          <a:bodyPr/>
          <a:lstStyle/>
          <a:p>
            <a:r>
              <a:rPr lang="hu-HU" altLang="hu-HU"/>
              <a:t>Komponens</a:t>
            </a:r>
          </a:p>
        </p:txBody>
      </p:sp>
      <p:sp>
        <p:nvSpPr>
          <p:cNvPr id="251907" name="Rectangle 3"/>
          <p:cNvSpPr>
            <a:spLocks noGrp="1" noChangeArrowheads="1"/>
          </p:cNvSpPr>
          <p:nvPr>
            <p:ph idx="1"/>
          </p:nvPr>
        </p:nvSpPr>
        <p:spPr/>
        <p:txBody>
          <a:bodyPr/>
          <a:lstStyle/>
          <a:p>
            <a:pPr>
              <a:lnSpc>
                <a:spcPct val="80000"/>
              </a:lnSpc>
            </a:pPr>
            <a:r>
              <a:rPr lang="hu-HU" altLang="hu-HU" sz="2100"/>
              <a:t>A komponens-diagram fő építőeleme.</a:t>
            </a:r>
          </a:p>
          <a:p>
            <a:pPr>
              <a:lnSpc>
                <a:spcPct val="80000"/>
              </a:lnSpc>
            </a:pPr>
            <a:r>
              <a:rPr lang="hu-HU" altLang="hu-HU" sz="2100"/>
              <a:t>Adott modellelemek (osztályok, csomagok) fizikai egysége. </a:t>
            </a:r>
          </a:p>
          <a:p>
            <a:pPr lvl="1">
              <a:lnSpc>
                <a:spcPct val="80000"/>
              </a:lnSpc>
            </a:pPr>
            <a:r>
              <a:rPr lang="hu-HU" altLang="hu-HU" sz="2000"/>
              <a:t>Egy fizikailag bonthatatlan szoftver egység, amit állomány, például forráskód, szerkesztendő vagy futtatható szoftver elem: lefordított tárgykód, bájtkód, futtatható program vagy dinamikus könyvtár modellezésére lehet használni.</a:t>
            </a:r>
          </a:p>
          <a:p>
            <a:pPr>
              <a:lnSpc>
                <a:spcPct val="80000"/>
              </a:lnSpc>
            </a:pPr>
            <a:r>
              <a:rPr lang="hu-HU" altLang="hu-HU" sz="2100"/>
              <a:t>A fejlesztés menete szerint a tervezési munkaszakaszban meghatározott tervezési osztályokat, alrendszereket implementáljuk, ami nagyobb részben a forráskódok előállítását jelenti. </a:t>
            </a:r>
          </a:p>
          <a:p>
            <a:pPr>
              <a:lnSpc>
                <a:spcPct val="80000"/>
              </a:lnSpc>
            </a:pPr>
            <a:r>
              <a:rPr lang="hu-HU" altLang="hu-HU" sz="2100"/>
              <a:t>Egy komponensben számos implementációs osztály valósulhat meg. </a:t>
            </a:r>
          </a:p>
        </p:txBody>
      </p:sp>
      <p:sp>
        <p:nvSpPr>
          <p:cNvPr id="4" name="Dátum helye 3"/>
          <p:cNvSpPr>
            <a:spLocks noGrp="1"/>
          </p:cNvSpPr>
          <p:nvPr>
            <p:ph type="dt" sz="half" idx="10"/>
          </p:nvPr>
        </p:nvSpPr>
        <p:spPr/>
        <p:txBody>
          <a:bodyPr/>
          <a:lstStyle/>
          <a:p>
            <a:fld id="{A3C9F4F1-C2DC-4E60-A8A5-1BB0F70FA54E}"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85BCE9F1-DBBF-4EDD-859E-C1DBDABAE28F}" type="slidenum">
              <a:rPr lang="hu-HU" altLang="hu-HU"/>
              <a:pPr/>
              <a:t>392</a:t>
            </a:fld>
            <a:endParaRPr lang="hu-HU" altLang="hu-HU"/>
          </a:p>
        </p:txBody>
      </p:sp>
    </p:spTree>
    <p:extLst>
      <p:ext uri="{BB962C8B-B14F-4D97-AF65-F5344CB8AC3E}">
        <p14:creationId xmlns:p14="http://schemas.microsoft.com/office/powerpoint/2010/main" val="3333530441"/>
      </p:ext>
    </p:extLst>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Grp="1" noChangeArrowheads="1"/>
          </p:cNvSpPr>
          <p:nvPr>
            <p:ph type="title"/>
          </p:nvPr>
        </p:nvSpPr>
        <p:spPr/>
        <p:txBody>
          <a:bodyPr/>
          <a:lstStyle/>
          <a:p>
            <a:r>
              <a:rPr lang="hu-HU" altLang="hu-HU"/>
              <a:t>Komponens (folyt.)</a:t>
            </a:r>
          </a:p>
        </p:txBody>
      </p:sp>
      <p:sp>
        <p:nvSpPr>
          <p:cNvPr id="252931" name="Rectangle 3"/>
          <p:cNvSpPr>
            <a:spLocks noGrp="1" noChangeArrowheads="1"/>
          </p:cNvSpPr>
          <p:nvPr>
            <p:ph idx="1"/>
          </p:nvPr>
        </p:nvSpPr>
        <p:spPr/>
        <p:txBody>
          <a:bodyPr/>
          <a:lstStyle/>
          <a:p>
            <a:r>
              <a:rPr lang="hu-HU" altLang="hu-HU"/>
              <a:t>UML szimbóluma:</a:t>
            </a:r>
          </a:p>
          <a:p>
            <a:pPr lvl="1"/>
            <a:r>
              <a:rPr lang="hu-HU" altLang="hu-HU"/>
              <a:t>(egy téglalap, amelynek bal oldalát két kisebb téglalap metszi.)</a:t>
            </a:r>
          </a:p>
        </p:txBody>
      </p:sp>
      <p:sp>
        <p:nvSpPr>
          <p:cNvPr id="8" name="Dátum helye 3"/>
          <p:cNvSpPr>
            <a:spLocks noGrp="1"/>
          </p:cNvSpPr>
          <p:nvPr>
            <p:ph type="dt" sz="half" idx="10"/>
          </p:nvPr>
        </p:nvSpPr>
        <p:spPr/>
        <p:txBody>
          <a:bodyPr/>
          <a:lstStyle/>
          <a:p>
            <a:fld id="{79748412-2A42-4A98-8BF3-0A83AC12D082}" type="datetime1">
              <a:rPr lang="hu-HU" altLang="hu-HU"/>
              <a:pPr/>
              <a:t>2024. 11. 28.</a:t>
            </a:fld>
            <a:endParaRPr lang="hu-HU" altLang="hu-HU"/>
          </a:p>
        </p:txBody>
      </p:sp>
      <p:sp>
        <p:nvSpPr>
          <p:cNvPr id="9" name="Élőláb helye 4"/>
          <p:cNvSpPr>
            <a:spLocks noGrp="1"/>
          </p:cNvSpPr>
          <p:nvPr>
            <p:ph type="ftr" sz="quarter" idx="11"/>
          </p:nvPr>
        </p:nvSpPr>
        <p:spPr/>
        <p:txBody>
          <a:bodyPr/>
          <a:lstStyle/>
          <a:p>
            <a:r>
              <a:rPr lang="hu-HU" altLang="hu-HU"/>
              <a:t>Szoftvertechnológia II.</a:t>
            </a:r>
          </a:p>
        </p:txBody>
      </p:sp>
      <p:sp>
        <p:nvSpPr>
          <p:cNvPr id="10" name="Dia számának helye 5"/>
          <p:cNvSpPr>
            <a:spLocks noGrp="1"/>
          </p:cNvSpPr>
          <p:nvPr>
            <p:ph type="sldNum" sz="quarter" idx="12"/>
          </p:nvPr>
        </p:nvSpPr>
        <p:spPr/>
        <p:txBody>
          <a:bodyPr/>
          <a:lstStyle/>
          <a:p>
            <a:fld id="{D882837B-655C-4FA2-84C4-BE8DD49223A6}" type="slidenum">
              <a:rPr lang="hu-HU" altLang="hu-HU"/>
              <a:pPr/>
              <a:t>393</a:t>
            </a:fld>
            <a:endParaRPr lang="hu-HU" altLang="hu-HU"/>
          </a:p>
        </p:txBody>
      </p:sp>
      <p:pic>
        <p:nvPicPr>
          <p:cNvPr id="25293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6989" y="3644901"/>
            <a:ext cx="3532187" cy="138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2933" name="Picture 5"/>
          <p:cNvPicPr>
            <a:picLocks noChangeAspect="1" noChangeArrowheads="1"/>
          </p:cNvPicPr>
          <p:nvPr/>
        </p:nvPicPr>
        <p:blipFill>
          <a:blip r:embed="rId3">
            <a:extLst>
              <a:ext uri="{28A0092B-C50C-407E-A947-70E740481C1C}">
                <a14:useLocalDpi xmlns:a14="http://schemas.microsoft.com/office/drawing/2010/main" val="0"/>
              </a:ext>
            </a:extLst>
          </a:blip>
          <a:srcRect l="4778" t="21378" r="4778" b="10330"/>
          <a:stretch>
            <a:fillRect/>
          </a:stretch>
        </p:blipFill>
        <p:spPr bwMode="auto">
          <a:xfrm>
            <a:off x="6600826" y="3573463"/>
            <a:ext cx="2735263" cy="151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2934" name="Text Box 6"/>
          <p:cNvSpPr txBox="1">
            <a:spLocks noChangeArrowheads="1"/>
          </p:cNvSpPr>
          <p:nvPr/>
        </p:nvSpPr>
        <p:spPr bwMode="auto">
          <a:xfrm>
            <a:off x="4008438" y="5084763"/>
            <a:ext cx="10795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hu-HU" altLang="hu-HU"/>
              <a:t>(Rose)</a:t>
            </a:r>
          </a:p>
        </p:txBody>
      </p:sp>
      <p:sp>
        <p:nvSpPr>
          <p:cNvPr id="252935" name="Text Box 7"/>
          <p:cNvSpPr txBox="1">
            <a:spLocks noChangeArrowheads="1"/>
          </p:cNvSpPr>
          <p:nvPr/>
        </p:nvSpPr>
        <p:spPr bwMode="auto">
          <a:xfrm>
            <a:off x="7680325" y="5084763"/>
            <a:ext cx="7191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hu-HU" altLang="hu-HU"/>
              <a:t>(EA)</a:t>
            </a:r>
          </a:p>
        </p:txBody>
      </p:sp>
    </p:spTree>
    <p:extLst>
      <p:ext uri="{BB962C8B-B14F-4D97-AF65-F5344CB8AC3E}">
        <p14:creationId xmlns:p14="http://schemas.microsoft.com/office/powerpoint/2010/main" val="2061628468"/>
      </p:ext>
    </p:extLst>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p:txBody>
          <a:bodyPr/>
          <a:lstStyle/>
          <a:p>
            <a:r>
              <a:rPr lang="hu-HU" altLang="hu-HU"/>
              <a:t>Komponens típusa</a:t>
            </a:r>
          </a:p>
        </p:txBody>
      </p:sp>
      <p:sp>
        <p:nvSpPr>
          <p:cNvPr id="253955" name="Rectangle 3"/>
          <p:cNvSpPr>
            <a:spLocks noGrp="1" noChangeArrowheads="1"/>
          </p:cNvSpPr>
          <p:nvPr>
            <p:ph idx="1"/>
          </p:nvPr>
        </p:nvSpPr>
        <p:spPr/>
        <p:txBody>
          <a:bodyPr>
            <a:normAutofit lnSpcReduction="10000"/>
          </a:bodyPr>
          <a:lstStyle/>
          <a:p>
            <a:r>
              <a:rPr lang="hu-HU" altLang="hu-HU" sz="2600"/>
              <a:t>A komponens-diagramban lehetőség van a komponens típusát külön jelölni: </a:t>
            </a:r>
          </a:p>
          <a:p>
            <a:pPr lvl="1"/>
            <a:r>
              <a:rPr lang="hu-HU" altLang="hu-HU" sz="2200"/>
              <a:t>végrehajtható program : &lt;&lt; executable &gt;&gt;  sztereotípus,</a:t>
            </a:r>
          </a:p>
          <a:p>
            <a:pPr lvl="1"/>
            <a:r>
              <a:rPr lang="hu-HU" altLang="hu-HU" sz="2200"/>
              <a:t>forráskódot vagy adatot tartalmazó állomány: &lt;&lt; file &gt;&gt;  sztereotípus,</a:t>
            </a:r>
          </a:p>
          <a:p>
            <a:pPr lvl="1"/>
            <a:r>
              <a:rPr lang="hu-HU" altLang="hu-HU" sz="2200"/>
              <a:t>statikus vagy dinamikus programkönyvtár: &lt;&lt;library&gt;&gt; sztereotípus,</a:t>
            </a:r>
          </a:p>
          <a:p>
            <a:pPr lvl="1"/>
            <a:r>
              <a:rPr lang="hu-HU" altLang="hu-HU" sz="2200"/>
              <a:t>adatbázistábla: &lt;&lt;table&gt;&gt; sztereotípus,</a:t>
            </a:r>
          </a:p>
          <a:p>
            <a:pPr lvl="1"/>
            <a:r>
              <a:rPr lang="hu-HU" altLang="hu-HU" sz="2200"/>
              <a:t>alapvetően szöveget tartalmazó dokumentum: &lt;&lt;document&gt;&gt; sztereotípus.</a:t>
            </a:r>
            <a:endParaRPr lang="en-US" altLang="hu-HU" sz="2200"/>
          </a:p>
          <a:p>
            <a:endParaRPr lang="hu-HU" altLang="hu-HU" sz="2600"/>
          </a:p>
        </p:txBody>
      </p:sp>
      <p:sp>
        <p:nvSpPr>
          <p:cNvPr id="4" name="Dátum helye 3"/>
          <p:cNvSpPr>
            <a:spLocks noGrp="1"/>
          </p:cNvSpPr>
          <p:nvPr>
            <p:ph type="dt" sz="half" idx="10"/>
          </p:nvPr>
        </p:nvSpPr>
        <p:spPr/>
        <p:txBody>
          <a:bodyPr/>
          <a:lstStyle/>
          <a:p>
            <a:fld id="{7A3EC050-B6CE-45D1-8EA3-029DB03203C8}"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2A815BCF-C698-4661-BEC2-6DD748EEB541}" type="slidenum">
              <a:rPr lang="hu-HU" altLang="hu-HU"/>
              <a:pPr/>
              <a:t>394</a:t>
            </a:fld>
            <a:endParaRPr lang="hu-HU" altLang="hu-HU"/>
          </a:p>
        </p:txBody>
      </p:sp>
    </p:spTree>
    <p:extLst>
      <p:ext uri="{BB962C8B-B14F-4D97-AF65-F5344CB8AC3E}">
        <p14:creationId xmlns:p14="http://schemas.microsoft.com/office/powerpoint/2010/main" val="3831903992"/>
      </p:ext>
    </p:extLst>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p:txBody>
          <a:bodyPr/>
          <a:lstStyle/>
          <a:p>
            <a:r>
              <a:rPr lang="hu-HU" altLang="hu-HU"/>
              <a:t>Interfész</a:t>
            </a:r>
          </a:p>
        </p:txBody>
      </p:sp>
      <p:sp>
        <p:nvSpPr>
          <p:cNvPr id="254979" name="Rectangle 3"/>
          <p:cNvSpPr>
            <a:spLocks noGrp="1" noChangeArrowheads="1"/>
          </p:cNvSpPr>
          <p:nvPr>
            <p:ph idx="1"/>
          </p:nvPr>
        </p:nvSpPr>
        <p:spPr/>
        <p:txBody>
          <a:bodyPr/>
          <a:lstStyle/>
          <a:p>
            <a:r>
              <a:rPr lang="hu-HU" altLang="hu-HU"/>
              <a:t>A komponens diagramban a komponensek által használt vagy felkínált metódusok egy csoportját az interfészek (interface) jelölik.</a:t>
            </a:r>
          </a:p>
          <a:p>
            <a:r>
              <a:rPr lang="hu-HU" altLang="hu-HU"/>
              <a:t>A modellben az interfészeket üres körök szimbolizálják.</a:t>
            </a:r>
          </a:p>
        </p:txBody>
      </p:sp>
      <p:sp>
        <p:nvSpPr>
          <p:cNvPr id="4" name="Dátum helye 3"/>
          <p:cNvSpPr>
            <a:spLocks noGrp="1"/>
          </p:cNvSpPr>
          <p:nvPr>
            <p:ph type="dt" sz="half" idx="10"/>
          </p:nvPr>
        </p:nvSpPr>
        <p:spPr/>
        <p:txBody>
          <a:bodyPr/>
          <a:lstStyle/>
          <a:p>
            <a:fld id="{D7FAB532-238E-4111-B03C-35C752363B7A}"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1F756BDA-18BA-489E-B683-506985D825E5}" type="slidenum">
              <a:rPr lang="hu-HU" altLang="hu-HU"/>
              <a:pPr/>
              <a:t>395</a:t>
            </a:fld>
            <a:endParaRPr lang="hu-HU" altLang="hu-HU"/>
          </a:p>
        </p:txBody>
      </p:sp>
    </p:spTree>
    <p:extLst>
      <p:ext uri="{BB962C8B-B14F-4D97-AF65-F5344CB8AC3E}">
        <p14:creationId xmlns:p14="http://schemas.microsoft.com/office/powerpoint/2010/main" val="760525684"/>
      </p:ext>
    </p:extLst>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p:txBody>
          <a:bodyPr/>
          <a:lstStyle/>
          <a:p>
            <a:r>
              <a:rPr lang="hu-HU" altLang="hu-HU" sz="3400"/>
              <a:t>Komponens-diagram interfésszel</a:t>
            </a:r>
          </a:p>
        </p:txBody>
      </p:sp>
      <p:pic>
        <p:nvPicPr>
          <p:cNvPr id="256004"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143250" y="2205038"/>
            <a:ext cx="5854700" cy="11160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Dátum helye 3"/>
          <p:cNvSpPr>
            <a:spLocks noGrp="1"/>
          </p:cNvSpPr>
          <p:nvPr>
            <p:ph type="dt" sz="half" idx="10"/>
          </p:nvPr>
        </p:nvSpPr>
        <p:spPr/>
        <p:txBody>
          <a:bodyPr/>
          <a:lstStyle/>
          <a:p>
            <a:fld id="{07B91337-ACE7-4C2D-938C-C0484F6E4786}" type="datetime1">
              <a:rPr lang="hu-HU" altLang="hu-HU"/>
              <a:pPr/>
              <a:t>2024. 11. 28.</a:t>
            </a:fld>
            <a:endParaRPr lang="hu-HU" altLang="hu-HU"/>
          </a:p>
        </p:txBody>
      </p:sp>
      <p:sp>
        <p:nvSpPr>
          <p:cNvPr id="6" name="Élőláb helye 4"/>
          <p:cNvSpPr>
            <a:spLocks noGrp="1"/>
          </p:cNvSpPr>
          <p:nvPr>
            <p:ph type="ftr" sz="quarter" idx="11"/>
          </p:nvPr>
        </p:nvSpPr>
        <p:spPr/>
        <p:txBody>
          <a:bodyPr/>
          <a:lstStyle/>
          <a:p>
            <a:r>
              <a:rPr lang="hu-HU" altLang="hu-HU"/>
              <a:t>Szoftvertechnológia II.</a:t>
            </a:r>
          </a:p>
        </p:txBody>
      </p:sp>
      <p:sp>
        <p:nvSpPr>
          <p:cNvPr id="7" name="Dia számának helye 5"/>
          <p:cNvSpPr>
            <a:spLocks noGrp="1"/>
          </p:cNvSpPr>
          <p:nvPr>
            <p:ph type="sldNum" sz="quarter" idx="12"/>
          </p:nvPr>
        </p:nvSpPr>
        <p:spPr/>
        <p:txBody>
          <a:bodyPr/>
          <a:lstStyle/>
          <a:p>
            <a:fld id="{EFA9F953-22F5-4C9D-9B0C-04A2CEEF0951}" type="slidenum">
              <a:rPr lang="hu-HU" altLang="hu-HU"/>
              <a:pPr/>
              <a:t>396</a:t>
            </a:fld>
            <a:endParaRPr lang="hu-HU" altLang="hu-HU"/>
          </a:p>
        </p:txBody>
      </p:sp>
      <p:pic>
        <p:nvPicPr>
          <p:cNvPr id="256005" name="Picture 5"/>
          <p:cNvPicPr>
            <a:picLocks noChangeAspect="1" noChangeArrowheads="1"/>
          </p:cNvPicPr>
          <p:nvPr/>
        </p:nvPicPr>
        <p:blipFill>
          <a:blip r:embed="rId3">
            <a:extLst>
              <a:ext uri="{28A0092B-C50C-407E-A947-70E740481C1C}">
                <a14:useLocalDpi xmlns:a14="http://schemas.microsoft.com/office/drawing/2010/main" val="0"/>
              </a:ext>
            </a:extLst>
          </a:blip>
          <a:srcRect l="2417" t="20883" r="2417" b="8188"/>
          <a:stretch>
            <a:fillRect/>
          </a:stretch>
        </p:blipFill>
        <p:spPr bwMode="auto">
          <a:xfrm>
            <a:off x="3359151" y="4221164"/>
            <a:ext cx="5472113" cy="117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47067105"/>
      </p:ext>
    </p:extLst>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p:cNvSpPr>
            <a:spLocks noGrp="1" noChangeArrowheads="1"/>
          </p:cNvSpPr>
          <p:nvPr>
            <p:ph type="title"/>
          </p:nvPr>
        </p:nvSpPr>
        <p:spPr/>
        <p:txBody>
          <a:bodyPr/>
          <a:lstStyle/>
          <a:p>
            <a:r>
              <a:rPr lang="hu-HU" altLang="hu-HU" sz="3400"/>
              <a:t>A szoftverkomponensek közötti kapcsolat, kommunikáció</a:t>
            </a:r>
          </a:p>
        </p:txBody>
      </p:sp>
      <p:sp>
        <p:nvSpPr>
          <p:cNvPr id="257027" name="Rectangle 3"/>
          <p:cNvSpPr>
            <a:spLocks noGrp="1" noChangeArrowheads="1"/>
          </p:cNvSpPr>
          <p:nvPr>
            <p:ph idx="1"/>
          </p:nvPr>
        </p:nvSpPr>
        <p:spPr/>
        <p:txBody>
          <a:bodyPr/>
          <a:lstStyle/>
          <a:p>
            <a:r>
              <a:rPr lang="hu-HU" altLang="hu-HU"/>
              <a:t>Függőségi viszonnyal írjuk le: </a:t>
            </a:r>
          </a:p>
          <a:p>
            <a:pPr lvl="1"/>
            <a:r>
              <a:rPr lang="hu-HU" altLang="hu-HU"/>
              <a:t>A függőségi viszonnyal jól tudjuk modellezni, hogy  mely komponens melyiknek szolgáltat valamilyen információt, eljárást stb. </a:t>
            </a:r>
          </a:p>
          <a:p>
            <a:pPr lvl="1"/>
            <a:r>
              <a:rPr lang="hu-HU" altLang="hu-HU"/>
              <a:t>A modellben a komponensek közötti függőségi kapcsolatot szaggatott nyíllal prezentáljuk.</a:t>
            </a:r>
          </a:p>
        </p:txBody>
      </p:sp>
      <p:sp>
        <p:nvSpPr>
          <p:cNvPr id="4" name="Dátum helye 3"/>
          <p:cNvSpPr>
            <a:spLocks noGrp="1"/>
          </p:cNvSpPr>
          <p:nvPr>
            <p:ph type="dt" sz="half" idx="10"/>
          </p:nvPr>
        </p:nvSpPr>
        <p:spPr/>
        <p:txBody>
          <a:bodyPr/>
          <a:lstStyle/>
          <a:p>
            <a:fld id="{EDF2745C-9212-41E1-9F22-E8DA4BD3B5C1}"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A4B4FD8A-6CBB-4953-BFC7-43D8CB3D48D9}" type="slidenum">
              <a:rPr lang="hu-HU" altLang="hu-HU"/>
              <a:pPr/>
              <a:t>397</a:t>
            </a:fld>
            <a:endParaRPr lang="hu-HU" altLang="hu-HU"/>
          </a:p>
        </p:txBody>
      </p:sp>
    </p:spTree>
    <p:extLst>
      <p:ext uri="{BB962C8B-B14F-4D97-AF65-F5344CB8AC3E}">
        <p14:creationId xmlns:p14="http://schemas.microsoft.com/office/powerpoint/2010/main" val="4049191525"/>
      </p:ext>
    </p:extLst>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ChangeArrowheads="1"/>
          </p:cNvSpPr>
          <p:nvPr>
            <p:ph type="title"/>
          </p:nvPr>
        </p:nvSpPr>
        <p:spPr/>
        <p:txBody>
          <a:bodyPr/>
          <a:lstStyle/>
          <a:p>
            <a:r>
              <a:rPr lang="hu-HU" altLang="hu-HU"/>
              <a:t>Komponens szintű modell-terv</a:t>
            </a:r>
          </a:p>
        </p:txBody>
      </p:sp>
      <p:sp>
        <p:nvSpPr>
          <p:cNvPr id="258051" name="Rectangle 3"/>
          <p:cNvSpPr>
            <a:spLocks noGrp="1" noChangeArrowheads="1"/>
          </p:cNvSpPr>
          <p:nvPr>
            <p:ph idx="1"/>
          </p:nvPr>
        </p:nvSpPr>
        <p:spPr/>
        <p:txBody>
          <a:bodyPr/>
          <a:lstStyle/>
          <a:p>
            <a:r>
              <a:rPr lang="hu-HU" altLang="hu-HU"/>
              <a:t>A komponens szintű modell-terv a tervezési munkaszakasz végére áll elő. </a:t>
            </a:r>
          </a:p>
          <a:p>
            <a:r>
              <a:rPr lang="hu-HU" altLang="hu-HU"/>
              <a:t>A tervezés leírásai szerint meghatározott szoftverkomponenseket az implementáció munkaszakaszban fejlesztjük ki.</a:t>
            </a:r>
          </a:p>
        </p:txBody>
      </p:sp>
      <p:sp>
        <p:nvSpPr>
          <p:cNvPr id="4" name="Dátum helye 3"/>
          <p:cNvSpPr>
            <a:spLocks noGrp="1"/>
          </p:cNvSpPr>
          <p:nvPr>
            <p:ph type="dt" sz="half" idx="10"/>
          </p:nvPr>
        </p:nvSpPr>
        <p:spPr/>
        <p:txBody>
          <a:bodyPr/>
          <a:lstStyle/>
          <a:p>
            <a:fld id="{B06B0049-45C4-45B8-B5CE-B9002F7D84E7}"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739A52B7-CCE2-4777-82D9-1CCF0CBC7664}" type="slidenum">
              <a:rPr lang="hu-HU" altLang="hu-HU"/>
              <a:pPr/>
              <a:t>398</a:t>
            </a:fld>
            <a:endParaRPr lang="hu-HU" altLang="hu-HU"/>
          </a:p>
        </p:txBody>
      </p:sp>
    </p:spTree>
    <p:extLst>
      <p:ext uri="{BB962C8B-B14F-4D97-AF65-F5344CB8AC3E}">
        <p14:creationId xmlns:p14="http://schemas.microsoft.com/office/powerpoint/2010/main" val="3812011064"/>
      </p:ext>
    </p:extLst>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p:txBody>
          <a:bodyPr/>
          <a:lstStyle/>
          <a:p>
            <a:r>
              <a:rPr lang="hu-HU" altLang="hu-HU"/>
              <a:t>Példa</a:t>
            </a:r>
          </a:p>
        </p:txBody>
      </p:sp>
      <p:pic>
        <p:nvPicPr>
          <p:cNvPr id="259076"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2118519" y="2805906"/>
            <a:ext cx="5715000" cy="2590800"/>
          </a:xfrm>
          <a:noFill/>
          <a:ln/>
          <a:extLst>
            <a:ext uri="{91240B29-F687-4F45-9708-019B960494DF}">
              <a14:hiddenLine xmlns:a14="http://schemas.microsoft.com/office/drawing/2010/main" w="25400" cap="flat" cmpd="sng">
                <a:solidFill>
                  <a:schemeClr val="tx1"/>
                </a:solidFill>
                <a:prstDash val="solid"/>
                <a:miter lim="800000"/>
                <a:headEnd type="none" w="med" len="med"/>
                <a:tailEnd type="none" w="med" len="med"/>
              </a14:hiddenLine>
            </a:ext>
          </a:extLst>
        </p:spPr>
      </p:pic>
      <p:sp>
        <p:nvSpPr>
          <p:cNvPr id="4" name="Dátum helye 3"/>
          <p:cNvSpPr>
            <a:spLocks noGrp="1"/>
          </p:cNvSpPr>
          <p:nvPr>
            <p:ph type="dt" sz="half" idx="10"/>
          </p:nvPr>
        </p:nvSpPr>
        <p:spPr/>
        <p:txBody>
          <a:bodyPr/>
          <a:lstStyle/>
          <a:p>
            <a:fld id="{CE48D249-8DD6-48F8-B58D-C6BF54EB8AFF}"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49958725-E817-4F60-B372-2A61E62D4EE6}" type="slidenum">
              <a:rPr lang="hu-HU" altLang="hu-HU"/>
              <a:pPr/>
              <a:t>399</a:t>
            </a:fld>
            <a:endParaRPr lang="hu-HU" altLang="hu-HU"/>
          </a:p>
        </p:txBody>
      </p:sp>
    </p:spTree>
    <p:extLst>
      <p:ext uri="{BB962C8B-B14F-4D97-AF65-F5344CB8AC3E}">
        <p14:creationId xmlns:p14="http://schemas.microsoft.com/office/powerpoint/2010/main" val="2865556884"/>
      </p:ext>
    </p:extLst>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100" name="Rectangle 4"/>
          <p:cNvSpPr>
            <a:spLocks noGrp="1" noChangeArrowheads="1"/>
          </p:cNvSpPr>
          <p:nvPr>
            <p:ph type="ctrTitle"/>
          </p:nvPr>
        </p:nvSpPr>
        <p:spPr/>
        <p:txBody>
          <a:bodyPr/>
          <a:lstStyle/>
          <a:p>
            <a:endParaRPr lang="hu-HU" altLang="hu-HU"/>
          </a:p>
        </p:txBody>
      </p:sp>
      <p:sp>
        <p:nvSpPr>
          <p:cNvPr id="260101" name="Rectangle 5"/>
          <p:cNvSpPr>
            <a:spLocks noGrp="1" noChangeArrowheads="1"/>
          </p:cNvSpPr>
          <p:nvPr>
            <p:ph type="subTitle" idx="1"/>
          </p:nvPr>
        </p:nvSpPr>
        <p:spPr/>
        <p:txBody>
          <a:bodyPr/>
          <a:lstStyle/>
          <a:p>
            <a:r>
              <a:rPr lang="hu-HU" altLang="hu-HU"/>
              <a:t>Telepítési diagram</a:t>
            </a:r>
          </a:p>
        </p:txBody>
      </p:sp>
    </p:spTree>
    <p:extLst>
      <p:ext uri="{BB962C8B-B14F-4D97-AF65-F5344CB8AC3E}">
        <p14:creationId xmlns:p14="http://schemas.microsoft.com/office/powerpoint/2010/main" val="3385420880"/>
      </p:ext>
    </p:extLst>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p:cNvSpPr>
            <a:spLocks noGrp="1" noChangeArrowheads="1"/>
          </p:cNvSpPr>
          <p:nvPr>
            <p:ph type="title"/>
          </p:nvPr>
        </p:nvSpPr>
        <p:spPr/>
        <p:txBody>
          <a:bodyPr/>
          <a:lstStyle/>
          <a:p>
            <a:r>
              <a:rPr lang="hu-HU" altLang="hu-HU"/>
              <a:t>Telepítési diagram</a:t>
            </a:r>
          </a:p>
        </p:txBody>
      </p:sp>
      <p:sp>
        <p:nvSpPr>
          <p:cNvPr id="262147" name="Rectangle 3"/>
          <p:cNvSpPr>
            <a:spLocks noGrp="1" noChangeArrowheads="1"/>
          </p:cNvSpPr>
          <p:nvPr>
            <p:ph idx="1"/>
          </p:nvPr>
        </p:nvSpPr>
        <p:spPr/>
        <p:txBody>
          <a:bodyPr/>
          <a:lstStyle/>
          <a:p>
            <a:r>
              <a:rPr lang="hu-HU" altLang="hu-HU"/>
              <a:t>Deployment diagram.</a:t>
            </a:r>
          </a:p>
          <a:p>
            <a:r>
              <a:rPr lang="hu-HU" altLang="hu-HU"/>
              <a:t>Egy teljes informatikai rendszer szoftver és hardver komponenseit mutatja be, a köztük levő információs kapcsolatok, összefüggések feltüntetésével.</a:t>
            </a:r>
          </a:p>
        </p:txBody>
      </p:sp>
      <p:sp>
        <p:nvSpPr>
          <p:cNvPr id="4" name="Dátum helye 3"/>
          <p:cNvSpPr>
            <a:spLocks noGrp="1"/>
          </p:cNvSpPr>
          <p:nvPr>
            <p:ph type="dt" sz="half" idx="10"/>
          </p:nvPr>
        </p:nvSpPr>
        <p:spPr/>
        <p:txBody>
          <a:bodyPr/>
          <a:lstStyle/>
          <a:p>
            <a:fld id="{CB037B68-4088-4960-9967-32BB3F077C69}"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C0EA52BF-3257-4126-9021-DE06F2BFE082}" type="slidenum">
              <a:rPr lang="hu-HU" altLang="hu-HU"/>
              <a:pPr/>
              <a:t>401</a:t>
            </a:fld>
            <a:endParaRPr lang="hu-HU" altLang="hu-HU"/>
          </a:p>
        </p:txBody>
      </p:sp>
    </p:spTree>
    <p:extLst>
      <p:ext uri="{BB962C8B-B14F-4D97-AF65-F5344CB8AC3E}">
        <p14:creationId xmlns:p14="http://schemas.microsoft.com/office/powerpoint/2010/main" val="1099335133"/>
      </p:ext>
    </p:extLst>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p:txBody>
          <a:bodyPr/>
          <a:lstStyle/>
          <a:p>
            <a:r>
              <a:rPr lang="hu-HU" altLang="hu-HU" sz="4000"/>
              <a:t>Telepítési diagram</a:t>
            </a:r>
            <a:endParaRPr lang="en-US" altLang="hu-HU" sz="4000"/>
          </a:p>
        </p:txBody>
      </p:sp>
      <p:sp>
        <p:nvSpPr>
          <p:cNvPr id="13317" name="Rectangle 3"/>
          <p:cNvSpPr>
            <a:spLocks noGrp="1" noChangeArrowheads="1"/>
          </p:cNvSpPr>
          <p:nvPr>
            <p:ph idx="1"/>
          </p:nvPr>
        </p:nvSpPr>
        <p:spPr/>
        <p:txBody>
          <a:bodyPr/>
          <a:lstStyle/>
          <a:p>
            <a:r>
              <a:rPr lang="hu-HU" altLang="hu-HU" smtClean="0"/>
              <a:t>Deployment diagram.</a:t>
            </a:r>
          </a:p>
          <a:p>
            <a:r>
              <a:rPr lang="hu-HU" altLang="hu-HU" smtClean="0"/>
              <a:t>Egy teljes informatikai rendszer szoftver és hardver komponenseit mutatja be, a köztük levő információs kapcsolatok, összefüggések feltüntetésével.</a:t>
            </a:r>
            <a:endParaRPr lang="en-US" altLang="hu-HU" smtClean="0"/>
          </a:p>
        </p:txBody>
      </p:sp>
      <p:sp>
        <p:nvSpPr>
          <p:cNvPr id="5" name="Dátum helye 5"/>
          <p:cNvSpPr>
            <a:spLocks noGrp="1"/>
          </p:cNvSpPr>
          <p:nvPr>
            <p:ph type="dt" sz="half" idx="10"/>
          </p:nvPr>
        </p:nvSpPr>
        <p:spPr>
          <a:xfrm>
            <a:off x="8077200" y="6356351"/>
            <a:ext cx="2133600" cy="365125"/>
          </a:xfrm>
        </p:spPr>
        <p:txBody>
          <a:bodyPr/>
          <a:lstStyle/>
          <a:p>
            <a:pPr algn="r">
              <a:defRPr/>
            </a:pPr>
            <a:fld id="{8650816E-DB52-4760-AF05-A297DEE6E40E}" type="datetime4">
              <a:rPr lang="hu-HU"/>
              <a:pPr algn="r">
                <a:defRPr/>
              </a:pPr>
              <a:t>2024. november 28.</a:t>
            </a:fld>
            <a:endParaRPr lang="hu-HU"/>
          </a:p>
        </p:txBody>
      </p:sp>
      <p:sp>
        <p:nvSpPr>
          <p:cNvPr id="4" name="Dia számának helye 4"/>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D83B17CB-37AE-49C8-89DB-9F1D52FF13D1}" type="slidenum">
              <a:rPr lang="hu-HU" altLang="hu-HU">
                <a:solidFill>
                  <a:srgbClr val="898989"/>
                </a:solidFill>
              </a:rPr>
              <a:pPr algn="ctr"/>
              <a:t>402</a:t>
            </a:fld>
            <a:endParaRPr lang="hu-HU" altLang="hu-HU">
              <a:solidFill>
                <a:srgbClr val="898989"/>
              </a:solidFill>
            </a:endParaRPr>
          </a:p>
        </p:txBody>
      </p:sp>
    </p:spTree>
    <p:extLst>
      <p:ext uri="{BB962C8B-B14F-4D97-AF65-F5344CB8AC3E}">
        <p14:creationId xmlns:p14="http://schemas.microsoft.com/office/powerpoint/2010/main" val="2372888596"/>
      </p:ext>
    </p:extLst>
  </p:cSld>
  <p:clrMapOvr>
    <a:masterClrMapping/>
  </p:clrMapOvr>
  <p:timing>
    <p:tnLst>
      <p:par>
        <p:cTn id="1" dur="indefinite" restart="never" nodeType="tmRoot"/>
      </p:par>
    </p:tnLst>
  </p:timing>
</p:sld>
</file>

<file path=ppt/slides/slide4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p:txBody>
          <a:bodyPr/>
          <a:lstStyle/>
          <a:p>
            <a:r>
              <a:rPr lang="hu-HU" altLang="hu-HU" sz="4000"/>
              <a:t>Telepítési diagram</a:t>
            </a:r>
            <a:endParaRPr lang="en-US" altLang="hu-HU" sz="4000"/>
          </a:p>
        </p:txBody>
      </p:sp>
      <p:sp>
        <p:nvSpPr>
          <p:cNvPr id="14341" name="Rectangle 3"/>
          <p:cNvSpPr>
            <a:spLocks noGrp="1" noChangeArrowheads="1"/>
          </p:cNvSpPr>
          <p:nvPr>
            <p:ph idx="1"/>
          </p:nvPr>
        </p:nvSpPr>
        <p:spPr/>
        <p:txBody>
          <a:bodyPr/>
          <a:lstStyle/>
          <a:p>
            <a:r>
              <a:rPr lang="hu-HU" altLang="hu-HU" smtClean="0"/>
              <a:t>A diagram minden egyes csomópontja (node) valamilyen számítási feldolgozási egységet képvisel, egy szoftver vagy egy hardver elemet. </a:t>
            </a:r>
          </a:p>
          <a:p>
            <a:pPr lvl="1"/>
            <a:r>
              <a:rPr lang="hu-HU" altLang="hu-HU" smtClean="0"/>
              <a:t>A hardver lehet egy kisebb egység, de lehet egy teljes számítógép is.</a:t>
            </a:r>
            <a:endParaRPr lang="en-US" altLang="hu-HU" smtClean="0"/>
          </a:p>
        </p:txBody>
      </p:sp>
      <p:sp>
        <p:nvSpPr>
          <p:cNvPr id="5" name="Dátum helye 5"/>
          <p:cNvSpPr>
            <a:spLocks noGrp="1"/>
          </p:cNvSpPr>
          <p:nvPr>
            <p:ph type="dt" sz="half" idx="10"/>
          </p:nvPr>
        </p:nvSpPr>
        <p:spPr>
          <a:xfrm>
            <a:off x="8077200" y="6356351"/>
            <a:ext cx="2133600" cy="365125"/>
          </a:xfrm>
        </p:spPr>
        <p:txBody>
          <a:bodyPr/>
          <a:lstStyle/>
          <a:p>
            <a:pPr algn="r">
              <a:defRPr/>
            </a:pPr>
            <a:fld id="{5811BDF5-B7C0-4585-AECD-F68593AFA224}" type="datetime4">
              <a:rPr lang="hu-HU"/>
              <a:pPr algn="r">
                <a:defRPr/>
              </a:pPr>
              <a:t>2024. november 28.</a:t>
            </a:fld>
            <a:endParaRPr lang="hu-HU"/>
          </a:p>
        </p:txBody>
      </p:sp>
      <p:sp>
        <p:nvSpPr>
          <p:cNvPr id="4" name="Dia számának helye 4"/>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289D91C7-FB5B-4AB5-BBA3-C151157E1B7F}" type="slidenum">
              <a:rPr lang="hu-HU" altLang="hu-HU">
                <a:solidFill>
                  <a:srgbClr val="898989"/>
                </a:solidFill>
              </a:rPr>
              <a:pPr algn="ctr"/>
              <a:t>403</a:t>
            </a:fld>
            <a:endParaRPr lang="hu-HU" altLang="hu-HU">
              <a:solidFill>
                <a:srgbClr val="898989"/>
              </a:solidFill>
            </a:endParaRPr>
          </a:p>
        </p:txBody>
      </p:sp>
    </p:spTree>
    <p:extLst>
      <p:ext uri="{BB962C8B-B14F-4D97-AF65-F5344CB8AC3E}">
        <p14:creationId xmlns:p14="http://schemas.microsoft.com/office/powerpoint/2010/main" val="3761718735"/>
      </p:ext>
    </p:extLst>
  </p:cSld>
  <p:clrMapOvr>
    <a:masterClrMapping/>
  </p:clrMapOvr>
  <p:timing>
    <p:tnLst>
      <p:par>
        <p:cTn id="1" dur="indefinite" restart="never" nodeType="tmRoot"/>
      </p:par>
    </p:tnLst>
  </p:timing>
</p:sld>
</file>

<file path=ppt/slides/slide4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a:xfrm>
            <a:off x="1992313" y="777876"/>
            <a:ext cx="8229600" cy="703263"/>
          </a:xfrm>
        </p:spPr>
        <p:txBody>
          <a:bodyPr>
            <a:normAutofit fontScale="90000"/>
          </a:bodyPr>
          <a:lstStyle/>
          <a:p>
            <a:r>
              <a:rPr lang="hu-HU" altLang="hu-HU" sz="4000"/>
              <a:t>Egy kórházi rendszer hardver elemei</a:t>
            </a:r>
            <a:r>
              <a:rPr lang="en-US" altLang="hu-HU" sz="4000"/>
              <a:t> </a:t>
            </a:r>
          </a:p>
        </p:txBody>
      </p:sp>
      <p:sp>
        <p:nvSpPr>
          <p:cNvPr id="5" name="Dátum helye 5"/>
          <p:cNvSpPr>
            <a:spLocks noGrp="1"/>
          </p:cNvSpPr>
          <p:nvPr>
            <p:ph type="dt" sz="half" idx="10"/>
          </p:nvPr>
        </p:nvSpPr>
        <p:spPr>
          <a:xfrm>
            <a:off x="8077200" y="6356351"/>
            <a:ext cx="2133600" cy="365125"/>
          </a:xfrm>
        </p:spPr>
        <p:txBody>
          <a:bodyPr/>
          <a:lstStyle/>
          <a:p>
            <a:pPr algn="r">
              <a:defRPr/>
            </a:pPr>
            <a:fld id="{3B4B30AC-AB18-4FC2-B338-F2B7C61DCD4A}" type="datetime4">
              <a:rPr lang="hu-HU"/>
              <a:pPr algn="r">
                <a:defRPr/>
              </a:pPr>
              <a:t>2024. november 28.</a:t>
            </a:fld>
            <a:endParaRPr lang="hu-HU"/>
          </a:p>
        </p:txBody>
      </p:sp>
      <p:sp>
        <p:nvSpPr>
          <p:cNvPr id="4" name="Dia számának helye 4"/>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F41A5A4A-D97D-4709-B469-CA1B514A246C}" type="slidenum">
              <a:rPr lang="hu-HU" altLang="hu-HU">
                <a:solidFill>
                  <a:srgbClr val="898989"/>
                </a:solidFill>
              </a:rPr>
              <a:pPr algn="ctr"/>
              <a:t>404</a:t>
            </a:fld>
            <a:endParaRPr lang="hu-HU" altLang="hu-HU">
              <a:solidFill>
                <a:srgbClr val="898989"/>
              </a:solidFill>
            </a:endParaRPr>
          </a:p>
        </p:txBody>
      </p:sp>
      <p:pic>
        <p:nvPicPr>
          <p:cNvPr id="1536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0614" y="2119314"/>
            <a:ext cx="8307387" cy="278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85919068"/>
      </p:ext>
    </p:extLst>
  </p:cSld>
  <p:clrMapOvr>
    <a:masterClrMapping/>
  </p:clrMapOvr>
  <p:timing>
    <p:tnLst>
      <p:par>
        <p:cTn id="1" dur="indefinite" restart="never" nodeType="tmRoot"/>
      </p:par>
    </p:tnLst>
  </p:timing>
</p:sld>
</file>

<file path=ppt/slides/slide4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p:txBody>
          <a:bodyPr/>
          <a:lstStyle/>
          <a:p>
            <a:r>
              <a:rPr lang="hu-HU" altLang="hu-HU" sz="4000"/>
              <a:t>A kórházi rendszer telepítési diagramja</a:t>
            </a:r>
            <a:r>
              <a:rPr lang="en-US" altLang="hu-HU" sz="4000"/>
              <a:t> </a:t>
            </a:r>
          </a:p>
        </p:txBody>
      </p:sp>
      <p:sp>
        <p:nvSpPr>
          <p:cNvPr id="4" name="Dátum helye 5"/>
          <p:cNvSpPr>
            <a:spLocks noGrp="1"/>
          </p:cNvSpPr>
          <p:nvPr>
            <p:ph type="dt" sz="half" idx="10"/>
          </p:nvPr>
        </p:nvSpPr>
        <p:spPr>
          <a:xfrm>
            <a:off x="8077200" y="6356351"/>
            <a:ext cx="2133600" cy="365125"/>
          </a:xfrm>
        </p:spPr>
        <p:txBody>
          <a:bodyPr/>
          <a:lstStyle/>
          <a:p>
            <a:pPr algn="r">
              <a:defRPr/>
            </a:pPr>
            <a:fld id="{86B87488-F094-4DFC-841E-92EA23D38ACE}" type="datetime4">
              <a:rPr lang="hu-HU"/>
              <a:pPr algn="r">
                <a:defRPr/>
              </a:pPr>
              <a:t>2024. november 28.</a:t>
            </a:fld>
            <a:endParaRPr lang="hu-HU"/>
          </a:p>
        </p:txBody>
      </p:sp>
      <p:sp>
        <p:nvSpPr>
          <p:cNvPr id="3" name="Dia számának helye 4"/>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E4717EF8-7C3C-4741-B746-FD387E3C99E8}" type="slidenum">
              <a:rPr lang="hu-HU" altLang="hu-HU">
                <a:solidFill>
                  <a:srgbClr val="898989"/>
                </a:solidFill>
              </a:rPr>
              <a:pPr algn="ctr"/>
              <a:t>405</a:t>
            </a:fld>
            <a:endParaRPr lang="hu-HU" altLang="hu-HU">
              <a:solidFill>
                <a:srgbClr val="898989"/>
              </a:solidFill>
            </a:endParaRPr>
          </a:p>
        </p:txBody>
      </p:sp>
    </p:spTree>
    <p:extLst>
      <p:ext uri="{BB962C8B-B14F-4D97-AF65-F5344CB8AC3E}">
        <p14:creationId xmlns:p14="http://schemas.microsoft.com/office/powerpoint/2010/main" val="3171860782"/>
      </p:ext>
    </p:extLst>
  </p:cSld>
  <p:clrMapOvr>
    <a:masterClrMapping/>
  </p:clrMapOvr>
  <p:timing>
    <p:tnLst>
      <p:par>
        <p:cTn id="1" dur="indefinite" restart="never" nodeType="tmRoot"/>
      </p:par>
    </p:tnLst>
  </p:timing>
</p:sld>
</file>

<file path=ppt/slides/slide4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átum helye 3"/>
          <p:cNvSpPr>
            <a:spLocks noGrp="1"/>
          </p:cNvSpPr>
          <p:nvPr>
            <p:ph type="dt" sz="half" idx="10"/>
          </p:nvPr>
        </p:nvSpPr>
        <p:spPr>
          <a:xfrm>
            <a:off x="8077200" y="6356351"/>
            <a:ext cx="2133600" cy="365125"/>
          </a:xfrm>
        </p:spPr>
        <p:txBody>
          <a:bodyPr/>
          <a:lstStyle/>
          <a:p>
            <a:pPr algn="r">
              <a:defRPr/>
            </a:pPr>
            <a:fld id="{649629EB-3809-4792-B6F1-86D79D19ACA1}" type="datetime4">
              <a:rPr lang="hu-HU"/>
              <a:pPr algn="r">
                <a:defRPr/>
              </a:pPr>
              <a:t>2024. november 28.</a:t>
            </a:fld>
            <a:endParaRPr lang="hu-HU"/>
          </a:p>
        </p:txBody>
      </p:sp>
      <p:sp>
        <p:nvSpPr>
          <p:cNvPr id="4" name="Dia számának helye 2"/>
          <p:cNvSpPr>
            <a:spLocks noGrp="1"/>
          </p:cNvSpPr>
          <p:nvPr>
            <p:ph type="sldNum" sz="quarter" idx="12"/>
          </p:nvPr>
        </p:nvSpPr>
        <p:spPr>
          <a:xfrm>
            <a:off x="4648200" y="6356351"/>
            <a:ext cx="28956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fld id="{2970E899-CAE1-409B-9DE2-2A62A7AB335C}" type="slidenum">
              <a:rPr lang="hu-HU" altLang="hu-HU">
                <a:solidFill>
                  <a:srgbClr val="898989"/>
                </a:solidFill>
              </a:rPr>
              <a:pPr algn="ctr"/>
              <a:t>406</a:t>
            </a:fld>
            <a:endParaRPr lang="hu-HU" altLang="hu-HU">
              <a:solidFill>
                <a:srgbClr val="898989"/>
              </a:solidFill>
            </a:endParaRPr>
          </a:p>
        </p:txBody>
      </p:sp>
      <p:sp>
        <p:nvSpPr>
          <p:cNvPr id="17412" name="Rectangle 2"/>
          <p:cNvSpPr>
            <a:spLocks noChangeArrowheads="1"/>
          </p:cNvSpPr>
          <p:nvPr/>
        </p:nvSpPr>
        <p:spPr bwMode="auto">
          <a:xfrm>
            <a:off x="1524001" y="-8704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hu-HU" altLang="hu-HU"/>
          </a:p>
        </p:txBody>
      </p:sp>
      <p:graphicFrame>
        <p:nvGraphicFramePr>
          <p:cNvPr id="17413" name="Object 3"/>
          <p:cNvGraphicFramePr>
            <a:graphicFrameLocks noChangeAspect="1"/>
          </p:cNvGraphicFramePr>
          <p:nvPr/>
        </p:nvGraphicFramePr>
        <p:xfrm>
          <a:off x="3582989" y="171450"/>
          <a:ext cx="4619625" cy="6858000"/>
        </p:xfrm>
        <a:graphic>
          <a:graphicData uri="http://schemas.openxmlformats.org/presentationml/2006/ole">
            <mc:AlternateContent xmlns:mc="http://schemas.openxmlformats.org/markup-compatibility/2006">
              <mc:Choice xmlns:v="urn:schemas-microsoft-com:vml" Requires="v">
                <p:oleObj spid="_x0000_s7170" name="ABC FlowCharter" r:id="rId3" imgW="5975033" imgH="8858250" progId="ABCFlow">
                  <p:embed/>
                </p:oleObj>
              </mc:Choice>
              <mc:Fallback>
                <p:oleObj name="ABC FlowCharter" r:id="rId3" imgW="5975033" imgH="8858250" progId="ABCFlow">
                  <p:embed/>
                  <p:pic>
                    <p:nvPicPr>
                      <p:cNvPr id="1741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2989" y="171450"/>
                        <a:ext cx="46196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08241201"/>
      </p:ext>
    </p:extLst>
  </p:cSld>
  <p:clrMapOvr>
    <a:masterClrMapping/>
  </p:clrMapOvr>
  <p:timing>
    <p:tnLst>
      <p:par>
        <p:cTn id="1" dur="indefinite" restart="never" nodeType="tmRoot"/>
      </p:par>
    </p:tnLst>
  </p:timing>
</p:sld>
</file>

<file path=ppt/slides/slide4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p:txBody>
          <a:bodyPr/>
          <a:lstStyle/>
          <a:p>
            <a:r>
              <a:rPr lang="hu-HU" altLang="hu-HU"/>
              <a:t>Telepítési diagram (folyt.)</a:t>
            </a:r>
          </a:p>
        </p:txBody>
      </p:sp>
      <p:sp>
        <p:nvSpPr>
          <p:cNvPr id="263171" name="Rectangle 3"/>
          <p:cNvSpPr>
            <a:spLocks noGrp="1" noChangeArrowheads="1"/>
          </p:cNvSpPr>
          <p:nvPr>
            <p:ph idx="1"/>
          </p:nvPr>
        </p:nvSpPr>
        <p:spPr/>
        <p:txBody>
          <a:bodyPr/>
          <a:lstStyle/>
          <a:p>
            <a:r>
              <a:rPr lang="hu-HU" altLang="hu-HU"/>
              <a:t>A diagram minden egyes csomópontja (node) valamilyen számítási feldolgozási egységet képvisel, egy szoftver vagy egy hardver elemet. </a:t>
            </a:r>
          </a:p>
          <a:p>
            <a:pPr lvl="1"/>
            <a:r>
              <a:rPr lang="hu-HU" altLang="hu-HU"/>
              <a:t>A hardver lehet egy kisebb egység, de lehet egy teljes számítógép is.</a:t>
            </a:r>
            <a:endParaRPr lang="en-US" altLang="hu-HU"/>
          </a:p>
          <a:p>
            <a:endParaRPr lang="hu-HU" altLang="hu-HU"/>
          </a:p>
        </p:txBody>
      </p:sp>
      <p:sp>
        <p:nvSpPr>
          <p:cNvPr id="4" name="Dátum helye 3"/>
          <p:cNvSpPr>
            <a:spLocks noGrp="1"/>
          </p:cNvSpPr>
          <p:nvPr>
            <p:ph type="dt" sz="half" idx="10"/>
          </p:nvPr>
        </p:nvSpPr>
        <p:spPr/>
        <p:txBody>
          <a:bodyPr/>
          <a:lstStyle/>
          <a:p>
            <a:fld id="{D6BA147F-A5DC-4566-8B87-52A59880A672}"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27399213-9EBF-4D01-84E2-E833A2DEF0C1}" type="slidenum">
              <a:rPr lang="hu-HU" altLang="hu-HU"/>
              <a:pPr/>
              <a:t>407</a:t>
            </a:fld>
            <a:endParaRPr lang="hu-HU" altLang="hu-HU"/>
          </a:p>
        </p:txBody>
      </p:sp>
    </p:spTree>
    <p:extLst>
      <p:ext uri="{BB962C8B-B14F-4D97-AF65-F5344CB8AC3E}">
        <p14:creationId xmlns:p14="http://schemas.microsoft.com/office/powerpoint/2010/main" val="2997004100"/>
      </p:ext>
    </p:extLst>
  </p:cSld>
  <p:clrMapOvr>
    <a:masterClrMapping/>
  </p:clrMapOvr>
</p:sld>
</file>

<file path=ppt/slides/slide4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p:txBody>
          <a:bodyPr/>
          <a:lstStyle/>
          <a:p>
            <a:r>
              <a:rPr lang="hu-HU" altLang="hu-HU" sz="3400"/>
              <a:t>Példa1: szabadidő központ hardver elemei</a:t>
            </a:r>
          </a:p>
        </p:txBody>
      </p:sp>
      <p:pic>
        <p:nvPicPr>
          <p:cNvPr id="264196"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1277" t="4773" r="1102" b="2141"/>
          <a:stretch>
            <a:fillRect/>
          </a:stretch>
        </p:blipFill>
        <p:spPr>
          <a:xfrm>
            <a:off x="2208214" y="1852614"/>
            <a:ext cx="7775575" cy="4160837"/>
          </a:xfrm>
          <a:noFill/>
          <a:ln/>
        </p:spPr>
      </p:pic>
      <p:sp>
        <p:nvSpPr>
          <p:cNvPr id="4" name="Dátum helye 3"/>
          <p:cNvSpPr>
            <a:spLocks noGrp="1"/>
          </p:cNvSpPr>
          <p:nvPr>
            <p:ph type="dt" sz="half" idx="10"/>
          </p:nvPr>
        </p:nvSpPr>
        <p:spPr/>
        <p:txBody>
          <a:bodyPr/>
          <a:lstStyle/>
          <a:p>
            <a:fld id="{DD3BC52A-30E2-4468-8757-BE7B4A6A99C4}"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1B183B1F-B39A-47E0-8FB3-96FB8FDBF1CC}" type="slidenum">
              <a:rPr lang="hu-HU" altLang="hu-HU"/>
              <a:pPr/>
              <a:t>408</a:t>
            </a:fld>
            <a:endParaRPr lang="hu-HU" altLang="hu-HU"/>
          </a:p>
        </p:txBody>
      </p:sp>
    </p:spTree>
    <p:extLst>
      <p:ext uri="{BB962C8B-B14F-4D97-AF65-F5344CB8AC3E}">
        <p14:creationId xmlns:p14="http://schemas.microsoft.com/office/powerpoint/2010/main" val="3005447528"/>
      </p:ext>
    </p:extLst>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p:txBody>
          <a:bodyPr/>
          <a:lstStyle/>
          <a:p>
            <a:r>
              <a:rPr lang="hu-HU" altLang="hu-HU" sz="3400"/>
              <a:t>Példa2: szabadidő központ telepítési diagramja</a:t>
            </a:r>
          </a:p>
        </p:txBody>
      </p:sp>
      <p:pic>
        <p:nvPicPr>
          <p:cNvPr id="265220"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1451" t="4976" r="1303" b="2310"/>
          <a:stretch>
            <a:fillRect/>
          </a:stretch>
        </p:blipFill>
        <p:spPr>
          <a:xfrm>
            <a:off x="1919288" y="2049464"/>
            <a:ext cx="8280400" cy="3735387"/>
          </a:xfrm>
          <a:noFill/>
          <a:ln/>
        </p:spPr>
      </p:pic>
      <p:sp>
        <p:nvSpPr>
          <p:cNvPr id="4" name="Dátum helye 3"/>
          <p:cNvSpPr>
            <a:spLocks noGrp="1"/>
          </p:cNvSpPr>
          <p:nvPr>
            <p:ph type="dt" sz="half" idx="10"/>
          </p:nvPr>
        </p:nvSpPr>
        <p:spPr/>
        <p:txBody>
          <a:bodyPr/>
          <a:lstStyle/>
          <a:p>
            <a:fld id="{14D00C0F-9A72-4D1A-857C-AA6094BAE78E}" type="datetime1">
              <a:rPr lang="hu-HU" altLang="hu-HU"/>
              <a:pPr/>
              <a:t>2024. 11. 28.</a:t>
            </a:fld>
            <a:endParaRPr lang="hu-HU" altLang="hu-HU"/>
          </a:p>
        </p:txBody>
      </p:sp>
      <p:sp>
        <p:nvSpPr>
          <p:cNvPr id="5" name="Élőláb helye 4"/>
          <p:cNvSpPr>
            <a:spLocks noGrp="1"/>
          </p:cNvSpPr>
          <p:nvPr>
            <p:ph type="ftr" sz="quarter" idx="11"/>
          </p:nvPr>
        </p:nvSpPr>
        <p:spPr/>
        <p:txBody>
          <a:bodyPr/>
          <a:lstStyle/>
          <a:p>
            <a:r>
              <a:rPr lang="hu-HU" altLang="hu-HU"/>
              <a:t>Szoftvertechnológia II.</a:t>
            </a:r>
          </a:p>
        </p:txBody>
      </p:sp>
      <p:sp>
        <p:nvSpPr>
          <p:cNvPr id="6" name="Dia számának helye 5"/>
          <p:cNvSpPr>
            <a:spLocks noGrp="1"/>
          </p:cNvSpPr>
          <p:nvPr>
            <p:ph type="sldNum" sz="quarter" idx="12"/>
          </p:nvPr>
        </p:nvSpPr>
        <p:spPr/>
        <p:txBody>
          <a:bodyPr/>
          <a:lstStyle/>
          <a:p>
            <a:fld id="{4D31F2B3-00AD-4179-90FA-36C50C55246D}" type="slidenum">
              <a:rPr lang="hu-HU" altLang="hu-HU"/>
              <a:pPr/>
              <a:t>409</a:t>
            </a:fld>
            <a:endParaRPr lang="hu-HU" altLang="hu-HU"/>
          </a:p>
        </p:txBody>
      </p:sp>
    </p:spTree>
    <p:extLst>
      <p:ext uri="{BB962C8B-B14F-4D97-AF65-F5344CB8AC3E}">
        <p14:creationId xmlns:p14="http://schemas.microsoft.com/office/powerpoint/2010/main" val="1809096943"/>
      </p:ext>
    </p:extLst>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4946" name="Rectangle 2"/>
          <p:cNvSpPr>
            <a:spLocks noGrp="1" noChangeArrowheads="1"/>
          </p:cNvSpPr>
          <p:nvPr>
            <p:ph type="title"/>
          </p:nvPr>
        </p:nvSpPr>
        <p:spPr>
          <a:xfrm>
            <a:off x="2024034" y="2928934"/>
            <a:ext cx="8229600" cy="1309708"/>
          </a:xfrm>
        </p:spPr>
        <p:txBody>
          <a:bodyPr>
            <a:normAutofit fontScale="90000"/>
          </a:bodyPr>
          <a:lstStyle/>
          <a:p>
            <a:r>
              <a:rPr lang="hu-HU" sz="4000" dirty="0"/>
              <a:t>Egy </a:t>
            </a:r>
            <a:r>
              <a:rPr lang="hu-HU" sz="4000" dirty="0" err="1"/>
              <a:t>UML-modell</a:t>
            </a:r>
            <a:r>
              <a:rPr lang="hu-HU" sz="4000" dirty="0"/>
              <a:t> összefüggősége és teljessége</a:t>
            </a:r>
            <a:br>
              <a:rPr lang="hu-HU" sz="4000" dirty="0"/>
            </a:br>
            <a:endParaRPr lang="en-US" sz="4000" dirty="0"/>
          </a:p>
        </p:txBody>
      </p:sp>
      <p:sp>
        <p:nvSpPr>
          <p:cNvPr id="4" name="Dátum helye 5"/>
          <p:cNvSpPr>
            <a:spLocks noGrp="1"/>
          </p:cNvSpPr>
          <p:nvPr>
            <p:ph type="dt" sz="half" idx="10"/>
          </p:nvPr>
        </p:nvSpPr>
        <p:spPr>
          <a:xfrm>
            <a:off x="11129963" y="5916613"/>
            <a:ext cx="1062037" cy="490537"/>
          </a:xfrm>
        </p:spPr>
        <p:txBody>
          <a:bodyPr/>
          <a:lstStyle/>
          <a:p>
            <a:fld id="{67B894BE-4FA5-4812-ADFB-F8299EBA7DB3}" type="datetime4">
              <a:rPr lang="hu-HU"/>
              <a:pPr/>
              <a:t>2024. november 28.</a:t>
            </a:fld>
            <a:endParaRPr lang="hu-HU"/>
          </a:p>
        </p:txBody>
      </p:sp>
      <p:sp>
        <p:nvSpPr>
          <p:cNvPr id="3" name="Dia számának helye 4"/>
          <p:cNvSpPr>
            <a:spLocks noGrp="1"/>
          </p:cNvSpPr>
          <p:nvPr>
            <p:ph type="sldNum" sz="quarter" idx="12"/>
          </p:nvPr>
        </p:nvSpPr>
        <p:spPr>
          <a:xfrm>
            <a:off x="0" y="6042025"/>
            <a:ext cx="8645525" cy="365125"/>
          </a:xfrm>
        </p:spPr>
        <p:txBody>
          <a:bodyPr/>
          <a:lstStyle/>
          <a:p>
            <a:fld id="{2162C8BA-F4AE-4C81-8472-FF28E9560E84}" type="slidenum">
              <a:rPr lang="hu-HU"/>
              <a:pPr/>
              <a:t>410</a:t>
            </a:fld>
            <a:endParaRPr lang="hu-HU"/>
          </a:p>
        </p:txBody>
      </p:sp>
    </p:spTree>
    <p:extLst>
      <p:ext uri="{BB962C8B-B14F-4D97-AF65-F5344CB8AC3E}">
        <p14:creationId xmlns:p14="http://schemas.microsoft.com/office/powerpoint/2010/main" val="1882336524"/>
      </p:ext>
    </p:extLst>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5970" name="Rectangle 2"/>
          <p:cNvSpPr>
            <a:spLocks noGrp="1" noChangeArrowheads="1"/>
          </p:cNvSpPr>
          <p:nvPr>
            <p:ph type="title"/>
          </p:nvPr>
        </p:nvSpPr>
        <p:spPr/>
        <p:txBody>
          <a:bodyPr/>
          <a:lstStyle/>
          <a:p>
            <a:r>
              <a:rPr lang="hu-HU" sz="4000"/>
              <a:t>A modellezés általános problémái</a:t>
            </a:r>
            <a:endParaRPr lang="en-US" sz="4000"/>
          </a:p>
        </p:txBody>
      </p:sp>
      <p:sp>
        <p:nvSpPr>
          <p:cNvPr id="3795971" name="Rectangle 3"/>
          <p:cNvSpPr>
            <a:spLocks noGrp="1" noChangeArrowheads="1"/>
          </p:cNvSpPr>
          <p:nvPr>
            <p:ph idx="1"/>
          </p:nvPr>
        </p:nvSpPr>
        <p:spPr>
          <a:xfrm>
            <a:off x="1992314" y="1812926"/>
            <a:ext cx="8218487" cy="4454525"/>
          </a:xfrm>
        </p:spPr>
        <p:txBody>
          <a:bodyPr/>
          <a:lstStyle/>
          <a:p>
            <a:r>
              <a:rPr lang="hu-HU"/>
              <a:t>Az UML-diagramok kifejezőképessége és egyszerű használata azt eredményezte, hogy viszonylag könnyen lehet szoftver-modelleket felépíteni ezekkel az eszközökkel. </a:t>
            </a:r>
          </a:p>
          <a:p>
            <a:r>
              <a:rPr lang="hu-HU"/>
              <a:t>Ugyanakkor azonban mindez azzal is jár, hogy egy így előállított modell nem lesz összefüggő (konzisztens), vagy nem lesz teljes, vagy más egyéb hibákat is tartalmazhat.</a:t>
            </a:r>
            <a:endParaRPr lang="en-US"/>
          </a:p>
        </p:txBody>
      </p:sp>
      <p:sp>
        <p:nvSpPr>
          <p:cNvPr id="5" name="Dátum helye 5"/>
          <p:cNvSpPr>
            <a:spLocks noGrp="1"/>
          </p:cNvSpPr>
          <p:nvPr>
            <p:ph type="dt" sz="half" idx="10"/>
          </p:nvPr>
        </p:nvSpPr>
        <p:spPr>
          <a:xfrm>
            <a:off x="11129963" y="5916613"/>
            <a:ext cx="1062037" cy="490537"/>
          </a:xfrm>
        </p:spPr>
        <p:txBody>
          <a:bodyPr/>
          <a:lstStyle/>
          <a:p>
            <a:fld id="{5C50FC52-3051-4CB0-974F-C545CCF6AAAB}" type="datetime4">
              <a:rPr lang="hu-HU"/>
              <a:pPr/>
              <a:t>2024. november 28.</a:t>
            </a:fld>
            <a:endParaRPr lang="hu-HU"/>
          </a:p>
        </p:txBody>
      </p:sp>
      <p:sp>
        <p:nvSpPr>
          <p:cNvPr id="4" name="Dia számának helye 4"/>
          <p:cNvSpPr>
            <a:spLocks noGrp="1"/>
          </p:cNvSpPr>
          <p:nvPr>
            <p:ph type="sldNum" sz="quarter" idx="12"/>
          </p:nvPr>
        </p:nvSpPr>
        <p:spPr>
          <a:xfrm>
            <a:off x="0" y="6042025"/>
            <a:ext cx="8645525" cy="365125"/>
          </a:xfrm>
        </p:spPr>
        <p:txBody>
          <a:bodyPr/>
          <a:lstStyle/>
          <a:p>
            <a:fld id="{FF385159-7051-4C90-8DFC-475B07BC9DF8}" type="slidenum">
              <a:rPr lang="hu-HU"/>
              <a:pPr/>
              <a:t>411</a:t>
            </a:fld>
            <a:endParaRPr lang="hu-HU"/>
          </a:p>
        </p:txBody>
      </p:sp>
    </p:spTree>
    <p:extLst>
      <p:ext uri="{BB962C8B-B14F-4D97-AF65-F5344CB8AC3E}">
        <p14:creationId xmlns:p14="http://schemas.microsoft.com/office/powerpoint/2010/main" val="418214698"/>
      </p:ext>
    </p:extLst>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6994" name="Rectangle 2"/>
          <p:cNvSpPr>
            <a:spLocks noGrp="1" noChangeArrowheads="1"/>
          </p:cNvSpPr>
          <p:nvPr>
            <p:ph type="title"/>
          </p:nvPr>
        </p:nvSpPr>
        <p:spPr/>
        <p:txBody>
          <a:bodyPr>
            <a:normAutofit/>
          </a:bodyPr>
          <a:lstStyle/>
          <a:p>
            <a:r>
              <a:rPr lang="hu-HU" sz="4000"/>
              <a:t>Gyakorlatban megépített modellek néhány tipikus hibája</a:t>
            </a:r>
            <a:endParaRPr lang="en-US" sz="4000"/>
          </a:p>
        </p:txBody>
      </p:sp>
      <p:sp>
        <p:nvSpPr>
          <p:cNvPr id="3796995" name="Rectangle 3"/>
          <p:cNvSpPr>
            <a:spLocks noGrp="1" noChangeArrowheads="1"/>
          </p:cNvSpPr>
          <p:nvPr>
            <p:ph idx="1"/>
          </p:nvPr>
        </p:nvSpPr>
        <p:spPr>
          <a:xfrm>
            <a:off x="1978026" y="1770064"/>
            <a:ext cx="8291513" cy="5087937"/>
          </a:xfrm>
        </p:spPr>
        <p:txBody>
          <a:bodyPr>
            <a:normAutofit lnSpcReduction="10000"/>
          </a:bodyPr>
          <a:lstStyle/>
          <a:p>
            <a:pPr marL="609600" indent="-609600"/>
            <a:r>
              <a:rPr lang="hu-HU" sz="2400"/>
              <a:t>Az öröklődési kapcsolatokban ciklusok léteznek, vagyis körkörös öröklődés alakul ki.</a:t>
            </a:r>
          </a:p>
          <a:p>
            <a:pPr marL="609600" indent="-609600"/>
            <a:r>
              <a:rPr lang="hu-HU" sz="2400"/>
              <a:t>Bizonyos attribútum egyaránt definiálva van az osztályban és az ősosztályban is.</a:t>
            </a:r>
          </a:p>
          <a:p>
            <a:pPr marL="609600" indent="-609600"/>
            <a:r>
              <a:rPr lang="hu-HU" sz="2400"/>
              <a:t>Egy művelet (metódus) kétszer van definiálva ugyanabban az osztályban, ugyanazokkal a bemeneti paraméter-típusokkal, viszont különböző kimeneti eredmény-típusokkal.</a:t>
            </a:r>
          </a:p>
          <a:p>
            <a:pPr marL="609600" indent="-609600"/>
            <a:r>
              <a:rPr lang="hu-HU" sz="2400"/>
              <a:t>Egy interfész-művelet nincs implementálva egy konkrét alosztályban.</a:t>
            </a:r>
          </a:p>
          <a:p>
            <a:pPr marL="609600" indent="-609600"/>
            <a:r>
              <a:rPr lang="hu-HU" sz="2400"/>
              <a:t>Egy művelet (metódus) korlátozottabb láthatósággal van definiálva egy leszármaztatott osztályban, mint egy ősosztályban.</a:t>
            </a:r>
            <a:endParaRPr lang="en-US" sz="2400"/>
          </a:p>
        </p:txBody>
      </p:sp>
      <p:sp>
        <p:nvSpPr>
          <p:cNvPr id="5" name="Dátum helye 5"/>
          <p:cNvSpPr>
            <a:spLocks noGrp="1"/>
          </p:cNvSpPr>
          <p:nvPr>
            <p:ph type="dt" sz="half" idx="10"/>
          </p:nvPr>
        </p:nvSpPr>
        <p:spPr>
          <a:xfrm>
            <a:off x="11129963" y="5916613"/>
            <a:ext cx="1062037" cy="490537"/>
          </a:xfrm>
        </p:spPr>
        <p:txBody>
          <a:bodyPr/>
          <a:lstStyle/>
          <a:p>
            <a:fld id="{3DEB4FB4-D64D-4045-981E-CC011BF09B3C}" type="datetime4">
              <a:rPr lang="hu-HU"/>
              <a:pPr/>
              <a:t>2024. november 28.</a:t>
            </a:fld>
            <a:endParaRPr lang="hu-HU"/>
          </a:p>
        </p:txBody>
      </p:sp>
      <p:sp>
        <p:nvSpPr>
          <p:cNvPr id="4" name="Dia számának helye 4"/>
          <p:cNvSpPr>
            <a:spLocks noGrp="1"/>
          </p:cNvSpPr>
          <p:nvPr>
            <p:ph type="sldNum" sz="quarter" idx="12"/>
          </p:nvPr>
        </p:nvSpPr>
        <p:spPr>
          <a:xfrm>
            <a:off x="0" y="6042025"/>
            <a:ext cx="8645525" cy="365125"/>
          </a:xfrm>
        </p:spPr>
        <p:txBody>
          <a:bodyPr/>
          <a:lstStyle/>
          <a:p>
            <a:fld id="{1CDAEBAD-4BFC-4304-AD6E-0BE8A9B60F54}" type="slidenum">
              <a:rPr lang="hu-HU"/>
              <a:pPr/>
              <a:t>412</a:t>
            </a:fld>
            <a:endParaRPr lang="hu-HU"/>
          </a:p>
        </p:txBody>
      </p:sp>
    </p:spTree>
    <p:extLst>
      <p:ext uri="{BB962C8B-B14F-4D97-AF65-F5344CB8AC3E}">
        <p14:creationId xmlns:p14="http://schemas.microsoft.com/office/powerpoint/2010/main" val="2264981626"/>
      </p:ext>
    </p:extLst>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8018" name="Rectangle 2"/>
          <p:cNvSpPr>
            <a:spLocks noGrp="1" noChangeArrowheads="1"/>
          </p:cNvSpPr>
          <p:nvPr>
            <p:ph type="title"/>
          </p:nvPr>
        </p:nvSpPr>
        <p:spPr/>
        <p:txBody>
          <a:bodyPr>
            <a:normAutofit/>
          </a:bodyPr>
          <a:lstStyle/>
          <a:p>
            <a:r>
              <a:rPr lang="hu-HU" sz="4000"/>
              <a:t>Gyakorlatban megépített modellek néhány tipikus hibája</a:t>
            </a:r>
            <a:endParaRPr lang="en-US" sz="4000"/>
          </a:p>
        </p:txBody>
      </p:sp>
      <p:sp>
        <p:nvSpPr>
          <p:cNvPr id="3798019" name="Rectangle 3"/>
          <p:cNvSpPr>
            <a:spLocks noGrp="1" noChangeArrowheads="1"/>
          </p:cNvSpPr>
          <p:nvPr>
            <p:ph idx="1"/>
          </p:nvPr>
        </p:nvSpPr>
        <p:spPr>
          <a:xfrm>
            <a:off x="1978025" y="1770064"/>
            <a:ext cx="8218488" cy="4454525"/>
          </a:xfrm>
        </p:spPr>
        <p:txBody>
          <a:bodyPr>
            <a:normAutofit lnSpcReduction="10000"/>
          </a:bodyPr>
          <a:lstStyle/>
          <a:p>
            <a:pPr marL="609600" indent="-609600"/>
            <a:r>
              <a:rPr lang="hu-HU" sz="2400"/>
              <a:t>Egy interfész úgy van definiálva, mint egy osztály alosztálya.</a:t>
            </a:r>
          </a:p>
          <a:p>
            <a:pPr marL="609600" indent="-609600"/>
            <a:r>
              <a:rPr lang="hu-HU" sz="2400"/>
              <a:t>Az állapot-diagram egy állapota nem érhető el, mert csak kivezető átmenetei vannak, amikor az nem kezdőállapot.</a:t>
            </a:r>
          </a:p>
          <a:p>
            <a:pPr marL="609600" indent="-609600"/>
            <a:r>
              <a:rPr lang="hu-HU" sz="2400"/>
              <a:t>Egy állapotcsoport elemei zárt ciklust alkotnak, miután nincs belőlük kiágazás. Ezáltal ha valahonnan belépés történik a ciklusba, onnan már nem lehet egy külső állapotot elérni.</a:t>
            </a:r>
          </a:p>
          <a:p>
            <a:pPr marL="609600" indent="-609600"/>
            <a:r>
              <a:rPr lang="hu-HU" sz="2400"/>
              <a:t>Egy osztály kardinalitása </a:t>
            </a:r>
            <a:r>
              <a:rPr lang="hu-HU" sz="2400" b="1"/>
              <a:t>p</a:t>
            </a:r>
            <a:r>
              <a:rPr lang="hu-HU" sz="2400"/>
              <a:t>-nek van definiálva, míg a hozzá tartozó alosztály kardinalitása </a:t>
            </a:r>
            <a:r>
              <a:rPr lang="hu-HU" sz="2400" b="1"/>
              <a:t>q</a:t>
            </a:r>
            <a:r>
              <a:rPr lang="hu-HU" sz="2400"/>
              <a:t>-nak, ahol  </a:t>
            </a:r>
            <a:r>
              <a:rPr lang="hu-HU" sz="2400" b="1"/>
              <a:t>q</a:t>
            </a:r>
            <a:r>
              <a:rPr lang="hu-HU" sz="2400"/>
              <a:t> </a:t>
            </a:r>
            <a:r>
              <a:rPr lang="hu-HU" sz="2400" b="1">
                <a:sym typeface="Symbol" pitchFamily="18" charset="2"/>
              </a:rPr>
              <a:t></a:t>
            </a:r>
            <a:r>
              <a:rPr lang="hu-HU" sz="2400"/>
              <a:t> </a:t>
            </a:r>
            <a:r>
              <a:rPr lang="hu-HU" sz="2400" b="1"/>
              <a:t>p</a:t>
            </a:r>
            <a:r>
              <a:rPr lang="hu-HU" sz="2400"/>
              <a:t>.</a:t>
            </a:r>
            <a:endParaRPr lang="en-US" sz="2400"/>
          </a:p>
        </p:txBody>
      </p:sp>
      <p:sp>
        <p:nvSpPr>
          <p:cNvPr id="5" name="Dátum helye 5"/>
          <p:cNvSpPr>
            <a:spLocks noGrp="1"/>
          </p:cNvSpPr>
          <p:nvPr>
            <p:ph type="dt" sz="half" idx="10"/>
          </p:nvPr>
        </p:nvSpPr>
        <p:spPr>
          <a:xfrm>
            <a:off x="11129963" y="5916613"/>
            <a:ext cx="1062037" cy="490537"/>
          </a:xfrm>
        </p:spPr>
        <p:txBody>
          <a:bodyPr/>
          <a:lstStyle/>
          <a:p>
            <a:fld id="{2431D241-CD43-4A22-9A6B-71312B79C824}" type="datetime4">
              <a:rPr lang="hu-HU"/>
              <a:pPr/>
              <a:t>2024. november 28.</a:t>
            </a:fld>
            <a:endParaRPr lang="hu-HU"/>
          </a:p>
        </p:txBody>
      </p:sp>
      <p:sp>
        <p:nvSpPr>
          <p:cNvPr id="4" name="Dia számának helye 4"/>
          <p:cNvSpPr>
            <a:spLocks noGrp="1"/>
          </p:cNvSpPr>
          <p:nvPr>
            <p:ph type="sldNum" sz="quarter" idx="12"/>
          </p:nvPr>
        </p:nvSpPr>
        <p:spPr>
          <a:xfrm>
            <a:off x="0" y="6042025"/>
            <a:ext cx="8645525" cy="365125"/>
          </a:xfrm>
        </p:spPr>
        <p:txBody>
          <a:bodyPr/>
          <a:lstStyle/>
          <a:p>
            <a:fld id="{80231DAF-E075-4CCF-B5FB-A2E266CE2B59}" type="slidenum">
              <a:rPr lang="hu-HU"/>
              <a:pPr/>
              <a:t>413</a:t>
            </a:fld>
            <a:endParaRPr lang="hu-HU"/>
          </a:p>
        </p:txBody>
      </p:sp>
    </p:spTree>
    <p:extLst>
      <p:ext uri="{BB962C8B-B14F-4D97-AF65-F5344CB8AC3E}">
        <p14:creationId xmlns:p14="http://schemas.microsoft.com/office/powerpoint/2010/main" val="2920973601"/>
      </p:ext>
    </p:extLst>
  </p:cSld>
  <p:clrMapOvr>
    <a:masterClrMapping/>
  </p:clrMapOvr>
</p:sld>
</file>

<file path=ppt/slides/slide4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a:t>
            </a:r>
            <a:r>
              <a:rPr lang="hu-HU" dirty="0" err="1" smtClean="0"/>
              <a:t>ordinalitás</a:t>
            </a:r>
            <a:r>
              <a:rPr lang="hu-HU" dirty="0" smtClean="0"/>
              <a:t>:</a:t>
            </a:r>
            <a:r>
              <a:rPr lang="hu-HU" dirty="0" err="1" smtClean="0"/>
              <a:t>kardinalitás</a:t>
            </a:r>
            <a:r>
              <a:rPr lang="hu-HU" dirty="0" smtClean="0"/>
              <a:t>)</a:t>
            </a:r>
            <a:endParaRPr lang="hu-HU" dirty="0"/>
          </a:p>
        </p:txBody>
      </p:sp>
      <p:sp>
        <p:nvSpPr>
          <p:cNvPr id="3" name="Tartalom helye 2"/>
          <p:cNvSpPr>
            <a:spLocks noGrp="1"/>
          </p:cNvSpPr>
          <p:nvPr>
            <p:ph idx="1"/>
          </p:nvPr>
        </p:nvSpPr>
        <p:spPr/>
        <p:txBody>
          <a:bodyPr/>
          <a:lstStyle/>
          <a:p>
            <a:r>
              <a:rPr lang="hu-HU" dirty="0" smtClean="0"/>
              <a:t>Az </a:t>
            </a:r>
            <a:r>
              <a:rPr lang="hu-HU" dirty="0" err="1" smtClean="0"/>
              <a:t>ordinalitás</a:t>
            </a:r>
            <a:r>
              <a:rPr lang="hu-HU" dirty="0" smtClean="0"/>
              <a:t> azt jelzi hogy a kapcsolat kötelező vagy opcionális</a:t>
            </a:r>
          </a:p>
          <a:p>
            <a:r>
              <a:rPr lang="hu-HU" dirty="0" smtClean="0"/>
              <a:t>A </a:t>
            </a:r>
            <a:r>
              <a:rPr lang="hu-HU" dirty="0" err="1" smtClean="0"/>
              <a:t>kardinalitás</a:t>
            </a:r>
            <a:r>
              <a:rPr lang="hu-HU" dirty="0" smtClean="0"/>
              <a:t> az egyedtípus előfordulásainak maximumát jelzi a kapcsolatban</a:t>
            </a:r>
          </a:p>
          <a:p>
            <a:r>
              <a:rPr lang="hu-HU" dirty="0" err="1" smtClean="0"/>
              <a:t>Ordinalitás</a:t>
            </a:r>
            <a:r>
              <a:rPr lang="hu-HU" dirty="0" smtClean="0"/>
              <a:t>:</a:t>
            </a:r>
            <a:r>
              <a:rPr lang="hu-HU" dirty="0" err="1" smtClean="0"/>
              <a:t>kardinalitás</a:t>
            </a:r>
            <a:endParaRPr lang="hu-HU" dirty="0" smtClean="0"/>
          </a:p>
          <a:p>
            <a:r>
              <a:rPr lang="hu-HU" dirty="0" smtClean="0"/>
              <a:t>1:</a:t>
            </a:r>
            <a:r>
              <a:rPr lang="hu-HU" dirty="0" err="1" smtClean="0"/>
              <a:t>1</a:t>
            </a:r>
            <a:endParaRPr lang="hu-HU" dirty="0" smtClean="0"/>
          </a:p>
          <a:p>
            <a:r>
              <a:rPr lang="hu-HU" dirty="0" smtClean="0"/>
              <a:t>1:N</a:t>
            </a:r>
          </a:p>
          <a:p>
            <a:r>
              <a:rPr lang="hu-HU" dirty="0" smtClean="0"/>
              <a:t>N:M</a:t>
            </a:r>
            <a:endParaRPr lang="hu-HU" dirty="0"/>
          </a:p>
        </p:txBody>
      </p:sp>
    </p:spTree>
    <p:extLst>
      <p:ext uri="{BB962C8B-B14F-4D97-AF65-F5344CB8AC3E}">
        <p14:creationId xmlns:p14="http://schemas.microsoft.com/office/powerpoint/2010/main" val="1643343189"/>
      </p:ext>
    </p:extLst>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42" name="Rectangle 2"/>
          <p:cNvSpPr>
            <a:spLocks noGrp="1" noChangeArrowheads="1"/>
          </p:cNvSpPr>
          <p:nvPr>
            <p:ph type="title"/>
          </p:nvPr>
        </p:nvSpPr>
        <p:spPr/>
        <p:txBody>
          <a:bodyPr/>
          <a:lstStyle/>
          <a:p>
            <a:r>
              <a:rPr lang="hu-HU" sz="4000"/>
              <a:t>A hibák feltárása</a:t>
            </a:r>
            <a:endParaRPr lang="en-US" sz="4000"/>
          </a:p>
        </p:txBody>
      </p:sp>
      <p:sp>
        <p:nvSpPr>
          <p:cNvPr id="3799043" name="Rectangle 3"/>
          <p:cNvSpPr>
            <a:spLocks noGrp="1" noChangeArrowheads="1"/>
          </p:cNvSpPr>
          <p:nvPr>
            <p:ph idx="1"/>
          </p:nvPr>
        </p:nvSpPr>
        <p:spPr/>
        <p:txBody>
          <a:bodyPr/>
          <a:lstStyle/>
          <a:p>
            <a:r>
              <a:rPr lang="hu-HU"/>
              <a:t>A tervezők menet közben rendszeresen átvizsgálják az előállított modellegységeket, külön-külön is önmagukban, másrészt pedig azok egymáshoz való viszonyát és kölcsönhatását is ellenőrzik.</a:t>
            </a:r>
            <a:endParaRPr lang="en-US"/>
          </a:p>
        </p:txBody>
      </p:sp>
      <p:sp>
        <p:nvSpPr>
          <p:cNvPr id="5" name="Dátum helye 5"/>
          <p:cNvSpPr>
            <a:spLocks noGrp="1"/>
          </p:cNvSpPr>
          <p:nvPr>
            <p:ph type="dt" sz="half" idx="10"/>
          </p:nvPr>
        </p:nvSpPr>
        <p:spPr>
          <a:xfrm>
            <a:off x="11129963" y="5916613"/>
            <a:ext cx="1062037" cy="490537"/>
          </a:xfrm>
        </p:spPr>
        <p:txBody>
          <a:bodyPr/>
          <a:lstStyle/>
          <a:p>
            <a:fld id="{C8E86113-5302-46B7-9F70-D1627BE2E2EE}" type="datetime4">
              <a:rPr lang="hu-HU"/>
              <a:pPr/>
              <a:t>2024. november 28.</a:t>
            </a:fld>
            <a:endParaRPr lang="hu-HU"/>
          </a:p>
        </p:txBody>
      </p:sp>
      <p:sp>
        <p:nvSpPr>
          <p:cNvPr id="4" name="Dia számának helye 4"/>
          <p:cNvSpPr>
            <a:spLocks noGrp="1"/>
          </p:cNvSpPr>
          <p:nvPr>
            <p:ph type="sldNum" sz="quarter" idx="12"/>
          </p:nvPr>
        </p:nvSpPr>
        <p:spPr>
          <a:xfrm>
            <a:off x="0" y="6042025"/>
            <a:ext cx="8645525" cy="365125"/>
          </a:xfrm>
        </p:spPr>
        <p:txBody>
          <a:bodyPr/>
          <a:lstStyle/>
          <a:p>
            <a:fld id="{76F5C256-D195-432C-9F3A-4AE0B8925CDC}" type="slidenum">
              <a:rPr lang="hu-HU"/>
              <a:pPr/>
              <a:t>415</a:t>
            </a:fld>
            <a:endParaRPr lang="hu-HU"/>
          </a:p>
        </p:txBody>
      </p:sp>
    </p:spTree>
    <p:extLst>
      <p:ext uri="{BB962C8B-B14F-4D97-AF65-F5344CB8AC3E}">
        <p14:creationId xmlns:p14="http://schemas.microsoft.com/office/powerpoint/2010/main" val="3590490300"/>
      </p:ext>
    </p:extLst>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Ellenőrizni kell…</a:t>
            </a:r>
            <a:endParaRPr lang="hu-HU" dirty="0"/>
          </a:p>
        </p:txBody>
      </p:sp>
      <p:sp>
        <p:nvSpPr>
          <p:cNvPr id="3" name="Tartalom helye 2"/>
          <p:cNvSpPr>
            <a:spLocks noGrp="1"/>
          </p:cNvSpPr>
          <p:nvPr>
            <p:ph idx="1"/>
          </p:nvPr>
        </p:nvSpPr>
        <p:spPr/>
        <p:txBody>
          <a:bodyPr/>
          <a:lstStyle/>
          <a:p>
            <a:r>
              <a:rPr lang="hu-HU" dirty="0" smtClean="0"/>
              <a:t>asszociációknál korrekt számosságot (multiplicitást) alkalmaztunk-e</a:t>
            </a:r>
          </a:p>
          <a:p>
            <a:pPr lvl="1"/>
            <a:r>
              <a:rPr lang="hu-HU" dirty="0" smtClean="0"/>
              <a:t>Felső érték túl kicsi</a:t>
            </a:r>
          </a:p>
          <a:p>
            <a:r>
              <a:rPr lang="hu-HU" dirty="0" err="1" smtClean="0"/>
              <a:t>Attributumok</a:t>
            </a:r>
            <a:r>
              <a:rPr lang="hu-HU" dirty="0" smtClean="0"/>
              <a:t> végén korrekt minősítő leírás</a:t>
            </a:r>
          </a:p>
          <a:p>
            <a:r>
              <a:rPr lang="hu-HU" dirty="0" smtClean="0"/>
              <a:t>Asszociációk végi sorrendezés</a:t>
            </a:r>
          </a:p>
          <a:p>
            <a:r>
              <a:rPr lang="hu-HU" dirty="0" smtClean="0"/>
              <a:t>Összes öröklési eset le van-e írva</a:t>
            </a:r>
          </a:p>
          <a:p>
            <a:r>
              <a:rPr lang="hu-HU" dirty="0" smtClean="0"/>
              <a:t>Korrekt informatív típusok </a:t>
            </a:r>
            <a:r>
              <a:rPr lang="hu-HU" dirty="0" err="1" smtClean="0"/>
              <a:t>attributumokhoz</a:t>
            </a:r>
            <a:endParaRPr lang="hu-HU" dirty="0" smtClean="0"/>
          </a:p>
          <a:p>
            <a:r>
              <a:rPr lang="hu-HU" dirty="0" smtClean="0"/>
              <a:t>Állapotok megfelelőek-e</a:t>
            </a:r>
            <a:endParaRPr lang="hu-HU" dirty="0"/>
          </a:p>
        </p:txBody>
      </p:sp>
    </p:spTree>
    <p:extLst>
      <p:ext uri="{BB962C8B-B14F-4D97-AF65-F5344CB8AC3E}">
        <p14:creationId xmlns:p14="http://schemas.microsoft.com/office/powerpoint/2010/main" val="2626023731"/>
      </p:ext>
    </p:extLst>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0066" name="Rectangle 2"/>
          <p:cNvSpPr>
            <a:spLocks noGrp="1" noChangeArrowheads="1"/>
          </p:cNvSpPr>
          <p:nvPr>
            <p:ph type="title"/>
          </p:nvPr>
        </p:nvSpPr>
        <p:spPr/>
        <p:txBody>
          <a:bodyPr/>
          <a:lstStyle/>
          <a:p>
            <a:r>
              <a:rPr lang="hu-HU" sz="4000"/>
              <a:t>Az összefüggőség</a:t>
            </a:r>
            <a:endParaRPr lang="en-US" sz="4000"/>
          </a:p>
        </p:txBody>
      </p:sp>
      <p:sp>
        <p:nvSpPr>
          <p:cNvPr id="3800067" name="Rectangle 3"/>
          <p:cNvSpPr>
            <a:spLocks noGrp="1" noChangeArrowheads="1"/>
          </p:cNvSpPr>
          <p:nvPr>
            <p:ph idx="1"/>
          </p:nvPr>
        </p:nvSpPr>
        <p:spPr>
          <a:xfrm>
            <a:off x="1981200" y="1639342"/>
            <a:ext cx="8229600" cy="4525963"/>
          </a:xfrm>
        </p:spPr>
        <p:txBody>
          <a:bodyPr/>
          <a:lstStyle/>
          <a:p>
            <a:r>
              <a:rPr lang="hu-HU" dirty="0"/>
              <a:t>Konzisztencia.</a:t>
            </a:r>
          </a:p>
          <a:p>
            <a:r>
              <a:rPr lang="hu-HU" dirty="0"/>
              <a:t>Egy </a:t>
            </a:r>
            <a:r>
              <a:rPr lang="hu-HU" dirty="0" err="1"/>
              <a:t>UML-modell</a:t>
            </a:r>
            <a:r>
              <a:rPr lang="hu-HU" dirty="0"/>
              <a:t> összefüggő (konzisztens), ha létezik hozzá egy bizonyos lehetséges működőképes implementáció. </a:t>
            </a:r>
          </a:p>
          <a:p>
            <a:pPr lvl="1"/>
            <a:r>
              <a:rPr lang="hu-HU" dirty="0"/>
              <a:t>Egy inkonzisztens specifikáció azzal jár, hogy nem lehet belőle olyan szoftvert fejleszteni, ami működőképes lenne.</a:t>
            </a:r>
            <a:r>
              <a:rPr lang="en-US" dirty="0"/>
              <a:t> </a:t>
            </a:r>
          </a:p>
        </p:txBody>
      </p:sp>
      <p:sp>
        <p:nvSpPr>
          <p:cNvPr id="5" name="Dátum helye 5"/>
          <p:cNvSpPr>
            <a:spLocks noGrp="1"/>
          </p:cNvSpPr>
          <p:nvPr>
            <p:ph type="dt" sz="half" idx="10"/>
          </p:nvPr>
        </p:nvSpPr>
        <p:spPr>
          <a:xfrm>
            <a:off x="11129963" y="5916613"/>
            <a:ext cx="1062037" cy="490537"/>
          </a:xfrm>
        </p:spPr>
        <p:txBody>
          <a:bodyPr/>
          <a:lstStyle/>
          <a:p>
            <a:fld id="{F7D8552A-97B4-4CBA-9D5F-FC497EEEC318}" type="datetime4">
              <a:rPr lang="hu-HU"/>
              <a:pPr/>
              <a:t>2024. november 28.</a:t>
            </a:fld>
            <a:endParaRPr lang="hu-HU"/>
          </a:p>
        </p:txBody>
      </p:sp>
      <p:sp>
        <p:nvSpPr>
          <p:cNvPr id="4" name="Dia számának helye 4"/>
          <p:cNvSpPr>
            <a:spLocks noGrp="1"/>
          </p:cNvSpPr>
          <p:nvPr>
            <p:ph type="sldNum" sz="quarter" idx="12"/>
          </p:nvPr>
        </p:nvSpPr>
        <p:spPr>
          <a:xfrm>
            <a:off x="0" y="6042025"/>
            <a:ext cx="8645525" cy="365125"/>
          </a:xfrm>
        </p:spPr>
        <p:txBody>
          <a:bodyPr/>
          <a:lstStyle/>
          <a:p>
            <a:fld id="{E5B084E6-B809-4917-97A8-A30CE1F9EFF9}" type="slidenum">
              <a:rPr lang="hu-HU"/>
              <a:pPr/>
              <a:t>417</a:t>
            </a:fld>
            <a:endParaRPr lang="hu-HU"/>
          </a:p>
        </p:txBody>
      </p:sp>
    </p:spTree>
    <p:extLst>
      <p:ext uri="{BB962C8B-B14F-4D97-AF65-F5344CB8AC3E}">
        <p14:creationId xmlns:p14="http://schemas.microsoft.com/office/powerpoint/2010/main" val="2882681800"/>
      </p:ext>
    </p:extLst>
  </p:cSld>
  <p:clrMapOvr>
    <a:masterClrMapping/>
  </p:clrMapOvr>
</p:sld>
</file>

<file path=ppt/slides/slide4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1090" name="Rectangle 2"/>
          <p:cNvSpPr>
            <a:spLocks noGrp="1" noChangeArrowheads="1"/>
          </p:cNvSpPr>
          <p:nvPr>
            <p:ph type="title"/>
          </p:nvPr>
        </p:nvSpPr>
        <p:spPr/>
        <p:txBody>
          <a:bodyPr/>
          <a:lstStyle/>
          <a:p>
            <a:r>
              <a:rPr lang="hu-HU" sz="4000"/>
              <a:t>Teljesség</a:t>
            </a:r>
            <a:endParaRPr lang="en-US" sz="4000"/>
          </a:p>
        </p:txBody>
      </p:sp>
      <p:sp>
        <p:nvSpPr>
          <p:cNvPr id="3801091" name="Rectangle 3"/>
          <p:cNvSpPr>
            <a:spLocks noGrp="1" noChangeArrowheads="1"/>
          </p:cNvSpPr>
          <p:nvPr>
            <p:ph idx="1"/>
          </p:nvPr>
        </p:nvSpPr>
        <p:spPr/>
        <p:txBody>
          <a:bodyPr/>
          <a:lstStyle/>
          <a:p>
            <a:r>
              <a:rPr lang="hu-HU" dirty="0"/>
              <a:t>Egy UML tervezési modellt teljesnek nevezünk, ha az általa leírt szoftver-rendszer állapotai és viselkedési módjai mindegyik lehetséges működési esetre és feltételre specifikálva lettek. </a:t>
            </a:r>
            <a:endParaRPr lang="en-US" dirty="0"/>
          </a:p>
        </p:txBody>
      </p:sp>
      <p:sp>
        <p:nvSpPr>
          <p:cNvPr id="5" name="Dátum helye 5"/>
          <p:cNvSpPr>
            <a:spLocks noGrp="1"/>
          </p:cNvSpPr>
          <p:nvPr>
            <p:ph type="dt" sz="half" idx="10"/>
          </p:nvPr>
        </p:nvSpPr>
        <p:spPr>
          <a:xfrm>
            <a:off x="11129963" y="5916613"/>
            <a:ext cx="1062037" cy="490537"/>
          </a:xfrm>
        </p:spPr>
        <p:txBody>
          <a:bodyPr/>
          <a:lstStyle/>
          <a:p>
            <a:fld id="{10D59D5B-8293-48E2-83FD-092B362D42A0}" type="datetime4">
              <a:rPr lang="hu-HU"/>
              <a:pPr/>
              <a:t>2024. november 28.</a:t>
            </a:fld>
            <a:endParaRPr lang="hu-HU"/>
          </a:p>
        </p:txBody>
      </p:sp>
      <p:sp>
        <p:nvSpPr>
          <p:cNvPr id="4" name="Dia számának helye 4"/>
          <p:cNvSpPr>
            <a:spLocks noGrp="1"/>
          </p:cNvSpPr>
          <p:nvPr>
            <p:ph type="sldNum" sz="quarter" idx="12"/>
          </p:nvPr>
        </p:nvSpPr>
        <p:spPr>
          <a:xfrm>
            <a:off x="0" y="6042025"/>
            <a:ext cx="8645525" cy="365125"/>
          </a:xfrm>
        </p:spPr>
        <p:txBody>
          <a:bodyPr/>
          <a:lstStyle/>
          <a:p>
            <a:fld id="{1FB47564-923D-42F1-820F-5E77C9363B28}" type="slidenum">
              <a:rPr lang="hu-HU"/>
              <a:pPr/>
              <a:t>418</a:t>
            </a:fld>
            <a:endParaRPr lang="hu-HU"/>
          </a:p>
        </p:txBody>
      </p:sp>
    </p:spTree>
    <p:extLst>
      <p:ext uri="{BB962C8B-B14F-4D97-AF65-F5344CB8AC3E}">
        <p14:creationId xmlns:p14="http://schemas.microsoft.com/office/powerpoint/2010/main" val="2391033973"/>
      </p:ext>
    </p:extLst>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Osztályok és teljesség</a:t>
            </a:r>
            <a:endParaRPr lang="hu-HU" dirty="0"/>
          </a:p>
        </p:txBody>
      </p:sp>
      <p:sp>
        <p:nvSpPr>
          <p:cNvPr id="3" name="Tartalom helye 2"/>
          <p:cNvSpPr>
            <a:spLocks noGrp="1"/>
          </p:cNvSpPr>
          <p:nvPr>
            <p:ph idx="1"/>
          </p:nvPr>
        </p:nvSpPr>
        <p:spPr/>
        <p:txBody>
          <a:bodyPr/>
          <a:lstStyle/>
          <a:p>
            <a:r>
              <a:rPr lang="hu-HU" dirty="0" smtClean="0"/>
              <a:t>Teljesség hiánya ~ inkonzisztencia</a:t>
            </a:r>
          </a:p>
          <a:p>
            <a:r>
              <a:rPr lang="hu-HU" dirty="0" smtClean="0"/>
              <a:t>Inkonzisztencia (felt):</a:t>
            </a:r>
          </a:p>
          <a:p>
            <a:pPr lvl="1"/>
            <a:r>
              <a:rPr lang="hu-HU" dirty="0" smtClean="0"/>
              <a:t>Att1 </a:t>
            </a:r>
            <a:r>
              <a:rPr lang="hu-HU" dirty="0" err="1" smtClean="0"/>
              <a:t>attributum</a:t>
            </a:r>
            <a:r>
              <a:rPr lang="hu-HU" dirty="0" smtClean="0"/>
              <a:t> érték </a:t>
            </a:r>
            <a:r>
              <a:rPr lang="hu-HU" dirty="0" err="1" smtClean="0"/>
              <a:t>beállítvs</a:t>
            </a:r>
            <a:endParaRPr lang="hu-HU" dirty="0" smtClean="0"/>
          </a:p>
          <a:p>
            <a:pPr lvl="1"/>
            <a:r>
              <a:rPr lang="hu-HU" dirty="0" smtClean="0"/>
              <a:t>Att2  nem</a:t>
            </a:r>
          </a:p>
          <a:p>
            <a:pPr lvl="1"/>
            <a:r>
              <a:rPr lang="hu-HU" dirty="0" smtClean="0"/>
              <a:t>De a két érték össze van kapcsolva</a:t>
            </a:r>
          </a:p>
          <a:p>
            <a:r>
              <a:rPr lang="hu-HU" dirty="0" smtClean="0"/>
              <a:t>Teljességi hibák felfedése </a:t>
            </a:r>
            <a:r>
              <a:rPr lang="hu-HU" dirty="0" smtClean="0">
                <a:sym typeface="Wingdings" pitchFamily="2" charset="2"/>
              </a:rPr>
              <a:t> konzisztencia ellenőrzése</a:t>
            </a:r>
            <a:endParaRPr lang="hu-HU" dirty="0"/>
          </a:p>
        </p:txBody>
      </p:sp>
    </p:spTree>
    <p:extLst>
      <p:ext uri="{BB962C8B-B14F-4D97-AF65-F5344CB8AC3E}">
        <p14:creationId xmlns:p14="http://schemas.microsoft.com/office/powerpoint/2010/main" val="3084565032"/>
      </p:ext>
    </p:extLst>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dirty="0" smtClean="0"/>
              <a:t>Teljességhiány </a:t>
            </a:r>
            <a:r>
              <a:rPr lang="hu-HU" dirty="0" err="1" smtClean="0"/>
              <a:t>pl</a:t>
            </a:r>
            <a:endParaRPr lang="hu-HU" dirty="0"/>
          </a:p>
        </p:txBody>
      </p:sp>
      <p:sp>
        <p:nvSpPr>
          <p:cNvPr id="3" name="Tartalom helye 2"/>
          <p:cNvSpPr>
            <a:spLocks noGrp="1"/>
          </p:cNvSpPr>
          <p:nvPr>
            <p:ph idx="1"/>
          </p:nvPr>
        </p:nvSpPr>
        <p:spPr/>
        <p:txBody>
          <a:bodyPr/>
          <a:lstStyle/>
          <a:p>
            <a:r>
              <a:rPr lang="hu-HU" dirty="0" smtClean="0"/>
              <a:t>Att1, att2: integer</a:t>
            </a:r>
          </a:p>
          <a:p>
            <a:r>
              <a:rPr lang="hu-HU" dirty="0" smtClean="0"/>
              <a:t>Att3: </a:t>
            </a:r>
            <a:r>
              <a:rPr lang="hu-HU" dirty="0" err="1" smtClean="0"/>
              <a:t>boolean</a:t>
            </a:r>
            <a:endParaRPr lang="hu-HU" dirty="0" smtClean="0"/>
          </a:p>
          <a:p>
            <a:r>
              <a:rPr lang="hu-HU" dirty="0" smtClean="0"/>
              <a:t>Att1 &gt; att2 </a:t>
            </a:r>
            <a:r>
              <a:rPr lang="hu-HU" dirty="0" smtClean="0">
                <a:sym typeface="Wingdings" pitchFamily="2" charset="2"/>
              </a:rPr>
              <a:t> att3:=</a:t>
            </a:r>
            <a:r>
              <a:rPr lang="hu-HU" dirty="0" err="1" smtClean="0">
                <a:sym typeface="Wingdings" pitchFamily="2" charset="2"/>
              </a:rPr>
              <a:t>true</a:t>
            </a:r>
            <a:endParaRPr lang="hu-HU" dirty="0" smtClean="0">
              <a:sym typeface="Wingdings" pitchFamily="2" charset="2"/>
            </a:endParaRPr>
          </a:p>
          <a:p>
            <a:pPr>
              <a:buNone/>
            </a:pPr>
            <a:endParaRPr lang="hu-HU" dirty="0">
              <a:sym typeface="Wingdings" pitchFamily="2" charset="2"/>
            </a:endParaRPr>
          </a:p>
          <a:p>
            <a:r>
              <a:rPr lang="hu-HU" dirty="0" smtClean="0">
                <a:sym typeface="Wingdings" pitchFamily="2" charset="2"/>
              </a:rPr>
              <a:t>Ha att1&lt;=att2 ????????</a:t>
            </a:r>
          </a:p>
          <a:p>
            <a:r>
              <a:rPr lang="hu-HU" dirty="0" smtClean="0">
                <a:sym typeface="Wingdings" pitchFamily="2" charset="2"/>
              </a:rPr>
              <a:t>Minden haakkor művelethez </a:t>
            </a:r>
            <a:r>
              <a:rPr lang="hu-HU" dirty="0" err="1" smtClean="0">
                <a:sym typeface="Wingdings" pitchFamily="2" charset="2"/>
              </a:rPr>
              <a:t>false</a:t>
            </a:r>
            <a:r>
              <a:rPr lang="hu-HU" dirty="0" smtClean="0">
                <a:sym typeface="Wingdings" pitchFamily="2" charset="2"/>
              </a:rPr>
              <a:t> értékre is kell specifikálni </a:t>
            </a:r>
            <a:endParaRPr lang="hu-HU" dirty="0"/>
          </a:p>
        </p:txBody>
      </p:sp>
    </p:spTree>
    <p:extLst>
      <p:ext uri="{BB962C8B-B14F-4D97-AF65-F5344CB8AC3E}">
        <p14:creationId xmlns:p14="http://schemas.microsoft.com/office/powerpoint/2010/main" val="3433010575"/>
      </p:ext>
    </p:extLst>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2690" name="Rectangle 2"/>
          <p:cNvSpPr>
            <a:spLocks noGrp="1" noChangeArrowheads="1"/>
          </p:cNvSpPr>
          <p:nvPr>
            <p:ph type="title"/>
          </p:nvPr>
        </p:nvSpPr>
        <p:spPr/>
        <p:txBody>
          <a:bodyPr/>
          <a:lstStyle/>
          <a:p>
            <a:endParaRPr lang="en-US" sz="2000"/>
          </a:p>
        </p:txBody>
      </p:sp>
      <p:sp>
        <p:nvSpPr>
          <p:cNvPr id="4082691" name="Rectangle 3"/>
          <p:cNvSpPr>
            <a:spLocks noGrp="1" noChangeArrowheads="1"/>
          </p:cNvSpPr>
          <p:nvPr>
            <p:ph idx="1"/>
          </p:nvPr>
        </p:nvSpPr>
        <p:spPr/>
        <p:txBody>
          <a:bodyPr/>
          <a:lstStyle/>
          <a:p>
            <a:pPr>
              <a:lnSpc>
                <a:spcPct val="80000"/>
              </a:lnSpc>
              <a:buFont typeface="Wingdings" pitchFamily="2" charset="2"/>
              <a:buNone/>
            </a:pPr>
            <a:r>
              <a:rPr lang="hu-HU" dirty="0"/>
              <a:t>A konzisztencia és teljesség szempontjából a következő megállapítások tehetők:</a:t>
            </a:r>
            <a:br>
              <a:rPr lang="hu-HU" dirty="0"/>
            </a:br>
            <a:endParaRPr lang="hu-HU" dirty="0"/>
          </a:p>
          <a:p>
            <a:pPr>
              <a:lnSpc>
                <a:spcPct val="80000"/>
              </a:lnSpc>
            </a:pPr>
            <a:r>
              <a:rPr lang="hu-HU" dirty="0"/>
              <a:t>Jelenleg nem áll rendelkezésre olyan módszer, ill. a módszert megvalósító számítógépes eszköz, ami egy szoftver-terv </a:t>
            </a:r>
            <a:r>
              <a:rPr lang="hu-HU" dirty="0" err="1"/>
              <a:t>UML-diagramjai</a:t>
            </a:r>
            <a:r>
              <a:rPr lang="hu-HU" dirty="0"/>
              <a:t> közötti összhang bizonyítására, ill. cáfolására lenne alkalmas.</a:t>
            </a:r>
          </a:p>
          <a:p>
            <a:pPr>
              <a:lnSpc>
                <a:spcPct val="80000"/>
              </a:lnSpc>
            </a:pPr>
            <a:r>
              <a:rPr lang="hu-HU" dirty="0"/>
              <a:t>Ugyanígy nincs megoldva még a teljesség bizonyításának vagy cáfolásának feladata sem.</a:t>
            </a:r>
          </a:p>
        </p:txBody>
      </p:sp>
      <p:sp>
        <p:nvSpPr>
          <p:cNvPr id="5" name="Dátum helye 5"/>
          <p:cNvSpPr>
            <a:spLocks noGrp="1"/>
          </p:cNvSpPr>
          <p:nvPr>
            <p:ph type="dt" sz="half" idx="10"/>
          </p:nvPr>
        </p:nvSpPr>
        <p:spPr>
          <a:xfrm>
            <a:off x="11129963" y="5916613"/>
            <a:ext cx="1062037" cy="490537"/>
          </a:xfrm>
        </p:spPr>
        <p:txBody>
          <a:bodyPr/>
          <a:lstStyle/>
          <a:p>
            <a:fld id="{929349E7-1EC7-49FD-8531-6CA97703CC48}" type="datetime4">
              <a:rPr lang="hu-HU"/>
              <a:pPr/>
              <a:t>2024. november 28.</a:t>
            </a:fld>
            <a:endParaRPr lang="hu-HU"/>
          </a:p>
        </p:txBody>
      </p:sp>
      <p:sp>
        <p:nvSpPr>
          <p:cNvPr id="4" name="Dia számának helye 4"/>
          <p:cNvSpPr>
            <a:spLocks noGrp="1"/>
          </p:cNvSpPr>
          <p:nvPr>
            <p:ph type="sldNum" sz="quarter" idx="12"/>
          </p:nvPr>
        </p:nvSpPr>
        <p:spPr>
          <a:xfrm>
            <a:off x="0" y="6042025"/>
            <a:ext cx="8645525" cy="365125"/>
          </a:xfrm>
        </p:spPr>
        <p:txBody>
          <a:bodyPr/>
          <a:lstStyle/>
          <a:p>
            <a:fld id="{E52BA445-DFB5-41A7-B6AE-EB3C83755804}" type="slidenum">
              <a:rPr lang="hu-HU"/>
              <a:pPr/>
              <a:t>421</a:t>
            </a:fld>
            <a:endParaRPr lang="hu-HU"/>
          </a:p>
        </p:txBody>
      </p:sp>
    </p:spTree>
    <p:extLst>
      <p:ext uri="{BB962C8B-B14F-4D97-AF65-F5344CB8AC3E}">
        <p14:creationId xmlns:p14="http://schemas.microsoft.com/office/powerpoint/2010/main" val="1156532925"/>
      </p:ext>
    </p:extLst>
  </p:cSld>
  <p:clrMapOvr>
    <a:masterClrMapping/>
  </p:clrMapOvr>
</p:sld>
</file>

<file path=ppt/slides/slide4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endParaRPr lang="hu-HU"/>
          </a:p>
        </p:txBody>
      </p:sp>
      <p:sp>
        <p:nvSpPr>
          <p:cNvPr id="3" name="Tartalom helye 2"/>
          <p:cNvSpPr>
            <a:spLocks noGrp="1"/>
          </p:cNvSpPr>
          <p:nvPr>
            <p:ph idx="1"/>
          </p:nvPr>
        </p:nvSpPr>
        <p:spPr/>
        <p:txBody>
          <a:bodyPr/>
          <a:lstStyle/>
          <a:p>
            <a:r>
              <a:rPr lang="hu-HU" dirty="0" smtClean="0"/>
              <a:t>A teljesség hiányára utal az is, ha egy </a:t>
            </a:r>
            <a:r>
              <a:rPr lang="hu-HU" dirty="0" err="1" smtClean="0"/>
              <a:t>attributum</a:t>
            </a:r>
            <a:r>
              <a:rPr lang="hu-HU" dirty="0" smtClean="0"/>
              <a:t> nem fordul elő egyik megkötésben sem</a:t>
            </a:r>
          </a:p>
          <a:p>
            <a:r>
              <a:rPr lang="hu-HU" dirty="0" smtClean="0"/>
              <a:t>Állapot átmenet diagramokra:</a:t>
            </a:r>
          </a:p>
          <a:p>
            <a:pPr lvl="1"/>
            <a:r>
              <a:rPr lang="hu-HU" dirty="0" smtClean="0"/>
              <a:t>Kimenetekhez tartozó logikai felt együttes VAGY kapcsolata TRUE értéket adjon</a:t>
            </a:r>
            <a:endParaRPr lang="hu-HU" dirty="0"/>
          </a:p>
        </p:txBody>
      </p:sp>
    </p:spTree>
    <p:extLst>
      <p:ext uri="{BB962C8B-B14F-4D97-AF65-F5344CB8AC3E}">
        <p14:creationId xmlns:p14="http://schemas.microsoft.com/office/powerpoint/2010/main" val="569159805"/>
      </p:ext>
    </p:extLst>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endParaRPr lang="hu-HU"/>
          </a:p>
        </p:txBody>
      </p:sp>
      <p:sp>
        <p:nvSpPr>
          <p:cNvPr id="3" name="Tartalom helye 2"/>
          <p:cNvSpPr>
            <a:spLocks noGrp="1"/>
          </p:cNvSpPr>
          <p:nvPr>
            <p:ph idx="1"/>
          </p:nvPr>
        </p:nvSpPr>
        <p:spPr/>
        <p:txBody>
          <a:bodyPr/>
          <a:lstStyle/>
          <a:p>
            <a:r>
              <a:rPr lang="hu-HU" dirty="0" smtClean="0"/>
              <a:t>Osztály művelete teljes:</a:t>
            </a:r>
          </a:p>
          <a:p>
            <a:pPr lvl="1"/>
            <a:r>
              <a:rPr lang="hu-HU" dirty="0" smtClean="0"/>
              <a:t>Ha annak hatása definiálva van minden egyes lehetséges állapotra, mely kielégíti az osztály összes működési feltételét</a:t>
            </a:r>
          </a:p>
          <a:p>
            <a:r>
              <a:rPr lang="hu-HU" dirty="0" smtClean="0"/>
              <a:t>Állapot diagram teljes:</a:t>
            </a:r>
          </a:p>
          <a:p>
            <a:pPr lvl="1"/>
            <a:r>
              <a:rPr lang="hu-HU" dirty="0" smtClean="0"/>
              <a:t>Létezik legalább 1 kezdőállapot,</a:t>
            </a:r>
          </a:p>
          <a:p>
            <a:pPr lvl="1"/>
            <a:r>
              <a:rPr lang="hu-HU" dirty="0" smtClean="0"/>
              <a:t>Legalább 1 végállapot</a:t>
            </a:r>
          </a:p>
          <a:p>
            <a:pPr lvl="1"/>
            <a:r>
              <a:rPr lang="hu-HU" dirty="0" smtClean="0"/>
              <a:t>Összes állapot elérhető benne</a:t>
            </a:r>
            <a:endParaRPr lang="hu-HU" dirty="0"/>
          </a:p>
        </p:txBody>
      </p:sp>
    </p:spTree>
    <p:extLst>
      <p:ext uri="{BB962C8B-B14F-4D97-AF65-F5344CB8AC3E}">
        <p14:creationId xmlns:p14="http://schemas.microsoft.com/office/powerpoint/2010/main" val="3885323499"/>
      </p:ext>
    </p:extLst>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3714" name="Rectangle 2"/>
          <p:cNvSpPr>
            <a:spLocks noGrp="1" noChangeArrowheads="1"/>
          </p:cNvSpPr>
          <p:nvPr>
            <p:ph type="title"/>
          </p:nvPr>
        </p:nvSpPr>
        <p:spPr/>
        <p:txBody>
          <a:bodyPr/>
          <a:lstStyle/>
          <a:p>
            <a:r>
              <a:rPr lang="hu-HU" dirty="0" smtClean="0"/>
              <a:t>Megállapítások</a:t>
            </a:r>
            <a:endParaRPr lang="en-US" dirty="0"/>
          </a:p>
        </p:txBody>
      </p:sp>
      <p:sp>
        <p:nvSpPr>
          <p:cNvPr id="4083715" name="Rectangle 3"/>
          <p:cNvSpPr>
            <a:spLocks noGrp="1" noChangeArrowheads="1"/>
          </p:cNvSpPr>
          <p:nvPr>
            <p:ph idx="1"/>
          </p:nvPr>
        </p:nvSpPr>
        <p:spPr/>
        <p:txBody>
          <a:bodyPr/>
          <a:lstStyle/>
          <a:p>
            <a:pPr>
              <a:lnSpc>
                <a:spcPct val="90000"/>
              </a:lnSpc>
            </a:pPr>
            <a:r>
              <a:rPr lang="hu-HU" sz="2400"/>
              <a:t>A szoftver-technológia jelenlegi fejlettségi állapotában az UML nyelv és a hozzá kapcsolódó diagramok arra szolgálnak, hogy egy szoftver-tervet több lehetséges és fontos aspektusból tudjunk megjeleníteni és elemezni, azzal a céllal, hogy minél nagyobb biztonsággal lehessen a szoftvert megvalósítani.</a:t>
            </a:r>
          </a:p>
          <a:p>
            <a:pPr>
              <a:lnSpc>
                <a:spcPct val="90000"/>
              </a:lnSpc>
            </a:pPr>
            <a:r>
              <a:rPr lang="hu-HU" sz="2400"/>
              <a:t>A szoftver-tervhez az UML-leírások kézi, emberi úton történő előállítására van szükség. Ezeknek a leírásoknak az összhangját és teljességét szintén emberi úton történő összevetés és elemzés tudja csak megteremteni.</a:t>
            </a:r>
          </a:p>
          <a:p>
            <a:pPr>
              <a:lnSpc>
                <a:spcPct val="90000"/>
              </a:lnSpc>
            </a:pPr>
            <a:endParaRPr lang="hu-HU" sz="2400"/>
          </a:p>
        </p:txBody>
      </p:sp>
      <p:sp>
        <p:nvSpPr>
          <p:cNvPr id="5" name="Dátum helye 5"/>
          <p:cNvSpPr>
            <a:spLocks noGrp="1"/>
          </p:cNvSpPr>
          <p:nvPr>
            <p:ph type="dt" sz="half" idx="10"/>
          </p:nvPr>
        </p:nvSpPr>
        <p:spPr>
          <a:xfrm>
            <a:off x="11129963" y="5916613"/>
            <a:ext cx="1062037" cy="490537"/>
          </a:xfrm>
        </p:spPr>
        <p:txBody>
          <a:bodyPr/>
          <a:lstStyle/>
          <a:p>
            <a:fld id="{71E947A7-F4FD-48C8-B452-3E153CC620FF}" type="datetime4">
              <a:rPr lang="hu-HU"/>
              <a:pPr/>
              <a:t>2024. november 28.</a:t>
            </a:fld>
            <a:endParaRPr lang="hu-HU"/>
          </a:p>
        </p:txBody>
      </p:sp>
      <p:sp>
        <p:nvSpPr>
          <p:cNvPr id="4" name="Dia számának helye 4"/>
          <p:cNvSpPr>
            <a:spLocks noGrp="1"/>
          </p:cNvSpPr>
          <p:nvPr>
            <p:ph type="sldNum" sz="quarter" idx="12"/>
          </p:nvPr>
        </p:nvSpPr>
        <p:spPr>
          <a:xfrm>
            <a:off x="0" y="6042025"/>
            <a:ext cx="8645525" cy="365125"/>
          </a:xfrm>
        </p:spPr>
        <p:txBody>
          <a:bodyPr/>
          <a:lstStyle/>
          <a:p>
            <a:fld id="{93962C4C-3C43-4565-B78F-52FB2D6E0B21}" type="slidenum">
              <a:rPr lang="hu-HU"/>
              <a:pPr/>
              <a:t>424</a:t>
            </a:fld>
            <a:endParaRPr lang="hu-HU"/>
          </a:p>
        </p:txBody>
      </p:sp>
    </p:spTree>
    <p:extLst>
      <p:ext uri="{BB962C8B-B14F-4D97-AF65-F5344CB8AC3E}">
        <p14:creationId xmlns:p14="http://schemas.microsoft.com/office/powerpoint/2010/main" val="3407246842"/>
      </p:ext>
    </p:extLst>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4738" name="Rectangle 2"/>
          <p:cNvSpPr>
            <a:spLocks noGrp="1" noChangeArrowheads="1"/>
          </p:cNvSpPr>
          <p:nvPr>
            <p:ph type="title"/>
          </p:nvPr>
        </p:nvSpPr>
        <p:spPr/>
        <p:txBody>
          <a:bodyPr/>
          <a:lstStyle/>
          <a:p>
            <a:endParaRPr lang="en-US"/>
          </a:p>
        </p:txBody>
      </p:sp>
      <p:sp>
        <p:nvSpPr>
          <p:cNvPr id="4084739" name="Rectangle 3"/>
          <p:cNvSpPr>
            <a:spLocks noGrp="1" noChangeArrowheads="1"/>
          </p:cNvSpPr>
          <p:nvPr>
            <p:ph idx="1"/>
          </p:nvPr>
        </p:nvSpPr>
        <p:spPr/>
        <p:txBody>
          <a:bodyPr/>
          <a:lstStyle/>
          <a:p>
            <a:pPr>
              <a:lnSpc>
                <a:spcPct val="90000"/>
              </a:lnSpc>
            </a:pPr>
            <a:r>
              <a:rPr lang="hu-HU" sz="2400"/>
              <a:t>Az automatizált konzisztencia-ellenőrzés és teljességellenőrzés még számos kutatási és fejlesztési feladat megoldását követeli meg. Ugyanakkor azonban nem várható, hogy átfogó, abszolút és egzakt megoldásokat lehessen kidolgozni ezen a területen. Ez azt jelenti, hogy a tervezésben az emberi közreműködés mindig elkerülhetetlen lesz. A számítógépes szerepvállalás csupán a munkaterhek csökkentésében és a tervek megbízhatóságának fokozásában fog érvényesülni.</a:t>
            </a:r>
          </a:p>
          <a:p>
            <a:pPr>
              <a:lnSpc>
                <a:spcPct val="90000"/>
              </a:lnSpc>
            </a:pPr>
            <a:endParaRPr lang="hu-HU" sz="2400"/>
          </a:p>
        </p:txBody>
      </p:sp>
      <p:sp>
        <p:nvSpPr>
          <p:cNvPr id="5" name="Dátum helye 5"/>
          <p:cNvSpPr>
            <a:spLocks noGrp="1"/>
          </p:cNvSpPr>
          <p:nvPr>
            <p:ph type="dt" sz="half" idx="10"/>
          </p:nvPr>
        </p:nvSpPr>
        <p:spPr>
          <a:xfrm>
            <a:off x="11129963" y="5916613"/>
            <a:ext cx="1062037" cy="490537"/>
          </a:xfrm>
        </p:spPr>
        <p:txBody>
          <a:bodyPr/>
          <a:lstStyle/>
          <a:p>
            <a:fld id="{57D1C2B6-8D9D-48D4-BAD7-02CEC287237D}" type="datetime4">
              <a:rPr lang="hu-HU"/>
              <a:pPr/>
              <a:t>2024. november 28.</a:t>
            </a:fld>
            <a:endParaRPr lang="hu-HU"/>
          </a:p>
        </p:txBody>
      </p:sp>
      <p:sp>
        <p:nvSpPr>
          <p:cNvPr id="4" name="Dia számának helye 4"/>
          <p:cNvSpPr>
            <a:spLocks noGrp="1"/>
          </p:cNvSpPr>
          <p:nvPr>
            <p:ph type="sldNum" sz="quarter" idx="12"/>
          </p:nvPr>
        </p:nvSpPr>
        <p:spPr>
          <a:xfrm>
            <a:off x="0" y="6042025"/>
            <a:ext cx="8645525" cy="365125"/>
          </a:xfrm>
        </p:spPr>
        <p:txBody>
          <a:bodyPr/>
          <a:lstStyle/>
          <a:p>
            <a:fld id="{B1F203B4-1830-4FEA-BAA5-5B7264625095}" type="slidenum">
              <a:rPr lang="hu-HU"/>
              <a:pPr/>
              <a:t>425</a:t>
            </a:fld>
            <a:endParaRPr lang="hu-HU"/>
          </a:p>
        </p:txBody>
      </p:sp>
    </p:spTree>
    <p:extLst>
      <p:ext uri="{BB962C8B-B14F-4D97-AF65-F5344CB8AC3E}">
        <p14:creationId xmlns:p14="http://schemas.microsoft.com/office/powerpoint/2010/main" val="2698336065"/>
      </p:ext>
    </p:extLst>
  </p:cSld>
  <p:clrMapOvr>
    <a:masterClrMapping/>
  </p:clrMapOvr>
</p:sld>
</file>

<file path=ppt/theme/theme1.xml><?xml version="1.0" encoding="utf-8"?>
<a:theme xmlns:a="http://schemas.openxmlformats.org/drawingml/2006/main" name="Fazetta">
  <a:themeElements>
    <a:clrScheme name="Fazet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zet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zet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6</TotalTime>
  <Words>14048</Words>
  <Application>Microsoft Office PowerPoint</Application>
  <PresentationFormat>Szélesvásznú</PresentationFormat>
  <Paragraphs>2736</Paragraphs>
  <Slides>425</Slides>
  <Notes>94</Notes>
  <HiddenSlides>0</HiddenSlides>
  <MMClips>0</MMClips>
  <ScaleCrop>false</ScaleCrop>
  <HeadingPairs>
    <vt:vector size="8" baseType="variant">
      <vt:variant>
        <vt:lpstr>Használt betűtípusok</vt:lpstr>
      </vt:variant>
      <vt:variant>
        <vt:i4>8</vt:i4>
      </vt:variant>
      <vt:variant>
        <vt:lpstr>Téma</vt:lpstr>
      </vt:variant>
      <vt:variant>
        <vt:i4>1</vt:i4>
      </vt:variant>
      <vt:variant>
        <vt:lpstr>Beágyazott OLE kiszolgálók</vt:lpstr>
      </vt:variant>
      <vt:variant>
        <vt:i4>1</vt:i4>
      </vt:variant>
      <vt:variant>
        <vt:lpstr>Diacímek</vt:lpstr>
      </vt:variant>
      <vt:variant>
        <vt:i4>425</vt:i4>
      </vt:variant>
    </vt:vector>
  </HeadingPairs>
  <TitlesOfParts>
    <vt:vector size="435" baseType="lpstr">
      <vt:lpstr>Arial</vt:lpstr>
      <vt:lpstr>Arial Narrow</vt:lpstr>
      <vt:lpstr>Calibri</vt:lpstr>
      <vt:lpstr>Symbol</vt:lpstr>
      <vt:lpstr>Trebuchet MS</vt:lpstr>
      <vt:lpstr>Verdana</vt:lpstr>
      <vt:lpstr>Wingdings</vt:lpstr>
      <vt:lpstr>Wingdings 3</vt:lpstr>
      <vt:lpstr>Fazetta</vt:lpstr>
      <vt:lpstr>ABC FlowCharter</vt:lpstr>
      <vt:lpstr>Az UML nyelv használati eleme: Osztály-diagramok.</vt:lpstr>
      <vt:lpstr>Osztálydiagram</vt:lpstr>
      <vt:lpstr>Osztálydiagramok a fejlesztési modellben</vt:lpstr>
      <vt:lpstr>Osztálydiagramok a fejlesztési modellben (folyt.)</vt:lpstr>
      <vt:lpstr>Osztálydiagramok a fejlesztési modellben (folyt.)</vt:lpstr>
      <vt:lpstr>Osztálydiagramok a fejlesztési modellben - perspektíva</vt:lpstr>
      <vt:lpstr>Osztálydiagramok a fejlesztési modellben – perspektíva (folyt.)</vt:lpstr>
      <vt:lpstr>Osztálydiagramok a fejlesztési modellben – perspektíva (folyt.)</vt:lpstr>
      <vt:lpstr>Osztálydiagramok a fejlesztési modellben – perspektíva (folyt.)</vt:lpstr>
      <vt:lpstr>Objektum</vt:lpstr>
      <vt:lpstr>Objektum (folyt.)</vt:lpstr>
      <vt:lpstr>Osztály</vt:lpstr>
      <vt:lpstr>Osztály (folyt.)</vt:lpstr>
      <vt:lpstr>Osztály (folyt.)</vt:lpstr>
      <vt:lpstr>Attribútum</vt:lpstr>
      <vt:lpstr>Attribútum (folyt.)</vt:lpstr>
      <vt:lpstr>Attribútum (folyt.)</vt:lpstr>
      <vt:lpstr>Attribútum (folyt.)</vt:lpstr>
      <vt:lpstr>Attribútum (folyt.)</vt:lpstr>
      <vt:lpstr>Attribútum (folyt.)</vt:lpstr>
      <vt:lpstr>Láthatóság</vt:lpstr>
      <vt:lpstr>Láthatóság (folyt.)</vt:lpstr>
      <vt:lpstr>Műveletek</vt:lpstr>
      <vt:lpstr>PowerPoint-bemutató</vt:lpstr>
      <vt:lpstr>Példa</vt:lpstr>
      <vt:lpstr>Műveletek</vt:lpstr>
      <vt:lpstr>Műveletek (folyt.)</vt:lpstr>
      <vt:lpstr>Műveletek csoportosítása</vt:lpstr>
      <vt:lpstr>Láthatóság</vt:lpstr>
      <vt:lpstr>Osztályok közötti asszociációk</vt:lpstr>
      <vt:lpstr>Asszociáció</vt:lpstr>
      <vt:lpstr>Asszociációk leírása</vt:lpstr>
      <vt:lpstr>Asszociációk</vt:lpstr>
      <vt:lpstr>Asszociációk (folyt.)</vt:lpstr>
      <vt:lpstr>Szerep</vt:lpstr>
      <vt:lpstr>Multiplicitás</vt:lpstr>
      <vt:lpstr>Multiplicitás jelölése UML-ben</vt:lpstr>
      <vt:lpstr>Navigálhatóság iránya</vt:lpstr>
      <vt:lpstr>Megszorítás</vt:lpstr>
      <vt:lpstr>Megszorítás (folyt.)</vt:lpstr>
      <vt:lpstr>Példa</vt:lpstr>
      <vt:lpstr>Kapcsolatok implementálása</vt:lpstr>
      <vt:lpstr>Konceptuális modell</vt:lpstr>
      <vt:lpstr>Példa</vt:lpstr>
      <vt:lpstr>Specifikációs szintű modell</vt:lpstr>
      <vt:lpstr>Példa</vt:lpstr>
      <vt:lpstr>Implementációs modell</vt:lpstr>
      <vt:lpstr>Példa</vt:lpstr>
      <vt:lpstr>Az öröklődés</vt:lpstr>
      <vt:lpstr>Öröklődési viszony UML-ben</vt:lpstr>
      <vt:lpstr>Öröklődési viszonyok</vt:lpstr>
      <vt:lpstr>Általánosítás</vt:lpstr>
      <vt:lpstr>Általánosítás (folyt.)</vt:lpstr>
      <vt:lpstr>Példa</vt:lpstr>
      <vt:lpstr>Példa (folyt.)</vt:lpstr>
      <vt:lpstr>Specializáció</vt:lpstr>
      <vt:lpstr>Specializáció (folyt.)</vt:lpstr>
      <vt:lpstr>Példa</vt:lpstr>
      <vt:lpstr>Öröklődési hierarchia</vt:lpstr>
      <vt:lpstr>Öröklődési hierarchia (folyt.)</vt:lpstr>
      <vt:lpstr>Öröklési viszony</vt:lpstr>
      <vt:lpstr>Speciális fogalmak, asszociációs viszonyok</vt:lpstr>
      <vt:lpstr>Aggregáció</vt:lpstr>
      <vt:lpstr>Aggregáció (folyt.)</vt:lpstr>
      <vt:lpstr>Aggregáció (folyt.)</vt:lpstr>
      <vt:lpstr>Aggregáció (folyt.)</vt:lpstr>
      <vt:lpstr>Kompozíció</vt:lpstr>
      <vt:lpstr>Kompozíció (folyt.)</vt:lpstr>
      <vt:lpstr>Minősített asszociáció</vt:lpstr>
      <vt:lpstr>Minősített asszociáció (folyt.)</vt:lpstr>
      <vt:lpstr>Minősített asszociáció (folyt.)</vt:lpstr>
      <vt:lpstr>Asszociációs osztály</vt:lpstr>
      <vt:lpstr>Asszociációs osztály (folyt.)</vt:lpstr>
      <vt:lpstr>Asszociációs osztály (folyt.)</vt:lpstr>
      <vt:lpstr>Származtatott elemek</vt:lpstr>
      <vt:lpstr>Származtatott elemek (folyt.)</vt:lpstr>
      <vt:lpstr>Sztereotípia</vt:lpstr>
      <vt:lpstr>Elemzési osztályok sztereotípiái</vt:lpstr>
      <vt:lpstr>Elemzési osztályok sztereotípiái (folyt.)</vt:lpstr>
      <vt:lpstr>Absztrakt osztályok</vt:lpstr>
      <vt:lpstr>Függőség</vt:lpstr>
      <vt:lpstr>Függőség (folyt.)</vt:lpstr>
      <vt:lpstr>Osztály-attribútum, osztály-művelet</vt:lpstr>
      <vt:lpstr>Osztály-attribútum, osztály-művelet (folyt.)</vt:lpstr>
      <vt:lpstr>Osztály-attribútum, osztály-művelet (folyt.)</vt:lpstr>
      <vt:lpstr>Lépések</vt:lpstr>
      <vt:lpstr>Osztályok tervezése</vt:lpstr>
      <vt:lpstr>&lt;&lt;Boundary&gt;&gt; osztályok</vt:lpstr>
      <vt:lpstr>Boundary  felhasználói felület</vt:lpstr>
      <vt:lpstr>Felhasználói felület megvalósítva</vt:lpstr>
      <vt:lpstr>Felhasználói felület modellje</vt:lpstr>
      <vt:lpstr>&lt;&lt;Entity&gt;&gt; osztályok</vt:lpstr>
      <vt:lpstr>&lt;&lt;Control&gt;&gt; osztályok</vt:lpstr>
      <vt:lpstr>Láthatóság meghatározása</vt:lpstr>
      <vt:lpstr>Műveletek definiálása</vt:lpstr>
      <vt:lpstr>Műveletek tervezése</vt:lpstr>
      <vt:lpstr>Műveletek tervezése (folyt.)</vt:lpstr>
      <vt:lpstr>Műveletek tervezése (folyt.)</vt:lpstr>
      <vt:lpstr>Műveletek tervezése (folyt.)</vt:lpstr>
      <vt:lpstr>Állapotok</vt:lpstr>
      <vt:lpstr>Osztálydiagramok</vt:lpstr>
      <vt:lpstr>Osztály jelentései</vt:lpstr>
      <vt:lpstr>Osztálydiagramok fajtái</vt:lpstr>
      <vt:lpstr>Elemzési osztálydiagram </vt:lpstr>
      <vt:lpstr>PowerPoint-bemutató</vt:lpstr>
      <vt:lpstr>Elemzési osztályok</vt:lpstr>
      <vt:lpstr>Kapcsolatok</vt:lpstr>
      <vt:lpstr>Fogalmi szótár</vt:lpstr>
      <vt:lpstr>attributumok</vt:lpstr>
      <vt:lpstr>PowerPoint-bemutató</vt:lpstr>
      <vt:lpstr>Minősítők</vt:lpstr>
      <vt:lpstr>Kompozíció</vt:lpstr>
      <vt:lpstr>Kompozíció</vt:lpstr>
      <vt:lpstr>Aggregáció jelölései</vt:lpstr>
      <vt:lpstr>Műveletek / Metódusok</vt:lpstr>
      <vt:lpstr>Műveletek / Metódusok</vt:lpstr>
      <vt:lpstr>Öröklődés</vt:lpstr>
      <vt:lpstr>Öröklődés</vt:lpstr>
      <vt:lpstr>PowerPoint-bemutató</vt:lpstr>
      <vt:lpstr>PowerPoint-bemutató</vt:lpstr>
      <vt:lpstr>Tervezési osztálydiagram</vt:lpstr>
      <vt:lpstr>PowerPoint-bemutató</vt:lpstr>
      <vt:lpstr>Tervezési osztálydiagram</vt:lpstr>
      <vt:lpstr>Attribútumok</vt:lpstr>
      <vt:lpstr>Attribútumok</vt:lpstr>
      <vt:lpstr>PowerPoint-bemutató</vt:lpstr>
      <vt:lpstr>Kapcsolatok</vt:lpstr>
      <vt:lpstr>Műveletek</vt:lpstr>
      <vt:lpstr>Absztrakt Osztályok</vt:lpstr>
      <vt:lpstr>Aktív osztályok</vt:lpstr>
      <vt:lpstr>Interfészek</vt:lpstr>
      <vt:lpstr>Iterfészek</vt:lpstr>
      <vt:lpstr>taxonómia</vt:lpstr>
      <vt:lpstr>PowerPoint-bemutató</vt:lpstr>
      <vt:lpstr>Taxonómia és több fogalmi kategória szerinti bontás</vt:lpstr>
      <vt:lpstr>Kompozíció Hierarchia</vt:lpstr>
      <vt:lpstr>Kompozícióhierarchia</vt:lpstr>
      <vt:lpstr>PowerPoint-bemutató</vt:lpstr>
      <vt:lpstr>PowerPoint-bemutató</vt:lpstr>
      <vt:lpstr>PowerPoint-bemutató</vt:lpstr>
      <vt:lpstr>Objektumdiagram</vt:lpstr>
      <vt:lpstr>Osztály és objektuma</vt:lpstr>
      <vt:lpstr>PowerPoint-bemutató</vt:lpstr>
      <vt:lpstr>Példánya kapcsolat</vt:lpstr>
      <vt:lpstr>PowerPoint-bemutató</vt:lpstr>
      <vt:lpstr>Szerepkörök modellezése</vt:lpstr>
      <vt:lpstr>PowerPoint-bemutató</vt:lpstr>
      <vt:lpstr>Szerepkörök</vt:lpstr>
      <vt:lpstr>PowerPoint-bemutató</vt:lpstr>
      <vt:lpstr>Terv</vt:lpstr>
      <vt:lpstr>PowerPoint-bemutató</vt:lpstr>
      <vt:lpstr>PowerPoint-bemutató</vt:lpstr>
      <vt:lpstr>Osztályleltár</vt:lpstr>
      <vt:lpstr>PowerPoint-bemutató</vt:lpstr>
      <vt:lpstr>Táblázat</vt:lpstr>
      <vt:lpstr>PowerPoint-bemutató</vt:lpstr>
      <vt:lpstr>Megvalósítási Osztálydiagram</vt:lpstr>
      <vt:lpstr>Data Types</vt:lpstr>
      <vt:lpstr>Adattípusok</vt:lpstr>
      <vt:lpstr>Sablonosztályok / Osztálysablonok</vt:lpstr>
      <vt:lpstr>PowerPoint-bemutató</vt:lpstr>
      <vt:lpstr>aggregáció</vt:lpstr>
      <vt:lpstr>Megvalósítási osztálydiagram</vt:lpstr>
      <vt:lpstr>Java profil konvenciók pl</vt:lpstr>
      <vt:lpstr>Java profil</vt:lpstr>
      <vt:lpstr>PowerPoint-bemutató</vt:lpstr>
      <vt:lpstr>PowerPoint-bemutató</vt:lpstr>
      <vt:lpstr>PowerPoint-bemutató</vt:lpstr>
      <vt:lpstr>Értelmezés adatbázismodellként</vt:lpstr>
      <vt:lpstr>Adatbázis profil</vt:lpstr>
      <vt:lpstr>PowerPoint-bemutató</vt:lpstr>
      <vt:lpstr>PowerPoint-bemutató</vt:lpstr>
      <vt:lpstr>CRC kártya</vt:lpstr>
      <vt:lpstr>CRC kártya</vt:lpstr>
      <vt:lpstr>Felelősség</vt:lpstr>
      <vt:lpstr>CRC kártya</vt:lpstr>
      <vt:lpstr>CRC kártya</vt:lpstr>
      <vt:lpstr>Az UML nyelv használati eleme: Interakciós diagramok: szekvencia, együttműködési diagram.</vt:lpstr>
      <vt:lpstr>Interakciós diagramok</vt:lpstr>
      <vt:lpstr>Interakciós diagramok (folyt.)</vt:lpstr>
      <vt:lpstr>Az interakciós diagram alkalmazásának tipikus esete</vt:lpstr>
      <vt:lpstr>Egy metódus lefuttatása üzenetküldéssel</vt:lpstr>
      <vt:lpstr>Példák a hívásra</vt:lpstr>
      <vt:lpstr>Szekvencia-diagram</vt:lpstr>
      <vt:lpstr>Példa (Bejelentkezés megérkezéskor)</vt:lpstr>
      <vt:lpstr>Szekvencia-diagram (folyt.)</vt:lpstr>
      <vt:lpstr>Szekvencia-diagram Üzenetek</vt:lpstr>
      <vt:lpstr>Ön-delegálás</vt:lpstr>
      <vt:lpstr>Vezérlési információ megadása</vt:lpstr>
      <vt:lpstr>Konkurrens folyamatok és aktiválások</vt:lpstr>
      <vt:lpstr>Szekvencia-diagram tranzakció-ellenőrzéssel</vt:lpstr>
      <vt:lpstr>Szekvencia-diagramok a gyakorlatban</vt:lpstr>
      <vt:lpstr>Példa (SSD)</vt:lpstr>
      <vt:lpstr>PowerPoint-bemutató</vt:lpstr>
      <vt:lpstr>PowerPoint-bemutató</vt:lpstr>
      <vt:lpstr>Együttműködési diagram</vt:lpstr>
      <vt:lpstr>Együttműködési diagram (folyt.)</vt:lpstr>
      <vt:lpstr>Együttműködési diagram egyszerű számozással</vt:lpstr>
      <vt:lpstr>Együttműködési diagram decimális osztású számozással</vt:lpstr>
      <vt:lpstr>Könyvtári kölcsönzés business (üzleti) use case diagramja</vt:lpstr>
      <vt:lpstr>A Könyvkölcsönzést leíró szekvencia-diagram</vt:lpstr>
      <vt:lpstr>A Könyvkölcsönzésben részt vevő objektumok kommunikációját leíró együttműködési diagram</vt:lpstr>
      <vt:lpstr>PowerPoint-bemutató</vt:lpstr>
      <vt:lpstr>UML 2 Interakciók</vt:lpstr>
      <vt:lpstr>Interakciók</vt:lpstr>
      <vt:lpstr>Mire használható?</vt:lpstr>
      <vt:lpstr>Interakciós diagramok    főbb szempontok</vt:lpstr>
      <vt:lpstr>Szemantikai alapfogalmak</vt:lpstr>
      <vt:lpstr>Osztály interakciók</vt:lpstr>
      <vt:lpstr>Komplementer ábrázolásmódok</vt:lpstr>
      <vt:lpstr>Szekvencia diagramok – mikor?</vt:lpstr>
      <vt:lpstr>Komplementer ábrázolásmódok</vt:lpstr>
      <vt:lpstr>Kommunikációs diagramok – mikor?</vt:lpstr>
      <vt:lpstr>Komplementer ábrázolásmódok</vt:lpstr>
      <vt:lpstr>PowerPoint-bemutató</vt:lpstr>
      <vt:lpstr>Idő diagamok</vt:lpstr>
      <vt:lpstr>Interakciók, mint esemény előfordulás következmények</vt:lpstr>
      <vt:lpstr>Aktivitás és üzenettípusok</vt:lpstr>
      <vt:lpstr>PowerPoint-bemutató</vt:lpstr>
      <vt:lpstr>Üzenetek</vt:lpstr>
      <vt:lpstr>PowerPoint-bemutató</vt:lpstr>
      <vt:lpstr>Üzenetek grammatikája</vt:lpstr>
      <vt:lpstr>Minta interakciók</vt:lpstr>
      <vt:lpstr>Kontextus interakciók</vt:lpstr>
      <vt:lpstr>Interakciós operátorok</vt:lpstr>
      <vt:lpstr>PowerPoint-bemutató</vt:lpstr>
      <vt:lpstr>Strict operátor</vt:lpstr>
      <vt:lpstr>PowerPoint-bemutató</vt:lpstr>
      <vt:lpstr>Ref operátor</vt:lpstr>
      <vt:lpstr>Opt operátor</vt:lpstr>
      <vt:lpstr>Brk operátor</vt:lpstr>
      <vt:lpstr>PowerPoint-bemutató</vt:lpstr>
      <vt:lpstr>Alt operátor</vt:lpstr>
      <vt:lpstr>Ugrópontok</vt:lpstr>
      <vt:lpstr>Interakciók szöveges ábrázolása</vt:lpstr>
      <vt:lpstr>Loop operátor</vt:lpstr>
      <vt:lpstr>PowerPoint-bemutató</vt:lpstr>
      <vt:lpstr>Seq operátor</vt:lpstr>
      <vt:lpstr>PowerPoint-bemutató</vt:lpstr>
      <vt:lpstr>Par operátor</vt:lpstr>
      <vt:lpstr>PowerPoint-bemutató</vt:lpstr>
      <vt:lpstr>PowerPoint-bemutató</vt:lpstr>
      <vt:lpstr>Region operátor</vt:lpstr>
      <vt:lpstr>Ignore /consider</vt:lpstr>
      <vt:lpstr>Ignore operátor</vt:lpstr>
      <vt:lpstr>Consider operátor</vt:lpstr>
      <vt:lpstr>PowerPoint-bemutató</vt:lpstr>
      <vt:lpstr>PowerPoint-bemutató</vt:lpstr>
      <vt:lpstr>Neg operátor</vt:lpstr>
      <vt:lpstr>Assert operátor</vt:lpstr>
      <vt:lpstr>Tesztesetek</vt:lpstr>
      <vt:lpstr>Tesztlefutás</vt:lpstr>
      <vt:lpstr>Protokollinterakciók</vt:lpstr>
      <vt:lpstr>PowerPoint-bemutató</vt:lpstr>
      <vt:lpstr>PowerPoint-bemutató</vt:lpstr>
      <vt:lpstr>PowerPoint-bemutató</vt:lpstr>
      <vt:lpstr>PowerPoint-bemutató</vt:lpstr>
      <vt:lpstr>Interakciós áttekintés</vt:lpstr>
      <vt:lpstr>Csomag-diagramok</vt:lpstr>
      <vt:lpstr>Használati szempontok</vt:lpstr>
      <vt:lpstr>Használati szempontok</vt:lpstr>
      <vt:lpstr>Használati szempontok</vt:lpstr>
      <vt:lpstr>A szoftver-működés lebontása</vt:lpstr>
      <vt:lpstr>A szoftver-működés lebontása</vt:lpstr>
      <vt:lpstr>Megoldás</vt:lpstr>
      <vt:lpstr>Függőségi viszonyok</vt:lpstr>
      <vt:lpstr>Függőségi viszonyok</vt:lpstr>
      <vt:lpstr>Függőségi viszonyok</vt:lpstr>
      <vt:lpstr>Példa csomag-diagramra</vt:lpstr>
      <vt:lpstr>Függőségi kapcsolat</vt:lpstr>
      <vt:lpstr>Nem tranzitív kapcsolatok </vt:lpstr>
      <vt:lpstr>Kibővítések</vt:lpstr>
      <vt:lpstr>Kibővített csomag-diagram </vt:lpstr>
      <vt:lpstr>Függőségi ciklus</vt:lpstr>
      <vt:lpstr>UML2 - Csomagdiagramok</vt:lpstr>
      <vt:lpstr>Csomagok</vt:lpstr>
      <vt:lpstr>Csomaghierarchiák és minősített nevek</vt:lpstr>
      <vt:lpstr>Import</vt:lpstr>
      <vt:lpstr>Egyedi import</vt:lpstr>
      <vt:lpstr>PowerPoint-bemutató</vt:lpstr>
      <vt:lpstr>PowerPoint-bemutató</vt:lpstr>
      <vt:lpstr>PowerPoint-bemutató</vt:lpstr>
      <vt:lpstr>Csomagimport</vt:lpstr>
      <vt:lpstr>Csomagimport -2</vt:lpstr>
      <vt:lpstr>Beolvasztás</vt:lpstr>
      <vt:lpstr>PowerPoint-bemutató</vt:lpstr>
      <vt:lpstr>PowerPoint-bemutató</vt:lpstr>
      <vt:lpstr>Állapotmodellezés</vt:lpstr>
      <vt:lpstr>A dinamikus viselkedés elemei </vt:lpstr>
      <vt:lpstr>Az objektum állapota</vt:lpstr>
      <vt:lpstr>Az objektum állapota</vt:lpstr>
      <vt:lpstr>Állapot-átmeneti diagramok</vt:lpstr>
      <vt:lpstr>Állapot-átmeneti diagram</vt:lpstr>
      <vt:lpstr>Állapot-átmeneti diagram</vt:lpstr>
      <vt:lpstr>Állapot-átmeneti diagram</vt:lpstr>
      <vt:lpstr>Állapot-átmeneti diagram</vt:lpstr>
      <vt:lpstr>Állapotok leírása</vt:lpstr>
      <vt:lpstr>Az objektumok állapota</vt:lpstr>
      <vt:lpstr>Az állapot</vt:lpstr>
      <vt:lpstr>Állapotok leírása</vt:lpstr>
      <vt:lpstr>Az order különböző állapotait bemutató állapotdiagram</vt:lpstr>
      <vt:lpstr>Az order különböző állapotait bemutató állapotdiagram</vt:lpstr>
      <vt:lpstr>Átmenet</vt:lpstr>
      <vt:lpstr>Állapot-átmenet típusai</vt:lpstr>
      <vt:lpstr>Átmenet a rendelési rendszer példában</vt:lpstr>
      <vt:lpstr>Esemény</vt:lpstr>
      <vt:lpstr>Esemény</vt:lpstr>
      <vt:lpstr>Feltétel</vt:lpstr>
      <vt:lpstr>Feltétel</vt:lpstr>
      <vt:lpstr>Tevékenységek/activities</vt:lpstr>
      <vt:lpstr>Tevékenységek, akciók</vt:lpstr>
      <vt:lpstr>Tevékenységek, akciók</vt:lpstr>
      <vt:lpstr>Akciók</vt:lpstr>
      <vt:lpstr>Bemeneti akció – entry action</vt:lpstr>
      <vt:lpstr>Kimeneti akció – exit action</vt:lpstr>
      <vt:lpstr>Belső akció – internal action</vt:lpstr>
      <vt:lpstr>Belső állapot átmenet</vt:lpstr>
      <vt:lpstr>Az order különböző állapotait bemutató állapotdiagram</vt:lpstr>
      <vt:lpstr>A példa folytatása</vt:lpstr>
      <vt:lpstr>PowerPoint-bemutató</vt:lpstr>
      <vt:lpstr>Az order különböző állapotait bemutató állapotdiagram</vt:lpstr>
      <vt:lpstr>A waiting állapot</vt:lpstr>
      <vt:lpstr>A dispatching – foglalás állapot</vt:lpstr>
      <vt:lpstr>A dispatching állapot</vt:lpstr>
      <vt:lpstr>A cancelled átmenet</vt:lpstr>
      <vt:lpstr>PowerPoint-bemutató</vt:lpstr>
      <vt:lpstr>Szuperállapot</vt:lpstr>
      <vt:lpstr>PowerPoint-bemutató</vt:lpstr>
      <vt:lpstr>Szubállapotok</vt:lpstr>
      <vt:lpstr>PowerPoint-bemutató</vt:lpstr>
      <vt:lpstr>Konkurrens állapot-diagram</vt:lpstr>
      <vt:lpstr>Konkurrens állapot-diagram</vt:lpstr>
      <vt:lpstr>Példa</vt:lpstr>
      <vt:lpstr>Payment authorizing - fizetésengedélyezés</vt:lpstr>
      <vt:lpstr>Konkurrens állapot-diagram</vt:lpstr>
      <vt:lpstr>PowerPoint-bemutató</vt:lpstr>
      <vt:lpstr>Az állapot-diagram alkalmazása</vt:lpstr>
      <vt:lpstr>Emlékező állapot</vt:lpstr>
      <vt:lpstr>Objektumok tesztelése állapot-diagram alapján </vt:lpstr>
      <vt:lpstr>Állapot-átmeneti diagram </vt:lpstr>
      <vt:lpstr>Objektumok tesztelése állapot-diagram alapján</vt:lpstr>
      <vt:lpstr>UML2 - Állapotautomaták</vt:lpstr>
      <vt:lpstr>PowerPoint-bemutató</vt:lpstr>
      <vt:lpstr>Szemantikai alapfogalmak</vt:lpstr>
      <vt:lpstr>Szemantikai alapfogalmak</vt:lpstr>
      <vt:lpstr>Objektumok életciklusa</vt:lpstr>
      <vt:lpstr>PowerPoint-bemutató</vt:lpstr>
      <vt:lpstr>PowerPoint-bemutató</vt:lpstr>
      <vt:lpstr>Összetett állapotok</vt:lpstr>
      <vt:lpstr>PowerPoint-bemutató</vt:lpstr>
      <vt:lpstr>Több eset</vt:lpstr>
      <vt:lpstr>PowerPoint-bemutató</vt:lpstr>
      <vt:lpstr>Használati eset életciklusa</vt:lpstr>
      <vt:lpstr>PowerPoint-bemutató</vt:lpstr>
      <vt:lpstr>PowerPoint-bemutató</vt:lpstr>
      <vt:lpstr>PowerPoint-bemutató</vt:lpstr>
      <vt:lpstr>PowerPoint-bemutató</vt:lpstr>
      <vt:lpstr>PowerPoint-bemutató</vt:lpstr>
      <vt:lpstr>Protokollszerep és protokoll</vt:lpstr>
      <vt:lpstr>PowerPoint-bemutató</vt:lpstr>
      <vt:lpstr>PowerPoint-bemutató</vt:lpstr>
      <vt:lpstr>PowerPoint-bemutató</vt:lpstr>
      <vt:lpstr>PowerPoint-bemutató</vt:lpstr>
      <vt:lpstr>Történeti állapotok</vt:lpstr>
      <vt:lpstr>PowerPoint-bemutató</vt:lpstr>
      <vt:lpstr>PowerPoint-bemutató</vt:lpstr>
      <vt:lpstr>PowerPoint-bemutató</vt:lpstr>
      <vt:lpstr>PowerPoint-bemutató</vt:lpstr>
      <vt:lpstr>Elágazó és szinkronizáló pontok</vt:lpstr>
      <vt:lpstr>PowerPoint-bemutató</vt:lpstr>
      <vt:lpstr>Rendszerviselkedés és vezérlőautomata</vt:lpstr>
      <vt:lpstr>PowerPoint-bemutató</vt:lpstr>
      <vt:lpstr>PowerPoint-bemutató</vt:lpstr>
      <vt:lpstr>PowerPoint-bemutató</vt:lpstr>
      <vt:lpstr>PowerPoint-bemutató</vt:lpstr>
      <vt:lpstr>Állapotautomaták meghívása</vt:lpstr>
      <vt:lpstr>PowerPoint-bemutató</vt:lpstr>
      <vt:lpstr>PowerPoint-bemutató</vt:lpstr>
      <vt:lpstr>Dialógusok lefutása</vt:lpstr>
      <vt:lpstr>PowerPoint-bemutató</vt:lpstr>
      <vt:lpstr>PowerPoint-bemutató</vt:lpstr>
      <vt:lpstr>Állapottáblázatok</vt:lpstr>
      <vt:lpstr>Állapottáblázatok</vt:lpstr>
      <vt:lpstr>Állapottáblázatok</vt:lpstr>
      <vt:lpstr>Komponens-diagramok és telepítési diagramok</vt:lpstr>
      <vt:lpstr>Telepítési diagram </vt:lpstr>
      <vt:lpstr>Az UML nyelv használati eleme: Komponens- és telepítési diagramok.</vt:lpstr>
      <vt:lpstr>PowerPoint-bemutató</vt:lpstr>
      <vt:lpstr>A szoftverkomponensek közötti kapcsolat, kommunikáció</vt:lpstr>
      <vt:lpstr>Komponens szintű modell-terv</vt:lpstr>
      <vt:lpstr>Komponens-diagram</vt:lpstr>
      <vt:lpstr>Komponens</vt:lpstr>
      <vt:lpstr>Komponens (folyt.)</vt:lpstr>
      <vt:lpstr>Komponens típusa</vt:lpstr>
      <vt:lpstr>Interfész</vt:lpstr>
      <vt:lpstr>Komponens-diagram interfésszel</vt:lpstr>
      <vt:lpstr>A szoftverkomponensek közötti kapcsolat, kommunikáció</vt:lpstr>
      <vt:lpstr>Komponens szintű modell-terv</vt:lpstr>
      <vt:lpstr>Példa</vt:lpstr>
      <vt:lpstr>PowerPoint-bemutató</vt:lpstr>
      <vt:lpstr>Telepítési diagram</vt:lpstr>
      <vt:lpstr>Telepítési diagram</vt:lpstr>
      <vt:lpstr>Telepítési diagram</vt:lpstr>
      <vt:lpstr>Egy kórházi rendszer hardver elemei </vt:lpstr>
      <vt:lpstr>A kórházi rendszer telepítési diagramja </vt:lpstr>
      <vt:lpstr>PowerPoint-bemutató</vt:lpstr>
      <vt:lpstr>Telepítési diagram (folyt.)</vt:lpstr>
      <vt:lpstr>Példa1: szabadidő központ hardver elemei</vt:lpstr>
      <vt:lpstr>Példa2: szabadidő központ telepítési diagramja</vt:lpstr>
      <vt:lpstr>Egy UML-modell összefüggősége és teljessége </vt:lpstr>
      <vt:lpstr>A modellezés általános problémái</vt:lpstr>
      <vt:lpstr>Gyakorlatban megépített modellek néhány tipikus hibája</vt:lpstr>
      <vt:lpstr>Gyakorlatban megépített modellek néhány tipikus hibája</vt:lpstr>
      <vt:lpstr>(ordinalitás:kardinalitás)</vt:lpstr>
      <vt:lpstr>A hibák feltárása</vt:lpstr>
      <vt:lpstr>Ellenőrizni kell…</vt:lpstr>
      <vt:lpstr>Az összefüggőség</vt:lpstr>
      <vt:lpstr>Teljesség</vt:lpstr>
      <vt:lpstr>Osztályok és teljesség</vt:lpstr>
      <vt:lpstr>Teljességhiány pl</vt:lpstr>
      <vt:lpstr>PowerPoint-bemutató</vt:lpstr>
      <vt:lpstr>PowerPoint-bemutató</vt:lpstr>
      <vt:lpstr>PowerPoint-bemutató</vt:lpstr>
      <vt:lpstr>Megállapítások</vt:lpstr>
      <vt:lpstr>PowerPoint-bemutató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 UML nyelv használati eleme: Osztály-diagramok.</dc:title>
  <dc:creator>Ricsi</dc:creator>
  <cp:lastModifiedBy> </cp:lastModifiedBy>
  <cp:revision>1</cp:revision>
  <dcterms:created xsi:type="dcterms:W3CDTF">2024-11-28T08:26:48Z</dcterms:created>
  <dcterms:modified xsi:type="dcterms:W3CDTF">2024-11-28T08:33:47Z</dcterms:modified>
</cp:coreProperties>
</file>